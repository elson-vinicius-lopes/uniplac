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70" r:id="rId4"/>
    <p:sldId id="271" r:id="rId5"/>
    <p:sldId id="272" r:id="rId6"/>
    <p:sldId id="257" r:id="rId7"/>
    <p:sldId id="273" r:id="rId8"/>
    <p:sldId id="274" r:id="rId9"/>
    <p:sldId id="258" r:id="rId10"/>
    <p:sldId id="275" r:id="rId11"/>
    <p:sldId id="276" r:id="rId12"/>
    <p:sldId id="281" r:id="rId13"/>
    <p:sldId id="259" r:id="rId14"/>
    <p:sldId id="260" r:id="rId15"/>
    <p:sldId id="261" r:id="rId16"/>
    <p:sldId id="262" r:id="rId17"/>
    <p:sldId id="263" r:id="rId18"/>
    <p:sldId id="264" r:id="rId19"/>
    <p:sldId id="265" r:id="rId20"/>
    <p:sldId id="266" r:id="rId21"/>
    <p:sldId id="267" r:id="rId22"/>
    <p:sldId id="268" r:id="rId23"/>
    <p:sldId id="277" r:id="rId24"/>
    <p:sldId id="278" r:id="rId25"/>
    <p:sldId id="279" r:id="rId26"/>
    <p:sldId id="280"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0E28FE2D-583E-43D0-B018-2B5612DBFA11}" type="datetimeFigureOut">
              <a:rPr lang="pt-BR" smtClean="0"/>
              <a:t>10/08/2025</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89754884-8793-444F-8288-506F4BC2946B}"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8618459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E28FE2D-583E-43D0-B018-2B5612DBFA11}" type="datetimeFigureOut">
              <a:rPr lang="pt-BR" smtClean="0"/>
              <a:t>10/08/2025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250034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0E28FE2D-583E-43D0-B018-2B5612DBFA11}" type="datetimeFigureOut">
              <a:rPr lang="pt-BR" smtClean="0"/>
              <a:t>10/08/2025</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89754884-8793-444F-8288-506F4BC2946B}"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9928590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E28FE2D-583E-43D0-B018-2B5612DBFA11}" type="datetimeFigureOut">
              <a:rPr lang="pt-BR" smtClean="0"/>
              <a:t>10/08/2025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146674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0E28FE2D-583E-43D0-B018-2B5612DBFA11}" type="datetimeFigureOut">
              <a:rPr lang="pt-BR" smtClean="0"/>
              <a:t>10/08/2025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1064598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0E28FE2D-583E-43D0-B018-2B5612DBFA11}" type="datetimeFigureOut">
              <a:rPr lang="pt-BR" smtClean="0"/>
              <a:t>10/08/2025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2182695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8FE2D-583E-43D0-B018-2B5612DBFA11}" type="datetimeFigureOut">
              <a:rPr lang="pt-BR" smtClean="0"/>
              <a:t>10/08/2025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3719960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E28FE2D-583E-43D0-B018-2B5612DBFA11}" type="datetimeFigureOut">
              <a:rPr lang="pt-BR" smtClean="0"/>
              <a:t>10/08/2025</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89754884-8793-444F-8288-506F4BC2946B}"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9523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E28FE2D-583E-43D0-B018-2B5612DBFA11}" type="datetimeFigureOut">
              <a:rPr lang="pt-BR" smtClean="0"/>
              <a:t>10/08/2025</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89754884-8793-444F-8288-506F4BC2946B}"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7626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E28FE2D-583E-43D0-B018-2B5612DBFA11}" type="datetimeFigureOut">
              <a:rPr lang="pt-BR" smtClean="0"/>
              <a:t>10/08/2025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1686400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E28FE2D-583E-43D0-B018-2B5612DBFA11}" type="datetimeFigureOut">
              <a:rPr lang="pt-BR" smtClean="0"/>
              <a:t>10/08/2025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9754884-8793-444F-8288-506F4BC2946B}" type="slidenum">
              <a:rPr lang="pt-BR" smtClean="0"/>
              <a:t>‹nº›</a:t>
            </a:fld>
            <a:endParaRPr lang="pt-BR"/>
          </a:p>
        </p:txBody>
      </p:sp>
    </p:spTree>
    <p:extLst>
      <p:ext uri="{BB962C8B-B14F-4D97-AF65-F5344CB8AC3E}">
        <p14:creationId xmlns:p14="http://schemas.microsoft.com/office/powerpoint/2010/main" val="574027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E28FE2D-583E-43D0-B018-2B5612DBFA11}" type="datetimeFigureOut">
              <a:rPr lang="pt-BR" smtClean="0"/>
              <a:t>10/08/2025</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89754884-8793-444F-8288-506F4BC2946B}"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11598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87610E-B9F2-8645-BC14-F4ADFD8923A1}"/>
              </a:ext>
            </a:extLst>
          </p:cNvPr>
          <p:cNvSpPr>
            <a:spLocks noGrp="1"/>
          </p:cNvSpPr>
          <p:nvPr>
            <p:ph type="ctrTitle"/>
          </p:nvPr>
        </p:nvSpPr>
        <p:spPr/>
        <p:txBody>
          <a:bodyPr/>
          <a:lstStyle/>
          <a:p>
            <a:r>
              <a:rPr lang="pt-BR" dirty="0"/>
              <a:t>Criolipolise </a:t>
            </a:r>
          </a:p>
        </p:txBody>
      </p:sp>
      <p:sp>
        <p:nvSpPr>
          <p:cNvPr id="3" name="Subtítulo 2">
            <a:extLst>
              <a:ext uri="{FF2B5EF4-FFF2-40B4-BE49-F238E27FC236}">
                <a16:creationId xmlns:a16="http://schemas.microsoft.com/office/drawing/2014/main" id="{03BF0DE0-9A19-43B2-1FDE-8EA28CCD534B}"/>
              </a:ext>
            </a:extLst>
          </p:cNvPr>
          <p:cNvSpPr>
            <a:spLocks noGrp="1"/>
          </p:cNvSpPr>
          <p:nvPr>
            <p:ph type="subTitle" idx="1"/>
          </p:nvPr>
        </p:nvSpPr>
        <p:spPr/>
        <p:txBody>
          <a:bodyPr/>
          <a:lstStyle/>
          <a:p>
            <a:r>
              <a:rPr lang="pt-BR" dirty="0" err="1"/>
              <a:t>Prof</a:t>
            </a:r>
            <a:r>
              <a:rPr lang="pt-BR" dirty="0"/>
              <a:t>: Mariana Macedo Justi </a:t>
            </a:r>
          </a:p>
        </p:txBody>
      </p:sp>
    </p:spTree>
    <p:extLst>
      <p:ext uri="{BB962C8B-B14F-4D97-AF65-F5344CB8AC3E}">
        <p14:creationId xmlns:p14="http://schemas.microsoft.com/office/powerpoint/2010/main" val="2004152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AA406A-3C79-4AC4-05C2-1A44CF3900FC}"/>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6B3A421F-DEA6-4130-2585-621A85EDE681}"/>
              </a:ext>
            </a:extLst>
          </p:cNvPr>
          <p:cNvSpPr>
            <a:spLocks noGrp="1"/>
          </p:cNvSpPr>
          <p:nvPr>
            <p:ph idx="1"/>
          </p:nvPr>
        </p:nvSpPr>
        <p:spPr/>
        <p:txBody>
          <a:bodyPr/>
          <a:lstStyle/>
          <a:p>
            <a:endParaRPr lang="pt-BR"/>
          </a:p>
        </p:txBody>
      </p:sp>
      <p:pic>
        <p:nvPicPr>
          <p:cNvPr id="4" name="Picture 8" descr="Resultado de imagem para criolipÃ³lise">
            <a:extLst>
              <a:ext uri="{FF2B5EF4-FFF2-40B4-BE49-F238E27FC236}">
                <a16:creationId xmlns:a16="http://schemas.microsoft.com/office/drawing/2014/main" id="{CB872C41-6C41-E737-9FF2-665F905F127F}"/>
              </a:ext>
            </a:extLst>
          </p:cNvPr>
          <p:cNvPicPr>
            <a:picLocks noChangeAspect="1" noChangeArrowheads="1"/>
          </p:cNvPicPr>
          <p:nvPr/>
        </p:nvPicPr>
        <p:blipFill>
          <a:blip r:embed="rId2"/>
          <a:srcRect/>
          <a:stretch>
            <a:fillRect/>
          </a:stretch>
        </p:blipFill>
        <p:spPr bwMode="auto">
          <a:xfrm>
            <a:off x="1083212" y="202783"/>
            <a:ext cx="10782157" cy="6522541"/>
          </a:xfrm>
          <a:prstGeom prst="rect">
            <a:avLst/>
          </a:prstGeom>
          <a:noFill/>
        </p:spPr>
      </p:pic>
    </p:spTree>
    <p:extLst>
      <p:ext uri="{BB962C8B-B14F-4D97-AF65-F5344CB8AC3E}">
        <p14:creationId xmlns:p14="http://schemas.microsoft.com/office/powerpoint/2010/main" val="368337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CDA02C-24AD-1DB3-931E-D15DA3F82BF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30C168EC-D246-2EC0-A623-C3B3E88C8ADF}"/>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D02B4BBE-FB89-DD62-C7B0-4E99D9C2616E}"/>
              </a:ext>
            </a:extLst>
          </p:cNvPr>
          <p:cNvPicPr>
            <a:picLocks noChangeAspect="1"/>
          </p:cNvPicPr>
          <p:nvPr/>
        </p:nvPicPr>
        <p:blipFill>
          <a:blip r:embed="rId2"/>
          <a:stretch>
            <a:fillRect/>
          </a:stretch>
        </p:blipFill>
        <p:spPr>
          <a:xfrm>
            <a:off x="1473769" y="140905"/>
            <a:ext cx="10160213" cy="6576189"/>
          </a:xfrm>
          <a:prstGeom prst="rect">
            <a:avLst/>
          </a:prstGeom>
        </p:spPr>
      </p:pic>
    </p:spTree>
    <p:extLst>
      <p:ext uri="{BB962C8B-B14F-4D97-AF65-F5344CB8AC3E}">
        <p14:creationId xmlns:p14="http://schemas.microsoft.com/office/powerpoint/2010/main" val="1651532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80890B-DE83-63E1-65EB-BD1A2EA1423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230FD86-4B75-B8BA-081C-6573EEA369A7}"/>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1BDEA53F-9863-7434-8DD9-E66DD056041A}"/>
              </a:ext>
            </a:extLst>
          </p:cNvPr>
          <p:cNvPicPr>
            <a:picLocks noChangeAspect="1"/>
          </p:cNvPicPr>
          <p:nvPr/>
        </p:nvPicPr>
        <p:blipFill>
          <a:blip r:embed="rId2"/>
          <a:stretch>
            <a:fillRect/>
          </a:stretch>
        </p:blipFill>
        <p:spPr>
          <a:xfrm>
            <a:off x="1757469" y="168812"/>
            <a:ext cx="7963307" cy="6520375"/>
          </a:xfrm>
          <a:prstGeom prst="rect">
            <a:avLst/>
          </a:prstGeom>
        </p:spPr>
      </p:pic>
    </p:spTree>
    <p:extLst>
      <p:ext uri="{BB962C8B-B14F-4D97-AF65-F5344CB8AC3E}">
        <p14:creationId xmlns:p14="http://schemas.microsoft.com/office/powerpoint/2010/main" val="3987531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656CF-4DD0-B16B-71CA-BF6415C8A6A7}"/>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6870D2C9-39DD-743F-972B-9E0DD771B788}"/>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30D1A836-58D9-A2DB-28B6-E30B60E36803}"/>
              </a:ext>
            </a:extLst>
          </p:cNvPr>
          <p:cNvPicPr>
            <a:picLocks noChangeAspect="1"/>
          </p:cNvPicPr>
          <p:nvPr/>
        </p:nvPicPr>
        <p:blipFill>
          <a:blip r:embed="rId2"/>
          <a:stretch>
            <a:fillRect/>
          </a:stretch>
        </p:blipFill>
        <p:spPr>
          <a:xfrm>
            <a:off x="1972075" y="119524"/>
            <a:ext cx="8691236" cy="6618952"/>
          </a:xfrm>
          <a:prstGeom prst="rect">
            <a:avLst/>
          </a:prstGeom>
        </p:spPr>
      </p:pic>
    </p:spTree>
    <p:extLst>
      <p:ext uri="{BB962C8B-B14F-4D97-AF65-F5344CB8AC3E}">
        <p14:creationId xmlns:p14="http://schemas.microsoft.com/office/powerpoint/2010/main" val="3243091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D49C2-192B-7D60-7949-E202A977C207}"/>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1200D975-A139-615D-6092-F2F21428E4D8}"/>
              </a:ext>
            </a:extLst>
          </p:cNvPr>
          <p:cNvSpPr>
            <a:spLocks noGrp="1"/>
          </p:cNvSpPr>
          <p:nvPr>
            <p:ph idx="1"/>
          </p:nvPr>
        </p:nvSpPr>
        <p:spPr/>
        <p:txBody>
          <a:bodyPr>
            <a:normAutofit/>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rPr>
              <a:t>A </a:t>
            </a:r>
            <a:r>
              <a:rPr lang="pt-BR" sz="2400" dirty="0" err="1">
                <a:effectLst/>
                <a:latin typeface="Times New Roman" panose="02020603050405020304" pitchFamily="18" charset="0"/>
                <a:ea typeface="Calibri" panose="020F0502020204030204" pitchFamily="34" charset="0"/>
              </a:rPr>
              <a:t>criolipólise</a:t>
            </a:r>
            <a:r>
              <a:rPr lang="pt-BR" sz="2400" dirty="0">
                <a:effectLst/>
                <a:latin typeface="Times New Roman" panose="02020603050405020304" pitchFamily="18" charset="0"/>
                <a:ea typeface="Calibri" panose="020F0502020204030204" pitchFamily="34" charset="0"/>
              </a:rPr>
              <a:t> trata se de um procedimento não invasivo que promove morte induzida do tecido adiposo, um processo de apoptose por conta do resfriamento da manopla, variando na temperatura de congelamento de -5°C a -11°C, e possuem duas modalidades de aplicadores, as placas e a sucção</a:t>
            </a:r>
            <a:endParaRPr lang="pt-BR" sz="2400" dirty="0"/>
          </a:p>
        </p:txBody>
      </p:sp>
    </p:spTree>
    <p:extLst>
      <p:ext uri="{BB962C8B-B14F-4D97-AF65-F5344CB8AC3E}">
        <p14:creationId xmlns:p14="http://schemas.microsoft.com/office/powerpoint/2010/main" val="3708750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3CD999-BEEE-E06A-36C6-3CE08F6DBACF}"/>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A2681390-E9A2-22F7-560D-C9AFA26F011B}"/>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054F4507-EA1C-88E5-D148-651F06E1D02C}"/>
              </a:ext>
            </a:extLst>
          </p:cNvPr>
          <p:cNvPicPr>
            <a:picLocks noChangeAspect="1"/>
          </p:cNvPicPr>
          <p:nvPr/>
        </p:nvPicPr>
        <p:blipFill>
          <a:blip r:embed="rId2"/>
          <a:stretch>
            <a:fillRect/>
          </a:stretch>
        </p:blipFill>
        <p:spPr>
          <a:xfrm>
            <a:off x="2727373" y="0"/>
            <a:ext cx="7218485" cy="7218485"/>
          </a:xfrm>
          <a:prstGeom prst="rect">
            <a:avLst/>
          </a:prstGeom>
        </p:spPr>
      </p:pic>
    </p:spTree>
    <p:extLst>
      <p:ext uri="{BB962C8B-B14F-4D97-AF65-F5344CB8AC3E}">
        <p14:creationId xmlns:p14="http://schemas.microsoft.com/office/powerpoint/2010/main" val="3533208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505B76-B625-330B-33FB-00228669654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4C0CDB2-2C4D-7994-0DC9-A0808216508B}"/>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73ABBCF9-3CB0-C20D-6F34-BA76BEEC47DD}"/>
              </a:ext>
            </a:extLst>
          </p:cNvPr>
          <p:cNvPicPr>
            <a:picLocks noChangeAspect="1"/>
          </p:cNvPicPr>
          <p:nvPr/>
        </p:nvPicPr>
        <p:blipFill>
          <a:blip r:embed="rId2"/>
          <a:stretch>
            <a:fillRect/>
          </a:stretch>
        </p:blipFill>
        <p:spPr>
          <a:xfrm>
            <a:off x="970670" y="353093"/>
            <a:ext cx="10982317" cy="6151814"/>
          </a:xfrm>
          <a:prstGeom prst="rect">
            <a:avLst/>
          </a:prstGeom>
        </p:spPr>
      </p:pic>
    </p:spTree>
    <p:extLst>
      <p:ext uri="{BB962C8B-B14F-4D97-AF65-F5344CB8AC3E}">
        <p14:creationId xmlns:p14="http://schemas.microsoft.com/office/powerpoint/2010/main" val="168527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8D0A60-CFD6-89D7-76E7-16E6B17F8683}"/>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04310458-34E9-3620-AD3B-4A0B22272082}"/>
              </a:ext>
            </a:extLst>
          </p:cNvPr>
          <p:cNvSpPr>
            <a:spLocks noGrp="1"/>
          </p:cNvSpPr>
          <p:nvPr>
            <p:ph idx="1"/>
          </p:nvPr>
        </p:nvSpPr>
        <p:spPr/>
        <p:txBody>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cs typeface="Arial" panose="020B0604020202020204" pitchFamily="34" charset="0"/>
              </a:rPr>
              <a:t>Como resposta deste procedimento há uma mobilização de gordura, uma retirada de conteúdo de dentro destas células pelo processo de apoptose, liberação de ácidos graxos e triglicerídeos, que ficam circulantes na corrente sanguínea (BORGES e SCORZA, 2016).</a:t>
            </a:r>
            <a:endParaRPr lang="pt-BR" sz="24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180442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0EE48B-49E4-3027-105A-CF3DEEE4C38C}"/>
              </a:ext>
            </a:extLst>
          </p:cNvPr>
          <p:cNvSpPr>
            <a:spLocks noGrp="1"/>
          </p:cNvSpPr>
          <p:nvPr>
            <p:ph type="title"/>
          </p:nvPr>
        </p:nvSpPr>
        <p:spPr/>
        <p:txBody>
          <a:bodyPr/>
          <a:lstStyle/>
          <a:p>
            <a:r>
              <a:rPr lang="pt-BR" dirty="0" err="1"/>
              <a:t>Criolipolise</a:t>
            </a:r>
            <a:r>
              <a:rPr lang="pt-BR" dirty="0"/>
              <a:t> </a:t>
            </a:r>
          </a:p>
        </p:txBody>
      </p:sp>
      <p:sp>
        <p:nvSpPr>
          <p:cNvPr id="3" name="Espaço Reservado para Conteúdo 2">
            <a:extLst>
              <a:ext uri="{FF2B5EF4-FFF2-40B4-BE49-F238E27FC236}">
                <a16:creationId xmlns:a16="http://schemas.microsoft.com/office/drawing/2014/main" id="{89A87A11-D7DF-8C61-46FF-FEBAA0AC1D84}"/>
              </a:ext>
            </a:extLst>
          </p:cNvPr>
          <p:cNvSpPr>
            <a:spLocks noGrp="1"/>
          </p:cNvSpPr>
          <p:nvPr>
            <p:ph idx="1"/>
          </p:nvPr>
        </p:nvSpPr>
        <p:spPr/>
        <p:txBody>
          <a:bodyPr/>
          <a:lstStyle/>
          <a:p>
            <a:pPr algn="just"/>
            <a:r>
              <a:rPr lang="pt-BR" sz="4000" dirty="0"/>
              <a:t>OS MACRÓFAGOS COMEÇAM ENTÃO, A ENVOLVER E DIGERIR OS ADIPÓCITOS APOPTÓTICOS COMO PARTE DA RESPOSTA NATURAL DO ORGANISMO À LESÃO.</a:t>
            </a:r>
          </a:p>
          <a:p>
            <a:endParaRPr lang="pt-BR" dirty="0"/>
          </a:p>
        </p:txBody>
      </p:sp>
    </p:spTree>
    <p:extLst>
      <p:ext uri="{BB962C8B-B14F-4D97-AF65-F5344CB8AC3E}">
        <p14:creationId xmlns:p14="http://schemas.microsoft.com/office/powerpoint/2010/main" val="681514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3E5C4-EA49-37FC-D524-5634E4DC6EB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3869C0FE-06C0-7C77-9E57-7D7EDC851569}"/>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6D2F2ABE-F9C0-F091-BF23-5C17B526F923}"/>
              </a:ext>
            </a:extLst>
          </p:cNvPr>
          <p:cNvPicPr>
            <a:picLocks noChangeAspect="1"/>
          </p:cNvPicPr>
          <p:nvPr/>
        </p:nvPicPr>
        <p:blipFill>
          <a:blip r:embed="rId2"/>
          <a:stretch>
            <a:fillRect/>
          </a:stretch>
        </p:blipFill>
        <p:spPr>
          <a:xfrm>
            <a:off x="2134580" y="274638"/>
            <a:ext cx="8075240" cy="6308724"/>
          </a:xfrm>
          <a:prstGeom prst="rect">
            <a:avLst/>
          </a:prstGeom>
        </p:spPr>
      </p:pic>
    </p:spTree>
    <p:extLst>
      <p:ext uri="{BB962C8B-B14F-4D97-AF65-F5344CB8AC3E}">
        <p14:creationId xmlns:p14="http://schemas.microsoft.com/office/powerpoint/2010/main" val="1227926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51B68F-C8C9-5F3A-CB33-4C1244891448}"/>
              </a:ext>
            </a:extLst>
          </p:cNvPr>
          <p:cNvSpPr>
            <a:spLocks noGrp="1"/>
          </p:cNvSpPr>
          <p:nvPr>
            <p:ph type="title"/>
          </p:nvPr>
        </p:nvSpPr>
        <p:spPr/>
        <p:txBody>
          <a:bodyPr/>
          <a:lstStyle/>
          <a:p>
            <a:r>
              <a:rPr lang="pt-BR" dirty="0" err="1"/>
              <a:t>Criolipolise</a:t>
            </a:r>
            <a:r>
              <a:rPr lang="pt-BR" dirty="0"/>
              <a:t> </a:t>
            </a:r>
          </a:p>
        </p:txBody>
      </p:sp>
      <p:sp>
        <p:nvSpPr>
          <p:cNvPr id="3" name="Espaço Reservado para Conteúdo 2">
            <a:extLst>
              <a:ext uri="{FF2B5EF4-FFF2-40B4-BE49-F238E27FC236}">
                <a16:creationId xmlns:a16="http://schemas.microsoft.com/office/drawing/2014/main" id="{E139A185-1BD7-24CA-E5F1-61865EFDB19C}"/>
              </a:ext>
            </a:extLst>
          </p:cNvPr>
          <p:cNvSpPr>
            <a:spLocks noGrp="1"/>
          </p:cNvSpPr>
          <p:nvPr>
            <p:ph idx="1"/>
          </p:nvPr>
        </p:nvSpPr>
        <p:spPr/>
        <p:txBody>
          <a:bodyPr/>
          <a:lstStyle/>
          <a:p>
            <a:endParaRPr lang="pt-BR"/>
          </a:p>
        </p:txBody>
      </p:sp>
      <p:pic>
        <p:nvPicPr>
          <p:cNvPr id="9218" name="Picture 2" descr="http://redesemblant.com.br/wp-content/uploads/2016/11/crio0.jpg"/>
          <p:cNvPicPr>
            <a:picLocks noChangeAspect="1" noChangeArrowheads="1"/>
          </p:cNvPicPr>
          <p:nvPr/>
        </p:nvPicPr>
        <p:blipFill>
          <a:blip r:embed="rId2"/>
          <a:srcRect/>
          <a:stretch>
            <a:fillRect/>
          </a:stretch>
        </p:blipFill>
        <p:spPr bwMode="auto">
          <a:xfrm>
            <a:off x="193933" y="2224454"/>
            <a:ext cx="11804133" cy="2659381"/>
          </a:xfrm>
          <a:prstGeom prst="rect">
            <a:avLst/>
          </a:prstGeom>
          <a:noFill/>
        </p:spPr>
      </p:pic>
    </p:spTree>
    <p:extLst>
      <p:ext uri="{BB962C8B-B14F-4D97-AF65-F5344CB8AC3E}">
        <p14:creationId xmlns:p14="http://schemas.microsoft.com/office/powerpoint/2010/main" val="2624999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1401B4-BCDB-F093-A7A7-E0F722E0EEC7}"/>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6F7A3DC4-9141-5BE2-D10A-DFB309D25759}"/>
              </a:ext>
            </a:extLst>
          </p:cNvPr>
          <p:cNvSpPr>
            <a:spLocks noGrp="1"/>
          </p:cNvSpPr>
          <p:nvPr>
            <p:ph idx="1"/>
          </p:nvPr>
        </p:nvSpPr>
        <p:spPr/>
        <p:txBody>
          <a:bodyPr>
            <a:normAutofit fontScale="92500"/>
          </a:bodyPr>
          <a:lstStyle/>
          <a:p>
            <a:pPr algn="just">
              <a:lnSpc>
                <a:spcPct val="150000"/>
              </a:lnSpc>
              <a:spcBef>
                <a:spcPts val="0"/>
              </a:spcBef>
            </a:pPr>
            <a:r>
              <a:rPr lang="pt-BR" sz="2400" dirty="0">
                <a:latin typeface="Times New Roman" panose="02020603050405020304" pitchFamily="18" charset="0"/>
                <a:ea typeface="Calibri" panose="020F0502020204030204" pitchFamily="34" charset="0"/>
                <a:cs typeface="Arial" panose="020B0604020202020204" pitchFamily="34" charset="0"/>
              </a:rPr>
              <a:t>O</a:t>
            </a:r>
            <a:r>
              <a:rPr lang="pt-BR" sz="2400" dirty="0">
                <a:effectLst/>
                <a:latin typeface="Times New Roman" panose="02020603050405020304" pitchFamily="18" charset="0"/>
                <a:ea typeface="Calibri" panose="020F0502020204030204" pitchFamily="34" charset="0"/>
                <a:cs typeface="Arial" panose="020B0604020202020204" pitchFamily="34" charset="0"/>
              </a:rPr>
              <a:t> uso da </a:t>
            </a:r>
            <a:r>
              <a:rPr lang="pt-BR" sz="2400" dirty="0" err="1">
                <a:effectLst/>
                <a:latin typeface="Times New Roman" panose="02020603050405020304" pitchFamily="18" charset="0"/>
                <a:ea typeface="Calibri" panose="020F0502020204030204" pitchFamily="34" charset="0"/>
                <a:cs typeface="Arial" panose="020B0604020202020204" pitchFamily="34" charset="0"/>
              </a:rPr>
              <a:t>criolipólise</a:t>
            </a:r>
            <a:r>
              <a:rPr lang="pt-BR" sz="2400" dirty="0">
                <a:effectLst/>
                <a:latin typeface="Times New Roman" panose="02020603050405020304" pitchFamily="18" charset="0"/>
                <a:ea typeface="Calibri" panose="020F0502020204030204" pitchFamily="34" charset="0"/>
                <a:cs typeface="Arial" panose="020B0604020202020204" pitchFamily="34" charset="0"/>
              </a:rPr>
              <a:t> é feito de forma indiscriminada, com finalidade de retirada de gordura localizada e seu uso deve ser um ato de responsabilidade que inicia pela compreensão do seu modo de ação, funcionamento, efeitos bioquímicos e estruturais do tecido adiposo, bem como o estudo da resposta fisiológica do corpo e as alterações de perfil lipídico destes pacientes submetidos a esta modalidade de procedimento. (AGNES, 2018). </a:t>
            </a:r>
            <a:endParaRPr lang="pt-BR" sz="24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58850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FACEB7-BFA7-6543-4684-395677ED18AB}"/>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C379F965-5607-7F45-EA05-74CC6E85BC80}"/>
              </a:ext>
            </a:extLst>
          </p:cNvPr>
          <p:cNvSpPr>
            <a:spLocks noGrp="1"/>
          </p:cNvSpPr>
          <p:nvPr>
            <p:ph idx="1"/>
          </p:nvPr>
        </p:nvSpPr>
        <p:spPr/>
        <p:txBody>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cs typeface="Arial" panose="020B0604020202020204" pitchFamily="34" charset="0"/>
              </a:rPr>
              <a:t>As alterações no fator acúmulo de gordura vão desde problemas de absorção intestinal, alimentação, paladares infantis, hábitos de vida, sedentarismo, alterações hormonais devido à falta de nutrientes a longo prazo, fatores genéticos, disponibilidade de nutrientes, ingesta de água, qualidade de sono, exposição a metais pesados e processos de intoxicação celular (BORGES e SCORZA, 2016).</a:t>
            </a:r>
            <a:endParaRPr lang="pt-BR" sz="24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3795205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D2456B-93E4-36F7-CC89-A9308CCEF1E3}"/>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0E111E40-0CFB-3951-817C-9FC13AE54852}"/>
              </a:ext>
            </a:extLst>
          </p:cNvPr>
          <p:cNvSpPr>
            <a:spLocks noGrp="1"/>
          </p:cNvSpPr>
          <p:nvPr>
            <p:ph idx="1"/>
          </p:nvPr>
        </p:nvSpPr>
        <p:spPr/>
        <p:txBody>
          <a:bodyPr>
            <a:normAutofit/>
          </a:bodyPr>
          <a:lstStyle/>
          <a:p>
            <a:pPr algn="just">
              <a:lnSpc>
                <a:spcPct val="150000"/>
              </a:lnSpc>
              <a:spcBef>
                <a:spcPts val="0"/>
              </a:spcBef>
            </a:pPr>
            <a:r>
              <a:rPr lang="pt-BR" sz="2400" dirty="0"/>
              <a:t>MEIOS DE MOBILIZAÇÃO DE GORDURA</a:t>
            </a:r>
          </a:p>
          <a:p>
            <a:pPr algn="just">
              <a:lnSpc>
                <a:spcPct val="150000"/>
              </a:lnSpc>
              <a:spcBef>
                <a:spcPts val="0"/>
              </a:spcBef>
            </a:pPr>
            <a:r>
              <a:rPr lang="pt-BR" sz="2400" dirty="0"/>
              <a:t>Lipólise </a:t>
            </a:r>
          </a:p>
          <a:p>
            <a:pPr algn="just">
              <a:lnSpc>
                <a:spcPct val="150000"/>
              </a:lnSpc>
              <a:spcBef>
                <a:spcPts val="0"/>
              </a:spcBef>
            </a:pPr>
            <a:r>
              <a:rPr lang="pt-BR" sz="2400" dirty="0"/>
              <a:t>Apoptose </a:t>
            </a:r>
          </a:p>
          <a:p>
            <a:pPr algn="just">
              <a:lnSpc>
                <a:spcPct val="150000"/>
              </a:lnSpc>
              <a:spcBef>
                <a:spcPts val="0"/>
              </a:spcBef>
            </a:pPr>
            <a:r>
              <a:rPr lang="pt-BR" sz="2400" dirty="0"/>
              <a:t>Necrose </a:t>
            </a:r>
          </a:p>
          <a:p>
            <a:pPr algn="just">
              <a:lnSpc>
                <a:spcPct val="150000"/>
              </a:lnSpc>
              <a:spcBef>
                <a:spcPts val="0"/>
              </a:spcBef>
            </a:pPr>
            <a:endParaRPr lang="pt-BR" sz="2400" dirty="0"/>
          </a:p>
          <a:p>
            <a:pPr algn="just">
              <a:lnSpc>
                <a:spcPct val="150000"/>
              </a:lnSpc>
              <a:spcBef>
                <a:spcPts val="0"/>
              </a:spcBef>
            </a:pPr>
            <a:r>
              <a:rPr lang="pt-BR" sz="2400" dirty="0"/>
              <a:t>Se usa apoptose no caso da Criolipolise </a:t>
            </a:r>
          </a:p>
        </p:txBody>
      </p:sp>
    </p:spTree>
    <p:extLst>
      <p:ext uri="{BB962C8B-B14F-4D97-AF65-F5344CB8AC3E}">
        <p14:creationId xmlns:p14="http://schemas.microsoft.com/office/powerpoint/2010/main" val="1044864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78D2D9-2B43-3510-6468-2D5B8CB1414F}"/>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5ED0A8D8-1144-8C10-3057-4823C2726BBA}"/>
              </a:ext>
            </a:extLst>
          </p:cNvPr>
          <p:cNvSpPr>
            <a:spLocks noGrp="1"/>
          </p:cNvSpPr>
          <p:nvPr>
            <p:ph idx="1"/>
          </p:nvPr>
        </p:nvSpPr>
        <p:spPr/>
        <p:txBody>
          <a:bodyPr>
            <a:normAutofit fontScale="92500" lnSpcReduction="10000"/>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cs typeface="Arial" panose="020B0604020202020204" pitchFamily="34" charset="0"/>
              </a:rPr>
              <a:t>O termo apoptose foi adotado na década de 70, vem do grego após separação, </a:t>
            </a:r>
            <a:r>
              <a:rPr lang="pt-BR" sz="2400" dirty="0" err="1">
                <a:effectLst/>
                <a:latin typeface="Times New Roman" panose="02020603050405020304" pitchFamily="18" charset="0"/>
                <a:ea typeface="Calibri" panose="020F0502020204030204" pitchFamily="34" charset="0"/>
                <a:cs typeface="Arial" panose="020B0604020202020204" pitchFamily="34" charset="0"/>
              </a:rPr>
              <a:t>ptôsis</a:t>
            </a:r>
            <a:r>
              <a:rPr lang="pt-BR" sz="2400" dirty="0">
                <a:effectLst/>
                <a:latin typeface="Times New Roman" panose="02020603050405020304" pitchFamily="18" charset="0"/>
                <a:ea typeface="Calibri" panose="020F0502020204030204" pitchFamily="34" charset="0"/>
                <a:cs typeface="Arial" panose="020B0604020202020204" pitchFamily="34" charset="0"/>
              </a:rPr>
              <a:t> queda, designa forma fisiológica de morte celular. A apoptose ocorre por um programa genético, desencadeando uma autodigestão controlada, seguida da remoção de células lesadas, sem alteração do microambiente celular. A morte celular programada é um processo essencial para a manutenção do desenvolvimento dos seres vivos e uma das respostas para o resfriamento do adipócito (GRIVICICH et al, 2007). </a:t>
            </a:r>
            <a:endParaRPr lang="pt-BR" sz="24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3372282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790589-2541-6F2F-AB65-303C34544FA2}"/>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015F2EBE-E9D7-2D69-4E82-0F01B1A13692}"/>
              </a:ext>
            </a:extLst>
          </p:cNvPr>
          <p:cNvSpPr>
            <a:spLocks noGrp="1"/>
          </p:cNvSpPr>
          <p:nvPr>
            <p:ph idx="1"/>
          </p:nvPr>
        </p:nvSpPr>
        <p:spPr/>
        <p:txBody>
          <a:bodyPr>
            <a:normAutofit fontScale="85000" lnSpcReduction="10000"/>
          </a:bodyPr>
          <a:lstStyle/>
          <a:p>
            <a:pPr algn="just">
              <a:lnSpc>
                <a:spcPct val="150000"/>
              </a:lnSpc>
              <a:spcBef>
                <a:spcPts val="0"/>
              </a:spcBef>
            </a:pPr>
            <a:r>
              <a:rPr lang="pt-BR" sz="2400" dirty="0">
                <a:latin typeface="Times New Roman" panose="02020603050405020304" pitchFamily="18" charset="0"/>
                <a:ea typeface="Calibri" panose="020F0502020204030204" pitchFamily="34" charset="0"/>
              </a:rPr>
              <a:t>A</a:t>
            </a:r>
            <a:r>
              <a:rPr lang="pt-BR" sz="2400" dirty="0">
                <a:effectLst/>
                <a:latin typeface="Times New Roman" panose="02020603050405020304" pitchFamily="18" charset="0"/>
                <a:ea typeface="Calibri" panose="020F0502020204030204" pitchFamily="34" charset="0"/>
              </a:rPr>
              <a:t> comprovação da ocorrência de apoptose com a </a:t>
            </a:r>
            <a:r>
              <a:rPr lang="pt-BR" sz="2400" dirty="0" err="1">
                <a:effectLst/>
                <a:latin typeface="Times New Roman" panose="02020603050405020304" pitchFamily="18" charset="0"/>
                <a:ea typeface="Calibri" panose="020F0502020204030204" pitchFamily="34" charset="0"/>
              </a:rPr>
              <a:t>criolipólise</a:t>
            </a:r>
            <a:r>
              <a:rPr lang="pt-BR" sz="2400" dirty="0">
                <a:effectLst/>
                <a:latin typeface="Times New Roman" panose="02020603050405020304" pitchFamily="18" charset="0"/>
                <a:ea typeface="Calibri" panose="020F0502020204030204" pitchFamily="34" charset="0"/>
              </a:rPr>
              <a:t> foi demonstrada por estudos com análise imuno-histoquímica que revelaram a presença da enzima caspase-3 um importante marcador da presença de apoptose. Sabe-se também que as células de gordura são mais suscetíveis ao efeito do frio que os tecidos da pele, dos nervos e dos músculos. Ao resfriá-las em torno de zero grau elas são estimuladas a passar por um processo de apoptose, que se inicia por meio de um processo inflamatório, paniculite lobular, com a presença de um infiltrado perivascular constituído por </a:t>
            </a:r>
            <a:r>
              <a:rPr lang="pt-BR" sz="2400" dirty="0" err="1">
                <a:effectLst/>
                <a:latin typeface="Times New Roman" panose="02020603050405020304" pitchFamily="18" charset="0"/>
                <a:ea typeface="Calibri" panose="020F0502020204030204" pitchFamily="34" charset="0"/>
              </a:rPr>
              <a:t>histiócitos</a:t>
            </a:r>
            <a:r>
              <a:rPr lang="pt-BR" sz="2400" dirty="0">
                <a:effectLst/>
                <a:latin typeface="Times New Roman" panose="02020603050405020304" pitchFamily="18" charset="0"/>
                <a:ea typeface="Calibri" panose="020F0502020204030204" pitchFamily="34" charset="0"/>
              </a:rPr>
              <a:t> e linfócitos, que evolui em aproximadamente 24 horas após a exposição ao frio.</a:t>
            </a:r>
            <a:endParaRPr lang="pt-BR" sz="2400" dirty="0"/>
          </a:p>
        </p:txBody>
      </p:sp>
    </p:spTree>
    <p:extLst>
      <p:ext uri="{BB962C8B-B14F-4D97-AF65-F5344CB8AC3E}">
        <p14:creationId xmlns:p14="http://schemas.microsoft.com/office/powerpoint/2010/main" val="322708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54D420-35A6-7BCE-95E5-956C4E746640}"/>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EF91D007-8387-28C9-A363-F465C6ACD9C0}"/>
              </a:ext>
            </a:extLst>
          </p:cNvPr>
          <p:cNvSpPr>
            <a:spLocks noGrp="1"/>
          </p:cNvSpPr>
          <p:nvPr>
            <p:ph idx="1"/>
          </p:nvPr>
        </p:nvSpPr>
        <p:spPr/>
        <p:txBody>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cs typeface="Arial" panose="020B0604020202020204" pitchFamily="34" charset="0"/>
              </a:rPr>
              <a:t>As células inflamatórias causam ruptura dos adipócitos, agregação de lipídios e formação de pequenos espaços císticos. A paniculite diminui lentamente ao longo das semanas seguintes, resultando na diminuição da gordura sem qualquer dano ou cicatriz tecidual persistente (BORGES e SCORZA, 2016). </a:t>
            </a:r>
            <a:endParaRPr lang="pt-BR" sz="24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346815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79B411-428D-9686-6BCF-F17A7339EBE4}"/>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C41E4197-E1FA-01A2-73CD-74E305F0D50A}"/>
              </a:ext>
            </a:extLst>
          </p:cNvPr>
          <p:cNvSpPr>
            <a:spLocks noGrp="1"/>
          </p:cNvSpPr>
          <p:nvPr>
            <p:ph idx="1"/>
          </p:nvPr>
        </p:nvSpPr>
        <p:spPr/>
        <p:txBody>
          <a:bodyPr>
            <a:normAutofit fontScale="77500" lnSpcReduction="20000"/>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rPr>
              <a:t>Imediatamente após a </a:t>
            </a:r>
            <a:r>
              <a:rPr lang="pt-BR" sz="2400" dirty="0" err="1">
                <a:effectLst/>
                <a:latin typeface="Times New Roman" panose="02020603050405020304" pitchFamily="18" charset="0"/>
                <a:ea typeface="Calibri" panose="020F0502020204030204" pitchFamily="34" charset="0"/>
              </a:rPr>
              <a:t>criolipólise</a:t>
            </a:r>
            <a:r>
              <a:rPr lang="pt-BR" sz="2400" dirty="0">
                <a:effectLst/>
                <a:latin typeface="Times New Roman" panose="02020603050405020304" pitchFamily="18" charset="0"/>
                <a:ea typeface="Calibri" panose="020F0502020204030204" pitchFamily="34" charset="0"/>
              </a:rPr>
              <a:t> não há nenhum dano aos adipócitos, após 24 até 72 horas inicia-se a reação inflamatória, em 7 dias a paniculite intensa se desenvolve e atinge seu pico em aproximadamente 14 dias. Do decimo quarto ao trigésimo dia macrófagos começam a envolver e digerir os adipócitos apoptóticos, durante esse período as células de gordura danificadas começam a ser eliminadas, e os resultados estéticos podem começar a surgir. A partir dos 30 dias a inflamação diminui, mas a atividade fagocitária continua. De 60 a 120 dias, há eliminação efetiva dos adipócitos. Isso ocorre lentamente (durante 90 dias, pelo menos), e os resultados clínicos se consolidam (BORGES e SCORZA, 2014). </a:t>
            </a:r>
            <a:endParaRPr lang="pt-BR" sz="2400" dirty="0"/>
          </a:p>
        </p:txBody>
      </p:sp>
    </p:spTree>
    <p:extLst>
      <p:ext uri="{BB962C8B-B14F-4D97-AF65-F5344CB8AC3E}">
        <p14:creationId xmlns:p14="http://schemas.microsoft.com/office/powerpoint/2010/main" val="2171150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46187C-1A51-F023-851D-31165AEF92B2}"/>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10671FD8-6050-2D49-8E2C-BE81F510D840}"/>
              </a:ext>
            </a:extLst>
          </p:cNvPr>
          <p:cNvSpPr>
            <a:spLocks noGrp="1"/>
          </p:cNvSpPr>
          <p:nvPr>
            <p:ph idx="1"/>
          </p:nvPr>
        </p:nvSpPr>
        <p:spPr/>
        <p:txBody>
          <a:bodyPr>
            <a:normAutofit fontScale="77500" lnSpcReduction="20000"/>
          </a:bodyPr>
          <a:lstStyle/>
          <a:p>
            <a:pPr algn="just">
              <a:lnSpc>
                <a:spcPct val="150000"/>
              </a:lnSpc>
              <a:spcBef>
                <a:spcPts val="0"/>
              </a:spcBef>
            </a:pPr>
            <a:r>
              <a:rPr lang="pt-BR" sz="2400" dirty="0">
                <a:effectLst/>
                <a:latin typeface="Times New Roman" panose="02020603050405020304" pitchFamily="18" charset="0"/>
                <a:ea typeface="Calibri" panose="020F0502020204030204" pitchFamily="34" charset="0"/>
              </a:rPr>
              <a:t>Resultados obtidos após aplicação da </a:t>
            </a:r>
            <a:r>
              <a:rPr lang="pt-BR" sz="2400" dirty="0" err="1">
                <a:effectLst/>
                <a:latin typeface="Times New Roman" panose="02020603050405020304" pitchFamily="18" charset="0"/>
                <a:ea typeface="Calibri" panose="020F0502020204030204" pitchFamily="34" charset="0"/>
              </a:rPr>
              <a:t>criolipólise</a:t>
            </a:r>
            <a:r>
              <a:rPr lang="pt-BR" sz="2400" dirty="0">
                <a:effectLst/>
                <a:latin typeface="Times New Roman" panose="02020603050405020304" pitchFamily="18" charset="0"/>
                <a:ea typeface="Calibri" panose="020F0502020204030204" pitchFamily="34" charset="0"/>
              </a:rPr>
              <a:t> podem continuar evoluindo até seis meses após o tratamento, verificaram redução de 25,5% neste período), reduções significativas na gordura subcutânea (20% a 80%), redução de medidas de cerca de 2,4 cm (circunferência abdominal), mesmo tendo havido aumento de peso corporal nesse período (revelaram também uma redução média de 20% de gordura nas áreas tratadas). Analisadas imagens de ultrassonografia desses pacientes após seis meses, os autores verificaram redução de 19,6% da gordura do abdômen com bons resultados e grande satisfação de seus clientes quando foram avaliados um ano após duas aplicações (intervalo de quatro meses). </a:t>
            </a:r>
            <a:endParaRPr lang="pt-BR" sz="2400" dirty="0"/>
          </a:p>
        </p:txBody>
      </p:sp>
    </p:spTree>
    <p:extLst>
      <p:ext uri="{BB962C8B-B14F-4D97-AF65-F5344CB8AC3E}">
        <p14:creationId xmlns:p14="http://schemas.microsoft.com/office/powerpoint/2010/main" val="2089572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ADA61C-8FF1-59CA-AA37-E66496FCE504}"/>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00BD99D0-1316-49F6-0138-3287C87BBF44}"/>
              </a:ext>
            </a:extLst>
          </p:cNvPr>
          <p:cNvSpPr>
            <a:spLocks noGrp="1"/>
          </p:cNvSpPr>
          <p:nvPr>
            <p:ph idx="1"/>
          </p:nvPr>
        </p:nvSpPr>
        <p:spPr>
          <a:xfrm>
            <a:off x="838200" y="1825624"/>
            <a:ext cx="10515600" cy="4866723"/>
          </a:xfrm>
        </p:spPr>
        <p:txBody>
          <a:bodyPr>
            <a:normAutofit fontScale="85000" lnSpcReduction="10000"/>
          </a:bodyPr>
          <a:lstStyle/>
          <a:p>
            <a:r>
              <a:rPr lang="pt-BR" dirty="0"/>
              <a:t>CONTRA INDICAÇÕES </a:t>
            </a:r>
          </a:p>
          <a:p>
            <a:pPr algn="just">
              <a:lnSpc>
                <a:spcPct val="160000"/>
              </a:lnSpc>
              <a:spcBef>
                <a:spcPts val="0"/>
              </a:spcBef>
            </a:pPr>
            <a:r>
              <a:rPr lang="pt-BR" sz="1800" dirty="0">
                <a:effectLst/>
                <a:latin typeface="Times New Roman" panose="02020603050405020304" pitchFamily="18" charset="0"/>
                <a:ea typeface="Calibri" panose="020F0502020204030204" pitchFamily="34" charset="0"/>
                <a:cs typeface="Arial" panose="020B0604020202020204" pitchFamily="34" charset="0"/>
              </a:rPr>
              <a:t>Hérnia (umbilical, inguinal) no local da aplicação, lesões inflamatórias e/ou infecciosas na pele do local de aplicação (furúnculo, dermatite, eczemas etc.), gestantes,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crioglobulinemia</a:t>
            </a:r>
            <a:r>
              <a:rPr lang="pt-BR" sz="1800" dirty="0">
                <a:effectLst/>
                <a:latin typeface="Times New Roman" panose="02020603050405020304" pitchFamily="18" charset="0"/>
                <a:ea typeface="Calibri" panose="020F0502020204030204" pitchFamily="34" charset="0"/>
                <a:cs typeface="Arial" panose="020B0604020202020204" pitchFamily="34" charset="0"/>
              </a:rPr>
              <a:t> (doença rara associada a mieloma múltiplo, hepatite C, doenças reumatoides com fator reumatoide positivo etc.), lúpus eritematoso sistêmico, síndrome de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Sjögren</a:t>
            </a:r>
            <a:r>
              <a:rPr lang="pt-BR" sz="1800" dirty="0">
                <a:effectLst/>
                <a:latin typeface="Times New Roman" panose="02020603050405020304" pitchFamily="18" charset="0"/>
                <a:ea typeface="Calibri" panose="020F0502020204030204" pitchFamily="34" charset="0"/>
                <a:cs typeface="Arial" panose="020B0604020202020204" pitchFamily="34" charset="0"/>
              </a:rPr>
              <a:t> e artrite reumatoide, hemoglobinúria paroxística ao frio (anemia hemolítica autoimune), alterações de sensibilidade (de causa neurológica ou não), tumor ou câncer no local de aplicação, feridas abertas, cirurgia recente no local da aplicação, fenômenos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vasoespásticos</a:t>
            </a:r>
            <a:r>
              <a:rPr lang="pt-BR" sz="1800" dirty="0">
                <a:effectLst/>
                <a:latin typeface="Times New Roman" panose="02020603050405020304" pitchFamily="18" charset="0"/>
                <a:ea typeface="Calibri" panose="020F0502020204030204" pitchFamily="34" charset="0"/>
                <a:cs typeface="Arial" panose="020B0604020202020204" pitchFamily="34" charset="0"/>
              </a:rPr>
              <a:t> (síndrome de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Raynaud</a:t>
            </a:r>
            <a:r>
              <a:rPr lang="pt-BR" sz="1800" dirty="0">
                <a:effectLst/>
                <a:latin typeface="Times New Roman" panose="02020603050405020304" pitchFamily="18" charset="0"/>
                <a:ea typeface="Calibri" panose="020F0502020204030204" pitchFamily="34" charset="0"/>
                <a:cs typeface="Arial" panose="020B0604020202020204" pitchFamily="34" charset="0"/>
              </a:rPr>
              <a:t> e acrocianose), áreas com circulação periférica insuficiente, alergia ou hipersensibilidade ao frio, uso de anticoagulantes, diabetes, doença  neurológica conhecida (esclerose múltipla, neuralgia pós-herpética etc.), angioedema hereditário,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trombofilia</a:t>
            </a:r>
            <a:r>
              <a:rPr lang="pt-BR" sz="1800" dirty="0">
                <a:effectLst/>
                <a:latin typeface="Times New Roman" panose="02020603050405020304" pitchFamily="18" charset="0"/>
                <a:ea typeface="Calibri" panose="020F0502020204030204" pitchFamily="34" charset="0"/>
                <a:cs typeface="Arial" panose="020B0604020202020204" pitchFamily="34" charset="0"/>
              </a:rPr>
              <a:t> (distúrbios de coagulação – tendência a trombos),  varizes no local da aplicação, excesso de peso (obesidade), uso de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isotretinoina</a:t>
            </a:r>
            <a:r>
              <a:rPr lang="pt-BR" sz="1800" dirty="0">
                <a:effectLst/>
                <a:latin typeface="Times New Roman" panose="02020603050405020304" pitchFamily="18" charset="0"/>
                <a:ea typeface="Calibri" panose="020F0502020204030204" pitchFamily="34" charset="0"/>
                <a:cs typeface="Arial" panose="020B0604020202020204" pitchFamily="34" charset="0"/>
              </a:rPr>
              <a:t>, uso de glicocorticoides, casos de </a:t>
            </a:r>
            <a:r>
              <a:rPr lang="pt-BR" sz="1800" dirty="0" err="1">
                <a:effectLst/>
                <a:latin typeface="Times New Roman" panose="02020603050405020304" pitchFamily="18" charset="0"/>
                <a:ea typeface="Calibri" panose="020F0502020204030204" pitchFamily="34" charset="0"/>
                <a:cs typeface="Arial" panose="020B0604020202020204" pitchFamily="34" charset="0"/>
              </a:rPr>
              <a:t>ictiose</a:t>
            </a:r>
            <a:r>
              <a:rPr lang="pt-BR" sz="1800" dirty="0">
                <a:effectLst/>
                <a:latin typeface="Times New Roman" panose="02020603050405020304" pitchFamily="18" charset="0"/>
                <a:ea typeface="Calibri" panose="020F0502020204030204" pitchFamily="34" charset="0"/>
                <a:cs typeface="Arial" panose="020B0604020202020204" pitchFamily="34" charset="0"/>
              </a:rPr>
              <a:t>, obesidade mórbida considerado IMC acima de 27, preenchimentos e silicones, crianças e adolescentes, pós parto recente, pós abdominoplastia e lipoaspiração, diástase, fumo e álcool. Deve ser levado em consideração um tratamento seguro para paciente normal ou sobrepeso IMC até 27, e não realizar em pacientes obesos ou obesidade mórbida. O excesso de tecido adiposo aumenta os marcadores inflamatórios, o que reflete em um déficit imunitário e a baixa do sistema imune ocasiona as lesões e pode ser marcador de hiperplasia paradoxal (BORGES e SCORZA, 2016)</a:t>
            </a:r>
            <a:endParaRPr lang="pt-BR" sz="1800" dirty="0">
              <a:effectLst/>
              <a:latin typeface="Calibri" panose="020F0502020204030204" pitchFamily="34" charset="0"/>
              <a:ea typeface="Calibri" panose="020F0502020204030204" pitchFamily="34" charset="0"/>
              <a:cs typeface="Arial" panose="020B0604020202020204" pitchFamily="34" charset="0"/>
            </a:endParaRPr>
          </a:p>
          <a:p>
            <a:endParaRPr lang="pt-BR" dirty="0"/>
          </a:p>
        </p:txBody>
      </p:sp>
    </p:spTree>
    <p:extLst>
      <p:ext uri="{BB962C8B-B14F-4D97-AF65-F5344CB8AC3E}">
        <p14:creationId xmlns:p14="http://schemas.microsoft.com/office/powerpoint/2010/main" val="2850569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FCEB3A-AA1F-A361-E13A-7F3CB3610FCC}"/>
              </a:ext>
            </a:extLst>
          </p:cNvPr>
          <p:cNvSpPr>
            <a:spLocks noGrp="1"/>
          </p:cNvSpPr>
          <p:nvPr>
            <p:ph type="title"/>
          </p:nvPr>
        </p:nvSpPr>
        <p:spPr/>
        <p:txBody>
          <a:bodyPr/>
          <a:lstStyle/>
          <a:p>
            <a:r>
              <a:rPr lang="pt-BR" dirty="0" err="1"/>
              <a:t>Criolipólise</a:t>
            </a:r>
            <a:r>
              <a:rPr lang="pt-BR" dirty="0"/>
              <a:t> </a:t>
            </a:r>
          </a:p>
        </p:txBody>
      </p:sp>
      <p:sp>
        <p:nvSpPr>
          <p:cNvPr id="3" name="Espaço Reservado para Conteúdo 2">
            <a:extLst>
              <a:ext uri="{FF2B5EF4-FFF2-40B4-BE49-F238E27FC236}">
                <a16:creationId xmlns:a16="http://schemas.microsoft.com/office/drawing/2014/main" id="{70876FEE-816B-9B99-932C-099BB2ED5378}"/>
              </a:ext>
            </a:extLst>
          </p:cNvPr>
          <p:cNvSpPr>
            <a:spLocks noGrp="1"/>
          </p:cNvSpPr>
          <p:nvPr>
            <p:ph idx="1"/>
          </p:nvPr>
        </p:nvSpPr>
        <p:spPr>
          <a:xfrm>
            <a:off x="838200" y="1825625"/>
            <a:ext cx="10515600" cy="4840218"/>
          </a:xfrm>
        </p:spPr>
        <p:txBody>
          <a:bodyPr>
            <a:normAutofit fontScale="85000" lnSpcReduction="20000"/>
          </a:bodyPr>
          <a:lstStyle/>
          <a:p>
            <a:pPr algn="just">
              <a:lnSpc>
                <a:spcPct val="170000"/>
              </a:lnSpc>
              <a:spcBef>
                <a:spcPts val="0"/>
              </a:spcBef>
            </a:pPr>
            <a:r>
              <a:rPr lang="pt-BR" dirty="0"/>
              <a:t>INTERFERENTES </a:t>
            </a:r>
          </a:p>
          <a:p>
            <a:pPr algn="just">
              <a:lnSpc>
                <a:spcPct val="170000"/>
              </a:lnSpc>
              <a:spcBef>
                <a:spcPts val="0"/>
              </a:spcBef>
            </a:pPr>
            <a:r>
              <a:rPr lang="pt-BR" dirty="0"/>
              <a:t>Estilo de vida</a:t>
            </a:r>
          </a:p>
          <a:p>
            <a:pPr algn="just">
              <a:lnSpc>
                <a:spcPct val="170000"/>
              </a:lnSpc>
              <a:spcBef>
                <a:spcPts val="0"/>
              </a:spcBef>
            </a:pPr>
            <a:r>
              <a:rPr lang="pt-BR" dirty="0"/>
              <a:t>Baixa nutricional</a:t>
            </a:r>
          </a:p>
          <a:p>
            <a:pPr algn="just">
              <a:lnSpc>
                <a:spcPct val="170000"/>
              </a:lnSpc>
              <a:spcBef>
                <a:spcPts val="0"/>
              </a:spcBef>
            </a:pPr>
            <a:r>
              <a:rPr lang="pt-BR" dirty="0"/>
              <a:t>Alto consumo carboidratos </a:t>
            </a:r>
          </a:p>
          <a:p>
            <a:pPr algn="just">
              <a:lnSpc>
                <a:spcPct val="170000"/>
              </a:lnSpc>
              <a:spcBef>
                <a:spcPts val="0"/>
              </a:spcBef>
            </a:pPr>
            <a:r>
              <a:rPr lang="pt-BR" dirty="0"/>
              <a:t>Consumo de tabaco e álcool (álcool zero)</a:t>
            </a:r>
          </a:p>
          <a:p>
            <a:pPr algn="just">
              <a:lnSpc>
                <a:spcPct val="170000"/>
              </a:lnSpc>
              <a:spcBef>
                <a:spcPts val="0"/>
              </a:spcBef>
            </a:pPr>
            <a:r>
              <a:rPr lang="pt-BR" dirty="0"/>
              <a:t>Corte de carboidratos (baixa de resistência insulínica)</a:t>
            </a:r>
          </a:p>
          <a:p>
            <a:pPr algn="just">
              <a:lnSpc>
                <a:spcPct val="170000"/>
              </a:lnSpc>
              <a:spcBef>
                <a:spcPts val="0"/>
              </a:spcBef>
            </a:pPr>
            <a:r>
              <a:rPr lang="pt-BR" dirty="0"/>
              <a:t>Atividade física (cárdio de no mínimo de 30 min dia)</a:t>
            </a:r>
          </a:p>
          <a:p>
            <a:pPr algn="just">
              <a:lnSpc>
                <a:spcPct val="170000"/>
              </a:lnSpc>
              <a:spcBef>
                <a:spcPts val="0"/>
              </a:spcBef>
            </a:pPr>
            <a:r>
              <a:rPr lang="pt-BR" dirty="0"/>
              <a:t>Uso de antioxidantes</a:t>
            </a:r>
          </a:p>
          <a:p>
            <a:pPr algn="just">
              <a:lnSpc>
                <a:spcPct val="170000"/>
              </a:lnSpc>
              <a:spcBef>
                <a:spcPts val="0"/>
              </a:spcBef>
            </a:pPr>
            <a:r>
              <a:rPr lang="pt-BR" dirty="0"/>
              <a:t>Não pode aquecer o tecido </a:t>
            </a:r>
          </a:p>
          <a:p>
            <a:pPr algn="just">
              <a:lnSpc>
                <a:spcPct val="170000"/>
              </a:lnSpc>
              <a:spcBef>
                <a:spcPts val="0"/>
              </a:spcBef>
            </a:pPr>
            <a:r>
              <a:rPr lang="pt-BR" dirty="0"/>
              <a:t>Não pode fazer uso de antibióticos ou anti-inflamatórios </a:t>
            </a:r>
          </a:p>
          <a:p>
            <a:pPr algn="just">
              <a:lnSpc>
                <a:spcPct val="170000"/>
              </a:lnSpc>
              <a:spcBef>
                <a:spcPts val="0"/>
              </a:spcBef>
            </a:pPr>
            <a:r>
              <a:rPr lang="pt-BR" dirty="0"/>
              <a:t>Verificar ativos ou atividade mitocondrial (fazer o preparo)</a:t>
            </a:r>
          </a:p>
        </p:txBody>
      </p:sp>
    </p:spTree>
    <p:extLst>
      <p:ext uri="{BB962C8B-B14F-4D97-AF65-F5344CB8AC3E}">
        <p14:creationId xmlns:p14="http://schemas.microsoft.com/office/powerpoint/2010/main" val="1353140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6B7632-FA08-F9B3-D1E2-D6CB4F40002D}"/>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9F06CEC4-D2E3-74A1-4FA4-7E3F8CA1A511}"/>
              </a:ext>
            </a:extLst>
          </p:cNvPr>
          <p:cNvSpPr>
            <a:spLocks noGrp="1"/>
          </p:cNvSpPr>
          <p:nvPr>
            <p:ph idx="1"/>
          </p:nvPr>
        </p:nvSpPr>
        <p:spPr/>
        <p:txBody>
          <a:bodyPr/>
          <a:lstStyle/>
          <a:p>
            <a:endParaRPr lang="pt-BR"/>
          </a:p>
        </p:txBody>
      </p:sp>
      <p:pic>
        <p:nvPicPr>
          <p:cNvPr id="5" name="Espaço Reservado para Conteúdo 4">
            <a:extLst>
              <a:ext uri="{FF2B5EF4-FFF2-40B4-BE49-F238E27FC236}">
                <a16:creationId xmlns:a16="http://schemas.microsoft.com/office/drawing/2014/main" id="{D35D1E97-F33C-7623-E99C-3D3158211AEB}"/>
              </a:ext>
            </a:extLst>
          </p:cNvPr>
          <p:cNvPicPr>
            <a:picLocks noChangeAspect="1"/>
          </p:cNvPicPr>
          <p:nvPr/>
        </p:nvPicPr>
        <p:blipFill rotWithShape="1">
          <a:blip r:embed="rId2"/>
          <a:srcRect t="22859" b="-33"/>
          <a:stretch/>
        </p:blipFill>
        <p:spPr>
          <a:xfrm>
            <a:off x="1599811" y="231710"/>
            <a:ext cx="8992377" cy="6394579"/>
          </a:xfrm>
          <a:prstGeom prst="rect">
            <a:avLst/>
          </a:prstGeom>
        </p:spPr>
      </p:pic>
    </p:spTree>
    <p:extLst>
      <p:ext uri="{BB962C8B-B14F-4D97-AF65-F5344CB8AC3E}">
        <p14:creationId xmlns:p14="http://schemas.microsoft.com/office/powerpoint/2010/main" val="3049295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70C022-8903-49AC-F225-241BB9F18AAB}"/>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4FC412AB-2182-01CC-3E9E-3E62091095BF}"/>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6E9DB6A7-AF52-E88B-C25B-39123FB47E77}"/>
              </a:ext>
            </a:extLst>
          </p:cNvPr>
          <p:cNvPicPr>
            <a:picLocks noChangeAspect="1"/>
          </p:cNvPicPr>
          <p:nvPr/>
        </p:nvPicPr>
        <p:blipFill rotWithShape="1">
          <a:blip r:embed="rId2"/>
          <a:srcRect t="22700"/>
          <a:stretch/>
        </p:blipFill>
        <p:spPr>
          <a:xfrm>
            <a:off x="1814145" y="119143"/>
            <a:ext cx="8563709" cy="6619714"/>
          </a:xfrm>
          <a:prstGeom prst="rect">
            <a:avLst/>
          </a:prstGeom>
        </p:spPr>
      </p:pic>
    </p:spTree>
    <p:extLst>
      <p:ext uri="{BB962C8B-B14F-4D97-AF65-F5344CB8AC3E}">
        <p14:creationId xmlns:p14="http://schemas.microsoft.com/office/powerpoint/2010/main" val="435739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277DBB-E735-F127-4380-879BA295F285}"/>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455578C9-29B8-B7EA-B606-7B546A4EE64A}"/>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451FDF35-5EC2-BDA6-A373-BA8D4D1D45A9}"/>
              </a:ext>
            </a:extLst>
          </p:cNvPr>
          <p:cNvPicPr>
            <a:picLocks noChangeAspect="1"/>
          </p:cNvPicPr>
          <p:nvPr/>
        </p:nvPicPr>
        <p:blipFill rotWithShape="1">
          <a:blip r:embed="rId2"/>
          <a:srcRect t="23750"/>
          <a:stretch/>
        </p:blipFill>
        <p:spPr>
          <a:xfrm>
            <a:off x="1834075" y="121196"/>
            <a:ext cx="8676249" cy="6615608"/>
          </a:xfrm>
          <a:prstGeom prst="rect">
            <a:avLst/>
          </a:prstGeom>
        </p:spPr>
      </p:pic>
    </p:spTree>
    <p:extLst>
      <p:ext uri="{BB962C8B-B14F-4D97-AF65-F5344CB8AC3E}">
        <p14:creationId xmlns:p14="http://schemas.microsoft.com/office/powerpoint/2010/main" val="1700080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0D475-92DB-9C0D-D24C-2A5AC8756B51}"/>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9B8AFA1-0C31-5010-3EDE-D3265FD19748}"/>
              </a:ext>
            </a:extLst>
          </p:cNvPr>
          <p:cNvSpPr>
            <a:spLocks noGrp="1"/>
          </p:cNvSpPr>
          <p:nvPr>
            <p:ph idx="1"/>
          </p:nvPr>
        </p:nvSpPr>
        <p:spPr/>
        <p:txBody>
          <a:bodyPr/>
          <a:lstStyle/>
          <a:p>
            <a:endParaRPr lang="pt-BR"/>
          </a:p>
        </p:txBody>
      </p:sp>
      <p:pic>
        <p:nvPicPr>
          <p:cNvPr id="4" name="Picture 4" descr="Resultado de imagem para antes e depois da criolipÃ³lise">
            <a:extLst>
              <a:ext uri="{FF2B5EF4-FFF2-40B4-BE49-F238E27FC236}">
                <a16:creationId xmlns:a16="http://schemas.microsoft.com/office/drawing/2014/main" id="{9F81DBB0-6000-DBB2-A6E9-D08E23AF31B4}"/>
              </a:ext>
            </a:extLst>
          </p:cNvPr>
          <p:cNvPicPr>
            <a:picLocks noChangeAspect="1" noChangeArrowheads="1"/>
          </p:cNvPicPr>
          <p:nvPr/>
        </p:nvPicPr>
        <p:blipFill>
          <a:blip r:embed="rId2"/>
          <a:srcRect/>
          <a:stretch>
            <a:fillRect/>
          </a:stretch>
        </p:blipFill>
        <p:spPr bwMode="auto">
          <a:xfrm>
            <a:off x="984739" y="334108"/>
            <a:ext cx="10940040" cy="6189784"/>
          </a:xfrm>
          <a:prstGeom prst="rect">
            <a:avLst/>
          </a:prstGeom>
          <a:noFill/>
        </p:spPr>
      </p:pic>
    </p:spTree>
    <p:extLst>
      <p:ext uri="{BB962C8B-B14F-4D97-AF65-F5344CB8AC3E}">
        <p14:creationId xmlns:p14="http://schemas.microsoft.com/office/powerpoint/2010/main" val="583701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629E9D-2967-1CA0-EDE3-CD7BF4BE13FC}"/>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7F66830A-82D0-CCC5-0462-01966D272A5D}"/>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BF2C9397-89CC-C2CC-7C0E-612A6A22B49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8406" y="148045"/>
            <a:ext cx="8975188" cy="6340018"/>
          </a:xfrm>
          <a:prstGeom prst="rect">
            <a:avLst/>
          </a:prstGeom>
          <a:noFill/>
          <a:ln>
            <a:noFill/>
          </a:ln>
        </p:spPr>
      </p:pic>
    </p:spTree>
    <p:extLst>
      <p:ext uri="{BB962C8B-B14F-4D97-AF65-F5344CB8AC3E}">
        <p14:creationId xmlns:p14="http://schemas.microsoft.com/office/powerpoint/2010/main" val="3501688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455349-F5F8-482F-87A1-91CB3F892A45}"/>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DE7E0692-54F8-6FBD-FF90-A8F002DFC7DA}"/>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3B1B1AF3-A04D-8360-D7B1-A7B27BBCAAE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7055" y="225083"/>
            <a:ext cx="9775745" cy="6393352"/>
          </a:xfrm>
          <a:prstGeom prst="rect">
            <a:avLst/>
          </a:prstGeom>
          <a:noFill/>
          <a:ln>
            <a:noFill/>
          </a:ln>
        </p:spPr>
      </p:pic>
    </p:spTree>
    <p:extLst>
      <p:ext uri="{BB962C8B-B14F-4D97-AF65-F5344CB8AC3E}">
        <p14:creationId xmlns:p14="http://schemas.microsoft.com/office/powerpoint/2010/main" val="1981042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1FEAB8-325E-6FB9-79D8-B80EE8CDEC63}"/>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96ABC3F2-907C-6496-6C16-F357E5E62D78}"/>
              </a:ext>
            </a:extLst>
          </p:cNvPr>
          <p:cNvSpPr>
            <a:spLocks noGrp="1"/>
          </p:cNvSpPr>
          <p:nvPr>
            <p:ph idx="1"/>
          </p:nvPr>
        </p:nvSpPr>
        <p:spPr/>
        <p:txBody>
          <a:bodyPr/>
          <a:lstStyle/>
          <a:p>
            <a:endParaRPr lang="pt-BR" dirty="0"/>
          </a:p>
        </p:txBody>
      </p:sp>
      <p:pic>
        <p:nvPicPr>
          <p:cNvPr id="4" name="Imagem 3">
            <a:extLst>
              <a:ext uri="{FF2B5EF4-FFF2-40B4-BE49-F238E27FC236}">
                <a16:creationId xmlns:a16="http://schemas.microsoft.com/office/drawing/2014/main" id="{105EA243-A4AB-0EA6-6FD0-9371E1C9994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0024" y="295422"/>
            <a:ext cx="9601200" cy="6352674"/>
          </a:xfrm>
          <a:prstGeom prst="rect">
            <a:avLst/>
          </a:prstGeom>
          <a:noFill/>
          <a:ln>
            <a:noFill/>
          </a:ln>
        </p:spPr>
      </p:pic>
    </p:spTree>
    <p:extLst>
      <p:ext uri="{BB962C8B-B14F-4D97-AF65-F5344CB8AC3E}">
        <p14:creationId xmlns:p14="http://schemas.microsoft.com/office/powerpoint/2010/main" val="2120151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4EC35-7DC3-C3EC-2D4F-0EC726E24FA3}"/>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5B97EBCF-810E-B758-7735-397BC6118DB7}"/>
              </a:ext>
            </a:extLst>
          </p:cNvPr>
          <p:cNvSpPr>
            <a:spLocks noGrp="1"/>
          </p:cNvSpPr>
          <p:nvPr>
            <p:ph idx="1"/>
          </p:nvPr>
        </p:nvSpPr>
        <p:spPr/>
        <p:txBody>
          <a:bodyPr/>
          <a:lstStyle/>
          <a:p>
            <a:endParaRPr lang="pt-BR"/>
          </a:p>
        </p:txBody>
      </p:sp>
      <p:pic>
        <p:nvPicPr>
          <p:cNvPr id="4" name="Imagem 3">
            <a:extLst>
              <a:ext uri="{FF2B5EF4-FFF2-40B4-BE49-F238E27FC236}">
                <a16:creationId xmlns:a16="http://schemas.microsoft.com/office/drawing/2014/main" id="{83721C7E-E576-1936-6077-F96203AB826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9084" y="422031"/>
            <a:ext cx="10389813" cy="6153707"/>
          </a:xfrm>
          <a:prstGeom prst="rect">
            <a:avLst/>
          </a:prstGeom>
          <a:noFill/>
          <a:ln>
            <a:noFill/>
          </a:ln>
        </p:spPr>
      </p:pic>
    </p:spTree>
    <p:extLst>
      <p:ext uri="{BB962C8B-B14F-4D97-AF65-F5344CB8AC3E}">
        <p14:creationId xmlns:p14="http://schemas.microsoft.com/office/powerpoint/2010/main" val="73508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3DC67D-EDD3-E9E4-153E-D2BCE8FD884F}"/>
              </a:ext>
            </a:extLst>
          </p:cNvPr>
          <p:cNvSpPr>
            <a:spLocks noGrp="1"/>
          </p:cNvSpPr>
          <p:nvPr>
            <p:ph type="title"/>
          </p:nvPr>
        </p:nvSpPr>
        <p:spPr/>
        <p:txBody>
          <a:bodyPr/>
          <a:lstStyle/>
          <a:p>
            <a:endParaRPr lang="pt-BR"/>
          </a:p>
        </p:txBody>
      </p:sp>
      <p:graphicFrame>
        <p:nvGraphicFramePr>
          <p:cNvPr id="6" name="Espaço Reservado para Conteúdo 5">
            <a:extLst>
              <a:ext uri="{FF2B5EF4-FFF2-40B4-BE49-F238E27FC236}">
                <a16:creationId xmlns:a16="http://schemas.microsoft.com/office/drawing/2014/main" id="{F3A45206-40E1-A764-8F04-0F46E4150049}"/>
              </a:ext>
            </a:extLst>
          </p:cNvPr>
          <p:cNvGraphicFramePr>
            <a:graphicFrameLocks noGrp="1"/>
          </p:cNvGraphicFramePr>
          <p:nvPr>
            <p:ph idx="1"/>
            <p:extLst>
              <p:ext uri="{D42A27DB-BD31-4B8C-83A1-F6EECF244321}">
                <p14:modId xmlns:p14="http://schemas.microsoft.com/office/powerpoint/2010/main" val="2170759943"/>
              </p:ext>
            </p:extLst>
          </p:nvPr>
        </p:nvGraphicFramePr>
        <p:xfrm>
          <a:off x="1885071" y="1181686"/>
          <a:ext cx="8750103" cy="4445392"/>
        </p:xfrm>
        <a:graphic>
          <a:graphicData uri="http://schemas.openxmlformats.org/drawingml/2006/table">
            <a:tbl>
              <a:tblPr firstRow="1" firstCol="1" bandRow="1">
                <a:tableStyleId>{5C22544A-7EE6-4342-B048-85BDC9FD1C3A}</a:tableStyleId>
              </a:tblPr>
              <a:tblGrid>
                <a:gridCol w="1757343">
                  <a:extLst>
                    <a:ext uri="{9D8B030D-6E8A-4147-A177-3AD203B41FA5}">
                      <a16:colId xmlns:a16="http://schemas.microsoft.com/office/drawing/2014/main" val="3463044066"/>
                    </a:ext>
                  </a:extLst>
                </a:gridCol>
                <a:gridCol w="1739037">
                  <a:extLst>
                    <a:ext uri="{9D8B030D-6E8A-4147-A177-3AD203B41FA5}">
                      <a16:colId xmlns:a16="http://schemas.microsoft.com/office/drawing/2014/main" val="3400209979"/>
                    </a:ext>
                  </a:extLst>
                </a:gridCol>
                <a:gridCol w="1739037">
                  <a:extLst>
                    <a:ext uri="{9D8B030D-6E8A-4147-A177-3AD203B41FA5}">
                      <a16:colId xmlns:a16="http://schemas.microsoft.com/office/drawing/2014/main" val="1727969427"/>
                    </a:ext>
                  </a:extLst>
                </a:gridCol>
                <a:gridCol w="1757343">
                  <a:extLst>
                    <a:ext uri="{9D8B030D-6E8A-4147-A177-3AD203B41FA5}">
                      <a16:colId xmlns:a16="http://schemas.microsoft.com/office/drawing/2014/main" val="2289461916"/>
                    </a:ext>
                  </a:extLst>
                </a:gridCol>
                <a:gridCol w="1757343">
                  <a:extLst>
                    <a:ext uri="{9D8B030D-6E8A-4147-A177-3AD203B41FA5}">
                      <a16:colId xmlns:a16="http://schemas.microsoft.com/office/drawing/2014/main" val="3068313444"/>
                    </a:ext>
                  </a:extLst>
                </a:gridCol>
              </a:tblGrid>
              <a:tr h="635056">
                <a:tc>
                  <a:txBody>
                    <a:bodyPr/>
                    <a:lstStyle/>
                    <a:p>
                      <a:pPr>
                        <a:lnSpc>
                          <a:spcPct val="107000"/>
                        </a:lnSpc>
                        <a:spcAft>
                          <a:spcPts val="800"/>
                        </a:spcAft>
                        <a:buNone/>
                      </a:pPr>
                      <a:r>
                        <a:rPr lang="pt-BR" sz="1100">
                          <a:effectLst/>
                        </a:rPr>
                        <a:t>Coluna1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A-controle</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G</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I</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M-controle</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5744083"/>
                  </a:ext>
                </a:extLst>
              </a:tr>
              <a:tr h="635056">
                <a:tc>
                  <a:txBody>
                    <a:bodyPr/>
                    <a:lstStyle/>
                    <a:p>
                      <a:pPr>
                        <a:lnSpc>
                          <a:spcPct val="107000"/>
                        </a:lnSpc>
                        <a:spcAft>
                          <a:spcPts val="800"/>
                        </a:spcAft>
                        <a:buNone/>
                      </a:pPr>
                      <a:r>
                        <a:rPr lang="pt-BR" sz="1100">
                          <a:effectLst/>
                        </a:rPr>
                        <a:t>Colesterol 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210,924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229,026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214,745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204,435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79788074"/>
                  </a:ext>
                </a:extLst>
              </a:tr>
              <a:tr h="635056">
                <a:tc>
                  <a:txBody>
                    <a:bodyPr/>
                    <a:lstStyle/>
                    <a:p>
                      <a:pPr>
                        <a:lnSpc>
                          <a:spcPct val="107000"/>
                        </a:lnSpc>
                        <a:spcAft>
                          <a:spcPts val="800"/>
                        </a:spcAft>
                        <a:buNone/>
                      </a:pPr>
                      <a:r>
                        <a:rPr lang="pt-BR" sz="1100">
                          <a:effectLst/>
                        </a:rPr>
                        <a:t>Colesterol 2</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158,86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321,907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158,163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160,219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557445264"/>
                  </a:ext>
                </a:extLst>
              </a:tr>
              <a:tr h="635056">
                <a:tc>
                  <a:txBody>
                    <a:bodyPr/>
                    <a:lstStyle/>
                    <a:p>
                      <a:pPr>
                        <a:lnSpc>
                          <a:spcPct val="107000"/>
                        </a:lnSpc>
                        <a:spcAft>
                          <a:spcPts val="800"/>
                        </a:spcAft>
                        <a:buNone/>
                      </a:pPr>
                      <a:r>
                        <a:rPr lang="pt-BR" sz="1100">
                          <a:effectLst/>
                        </a:rPr>
                        <a:t>Colestrol 3</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152,219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185,514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164,257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136,421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782751385"/>
                  </a:ext>
                </a:extLst>
              </a:tr>
              <a:tr h="635056">
                <a:tc>
                  <a:txBody>
                    <a:bodyPr/>
                    <a:lstStyle/>
                    <a:p>
                      <a:pPr>
                        <a:lnSpc>
                          <a:spcPct val="107000"/>
                        </a:lnSpc>
                        <a:spcAft>
                          <a:spcPts val="800"/>
                        </a:spcAft>
                        <a:buNone/>
                      </a:pPr>
                      <a:r>
                        <a:rPr lang="pt-BR" sz="1100">
                          <a:effectLst/>
                        </a:rPr>
                        <a:t>Colesterol 4</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154,979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177,599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163,075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128,507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96177654"/>
                  </a:ext>
                </a:extLst>
              </a:tr>
              <a:tr h="635056">
                <a:tc>
                  <a:txBody>
                    <a:bodyPr/>
                    <a:lstStyle/>
                    <a:p>
                      <a:pPr>
                        <a:lnSpc>
                          <a:spcPct val="107000"/>
                        </a:lnSpc>
                        <a:spcAft>
                          <a:spcPts val="800"/>
                        </a:spcAft>
                        <a:buNone/>
                      </a:pPr>
                      <a:r>
                        <a:rPr lang="pt-BR" sz="1100">
                          <a:effectLst/>
                        </a:rPr>
                        <a:t>Colesterol 5</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144,517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197,279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155,009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135,000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925997534"/>
                  </a:ext>
                </a:extLst>
              </a:tr>
              <a:tr h="635056">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dirty="0">
                        <a:effectLst/>
                        <a:latin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181285292"/>
                  </a:ext>
                </a:extLst>
              </a:tr>
            </a:tbl>
          </a:graphicData>
        </a:graphic>
      </p:graphicFrame>
    </p:spTree>
    <p:extLst>
      <p:ext uri="{BB962C8B-B14F-4D97-AF65-F5344CB8AC3E}">
        <p14:creationId xmlns:p14="http://schemas.microsoft.com/office/powerpoint/2010/main" val="822178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059ED6-F663-CB9E-50DD-CD318533F772}"/>
              </a:ext>
            </a:extLst>
          </p:cNvPr>
          <p:cNvSpPr>
            <a:spLocks noGrp="1"/>
          </p:cNvSpPr>
          <p:nvPr>
            <p:ph type="title"/>
          </p:nvPr>
        </p:nvSpPr>
        <p:spPr/>
        <p:txBody>
          <a:bodyPr/>
          <a:lstStyle/>
          <a:p>
            <a:endParaRPr lang="pt-BR"/>
          </a:p>
        </p:txBody>
      </p:sp>
      <p:graphicFrame>
        <p:nvGraphicFramePr>
          <p:cNvPr id="4" name="Espaço Reservado para Conteúdo 3">
            <a:extLst>
              <a:ext uri="{FF2B5EF4-FFF2-40B4-BE49-F238E27FC236}">
                <a16:creationId xmlns:a16="http://schemas.microsoft.com/office/drawing/2014/main" id="{6FE9C805-DECC-8045-8F36-0D352405B5C6}"/>
              </a:ext>
            </a:extLst>
          </p:cNvPr>
          <p:cNvGraphicFramePr>
            <a:graphicFrameLocks noGrp="1"/>
          </p:cNvGraphicFramePr>
          <p:nvPr>
            <p:ph idx="1"/>
            <p:extLst>
              <p:ext uri="{D42A27DB-BD31-4B8C-83A1-F6EECF244321}">
                <p14:modId xmlns:p14="http://schemas.microsoft.com/office/powerpoint/2010/main" val="2360299299"/>
              </p:ext>
            </p:extLst>
          </p:nvPr>
        </p:nvGraphicFramePr>
        <p:xfrm>
          <a:off x="1219200" y="1631851"/>
          <a:ext cx="9964616" cy="4248445"/>
        </p:xfrm>
        <a:graphic>
          <a:graphicData uri="http://schemas.openxmlformats.org/drawingml/2006/table">
            <a:tbl>
              <a:tblPr firstRow="1" firstCol="1" bandRow="1">
                <a:tableStyleId>{5C22544A-7EE6-4342-B048-85BDC9FD1C3A}</a:tableStyleId>
              </a:tblPr>
              <a:tblGrid>
                <a:gridCol w="2001262">
                  <a:extLst>
                    <a:ext uri="{9D8B030D-6E8A-4147-A177-3AD203B41FA5}">
                      <a16:colId xmlns:a16="http://schemas.microsoft.com/office/drawing/2014/main" val="3785618224"/>
                    </a:ext>
                  </a:extLst>
                </a:gridCol>
                <a:gridCol w="1980415">
                  <a:extLst>
                    <a:ext uri="{9D8B030D-6E8A-4147-A177-3AD203B41FA5}">
                      <a16:colId xmlns:a16="http://schemas.microsoft.com/office/drawing/2014/main" val="16853563"/>
                    </a:ext>
                  </a:extLst>
                </a:gridCol>
                <a:gridCol w="1980415">
                  <a:extLst>
                    <a:ext uri="{9D8B030D-6E8A-4147-A177-3AD203B41FA5}">
                      <a16:colId xmlns:a16="http://schemas.microsoft.com/office/drawing/2014/main" val="3892102911"/>
                    </a:ext>
                  </a:extLst>
                </a:gridCol>
                <a:gridCol w="2001262">
                  <a:extLst>
                    <a:ext uri="{9D8B030D-6E8A-4147-A177-3AD203B41FA5}">
                      <a16:colId xmlns:a16="http://schemas.microsoft.com/office/drawing/2014/main" val="2904773281"/>
                    </a:ext>
                  </a:extLst>
                </a:gridCol>
                <a:gridCol w="2001262">
                  <a:extLst>
                    <a:ext uri="{9D8B030D-6E8A-4147-A177-3AD203B41FA5}">
                      <a16:colId xmlns:a16="http://schemas.microsoft.com/office/drawing/2014/main" val="508729411"/>
                    </a:ext>
                  </a:extLst>
                </a:gridCol>
              </a:tblGrid>
              <a:tr h="849689">
                <a:tc>
                  <a:txBody>
                    <a:bodyPr/>
                    <a:lstStyle/>
                    <a:p>
                      <a:pPr>
                        <a:lnSpc>
                          <a:spcPct val="107000"/>
                        </a:lnSpc>
                        <a:spcAft>
                          <a:spcPts val="800"/>
                        </a:spcAft>
                        <a:buNone/>
                      </a:pPr>
                      <a:r>
                        <a:rPr lang="pt-BR" sz="1100">
                          <a:effectLst/>
                        </a:rPr>
                        <a:t>LDH desidrogen 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50,094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18,715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17,023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02,307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39880888"/>
                  </a:ext>
                </a:extLst>
              </a:tr>
              <a:tr h="849689">
                <a:tc>
                  <a:txBody>
                    <a:bodyPr/>
                    <a:lstStyle/>
                    <a:p>
                      <a:pPr>
                        <a:lnSpc>
                          <a:spcPct val="107000"/>
                        </a:lnSpc>
                        <a:spcAft>
                          <a:spcPts val="800"/>
                        </a:spcAft>
                        <a:buNone/>
                      </a:pPr>
                      <a:r>
                        <a:rPr lang="pt-BR" sz="1100">
                          <a:effectLst/>
                        </a:rPr>
                        <a:t>LDH desidrogen 2</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110,070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108,183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107,000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105,214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155606693"/>
                  </a:ext>
                </a:extLst>
              </a:tr>
              <a:tr h="849689">
                <a:tc>
                  <a:txBody>
                    <a:bodyPr/>
                    <a:lstStyle/>
                    <a:p>
                      <a:pPr>
                        <a:lnSpc>
                          <a:spcPct val="107000"/>
                        </a:lnSpc>
                        <a:spcAft>
                          <a:spcPts val="800"/>
                        </a:spcAft>
                        <a:buNone/>
                      </a:pPr>
                      <a:r>
                        <a:rPr lang="pt-BR" sz="1100">
                          <a:effectLst/>
                        </a:rPr>
                        <a:t>LDH desidrogen 3</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buNone/>
                      </a:pPr>
                      <a:endParaRPr lang="pt-BR" sz="1100">
                        <a:effectLst/>
                        <a:latin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595664879"/>
                  </a:ext>
                </a:extLst>
              </a:tr>
              <a:tr h="849689">
                <a:tc>
                  <a:txBody>
                    <a:bodyPr/>
                    <a:lstStyle/>
                    <a:p>
                      <a:pPr>
                        <a:lnSpc>
                          <a:spcPct val="107000"/>
                        </a:lnSpc>
                        <a:spcAft>
                          <a:spcPts val="800"/>
                        </a:spcAft>
                        <a:buNone/>
                      </a:pPr>
                      <a:r>
                        <a:rPr lang="pt-BR" sz="1100">
                          <a:effectLst/>
                        </a:rPr>
                        <a:t>LDH desidrogen 4</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10,854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06,752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04,671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04,445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245048507"/>
                  </a:ext>
                </a:extLst>
              </a:tr>
              <a:tr h="849689">
                <a:tc>
                  <a:txBody>
                    <a:bodyPr/>
                    <a:lstStyle/>
                    <a:p>
                      <a:pPr>
                        <a:lnSpc>
                          <a:spcPct val="107000"/>
                        </a:lnSpc>
                        <a:spcAft>
                          <a:spcPts val="800"/>
                        </a:spcAft>
                        <a:buNone/>
                      </a:pPr>
                      <a:r>
                        <a:rPr lang="pt-BR" sz="1100">
                          <a:effectLst/>
                        </a:rPr>
                        <a:t>LDH desidrogen 5</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39,391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28,U/L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39,703 U/L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dirty="0">
                          <a:effectLst/>
                        </a:rPr>
                        <a:t>33,272 U/L</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3211819"/>
                  </a:ext>
                </a:extLst>
              </a:tr>
            </a:tbl>
          </a:graphicData>
        </a:graphic>
      </p:graphicFrame>
    </p:spTree>
    <p:extLst>
      <p:ext uri="{BB962C8B-B14F-4D97-AF65-F5344CB8AC3E}">
        <p14:creationId xmlns:p14="http://schemas.microsoft.com/office/powerpoint/2010/main" val="2040540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BEE985-3FAF-B116-8B03-16382496011E}"/>
              </a:ext>
            </a:extLst>
          </p:cNvPr>
          <p:cNvSpPr>
            <a:spLocks noGrp="1"/>
          </p:cNvSpPr>
          <p:nvPr>
            <p:ph type="title"/>
          </p:nvPr>
        </p:nvSpPr>
        <p:spPr/>
        <p:txBody>
          <a:bodyPr/>
          <a:lstStyle/>
          <a:p>
            <a:endParaRPr lang="pt-BR"/>
          </a:p>
        </p:txBody>
      </p:sp>
      <p:graphicFrame>
        <p:nvGraphicFramePr>
          <p:cNvPr id="4" name="Espaço Reservado para Conteúdo 3">
            <a:extLst>
              <a:ext uri="{FF2B5EF4-FFF2-40B4-BE49-F238E27FC236}">
                <a16:creationId xmlns:a16="http://schemas.microsoft.com/office/drawing/2014/main" id="{D974977D-2165-6D97-EDC1-D5E9C373F333}"/>
              </a:ext>
            </a:extLst>
          </p:cNvPr>
          <p:cNvGraphicFramePr>
            <a:graphicFrameLocks noGrp="1"/>
          </p:cNvGraphicFramePr>
          <p:nvPr>
            <p:ph idx="1"/>
            <p:extLst>
              <p:ext uri="{D42A27DB-BD31-4B8C-83A1-F6EECF244321}">
                <p14:modId xmlns:p14="http://schemas.microsoft.com/office/powerpoint/2010/main" val="2925264896"/>
              </p:ext>
            </p:extLst>
          </p:nvPr>
        </p:nvGraphicFramePr>
        <p:xfrm>
          <a:off x="1219200" y="1533377"/>
          <a:ext cx="10358510" cy="4895555"/>
        </p:xfrm>
        <a:graphic>
          <a:graphicData uri="http://schemas.openxmlformats.org/drawingml/2006/table">
            <a:tbl>
              <a:tblPr firstRow="1" firstCol="1" bandRow="1">
                <a:tableStyleId>{5C22544A-7EE6-4342-B048-85BDC9FD1C3A}</a:tableStyleId>
              </a:tblPr>
              <a:tblGrid>
                <a:gridCol w="2080370">
                  <a:extLst>
                    <a:ext uri="{9D8B030D-6E8A-4147-A177-3AD203B41FA5}">
                      <a16:colId xmlns:a16="http://schemas.microsoft.com/office/drawing/2014/main" val="2828761215"/>
                    </a:ext>
                  </a:extLst>
                </a:gridCol>
                <a:gridCol w="2058700">
                  <a:extLst>
                    <a:ext uri="{9D8B030D-6E8A-4147-A177-3AD203B41FA5}">
                      <a16:colId xmlns:a16="http://schemas.microsoft.com/office/drawing/2014/main" val="847517336"/>
                    </a:ext>
                  </a:extLst>
                </a:gridCol>
                <a:gridCol w="2058700">
                  <a:extLst>
                    <a:ext uri="{9D8B030D-6E8A-4147-A177-3AD203B41FA5}">
                      <a16:colId xmlns:a16="http://schemas.microsoft.com/office/drawing/2014/main" val="4073765739"/>
                    </a:ext>
                  </a:extLst>
                </a:gridCol>
                <a:gridCol w="2080370">
                  <a:extLst>
                    <a:ext uri="{9D8B030D-6E8A-4147-A177-3AD203B41FA5}">
                      <a16:colId xmlns:a16="http://schemas.microsoft.com/office/drawing/2014/main" val="48651395"/>
                    </a:ext>
                  </a:extLst>
                </a:gridCol>
                <a:gridCol w="2080370">
                  <a:extLst>
                    <a:ext uri="{9D8B030D-6E8A-4147-A177-3AD203B41FA5}">
                      <a16:colId xmlns:a16="http://schemas.microsoft.com/office/drawing/2014/main" val="1563429243"/>
                    </a:ext>
                  </a:extLst>
                </a:gridCol>
              </a:tblGrid>
              <a:tr h="979111">
                <a:tc>
                  <a:txBody>
                    <a:bodyPr/>
                    <a:lstStyle/>
                    <a:p>
                      <a:pPr>
                        <a:lnSpc>
                          <a:spcPct val="107000"/>
                        </a:lnSpc>
                        <a:spcAft>
                          <a:spcPts val="800"/>
                        </a:spcAft>
                        <a:buNone/>
                      </a:pPr>
                      <a:r>
                        <a:rPr lang="pt-BR" sz="1100">
                          <a:effectLst/>
                        </a:rPr>
                        <a:t>Triglicerideos 1</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122,428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200,846mg/dL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105,372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93,333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34879837"/>
                  </a:ext>
                </a:extLst>
              </a:tr>
              <a:tr h="979111">
                <a:tc>
                  <a:txBody>
                    <a:bodyPr/>
                    <a:lstStyle/>
                    <a:p>
                      <a:pPr>
                        <a:lnSpc>
                          <a:spcPct val="107000"/>
                        </a:lnSpc>
                        <a:spcAft>
                          <a:spcPts val="800"/>
                        </a:spcAft>
                        <a:buNone/>
                      </a:pPr>
                      <a:r>
                        <a:rPr lang="pt-BR" sz="1100">
                          <a:effectLst/>
                        </a:rPr>
                        <a:t>Triglicerideos 2</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67,462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240,034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106,853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75,486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260516907"/>
                  </a:ext>
                </a:extLst>
              </a:tr>
              <a:tr h="979111">
                <a:tc>
                  <a:txBody>
                    <a:bodyPr/>
                    <a:lstStyle/>
                    <a:p>
                      <a:pPr>
                        <a:lnSpc>
                          <a:spcPct val="107000"/>
                        </a:lnSpc>
                        <a:spcAft>
                          <a:spcPts val="800"/>
                        </a:spcAft>
                        <a:buNone/>
                      </a:pPr>
                      <a:r>
                        <a:rPr lang="pt-BR" sz="1100">
                          <a:effectLst/>
                        </a:rPr>
                        <a:t>Triglicerideos 3</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67,337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178,985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115,389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65,753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69316587"/>
                  </a:ext>
                </a:extLst>
              </a:tr>
              <a:tr h="979111">
                <a:tc>
                  <a:txBody>
                    <a:bodyPr/>
                    <a:lstStyle/>
                    <a:p>
                      <a:pPr>
                        <a:lnSpc>
                          <a:spcPct val="107000"/>
                        </a:lnSpc>
                        <a:spcAft>
                          <a:spcPts val="800"/>
                        </a:spcAft>
                        <a:buNone/>
                      </a:pPr>
                      <a:r>
                        <a:rPr lang="pt-BR" sz="1100">
                          <a:effectLst/>
                        </a:rPr>
                        <a:t>Triglicerideos 4</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82,538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263,875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118,706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77,267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544079658"/>
                  </a:ext>
                </a:extLst>
              </a:tr>
              <a:tr h="979111">
                <a:tc>
                  <a:txBody>
                    <a:bodyPr/>
                    <a:lstStyle/>
                    <a:p>
                      <a:pPr>
                        <a:lnSpc>
                          <a:spcPct val="107000"/>
                        </a:lnSpc>
                        <a:spcAft>
                          <a:spcPts val="800"/>
                        </a:spcAft>
                        <a:buNone/>
                      </a:pPr>
                      <a:r>
                        <a:rPr lang="pt-BR" sz="1100">
                          <a:effectLst/>
                        </a:rPr>
                        <a:t>Triglicerideos 5</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48,909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229/712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a:effectLst/>
                        </a:rPr>
                        <a:t>81,878 mg/dL</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nSpc>
                          <a:spcPct val="107000"/>
                        </a:lnSpc>
                        <a:spcAft>
                          <a:spcPts val="800"/>
                        </a:spcAft>
                        <a:buNone/>
                      </a:pPr>
                      <a:r>
                        <a:rPr lang="pt-BR" sz="1100" dirty="0">
                          <a:effectLst/>
                        </a:rPr>
                        <a:t>58,000 mg/</a:t>
                      </a:r>
                      <a:r>
                        <a:rPr lang="pt-BR" sz="1100" dirty="0" err="1">
                          <a:effectLst/>
                        </a:rPr>
                        <a:t>dL</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254223228"/>
                  </a:ext>
                </a:extLst>
              </a:tr>
            </a:tbl>
          </a:graphicData>
        </a:graphic>
      </p:graphicFrame>
    </p:spTree>
    <p:extLst>
      <p:ext uri="{BB962C8B-B14F-4D97-AF65-F5344CB8AC3E}">
        <p14:creationId xmlns:p14="http://schemas.microsoft.com/office/powerpoint/2010/main" val="1197419273"/>
      </p:ext>
    </p:extLst>
  </p:cSld>
  <p:clrMapOvr>
    <a:masterClrMapping/>
  </p:clrMapOvr>
</p:sld>
</file>

<file path=ppt/theme/theme1.xml><?xml version="1.0" encoding="utf-8"?>
<a:theme xmlns:a="http://schemas.openxmlformats.org/drawingml/2006/main" name="Cortar">
  <a:themeElements>
    <a:clrScheme name="Cortar">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ortar">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rtar">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Cortar</Template>
  <TotalTime>25</TotalTime>
  <Words>1389</Words>
  <Application>Microsoft Office PowerPoint</Application>
  <PresentationFormat>Widescreen</PresentationFormat>
  <Paragraphs>121</Paragraphs>
  <Slides>33</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33</vt:i4>
      </vt:variant>
    </vt:vector>
  </HeadingPairs>
  <TitlesOfParts>
    <vt:vector size="37" baseType="lpstr">
      <vt:lpstr>Calibri</vt:lpstr>
      <vt:lpstr>Franklin Gothic Book</vt:lpstr>
      <vt:lpstr>Times New Roman</vt:lpstr>
      <vt:lpstr>Cortar</vt:lpstr>
      <vt:lpstr>Criolipolise </vt:lpstr>
      <vt:lpstr>Apresentação do PowerPoint</vt:lpstr>
      <vt:lpstr>Apresentação do PowerPoint</vt:lpstr>
      <vt:lpstr>Apresentação do PowerPoint</vt:lpstr>
      <vt:lpstr>Apresentação do PowerPoint</vt:lpstr>
      <vt:lpstr>Criolipólise </vt:lpstr>
      <vt:lpstr>Apresentação do PowerPoint</vt:lpstr>
      <vt:lpstr>Apresentação do PowerPoint</vt:lpstr>
      <vt:lpstr>Criolipólise </vt:lpstr>
      <vt:lpstr>Criolipolise </vt:lpstr>
      <vt:lpstr>Apresentação do PowerPoint</vt:lpstr>
      <vt:lpstr>Criolipolise </vt:lpstr>
      <vt:lpstr>Criolipólise </vt:lpstr>
      <vt:lpstr>Criolipólise </vt:lpstr>
      <vt:lpstr>Criolipólise </vt:lpstr>
      <vt:lpstr>Criolipólise </vt:lpstr>
      <vt:lpstr>Criolipólise </vt:lpstr>
      <vt:lpstr>Criolipólise </vt:lpstr>
      <vt:lpstr>Criolipólise </vt:lpstr>
      <vt:lpstr>Criolipólise </vt:lpstr>
      <vt:lpstr>Criolipólise </vt:lpstr>
      <vt:lpstr>Criolipólise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Criolipolise </dc:title>
  <dc:creator>Mariana</dc:creator>
  <cp:lastModifiedBy>mariana justi</cp:lastModifiedBy>
  <cp:revision>8</cp:revision>
  <dcterms:created xsi:type="dcterms:W3CDTF">2025-03-13T21:06:54Z</dcterms:created>
  <dcterms:modified xsi:type="dcterms:W3CDTF">2025-08-10T22:19:41Z</dcterms:modified>
</cp:coreProperties>
</file>