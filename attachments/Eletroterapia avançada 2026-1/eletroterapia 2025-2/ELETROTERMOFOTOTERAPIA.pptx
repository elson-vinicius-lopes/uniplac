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1504D-4B1C-5D35-0425-18B8618A2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3BEF4-A001-DDBB-AE23-F24010953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826C4F-2B44-7324-7FE6-5171D2A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503E60-19F6-B21D-1486-02A78829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093280-EB78-D460-3926-5753D776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93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28A85-8363-7A84-8EDC-AD24A10A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DD755-712E-6434-33F3-D7F97EE42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28404-D45B-628B-3FE2-6C1E7782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86E8B8-17A1-510E-0548-7E8804EC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097CC7-B5D7-87BA-186A-A8D28F5D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81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D67B1-AB17-6D52-0055-C327E160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71FB3-7827-F65A-ABC4-218D59D46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0A1FE-4906-51C7-CD90-5784FA34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22C653-706D-6D15-4176-FE671B32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4D24C5-2D50-DE85-0DCF-B4B8B672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19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13286-F12B-F68C-E583-46C8D9AC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BDC64-5CF8-F27E-98E7-CD5DFD718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F32F9C-836F-BE1D-0F91-BCA0F4DA3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D0A17F-2C54-A4F3-C349-1E244906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69FAA9-414C-7D05-86DF-A2BA6945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6DD400-961C-B1F8-5620-DE9D62CF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27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4E9F0-26A8-2BDE-ADE0-03CA84EC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C38822-9320-01FC-053C-357AFB3A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96E5C9-AAD7-8D34-6E7C-7601B9C9A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067430-452C-0059-D169-D1E52A1AD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AA39CA-11AF-C4AE-EFCB-6E180DC29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C1FEE2-E7C3-3AF4-3DC4-1ACE49BF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1D9355F-753D-29CD-FE8B-D0CDDD12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690B1B-E109-4756-48FB-2546F5DA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00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0D96B-CA2B-0C6E-F816-8F769D1C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F9FB8B-BA7D-1BF6-6C30-118ACEC1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F7C082-552D-5C80-A764-698F5648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532E1C-958B-D141-7796-CFA4F0A2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00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BBB9BF-8D0C-7685-6B97-FF9F08C8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04BEA5-F8EB-5112-38B8-78344FD6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CC03D8-C960-4063-1C15-E1CEDC17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52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EAEFD-0A4C-829A-9A16-67B36856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BA94B-6093-5C02-8E71-85E3C2470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64BC34-087D-E68A-68C1-F59F7EA2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7DED4A-6B39-B8DC-C5ED-78A21F1F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1C8085-3FAC-A2E1-8205-24D6B785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2029DF-6C6C-EC79-7C08-89DE2913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42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95850-2206-0B0F-2107-083C3279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E81FB9-C5D2-686E-B55A-0C6536F91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E6D520-459F-9500-E245-D4F7D26D8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2C6898-0BB4-B943-1912-BD9E9854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1B228-9A81-2822-442D-ABCFB2C8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BAE3F9-2CD9-AB2B-664D-05240922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5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4A9A4-8B2D-8C67-61C8-622D9D1E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888C2C-4B17-28D3-B71D-6EF60BBCC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DE47E-63DC-849F-AFCD-D790B2AF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7F806D-8DCB-5B15-6866-FB7152B82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0D4622-4878-0914-507F-00E611B1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5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957D58-0E19-6AA6-2FF1-16E338063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CCC50E-CC1E-B39F-86C5-D072C90C2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A7ECAF-6660-8B63-6454-2610BB88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6D5556-FABA-E0BB-84B8-D4B88D91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ECD2CA-D1D1-DB34-D268-80CF76D7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46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899FE8-52DB-0657-AF08-6E755D2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2EA328-97BE-A891-74D7-F9352D453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88C79D-A57A-5C87-CF5D-48D33FB6A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D990A-0BE0-4DCF-8653-9D5B98384CFC}" type="datetimeFigureOut">
              <a:rPr lang="pt-BR" smtClean="0"/>
              <a:t>27/03/2025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DA23AA-F9E1-EB36-96A2-877D7C500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17E7A4-A84C-1555-46B9-4E199EB7A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AAE8A-E79A-4CA0-AC9E-8C1D627CDE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15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33756-1D5D-476D-592C-7D55B751F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225" y="1122363"/>
            <a:ext cx="9395791" cy="2387600"/>
          </a:xfrm>
        </p:spPr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F3F65D-405D-A525-3060-F0B4DF9F27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93475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C55E9-59DB-4305-70B1-BE78C0F4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0DE17F-0FB6-283F-31FA-2BFED0D1C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São os tipos de luzes para fins terapêuticos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São pacotes de energia que interagem com o tecido biológico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Campos luminosos: laser, LED, LIP</a:t>
            </a:r>
          </a:p>
        </p:txBody>
      </p:sp>
    </p:spTree>
    <p:extLst>
      <p:ext uri="{BB962C8B-B14F-4D97-AF65-F5344CB8AC3E}">
        <p14:creationId xmlns:p14="http://schemas.microsoft.com/office/powerpoint/2010/main" val="122229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0ADAD-74CC-B6BC-CC81-71EE9C13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647F15-AC16-2AF9-E727-AD16A0F28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LASER monocromático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Luz amplificada por emissão estimulada de radiação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LED monocromático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Emissão de luz por diodo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LIP policromático (emite a luz em vários comprimentos de onda)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Luz intensa pulsada </a:t>
            </a:r>
          </a:p>
        </p:txBody>
      </p:sp>
    </p:spTree>
    <p:extLst>
      <p:ext uri="{BB962C8B-B14F-4D97-AF65-F5344CB8AC3E}">
        <p14:creationId xmlns:p14="http://schemas.microsoft.com/office/powerpoint/2010/main" val="174101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A6694-348D-CA94-FDFC-61C9AA69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pic>
        <p:nvPicPr>
          <p:cNvPr id="1026" name="Picture 2" descr="Espectro Eletromagnético - InfoEscola">
            <a:extLst>
              <a:ext uri="{FF2B5EF4-FFF2-40B4-BE49-F238E27FC236}">
                <a16:creationId xmlns:a16="http://schemas.microsoft.com/office/drawing/2014/main" id="{6519D786-5142-8FAA-6ED4-FC9E01548A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9" y="1690688"/>
            <a:ext cx="8391522" cy="473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72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5DC09-52D4-66E9-D059-E5B62116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pic>
        <p:nvPicPr>
          <p:cNvPr id="2052" name="Picture 4" descr="Luz e Cor: Comprimento de onda do espectro visivel">
            <a:extLst>
              <a:ext uri="{FF2B5EF4-FFF2-40B4-BE49-F238E27FC236}">
                <a16:creationId xmlns:a16="http://schemas.microsoft.com/office/drawing/2014/main" id="{810A7137-17F2-13A8-19B8-6062A9C2C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44" y="2358886"/>
            <a:ext cx="11835211" cy="341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39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AC1F-8390-9F03-E355-062729C9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E71FE14-BB51-912E-83E2-347FAFBF7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010332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699641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356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COMPRIMENTO DE ONDA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6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7030A0"/>
                          </a:solidFill>
                        </a:rPr>
                        <a:t>VIOLETA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370 – 450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66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00B0F0"/>
                          </a:solidFill>
                        </a:rPr>
                        <a:t>AZUL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450 – 495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92D050"/>
                          </a:solidFill>
                        </a:rPr>
                        <a:t>VERDE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495 – 570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6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FF00"/>
                          </a:solidFill>
                        </a:rPr>
                        <a:t>AMARELO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570 – 590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1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C000"/>
                          </a:solidFill>
                        </a:rPr>
                        <a:t>LARANJA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590 – 620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06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VERMELHO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620 – 750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46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INFRAVERMELHO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750 – 1200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29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52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535FB-1AC5-DBA2-5D4C-0D44F080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5CA7AF-69F0-26AF-7CD6-C40D88DF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especificidade de absorção da luz pelas células é conhecida como cromóforos.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Onde tem muita capacidade de absorver energia.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Um cromóforo é uma molécula capaz de absorver uma luz especifica.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O comprimento de onda atinge um tecido alvo.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luz necessita de energia suficiente para produzir seu efeito.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556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3731F-F534-3A0E-7292-4255DCE7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95A02D-751C-D3A6-A17D-47D2FDBE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NIVEIS DE POTENCIA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ALTA POTENCIA:  Laser cirúrgico – temperaturas ate 100°C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MEDIA POTENCIA: Laser e LIP – temperatura ate 60°C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BAIXA POTENCIA: Laser e LED – somente fonte de luz </a:t>
            </a:r>
          </a:p>
        </p:txBody>
      </p:sp>
    </p:spTree>
    <p:extLst>
      <p:ext uri="{BB962C8B-B14F-4D97-AF65-F5344CB8AC3E}">
        <p14:creationId xmlns:p14="http://schemas.microsoft.com/office/powerpoint/2010/main" val="295303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B7425-B898-20DE-67E0-CAE33226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08B1F-D693-7BF4-7309-C6D7B0427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 descr="Material Didático - IMD">
            <a:extLst>
              <a:ext uri="{FF2B5EF4-FFF2-40B4-BE49-F238E27FC236}">
                <a16:creationId xmlns:a16="http://schemas.microsoft.com/office/drawing/2014/main" id="{54BD680A-6E66-8649-44AA-416CE9794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387" y="1451911"/>
            <a:ext cx="6015226" cy="540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53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B3739-3752-65AB-0C98-593D9C44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3A4F5-8CC2-34D8-9AD0-C821C5B32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Picture 4" descr="comprimentos de onda - Body Health Brasil">
            <a:extLst>
              <a:ext uri="{FF2B5EF4-FFF2-40B4-BE49-F238E27FC236}">
                <a16:creationId xmlns:a16="http://schemas.microsoft.com/office/drawing/2014/main" id="{C26D8871-71C0-E067-3CDE-A0EAD6D9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4" y="36813"/>
            <a:ext cx="10654747" cy="701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7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19C27-2B2E-A3FD-AAC5-E3B8249E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6C204A2-9D16-72BD-23C0-BC1CB56C71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425406"/>
              </p:ext>
            </p:extLst>
          </p:nvPr>
        </p:nvGraphicFramePr>
        <p:xfrm>
          <a:off x="838200" y="1918390"/>
          <a:ext cx="105156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04085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6085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LASER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COMPRIMENTO DE ONDA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67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ND </a:t>
                      </a:r>
                      <a:r>
                        <a:rPr lang="pt-BR" dirty="0" err="1"/>
                        <a:t>Yag</a:t>
                      </a:r>
                      <a:r>
                        <a:rPr lang="pt-BR" dirty="0"/>
                        <a:t> Superficial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532 </a:t>
                      </a:r>
                      <a:r>
                        <a:rPr lang="pt-BR" dirty="0" err="1"/>
                        <a:t>nm</a:t>
                      </a:r>
                      <a:r>
                        <a:rPr lang="pt-B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0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Corantes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585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Rubi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694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037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Alexandrite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755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198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Diodo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800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102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ND </a:t>
                      </a:r>
                      <a:r>
                        <a:rPr lang="pt-BR" dirty="0" err="1"/>
                        <a:t>Yag</a:t>
                      </a:r>
                      <a:r>
                        <a:rPr lang="pt-BR" dirty="0"/>
                        <a:t> profundo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1064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47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Thulium</a:t>
                      </a:r>
                      <a:r>
                        <a:rPr lang="pt-B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1927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7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Er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Yag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2940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3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10600 </a:t>
                      </a:r>
                      <a:r>
                        <a:rPr lang="pt-BR" dirty="0" err="1"/>
                        <a:t>nm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14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904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BA06-F0D6-0E40-7C8B-73DFB7F6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DE3742-0344-2ECB-0D18-DCA592A4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 err="1"/>
              <a:t>Endolaser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980 e 1470 </a:t>
            </a:r>
            <a:r>
              <a:rPr lang="pt-BR" dirty="0" err="1"/>
              <a:t>nm</a:t>
            </a: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Remoção tatuagem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532 </a:t>
            </a:r>
            <a:r>
              <a:rPr lang="pt-BR" dirty="0" err="1"/>
              <a:t>nm</a:t>
            </a:r>
            <a:r>
              <a:rPr lang="pt-BR" dirty="0"/>
              <a:t> cores - vermelho, laranja e amarelo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694 </a:t>
            </a:r>
            <a:r>
              <a:rPr lang="pt-BR" dirty="0" err="1"/>
              <a:t>nm</a:t>
            </a:r>
            <a:r>
              <a:rPr lang="pt-BR" dirty="0"/>
              <a:t> cores – azul, roxo, verde e preto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1064 </a:t>
            </a:r>
            <a:r>
              <a:rPr lang="pt-BR" dirty="0" err="1"/>
              <a:t>nm</a:t>
            </a:r>
            <a:r>
              <a:rPr lang="pt-BR" dirty="0"/>
              <a:t> cores – verde, azul e preto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024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2101C-CFBE-5AB4-0056-A722C4490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8DCDF3-A26A-C158-C732-2CB14743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EPILAÇÃO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onda do equipamento é quem demanda a profundidade do pelo e sua ação na pele e foto tipo.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Existe 4 versões de laser no mercado para </a:t>
            </a:r>
            <a:r>
              <a:rPr lang="pt-BR" dirty="0" err="1"/>
              <a:t>epilação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Alexandrite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Diodo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Rubi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 err="1"/>
              <a:t>NDYag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3887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7C419-E2F3-FF99-3B88-F636BB48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1280F1-ED34-111A-0247-080C32AA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Rubi = 694 </a:t>
            </a:r>
            <a:r>
              <a:rPr lang="pt-BR" dirty="0" err="1"/>
              <a:t>nM</a:t>
            </a:r>
            <a:r>
              <a:rPr lang="pt-BR" dirty="0"/>
              <a:t> – nível dérmico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Alexandrite = 755 </a:t>
            </a:r>
            <a:r>
              <a:rPr lang="pt-BR" dirty="0" err="1"/>
              <a:t>nM</a:t>
            </a:r>
            <a:r>
              <a:rPr lang="pt-BR" dirty="0"/>
              <a:t> – superficial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Diodo = 800 a 810 </a:t>
            </a:r>
            <a:r>
              <a:rPr lang="pt-BR" dirty="0" err="1"/>
              <a:t>nM</a:t>
            </a:r>
            <a:r>
              <a:rPr lang="pt-BR" dirty="0"/>
              <a:t> – intermediário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 err="1"/>
              <a:t>NDYag</a:t>
            </a:r>
            <a:r>
              <a:rPr lang="pt-BR" dirty="0"/>
              <a:t> = 1064 </a:t>
            </a:r>
            <a:r>
              <a:rPr lang="pt-BR" dirty="0" err="1"/>
              <a:t>nM</a:t>
            </a:r>
            <a:r>
              <a:rPr lang="pt-BR" dirty="0"/>
              <a:t> – profundo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Laser 3D = união de vários comprimentos de onda 755, 800 e 1064 </a:t>
            </a:r>
            <a:r>
              <a:rPr lang="pt-BR" dirty="0" err="1"/>
              <a:t>nM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Laser 4D = união de vários comprimentos de onda 755, 800, 940 e 1064 </a:t>
            </a:r>
            <a:r>
              <a:rPr lang="pt-BR" dirty="0" err="1"/>
              <a:t>nM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143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813E5-A73E-7C70-3145-31EB3FE4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9F6C4E-B11F-FF5C-6F73-1D2C50A5E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Alexandrite = pelos finos, como buço, indicado para uso em foto tipos mais baixos entre 1 e 4.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Diodo = indicado para todos os locais, por ser um comprimento de onda intermediário, e por ter ação efetiva na matriz germinativa do pelo, mais indicado para braço, perna, barba. Pode ser utilizado em todos os foto tipos.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 err="1"/>
              <a:t>NDYag</a:t>
            </a:r>
            <a:r>
              <a:rPr lang="pt-BR" dirty="0"/>
              <a:t> = para pelos com matriz germinativa mais profundas, axila, púbis. Indicado para foto tipos mais altos e pele negra, entre 4 e 5.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Rubi = tem afinidade por pigmentos, utilizado na sua maioria para remoção de  tatuagens, Melasma, pintas, </a:t>
            </a:r>
            <a:r>
              <a:rPr lang="pt-BR" dirty="0" err="1"/>
              <a:t>lentigos</a:t>
            </a:r>
            <a:r>
              <a:rPr lang="pt-BR" dirty="0"/>
              <a:t> senis, não é recomendado para quem tem vitiligo. 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6218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656EF-3FA3-B665-2867-723ABB63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886CD8-57E1-9502-5303-1E22214C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maioria dos laser fazem leitura em pigmento, no caso de quem tem vitiligo, cuidar por ser uma doença de despigmentação e baixa melanina, para não acelerar o processo e aumentar a área de despigmentação.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473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62516-D492-709A-1699-D46EC926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678A7-F370-E0F2-2C03-758BFC358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TIPOS DE APLICAÇÃO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Varredura = movimento mais rápido com uso de gel para deslizamento, gel sem cor, e sem ativos. Utilizado em áreas grandes por questão de tempo e aquecimento de alguns aparelhos.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Pontual  = mais eficaz, comprimento de onda mais concentrado, mais demorada a aplicação, geralmente é utilizado em áreas pequenas, podendo ser usado em áreas grandes. Causa mais desconforto na aplicação dependendo da região.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3546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E5711-E658-88E8-E29C-C9375900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FBF9B6-1323-29F2-CBFC-4CF5748D6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Quando mais superficial a emissão da onda mais chances de despigmentar no caso de pele com foto tipo escuro e </a:t>
            </a:r>
            <a:r>
              <a:rPr lang="pt-BR" dirty="0" err="1"/>
              <a:t>vitilgo</a:t>
            </a:r>
            <a:r>
              <a:rPr lang="pt-BR" dirty="0"/>
              <a:t>, a emissão da onda fica mais concentrada, com alta temperatura e alta no potencial de inflamação, mais chances de queimadura e intercorrências se aplicado de forma errada, cuidar sempre do aumento da potencia em Joules e o foto tipo da pele.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Quanto mais profundo há mais dispersão da onda, baixa temperatura, e baixo potencial de inflamação.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517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0C6A9-2EEA-2441-F25E-42F0B44E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E8996-6A21-0744-B63A-DA80D1039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RECOMENDAÇÕES PÓS APLICAÇÃO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Evitar sol e exposição ao calor por 24h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Sol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Bronzeamento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Sauna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Manta térmica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Atividade física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3 a 4 dias usar cremes calmantes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8874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6CE09-DD0A-BB15-0FB0-D7CAC7C2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B3E11A-E268-5822-831F-2CEE2680E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POR QUE NÃO SE APLICA LASER EM PELE BRONZEADA?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bronzeada muda o foto tipo natural da pele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esta desidratada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esta sensível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esta ressecada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Pele esta ou passou por processo inflamatório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Mais chances de queimaduras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6465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71F1-8ACE-A4ED-7252-C6DFD03D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4B3C7B-DA3B-C57B-E6EA-B61A7E177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Com a sigla para Light </a:t>
            </a:r>
            <a:r>
              <a:rPr lang="pt-BR" b="0" i="0" dirty="0" err="1">
                <a:effectLst/>
                <a:latin typeface="Google Sans"/>
              </a:rPr>
              <a:t>Emitting</a:t>
            </a:r>
            <a:r>
              <a:rPr lang="pt-BR" b="0" i="0" dirty="0">
                <a:effectLst/>
                <a:latin typeface="Google Sans"/>
              </a:rPr>
              <a:t> </a:t>
            </a:r>
            <a:r>
              <a:rPr lang="pt-BR" b="0" i="0" dirty="0" err="1">
                <a:effectLst/>
                <a:latin typeface="Google Sans"/>
              </a:rPr>
              <a:t>Diode</a:t>
            </a:r>
            <a:r>
              <a:rPr lang="pt-BR" b="0" i="0" dirty="0">
                <a:effectLst/>
                <a:latin typeface="Google Sans"/>
              </a:rPr>
              <a:t>, o uso do Led na estética nada mais é do que um espectro eletromagnético que pode ser invisível ou até mesmo visível.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056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CA080-AD4D-BC22-76A9-BC2930B8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E20B24-091A-F2FD-8D07-ECD22520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6" name="Picture 4" descr="O que você precisa saber antes de investir em fototerapia - João Tassinary">
            <a:extLst>
              <a:ext uri="{FF2B5EF4-FFF2-40B4-BE49-F238E27FC236}">
                <a16:creationId xmlns:a16="http://schemas.microsoft.com/office/drawing/2014/main" id="{3FEC02F5-33C2-8144-89CA-8CA95FC0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67619"/>
            <a:ext cx="9753600" cy="546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152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E59A7-2C80-9E7B-49EF-D194FAD1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B0A21D-8E95-DADA-81C0-C9E93547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FORMULA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Tempo (</a:t>
            </a:r>
            <a:r>
              <a:rPr lang="pt-BR" kern="100" dirty="0" err="1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seg</a:t>
            </a: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) = energia (J) /potencia (W)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OU </a:t>
            </a: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Energia J = potência W x tempo  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Potencia J diferente de Fluência J/cm2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Maquinas aparecem em mW = </a:t>
            </a:r>
            <a:r>
              <a:rPr lang="pt-BR" kern="100" dirty="0" err="1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ex</a:t>
            </a: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 500mW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1w equivale a 1000mW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05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5E46D-091A-2FE0-AC5E-7F7F8E30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7C0CCC-63BD-CF0E-8AEE-1DC291987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Logo = 100mW – 100/1000 = 0,1w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             180mW – 180/1000 = 0,18w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             200mW – 200/1000 = 0,2w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             300mW – 300/1000 = 0,3w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             500mW – 500/1000 = 0,5w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3659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1F0DC-FCC0-3495-8247-FA699B7B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ELETROTERMOFOTOTERAPIA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067F3-4270-0B9A-F0FC-3C3B0744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Âmbar, azul e led vermelho = 500mW – 0,5w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Infravermelho = 200mW – 0,2w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Laser Vermelho = 180mW – 0,18w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0486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895</Words>
  <Application>Microsoft Office PowerPoint</Application>
  <PresentationFormat>Widescreen</PresentationFormat>
  <Paragraphs>141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Google Sans</vt:lpstr>
      <vt:lpstr>Tema do Office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Apresentação do PowerPoint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  <vt:lpstr>ELETROTERMOFOTOTERAPIA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ELETROTERMOFOTOTERAPIA</dc:title>
  <dc:creator>Mariana</dc:creator>
  <cp:lastModifiedBy>Mariana</cp:lastModifiedBy>
  <cp:revision>6</cp:revision>
  <dcterms:created xsi:type="dcterms:W3CDTF">2025-03-27T19:51:30Z</dcterms:created>
  <dcterms:modified xsi:type="dcterms:W3CDTF">2025-03-27T21:46:17Z</dcterms:modified>
</cp:coreProperties>
</file>