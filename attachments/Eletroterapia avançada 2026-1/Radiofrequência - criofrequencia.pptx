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71" r:id="rId3"/>
    <p:sldId id="272" r:id="rId4"/>
    <p:sldId id="257" r:id="rId5"/>
    <p:sldId id="258" r:id="rId6"/>
    <p:sldId id="259" r:id="rId7"/>
    <p:sldId id="260" r:id="rId8"/>
    <p:sldId id="261" r:id="rId9"/>
    <p:sldId id="262" r:id="rId10"/>
    <p:sldId id="263" r:id="rId11"/>
    <p:sldId id="277" r:id="rId12"/>
    <p:sldId id="278" r:id="rId13"/>
    <p:sldId id="264" r:id="rId14"/>
    <p:sldId id="265" r:id="rId15"/>
    <p:sldId id="266" r:id="rId16"/>
    <p:sldId id="267" r:id="rId17"/>
    <p:sldId id="279" r:id="rId18"/>
    <p:sldId id="280" r:id="rId19"/>
    <p:sldId id="281" r:id="rId20"/>
    <p:sldId id="282" r:id="rId21"/>
    <p:sldId id="283" r:id="rId22"/>
    <p:sldId id="284" r:id="rId23"/>
    <p:sldId id="285" r:id="rId24"/>
    <p:sldId id="287" r:id="rId25"/>
    <p:sldId id="288" r:id="rId26"/>
    <p:sldId id="268" r:id="rId27"/>
    <p:sldId id="269" r:id="rId28"/>
    <p:sldId id="270" r:id="rId29"/>
    <p:sldId id="286" r:id="rId30"/>
    <p:sldId id="273" r:id="rId31"/>
    <p:sldId id="274" r:id="rId32"/>
    <p:sldId id="275" r:id="rId33"/>
    <p:sldId id="276"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8" d="100"/>
          <a:sy n="68" d="100"/>
        </p:scale>
        <p:origin x="81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04C278D-F6E5-4C20-B747-3D0B514EE7A9}"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pt-BR"/>
        </a:p>
      </dgm:t>
    </dgm:pt>
    <dgm:pt modelId="{B6DC9B3B-77BD-4A8F-9700-FC4F90E3219F}">
      <dgm:prSet phldrT="[Texto]"/>
      <dgm:spPr/>
      <dgm:t>
        <a:bodyPr/>
        <a:lstStyle/>
        <a:p>
          <a:r>
            <a:rPr lang="pt-BR" dirty="0"/>
            <a:t>ONDAS CURTAS E FREQUENCIA DE 13 A 40 MHZ</a:t>
          </a:r>
        </a:p>
      </dgm:t>
    </dgm:pt>
    <dgm:pt modelId="{8DAC676B-65E9-4EEE-8B5D-AE853B4C3C6F}">
      <dgm:prSet phldrT="[Texto]"/>
      <dgm:spPr/>
      <dgm:t>
        <a:bodyPr/>
        <a:lstStyle/>
        <a:p>
          <a:r>
            <a:rPr lang="pt-BR" dirty="0"/>
            <a:t>CAPACITIVA – APLICADORES REVESTIDOS  </a:t>
          </a:r>
        </a:p>
      </dgm:t>
    </dgm:pt>
    <dgm:pt modelId="{FA3153B1-3D25-4F54-9083-ACB45DE79250}" type="sibTrans" cxnId="{FB07A0DC-4956-4D33-AB85-98CFE469D468}">
      <dgm:prSet/>
      <dgm:spPr/>
      <dgm:t>
        <a:bodyPr/>
        <a:lstStyle/>
        <a:p>
          <a:endParaRPr lang="pt-BR"/>
        </a:p>
      </dgm:t>
    </dgm:pt>
    <dgm:pt modelId="{D46DA3DA-373C-4110-91E3-7855072E2942}" type="parTrans" cxnId="{FB07A0DC-4956-4D33-AB85-98CFE469D468}">
      <dgm:prSet/>
      <dgm:spPr/>
      <dgm:t>
        <a:bodyPr/>
        <a:lstStyle/>
        <a:p>
          <a:endParaRPr lang="pt-BR"/>
        </a:p>
      </dgm:t>
    </dgm:pt>
    <dgm:pt modelId="{4636C32F-21BF-4EE1-B6B9-A19A4F313A98}" type="sibTrans" cxnId="{AA33C23F-99E5-453A-B5DA-015178CEC071}">
      <dgm:prSet/>
      <dgm:spPr/>
      <dgm:t>
        <a:bodyPr/>
        <a:lstStyle/>
        <a:p>
          <a:endParaRPr lang="pt-BR"/>
        </a:p>
      </dgm:t>
    </dgm:pt>
    <dgm:pt modelId="{7D81213C-8DBC-4197-81AC-8900A0DEEBB6}" type="parTrans" cxnId="{AA33C23F-99E5-453A-B5DA-015178CEC071}">
      <dgm:prSet/>
      <dgm:spPr/>
      <dgm:t>
        <a:bodyPr/>
        <a:lstStyle/>
        <a:p>
          <a:endParaRPr lang="pt-BR"/>
        </a:p>
      </dgm:t>
    </dgm:pt>
    <dgm:pt modelId="{8DD3CB1D-D7F2-4303-9FDA-F653F1E120C7}">
      <dgm:prSet phldrT="[Texto]"/>
      <dgm:spPr/>
      <dgm:t>
        <a:bodyPr/>
        <a:lstStyle/>
        <a:p>
          <a:r>
            <a:rPr lang="pt-BR" dirty="0"/>
            <a:t>ONDAS LONGAS E BAIXA FREQUENCIA </a:t>
          </a:r>
        </a:p>
      </dgm:t>
    </dgm:pt>
    <dgm:pt modelId="{490A26B9-304D-4BE3-AE4D-BC6A89F858F9}">
      <dgm:prSet phldrT="[Texto]"/>
      <dgm:spPr/>
      <dgm:t>
        <a:bodyPr/>
        <a:lstStyle/>
        <a:p>
          <a:r>
            <a:rPr lang="pt-BR" dirty="0"/>
            <a:t>RESISTIVA – APLICADORES METALICOS  </a:t>
          </a:r>
        </a:p>
      </dgm:t>
    </dgm:pt>
    <dgm:pt modelId="{DA141583-EE4B-4BD5-8371-BA93EFED7450}" type="sibTrans" cxnId="{7964949B-4CE6-436C-ACAC-AC1F08684CCD}">
      <dgm:prSet/>
      <dgm:spPr/>
      <dgm:t>
        <a:bodyPr/>
        <a:lstStyle/>
        <a:p>
          <a:endParaRPr lang="pt-BR"/>
        </a:p>
      </dgm:t>
    </dgm:pt>
    <dgm:pt modelId="{050B6A43-A86C-40A2-8E46-E1120F59E597}" type="parTrans" cxnId="{7964949B-4CE6-436C-ACAC-AC1F08684CCD}">
      <dgm:prSet/>
      <dgm:spPr/>
      <dgm:t>
        <a:bodyPr/>
        <a:lstStyle/>
        <a:p>
          <a:endParaRPr lang="pt-BR"/>
        </a:p>
      </dgm:t>
    </dgm:pt>
    <dgm:pt modelId="{5BFADC11-7AFB-4C37-B9F3-7287D0C8B823}" type="sibTrans" cxnId="{4DFC0D60-DF17-4C97-BF35-AF610FC14233}">
      <dgm:prSet/>
      <dgm:spPr/>
      <dgm:t>
        <a:bodyPr/>
        <a:lstStyle/>
        <a:p>
          <a:endParaRPr lang="pt-BR"/>
        </a:p>
      </dgm:t>
    </dgm:pt>
    <dgm:pt modelId="{8D6A381E-C299-4E1B-804D-267911DF22A9}" type="parTrans" cxnId="{4DFC0D60-DF17-4C97-BF35-AF610FC14233}">
      <dgm:prSet/>
      <dgm:spPr/>
      <dgm:t>
        <a:bodyPr/>
        <a:lstStyle/>
        <a:p>
          <a:endParaRPr lang="pt-BR"/>
        </a:p>
      </dgm:t>
    </dgm:pt>
    <dgm:pt modelId="{7D4AD3BF-598F-42DD-966B-F4852B4E3AC8}">
      <dgm:prSet phldrT="[Texto]"/>
      <dgm:spPr/>
      <dgm:t>
        <a:bodyPr/>
        <a:lstStyle/>
        <a:p>
          <a:r>
            <a:rPr lang="pt-BR" dirty="0"/>
            <a:t>Aquece o tecido de fora para dentro, através de correntes elétricas.</a:t>
          </a:r>
        </a:p>
      </dgm:t>
    </dgm:pt>
    <dgm:pt modelId="{50CBA550-ED45-46FF-BEF7-A2A3C4F43A08}" type="parTrans" cxnId="{F2759FA3-3693-438D-95E2-78A725180480}">
      <dgm:prSet/>
      <dgm:spPr/>
      <dgm:t>
        <a:bodyPr/>
        <a:lstStyle/>
        <a:p>
          <a:endParaRPr lang="pt-BR"/>
        </a:p>
      </dgm:t>
    </dgm:pt>
    <dgm:pt modelId="{0B7F9A65-2498-4AEF-80C8-E75B601EF2EF}" type="sibTrans" cxnId="{F2759FA3-3693-438D-95E2-78A725180480}">
      <dgm:prSet/>
      <dgm:spPr/>
      <dgm:t>
        <a:bodyPr/>
        <a:lstStyle/>
        <a:p>
          <a:endParaRPr lang="pt-BR"/>
        </a:p>
      </dgm:t>
    </dgm:pt>
    <dgm:pt modelId="{AA8BB4B1-A811-46F7-9D00-3E70EA19C604}">
      <dgm:prSet phldrT="[Texto]"/>
      <dgm:spPr/>
      <dgm:t>
        <a:bodyPr/>
        <a:lstStyle/>
        <a:p>
          <a:r>
            <a:rPr lang="pt-BR" dirty="0"/>
            <a:t>Aquece o tecido de dentro para fora, através de um campo eletromagnético.</a:t>
          </a:r>
        </a:p>
      </dgm:t>
    </dgm:pt>
    <dgm:pt modelId="{E81F784A-20E7-424C-9059-5F6A07AFBC81}" type="parTrans" cxnId="{EE19B76D-CDF0-4A46-B843-6500CAE540F5}">
      <dgm:prSet/>
      <dgm:spPr/>
    </dgm:pt>
    <dgm:pt modelId="{CE3F639B-C4CF-4826-9F94-EAC72080965A}" type="sibTrans" cxnId="{EE19B76D-CDF0-4A46-B843-6500CAE540F5}">
      <dgm:prSet/>
      <dgm:spPr/>
    </dgm:pt>
    <dgm:pt modelId="{20326E98-38EA-4247-8B39-3150280E7B8A}" type="pres">
      <dgm:prSet presAssocID="{604C278D-F6E5-4C20-B747-3D0B514EE7A9}" presName="linear" presStyleCnt="0">
        <dgm:presLayoutVars>
          <dgm:animLvl val="lvl"/>
          <dgm:resizeHandles val="exact"/>
        </dgm:presLayoutVars>
      </dgm:prSet>
      <dgm:spPr/>
    </dgm:pt>
    <dgm:pt modelId="{730B3937-DF91-4AFD-A875-51F3288EB934}" type="pres">
      <dgm:prSet presAssocID="{490A26B9-304D-4BE3-AE4D-BC6A89F858F9}" presName="parentText" presStyleLbl="node1" presStyleIdx="0" presStyleCnt="2">
        <dgm:presLayoutVars>
          <dgm:chMax val="0"/>
          <dgm:bulletEnabled val="1"/>
        </dgm:presLayoutVars>
      </dgm:prSet>
      <dgm:spPr/>
    </dgm:pt>
    <dgm:pt modelId="{EDEE372F-F75E-4A8A-BCC6-87A5ED5DB658}" type="pres">
      <dgm:prSet presAssocID="{490A26B9-304D-4BE3-AE4D-BC6A89F858F9}" presName="childText" presStyleLbl="revTx" presStyleIdx="0" presStyleCnt="2">
        <dgm:presLayoutVars>
          <dgm:bulletEnabled val="1"/>
        </dgm:presLayoutVars>
      </dgm:prSet>
      <dgm:spPr/>
    </dgm:pt>
    <dgm:pt modelId="{CD4CE922-B524-468E-A829-7C98DE871A90}" type="pres">
      <dgm:prSet presAssocID="{8DAC676B-65E9-4EEE-8B5D-AE853B4C3C6F}" presName="parentText" presStyleLbl="node1" presStyleIdx="1" presStyleCnt="2">
        <dgm:presLayoutVars>
          <dgm:chMax val="0"/>
          <dgm:bulletEnabled val="1"/>
        </dgm:presLayoutVars>
      </dgm:prSet>
      <dgm:spPr/>
    </dgm:pt>
    <dgm:pt modelId="{A30388B5-142A-4F9A-A271-CD1E8CB354C1}" type="pres">
      <dgm:prSet presAssocID="{8DAC676B-65E9-4EEE-8B5D-AE853B4C3C6F}" presName="childText" presStyleLbl="revTx" presStyleIdx="1" presStyleCnt="2">
        <dgm:presLayoutVars>
          <dgm:bulletEnabled val="1"/>
        </dgm:presLayoutVars>
      </dgm:prSet>
      <dgm:spPr/>
    </dgm:pt>
  </dgm:ptLst>
  <dgm:cxnLst>
    <dgm:cxn modelId="{EBB2BF0E-CB63-47C9-BC9E-CF2C18915D7B}" type="presOf" srcId="{7D4AD3BF-598F-42DD-966B-F4852B4E3AC8}" destId="{EDEE372F-F75E-4A8A-BCC6-87A5ED5DB658}" srcOrd="0" destOrd="1" presId="urn:microsoft.com/office/officeart/2005/8/layout/vList2"/>
    <dgm:cxn modelId="{D628591C-C32B-4330-9810-29B1C113FCFD}" type="presOf" srcId="{604C278D-F6E5-4C20-B747-3D0B514EE7A9}" destId="{20326E98-38EA-4247-8B39-3150280E7B8A}" srcOrd="0" destOrd="0" presId="urn:microsoft.com/office/officeart/2005/8/layout/vList2"/>
    <dgm:cxn modelId="{AA33C23F-99E5-453A-B5DA-015178CEC071}" srcId="{8DAC676B-65E9-4EEE-8B5D-AE853B4C3C6F}" destId="{B6DC9B3B-77BD-4A8F-9700-FC4F90E3219F}" srcOrd="0" destOrd="0" parTransId="{7D81213C-8DBC-4197-81AC-8900A0DEEBB6}" sibTransId="{4636C32F-21BF-4EE1-B6B9-A19A4F313A98}"/>
    <dgm:cxn modelId="{BCFDA75F-B116-442D-80FB-F4C1FAC6C62E}" type="presOf" srcId="{490A26B9-304D-4BE3-AE4D-BC6A89F858F9}" destId="{730B3937-DF91-4AFD-A875-51F3288EB934}" srcOrd="0" destOrd="0" presId="urn:microsoft.com/office/officeart/2005/8/layout/vList2"/>
    <dgm:cxn modelId="{4DFC0D60-DF17-4C97-BF35-AF610FC14233}" srcId="{490A26B9-304D-4BE3-AE4D-BC6A89F858F9}" destId="{8DD3CB1D-D7F2-4303-9FDA-F653F1E120C7}" srcOrd="0" destOrd="0" parTransId="{8D6A381E-C299-4E1B-804D-267911DF22A9}" sibTransId="{5BFADC11-7AFB-4C37-B9F3-7287D0C8B823}"/>
    <dgm:cxn modelId="{3CBAB365-E3DD-4F3D-B396-417573187518}" type="presOf" srcId="{B6DC9B3B-77BD-4A8F-9700-FC4F90E3219F}" destId="{A30388B5-142A-4F9A-A271-CD1E8CB354C1}" srcOrd="0" destOrd="0" presId="urn:microsoft.com/office/officeart/2005/8/layout/vList2"/>
    <dgm:cxn modelId="{EE19B76D-CDF0-4A46-B843-6500CAE540F5}" srcId="{8DAC676B-65E9-4EEE-8B5D-AE853B4C3C6F}" destId="{AA8BB4B1-A811-46F7-9D00-3E70EA19C604}" srcOrd="1" destOrd="0" parTransId="{E81F784A-20E7-424C-9059-5F6A07AFBC81}" sibTransId="{CE3F639B-C4CF-4826-9F94-EAC72080965A}"/>
    <dgm:cxn modelId="{9DE86C86-6B30-4060-9FC1-0E20AF3ABA6F}" type="presOf" srcId="{8DAC676B-65E9-4EEE-8B5D-AE853B4C3C6F}" destId="{CD4CE922-B524-468E-A829-7C98DE871A90}" srcOrd="0" destOrd="0" presId="urn:microsoft.com/office/officeart/2005/8/layout/vList2"/>
    <dgm:cxn modelId="{7964949B-4CE6-436C-ACAC-AC1F08684CCD}" srcId="{604C278D-F6E5-4C20-B747-3D0B514EE7A9}" destId="{490A26B9-304D-4BE3-AE4D-BC6A89F858F9}" srcOrd="0" destOrd="0" parTransId="{050B6A43-A86C-40A2-8E46-E1120F59E597}" sibTransId="{DA141583-EE4B-4BD5-8371-BA93EFED7450}"/>
    <dgm:cxn modelId="{F2759FA3-3693-438D-95E2-78A725180480}" srcId="{490A26B9-304D-4BE3-AE4D-BC6A89F858F9}" destId="{7D4AD3BF-598F-42DD-966B-F4852B4E3AC8}" srcOrd="1" destOrd="0" parTransId="{50CBA550-ED45-46FF-BEF7-A2A3C4F43A08}" sibTransId="{0B7F9A65-2498-4AEF-80C8-E75B601EF2EF}"/>
    <dgm:cxn modelId="{72FDF1B7-10EC-4DB4-98A3-56A5FEE7C7B2}" type="presOf" srcId="{8DD3CB1D-D7F2-4303-9FDA-F653F1E120C7}" destId="{EDEE372F-F75E-4A8A-BCC6-87A5ED5DB658}" srcOrd="0" destOrd="0" presId="urn:microsoft.com/office/officeart/2005/8/layout/vList2"/>
    <dgm:cxn modelId="{FB07A0DC-4956-4D33-AB85-98CFE469D468}" srcId="{604C278D-F6E5-4C20-B747-3D0B514EE7A9}" destId="{8DAC676B-65E9-4EEE-8B5D-AE853B4C3C6F}" srcOrd="1" destOrd="0" parTransId="{D46DA3DA-373C-4110-91E3-7855072E2942}" sibTransId="{FA3153B1-3D25-4F54-9083-ACB45DE79250}"/>
    <dgm:cxn modelId="{2C605EFA-CE58-4EBD-85BB-6331D73200A7}" type="presOf" srcId="{AA8BB4B1-A811-46F7-9D00-3E70EA19C604}" destId="{A30388B5-142A-4F9A-A271-CD1E8CB354C1}" srcOrd="0" destOrd="1" presId="urn:microsoft.com/office/officeart/2005/8/layout/vList2"/>
    <dgm:cxn modelId="{6B57A0CF-61DA-4ABC-8868-D07C73F46F79}" type="presParOf" srcId="{20326E98-38EA-4247-8B39-3150280E7B8A}" destId="{730B3937-DF91-4AFD-A875-51F3288EB934}" srcOrd="0" destOrd="0" presId="urn:microsoft.com/office/officeart/2005/8/layout/vList2"/>
    <dgm:cxn modelId="{A2FA4664-8B0A-45B6-9B3F-3C5D4D35DF38}" type="presParOf" srcId="{20326E98-38EA-4247-8B39-3150280E7B8A}" destId="{EDEE372F-F75E-4A8A-BCC6-87A5ED5DB658}" srcOrd="1" destOrd="0" presId="urn:microsoft.com/office/officeart/2005/8/layout/vList2"/>
    <dgm:cxn modelId="{19E7E8B6-3BC9-4F14-BA68-F573762B87B4}" type="presParOf" srcId="{20326E98-38EA-4247-8B39-3150280E7B8A}" destId="{CD4CE922-B524-468E-A829-7C98DE871A90}" srcOrd="2" destOrd="0" presId="urn:microsoft.com/office/officeart/2005/8/layout/vList2"/>
    <dgm:cxn modelId="{B3662722-7169-4126-B47A-3DF9BA3011CD}" type="presParOf" srcId="{20326E98-38EA-4247-8B39-3150280E7B8A}" destId="{A30388B5-142A-4F9A-A271-CD1E8CB354C1}"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CBAC2B9-52B2-479E-A8C0-195FA9C1392B}" type="doc">
      <dgm:prSet loTypeId="urn:microsoft.com/office/officeart/2005/8/layout/radial2" loCatId="relationship" qsTypeId="urn:microsoft.com/office/officeart/2005/8/quickstyle/simple1" qsCatId="simple" csTypeId="urn:microsoft.com/office/officeart/2005/8/colors/accent1_2" csCatId="accent1" phldr="1"/>
      <dgm:spPr/>
      <dgm:t>
        <a:bodyPr/>
        <a:lstStyle/>
        <a:p>
          <a:endParaRPr lang="pt-BR"/>
        </a:p>
      </dgm:t>
    </dgm:pt>
    <dgm:pt modelId="{6A90EE86-B19B-4141-AD4D-BFAD1FCAA425}">
      <dgm:prSet phldrT="[Texto]"/>
      <dgm:spPr/>
      <dgm:t>
        <a:bodyPr/>
        <a:lstStyle/>
        <a:p>
          <a:r>
            <a:rPr lang="pt-BR" dirty="0"/>
            <a:t>ABLATIVA </a:t>
          </a:r>
        </a:p>
      </dgm:t>
    </dgm:pt>
    <dgm:pt modelId="{2B2D627F-3569-492B-BBC2-96E3EEE2FBE5}" type="parTrans" cxnId="{45511B6B-F951-43A6-A15D-B742746D9BF3}">
      <dgm:prSet/>
      <dgm:spPr/>
      <dgm:t>
        <a:bodyPr/>
        <a:lstStyle/>
        <a:p>
          <a:endParaRPr lang="pt-BR"/>
        </a:p>
      </dgm:t>
    </dgm:pt>
    <dgm:pt modelId="{207148A6-63BD-4220-B404-CDF5959A41E3}" type="sibTrans" cxnId="{45511B6B-F951-43A6-A15D-B742746D9BF3}">
      <dgm:prSet/>
      <dgm:spPr/>
      <dgm:t>
        <a:bodyPr/>
        <a:lstStyle/>
        <a:p>
          <a:endParaRPr lang="pt-BR"/>
        </a:p>
      </dgm:t>
    </dgm:pt>
    <dgm:pt modelId="{BF3CF047-6247-45A4-9FAD-573DA78C29BB}">
      <dgm:prSet phldrT="[Texto]"/>
      <dgm:spPr/>
      <dgm:t>
        <a:bodyPr/>
        <a:lstStyle/>
        <a:p>
          <a:r>
            <a:rPr lang="pt-BR" dirty="0"/>
            <a:t>POTENCIA ELEVADA</a:t>
          </a:r>
        </a:p>
      </dgm:t>
    </dgm:pt>
    <dgm:pt modelId="{9E9459E4-218D-4DA7-A71B-30CA4461B147}" type="parTrans" cxnId="{41B25E90-F4A6-47A3-AAFE-21E22AABCE27}">
      <dgm:prSet/>
      <dgm:spPr/>
      <dgm:t>
        <a:bodyPr/>
        <a:lstStyle/>
        <a:p>
          <a:endParaRPr lang="pt-BR"/>
        </a:p>
      </dgm:t>
    </dgm:pt>
    <dgm:pt modelId="{3FBBC72B-9683-4A64-9BA7-4302C902A785}" type="sibTrans" cxnId="{41B25E90-F4A6-47A3-AAFE-21E22AABCE27}">
      <dgm:prSet/>
      <dgm:spPr/>
      <dgm:t>
        <a:bodyPr/>
        <a:lstStyle/>
        <a:p>
          <a:endParaRPr lang="pt-BR"/>
        </a:p>
      </dgm:t>
    </dgm:pt>
    <dgm:pt modelId="{91ECDEA0-7443-4727-A43C-9BA1E592C226}">
      <dgm:prSet phldrT="[Texto]"/>
      <dgm:spPr/>
      <dgm:t>
        <a:bodyPr/>
        <a:lstStyle/>
        <a:p>
          <a:r>
            <a:rPr lang="pt-BR" dirty="0"/>
            <a:t>ACIMA DE 90 GRAUS </a:t>
          </a:r>
        </a:p>
      </dgm:t>
    </dgm:pt>
    <dgm:pt modelId="{D1F14276-3315-4941-AAE2-F164FB22D4ED}" type="parTrans" cxnId="{58B19766-1969-42AC-BA4D-65D09D037CA1}">
      <dgm:prSet/>
      <dgm:spPr/>
      <dgm:t>
        <a:bodyPr/>
        <a:lstStyle/>
        <a:p>
          <a:endParaRPr lang="pt-BR"/>
        </a:p>
      </dgm:t>
    </dgm:pt>
    <dgm:pt modelId="{6A99DDAF-6DD0-4FDF-B183-B986DD4AE2C2}" type="sibTrans" cxnId="{58B19766-1969-42AC-BA4D-65D09D037CA1}">
      <dgm:prSet/>
      <dgm:spPr/>
      <dgm:t>
        <a:bodyPr/>
        <a:lstStyle/>
        <a:p>
          <a:endParaRPr lang="pt-BR"/>
        </a:p>
      </dgm:t>
    </dgm:pt>
    <dgm:pt modelId="{3F3BE940-272D-4B60-8283-8CF0C71F423A}">
      <dgm:prSet phldrT="[Texto]"/>
      <dgm:spPr/>
      <dgm:t>
        <a:bodyPr/>
        <a:lstStyle/>
        <a:p>
          <a:r>
            <a:rPr lang="pt-BR" dirty="0"/>
            <a:t>NÃO ABLATIVA </a:t>
          </a:r>
        </a:p>
      </dgm:t>
    </dgm:pt>
    <dgm:pt modelId="{5E770F20-8FC7-4963-B1CA-9A91FD2E5501}" type="parTrans" cxnId="{F53C24E6-F257-4D11-AC22-69CEBCD6FFFE}">
      <dgm:prSet/>
      <dgm:spPr/>
      <dgm:t>
        <a:bodyPr/>
        <a:lstStyle/>
        <a:p>
          <a:endParaRPr lang="pt-BR"/>
        </a:p>
      </dgm:t>
    </dgm:pt>
    <dgm:pt modelId="{902BCE14-78F8-4460-81C4-CBF495D0E453}" type="sibTrans" cxnId="{F53C24E6-F257-4D11-AC22-69CEBCD6FFFE}">
      <dgm:prSet/>
      <dgm:spPr/>
      <dgm:t>
        <a:bodyPr/>
        <a:lstStyle/>
        <a:p>
          <a:endParaRPr lang="pt-BR"/>
        </a:p>
      </dgm:t>
    </dgm:pt>
    <dgm:pt modelId="{E5787B22-C95B-4EEB-BB9F-CFC004CCA485}">
      <dgm:prSet phldrT="[Texto]"/>
      <dgm:spPr/>
      <dgm:t>
        <a:bodyPr/>
        <a:lstStyle/>
        <a:p>
          <a:r>
            <a:rPr lang="pt-BR" dirty="0"/>
            <a:t>POTENCIA MEDIANA</a:t>
          </a:r>
        </a:p>
      </dgm:t>
    </dgm:pt>
    <dgm:pt modelId="{83AAB7C0-4C8C-4F97-99E5-6918FBAE934B}" type="parTrans" cxnId="{45F7B93E-FA6F-4AA0-A8EA-84BC374E6012}">
      <dgm:prSet/>
      <dgm:spPr/>
      <dgm:t>
        <a:bodyPr/>
        <a:lstStyle/>
        <a:p>
          <a:endParaRPr lang="pt-BR"/>
        </a:p>
      </dgm:t>
    </dgm:pt>
    <dgm:pt modelId="{4F38554C-29AC-4205-88FA-F11703662573}" type="sibTrans" cxnId="{45F7B93E-FA6F-4AA0-A8EA-84BC374E6012}">
      <dgm:prSet/>
      <dgm:spPr/>
      <dgm:t>
        <a:bodyPr/>
        <a:lstStyle/>
        <a:p>
          <a:endParaRPr lang="pt-BR"/>
        </a:p>
      </dgm:t>
    </dgm:pt>
    <dgm:pt modelId="{5D786ED7-C3D8-4589-BA4F-1AA9BB0A2E03}">
      <dgm:prSet phldrT="[Texto]"/>
      <dgm:spPr/>
      <dgm:t>
        <a:bodyPr/>
        <a:lstStyle/>
        <a:p>
          <a:r>
            <a:rPr lang="pt-BR" dirty="0"/>
            <a:t>TEMPERATURA VARIA 37 E 45 GRAUS </a:t>
          </a:r>
        </a:p>
      </dgm:t>
    </dgm:pt>
    <dgm:pt modelId="{B9A55870-C886-4700-92D6-822667E120E0}" type="parTrans" cxnId="{9F7A2BA5-7DB6-4147-8AFE-DBF03FC1FB9B}">
      <dgm:prSet/>
      <dgm:spPr/>
      <dgm:t>
        <a:bodyPr/>
        <a:lstStyle/>
        <a:p>
          <a:endParaRPr lang="pt-BR"/>
        </a:p>
      </dgm:t>
    </dgm:pt>
    <dgm:pt modelId="{E2390294-30C5-4C2E-A29A-323A70ED9047}" type="sibTrans" cxnId="{9F7A2BA5-7DB6-4147-8AFE-DBF03FC1FB9B}">
      <dgm:prSet/>
      <dgm:spPr/>
      <dgm:t>
        <a:bodyPr/>
        <a:lstStyle/>
        <a:p>
          <a:endParaRPr lang="pt-BR"/>
        </a:p>
      </dgm:t>
    </dgm:pt>
    <dgm:pt modelId="{F3078D32-A378-476B-9609-5D9F729A8BD8}" type="pres">
      <dgm:prSet presAssocID="{9CBAC2B9-52B2-479E-A8C0-195FA9C1392B}" presName="composite" presStyleCnt="0">
        <dgm:presLayoutVars>
          <dgm:chMax val="5"/>
          <dgm:dir/>
          <dgm:animLvl val="ctr"/>
          <dgm:resizeHandles val="exact"/>
        </dgm:presLayoutVars>
      </dgm:prSet>
      <dgm:spPr/>
    </dgm:pt>
    <dgm:pt modelId="{DEB37AB8-DA9D-4BA6-9FE1-C6EB56E91D75}" type="pres">
      <dgm:prSet presAssocID="{9CBAC2B9-52B2-479E-A8C0-195FA9C1392B}" presName="cycle" presStyleCnt="0"/>
      <dgm:spPr/>
    </dgm:pt>
    <dgm:pt modelId="{1CBF2E34-CB1E-4AF6-BE8E-33236CA1BE3A}" type="pres">
      <dgm:prSet presAssocID="{9CBAC2B9-52B2-479E-A8C0-195FA9C1392B}" presName="centerShape" presStyleCnt="0"/>
      <dgm:spPr/>
    </dgm:pt>
    <dgm:pt modelId="{BC5976E4-DF71-4CF8-A1B3-168E13F83BF4}" type="pres">
      <dgm:prSet presAssocID="{9CBAC2B9-52B2-479E-A8C0-195FA9C1392B}" presName="connSite" presStyleLbl="node1" presStyleIdx="0" presStyleCnt="3"/>
      <dgm:spPr/>
    </dgm:pt>
    <dgm:pt modelId="{154A84ED-7EB0-4962-936B-E88DA86CE04E}" type="pres">
      <dgm:prSet presAssocID="{9CBAC2B9-52B2-479E-A8C0-195FA9C1392B}" presName="visible" presStyleLbl="node1" presStyleIdx="0" presStyleCnt="3"/>
      <dgm:spPr/>
    </dgm:pt>
    <dgm:pt modelId="{1D30DD26-BE5C-4B66-81C7-1BDD9E481B9C}" type="pres">
      <dgm:prSet presAssocID="{2B2D627F-3569-492B-BBC2-96E3EEE2FBE5}" presName="Name25" presStyleLbl="parChTrans1D1" presStyleIdx="0" presStyleCnt="2"/>
      <dgm:spPr/>
    </dgm:pt>
    <dgm:pt modelId="{FB0ACABA-412C-40C6-BC7D-1FA259E8C387}" type="pres">
      <dgm:prSet presAssocID="{6A90EE86-B19B-4141-AD4D-BFAD1FCAA425}" presName="node" presStyleCnt="0"/>
      <dgm:spPr/>
    </dgm:pt>
    <dgm:pt modelId="{75DB1E46-5E34-48A5-A1D5-D8AC030D9D7D}" type="pres">
      <dgm:prSet presAssocID="{6A90EE86-B19B-4141-AD4D-BFAD1FCAA425}" presName="parentNode" presStyleLbl="node1" presStyleIdx="1" presStyleCnt="3">
        <dgm:presLayoutVars>
          <dgm:chMax val="1"/>
          <dgm:bulletEnabled val="1"/>
        </dgm:presLayoutVars>
      </dgm:prSet>
      <dgm:spPr/>
    </dgm:pt>
    <dgm:pt modelId="{F335C5C6-92FC-43BD-9682-2F5E05980398}" type="pres">
      <dgm:prSet presAssocID="{6A90EE86-B19B-4141-AD4D-BFAD1FCAA425}" presName="childNode" presStyleLbl="revTx" presStyleIdx="0" presStyleCnt="2">
        <dgm:presLayoutVars>
          <dgm:bulletEnabled val="1"/>
        </dgm:presLayoutVars>
      </dgm:prSet>
      <dgm:spPr/>
    </dgm:pt>
    <dgm:pt modelId="{A04D5F78-9C51-4E1B-B9D7-E719C7A02381}" type="pres">
      <dgm:prSet presAssocID="{5E770F20-8FC7-4963-B1CA-9A91FD2E5501}" presName="Name25" presStyleLbl="parChTrans1D1" presStyleIdx="1" presStyleCnt="2"/>
      <dgm:spPr/>
    </dgm:pt>
    <dgm:pt modelId="{F82B74DE-9386-4F4E-90FD-4C96BF70A948}" type="pres">
      <dgm:prSet presAssocID="{3F3BE940-272D-4B60-8283-8CF0C71F423A}" presName="node" presStyleCnt="0"/>
      <dgm:spPr/>
    </dgm:pt>
    <dgm:pt modelId="{A026A037-020D-41F2-AEA5-0F3AB3B0036C}" type="pres">
      <dgm:prSet presAssocID="{3F3BE940-272D-4B60-8283-8CF0C71F423A}" presName="parentNode" presStyleLbl="node1" presStyleIdx="2" presStyleCnt="3">
        <dgm:presLayoutVars>
          <dgm:chMax val="1"/>
          <dgm:bulletEnabled val="1"/>
        </dgm:presLayoutVars>
      </dgm:prSet>
      <dgm:spPr/>
    </dgm:pt>
    <dgm:pt modelId="{049BEC7F-7135-4D7C-BBCB-AAB86E196E1A}" type="pres">
      <dgm:prSet presAssocID="{3F3BE940-272D-4B60-8283-8CF0C71F423A}" presName="childNode" presStyleLbl="revTx" presStyleIdx="1" presStyleCnt="2">
        <dgm:presLayoutVars>
          <dgm:bulletEnabled val="1"/>
        </dgm:presLayoutVars>
      </dgm:prSet>
      <dgm:spPr/>
    </dgm:pt>
  </dgm:ptLst>
  <dgm:cxnLst>
    <dgm:cxn modelId="{1B7F3619-755A-4753-B97A-F141A0519CE0}" type="presOf" srcId="{6A90EE86-B19B-4141-AD4D-BFAD1FCAA425}" destId="{75DB1E46-5E34-48A5-A1D5-D8AC030D9D7D}" srcOrd="0" destOrd="0" presId="urn:microsoft.com/office/officeart/2005/8/layout/radial2"/>
    <dgm:cxn modelId="{45F7B93E-FA6F-4AA0-A8EA-84BC374E6012}" srcId="{3F3BE940-272D-4B60-8283-8CF0C71F423A}" destId="{E5787B22-C95B-4EEB-BB9F-CFC004CCA485}" srcOrd="0" destOrd="0" parTransId="{83AAB7C0-4C8C-4F97-99E5-6918FBAE934B}" sibTransId="{4F38554C-29AC-4205-88FA-F11703662573}"/>
    <dgm:cxn modelId="{CCA67E5B-2E59-40FA-86F6-0367E2FF019B}" type="presOf" srcId="{BF3CF047-6247-45A4-9FAD-573DA78C29BB}" destId="{F335C5C6-92FC-43BD-9682-2F5E05980398}" srcOrd="0" destOrd="0" presId="urn:microsoft.com/office/officeart/2005/8/layout/radial2"/>
    <dgm:cxn modelId="{5886E843-9E20-410B-A9ED-78D5EECFE16D}" type="presOf" srcId="{5E770F20-8FC7-4963-B1CA-9A91FD2E5501}" destId="{A04D5F78-9C51-4E1B-B9D7-E719C7A02381}" srcOrd="0" destOrd="0" presId="urn:microsoft.com/office/officeart/2005/8/layout/radial2"/>
    <dgm:cxn modelId="{7DB60065-1CC3-45A0-8F7F-6C4638D8FB02}" type="presOf" srcId="{9CBAC2B9-52B2-479E-A8C0-195FA9C1392B}" destId="{F3078D32-A378-476B-9609-5D9F729A8BD8}" srcOrd="0" destOrd="0" presId="urn:microsoft.com/office/officeart/2005/8/layout/radial2"/>
    <dgm:cxn modelId="{58B19766-1969-42AC-BA4D-65D09D037CA1}" srcId="{6A90EE86-B19B-4141-AD4D-BFAD1FCAA425}" destId="{91ECDEA0-7443-4727-A43C-9BA1E592C226}" srcOrd="1" destOrd="0" parTransId="{D1F14276-3315-4941-AAE2-F164FB22D4ED}" sibTransId="{6A99DDAF-6DD0-4FDF-B183-B986DD4AE2C2}"/>
    <dgm:cxn modelId="{45511B6B-F951-43A6-A15D-B742746D9BF3}" srcId="{9CBAC2B9-52B2-479E-A8C0-195FA9C1392B}" destId="{6A90EE86-B19B-4141-AD4D-BFAD1FCAA425}" srcOrd="0" destOrd="0" parTransId="{2B2D627F-3569-492B-BBC2-96E3EEE2FBE5}" sibTransId="{207148A6-63BD-4220-B404-CDF5959A41E3}"/>
    <dgm:cxn modelId="{4A5AF870-2398-4F2D-AE92-6C2F4C60B667}" type="presOf" srcId="{2B2D627F-3569-492B-BBC2-96E3EEE2FBE5}" destId="{1D30DD26-BE5C-4B66-81C7-1BDD9E481B9C}" srcOrd="0" destOrd="0" presId="urn:microsoft.com/office/officeart/2005/8/layout/radial2"/>
    <dgm:cxn modelId="{41B25E90-F4A6-47A3-AAFE-21E22AABCE27}" srcId="{6A90EE86-B19B-4141-AD4D-BFAD1FCAA425}" destId="{BF3CF047-6247-45A4-9FAD-573DA78C29BB}" srcOrd="0" destOrd="0" parTransId="{9E9459E4-218D-4DA7-A71B-30CA4461B147}" sibTransId="{3FBBC72B-9683-4A64-9BA7-4302C902A785}"/>
    <dgm:cxn modelId="{1F95CEA2-CA36-4D55-9CB2-8C03342AB651}" type="presOf" srcId="{3F3BE940-272D-4B60-8283-8CF0C71F423A}" destId="{A026A037-020D-41F2-AEA5-0F3AB3B0036C}" srcOrd="0" destOrd="0" presId="urn:microsoft.com/office/officeart/2005/8/layout/radial2"/>
    <dgm:cxn modelId="{9F7A2BA5-7DB6-4147-8AFE-DBF03FC1FB9B}" srcId="{3F3BE940-272D-4B60-8283-8CF0C71F423A}" destId="{5D786ED7-C3D8-4589-BA4F-1AA9BB0A2E03}" srcOrd="1" destOrd="0" parTransId="{B9A55870-C886-4700-92D6-822667E120E0}" sibTransId="{E2390294-30C5-4C2E-A29A-323A70ED9047}"/>
    <dgm:cxn modelId="{070A9BB2-D838-4F50-838D-35A4E243B6B2}" type="presOf" srcId="{91ECDEA0-7443-4727-A43C-9BA1E592C226}" destId="{F335C5C6-92FC-43BD-9682-2F5E05980398}" srcOrd="0" destOrd="1" presId="urn:microsoft.com/office/officeart/2005/8/layout/radial2"/>
    <dgm:cxn modelId="{31B5A2D8-4E05-4AC8-B5BA-95409C8181EA}" type="presOf" srcId="{E5787B22-C95B-4EEB-BB9F-CFC004CCA485}" destId="{049BEC7F-7135-4D7C-BBCB-AAB86E196E1A}" srcOrd="0" destOrd="0" presId="urn:microsoft.com/office/officeart/2005/8/layout/radial2"/>
    <dgm:cxn modelId="{F53C24E6-F257-4D11-AC22-69CEBCD6FFFE}" srcId="{9CBAC2B9-52B2-479E-A8C0-195FA9C1392B}" destId="{3F3BE940-272D-4B60-8283-8CF0C71F423A}" srcOrd="1" destOrd="0" parTransId="{5E770F20-8FC7-4963-B1CA-9A91FD2E5501}" sibTransId="{902BCE14-78F8-4460-81C4-CBF495D0E453}"/>
    <dgm:cxn modelId="{3CCB8EF0-BB64-45B0-8321-60CF0EA383CE}" type="presOf" srcId="{5D786ED7-C3D8-4589-BA4F-1AA9BB0A2E03}" destId="{049BEC7F-7135-4D7C-BBCB-AAB86E196E1A}" srcOrd="0" destOrd="1" presId="urn:microsoft.com/office/officeart/2005/8/layout/radial2"/>
    <dgm:cxn modelId="{0D72FF79-60E6-43A8-BBBB-EE4BF15732C7}" type="presParOf" srcId="{F3078D32-A378-476B-9609-5D9F729A8BD8}" destId="{DEB37AB8-DA9D-4BA6-9FE1-C6EB56E91D75}" srcOrd="0" destOrd="0" presId="urn:microsoft.com/office/officeart/2005/8/layout/radial2"/>
    <dgm:cxn modelId="{5025B9EF-247E-4F10-8C40-251292A9459D}" type="presParOf" srcId="{DEB37AB8-DA9D-4BA6-9FE1-C6EB56E91D75}" destId="{1CBF2E34-CB1E-4AF6-BE8E-33236CA1BE3A}" srcOrd="0" destOrd="0" presId="urn:microsoft.com/office/officeart/2005/8/layout/radial2"/>
    <dgm:cxn modelId="{49DA4306-8202-4890-82C6-983A7BBDAA35}" type="presParOf" srcId="{1CBF2E34-CB1E-4AF6-BE8E-33236CA1BE3A}" destId="{BC5976E4-DF71-4CF8-A1B3-168E13F83BF4}" srcOrd="0" destOrd="0" presId="urn:microsoft.com/office/officeart/2005/8/layout/radial2"/>
    <dgm:cxn modelId="{E7714A2B-AA2D-4423-A2F8-B36697DD764C}" type="presParOf" srcId="{1CBF2E34-CB1E-4AF6-BE8E-33236CA1BE3A}" destId="{154A84ED-7EB0-4962-936B-E88DA86CE04E}" srcOrd="1" destOrd="0" presId="urn:microsoft.com/office/officeart/2005/8/layout/radial2"/>
    <dgm:cxn modelId="{3AE75BBC-720E-42D3-A62E-8B93D62A86B5}" type="presParOf" srcId="{DEB37AB8-DA9D-4BA6-9FE1-C6EB56E91D75}" destId="{1D30DD26-BE5C-4B66-81C7-1BDD9E481B9C}" srcOrd="1" destOrd="0" presId="urn:microsoft.com/office/officeart/2005/8/layout/radial2"/>
    <dgm:cxn modelId="{86B0F233-CD75-41DC-9185-792259F9DBC6}" type="presParOf" srcId="{DEB37AB8-DA9D-4BA6-9FE1-C6EB56E91D75}" destId="{FB0ACABA-412C-40C6-BC7D-1FA259E8C387}" srcOrd="2" destOrd="0" presId="urn:microsoft.com/office/officeart/2005/8/layout/radial2"/>
    <dgm:cxn modelId="{113DB0C7-A1A4-4A39-ADA6-D221AF7CA234}" type="presParOf" srcId="{FB0ACABA-412C-40C6-BC7D-1FA259E8C387}" destId="{75DB1E46-5E34-48A5-A1D5-D8AC030D9D7D}" srcOrd="0" destOrd="0" presId="urn:microsoft.com/office/officeart/2005/8/layout/radial2"/>
    <dgm:cxn modelId="{B542F60C-B0B2-4977-80CC-1FEF5C3141CE}" type="presParOf" srcId="{FB0ACABA-412C-40C6-BC7D-1FA259E8C387}" destId="{F335C5C6-92FC-43BD-9682-2F5E05980398}" srcOrd="1" destOrd="0" presId="urn:microsoft.com/office/officeart/2005/8/layout/radial2"/>
    <dgm:cxn modelId="{EDF0FCD6-C707-48BA-BAE9-1674C06C24E8}" type="presParOf" srcId="{DEB37AB8-DA9D-4BA6-9FE1-C6EB56E91D75}" destId="{A04D5F78-9C51-4E1B-B9D7-E719C7A02381}" srcOrd="3" destOrd="0" presId="urn:microsoft.com/office/officeart/2005/8/layout/radial2"/>
    <dgm:cxn modelId="{78769EB3-C31C-470F-8825-F6903D885090}" type="presParOf" srcId="{DEB37AB8-DA9D-4BA6-9FE1-C6EB56E91D75}" destId="{F82B74DE-9386-4F4E-90FD-4C96BF70A948}" srcOrd="4" destOrd="0" presId="urn:microsoft.com/office/officeart/2005/8/layout/radial2"/>
    <dgm:cxn modelId="{A820A71F-0090-4656-8F6E-B20D6B75358D}" type="presParOf" srcId="{F82B74DE-9386-4F4E-90FD-4C96BF70A948}" destId="{A026A037-020D-41F2-AEA5-0F3AB3B0036C}" srcOrd="0" destOrd="0" presId="urn:microsoft.com/office/officeart/2005/8/layout/radial2"/>
    <dgm:cxn modelId="{B82535C1-5A78-48E8-B980-1AC4BD357402}" type="presParOf" srcId="{F82B74DE-9386-4F4E-90FD-4C96BF70A948}" destId="{049BEC7F-7135-4D7C-BBCB-AAB86E196E1A}" srcOrd="1" destOrd="0" presId="urn:microsoft.com/office/officeart/2005/8/layout/radial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D9582DD-463D-4228-A003-E1B64A95AFB6}" type="doc">
      <dgm:prSet loTypeId="urn:microsoft.com/office/officeart/2005/8/layout/process1" loCatId="process" qsTypeId="urn:microsoft.com/office/officeart/2005/8/quickstyle/simple1" qsCatId="simple" csTypeId="urn:microsoft.com/office/officeart/2005/8/colors/accent1_2" csCatId="accent1" phldr="1"/>
      <dgm:spPr/>
    </dgm:pt>
    <dgm:pt modelId="{A84274D0-6A21-469F-B246-EF0528509B5D}">
      <dgm:prSet phldrT="[Texto]"/>
      <dgm:spPr/>
      <dgm:t>
        <a:bodyPr/>
        <a:lstStyle/>
        <a:p>
          <a:r>
            <a:rPr lang="pt-BR" dirty="0"/>
            <a:t>HIPERTERMIA</a:t>
          </a:r>
        </a:p>
      </dgm:t>
    </dgm:pt>
    <dgm:pt modelId="{46E7AB23-DE82-446C-AEEF-DD5666AA6364}" type="parTrans" cxnId="{E2E5F125-F45A-4FEF-AD08-8CA2D2DD254C}">
      <dgm:prSet/>
      <dgm:spPr/>
      <dgm:t>
        <a:bodyPr/>
        <a:lstStyle/>
        <a:p>
          <a:endParaRPr lang="pt-BR"/>
        </a:p>
      </dgm:t>
    </dgm:pt>
    <dgm:pt modelId="{5029C6B2-9340-4F0E-986E-58005F476CB2}" type="sibTrans" cxnId="{E2E5F125-F45A-4FEF-AD08-8CA2D2DD254C}">
      <dgm:prSet/>
      <dgm:spPr/>
      <dgm:t>
        <a:bodyPr/>
        <a:lstStyle/>
        <a:p>
          <a:endParaRPr lang="pt-BR"/>
        </a:p>
      </dgm:t>
    </dgm:pt>
    <dgm:pt modelId="{B99F8E51-20CC-43E8-8138-A5AEAECED000}">
      <dgm:prSet phldrT="[Texto]"/>
      <dgm:spPr/>
      <dgm:t>
        <a:bodyPr/>
        <a:lstStyle/>
        <a:p>
          <a:r>
            <a:rPr lang="pt-BR" dirty="0"/>
            <a:t>TGF BETA</a:t>
          </a:r>
        </a:p>
      </dgm:t>
    </dgm:pt>
    <dgm:pt modelId="{CC78D0B4-ABB6-4FD3-8DA7-10E81C86C906}" type="parTrans" cxnId="{6C11A646-279C-4EE2-9A0B-91A0340402E8}">
      <dgm:prSet/>
      <dgm:spPr/>
      <dgm:t>
        <a:bodyPr/>
        <a:lstStyle/>
        <a:p>
          <a:endParaRPr lang="pt-BR"/>
        </a:p>
      </dgm:t>
    </dgm:pt>
    <dgm:pt modelId="{B14FB98C-9F7F-4795-A38A-A77B4F1736BF}" type="sibTrans" cxnId="{6C11A646-279C-4EE2-9A0B-91A0340402E8}">
      <dgm:prSet/>
      <dgm:spPr/>
      <dgm:t>
        <a:bodyPr/>
        <a:lstStyle/>
        <a:p>
          <a:endParaRPr lang="pt-BR"/>
        </a:p>
      </dgm:t>
    </dgm:pt>
    <dgm:pt modelId="{A76BEDFD-6C33-49AE-910C-6F6E9EDB891B}">
      <dgm:prSet phldrT="[Texto]"/>
      <dgm:spPr/>
      <dgm:t>
        <a:bodyPr/>
        <a:lstStyle/>
        <a:p>
          <a:r>
            <a:rPr lang="pt-BR" dirty="0"/>
            <a:t>HSP47</a:t>
          </a:r>
        </a:p>
      </dgm:t>
    </dgm:pt>
    <dgm:pt modelId="{4CDB9B01-9C95-4F43-BAB4-D155AA5C4762}" type="parTrans" cxnId="{2CA1D225-9970-441F-8A50-7ACF502886FD}">
      <dgm:prSet/>
      <dgm:spPr/>
      <dgm:t>
        <a:bodyPr/>
        <a:lstStyle/>
        <a:p>
          <a:endParaRPr lang="pt-BR"/>
        </a:p>
      </dgm:t>
    </dgm:pt>
    <dgm:pt modelId="{AF87BC7E-8A23-4449-975C-778FB1C2CDE6}" type="sibTrans" cxnId="{2CA1D225-9970-441F-8A50-7ACF502886FD}">
      <dgm:prSet/>
      <dgm:spPr/>
      <dgm:t>
        <a:bodyPr/>
        <a:lstStyle/>
        <a:p>
          <a:endParaRPr lang="pt-BR"/>
        </a:p>
      </dgm:t>
    </dgm:pt>
    <dgm:pt modelId="{CC73105C-F81C-4182-BB04-ABE04FB585D9}" type="pres">
      <dgm:prSet presAssocID="{DD9582DD-463D-4228-A003-E1B64A95AFB6}" presName="Name0" presStyleCnt="0">
        <dgm:presLayoutVars>
          <dgm:dir/>
          <dgm:resizeHandles val="exact"/>
        </dgm:presLayoutVars>
      </dgm:prSet>
      <dgm:spPr/>
    </dgm:pt>
    <dgm:pt modelId="{737783DE-5064-4EDA-8DA0-B8BC1074787B}" type="pres">
      <dgm:prSet presAssocID="{A84274D0-6A21-469F-B246-EF0528509B5D}" presName="node" presStyleLbl="node1" presStyleIdx="0" presStyleCnt="3">
        <dgm:presLayoutVars>
          <dgm:bulletEnabled val="1"/>
        </dgm:presLayoutVars>
      </dgm:prSet>
      <dgm:spPr/>
    </dgm:pt>
    <dgm:pt modelId="{2E5973FA-2528-41DE-910C-46B45372E4F4}" type="pres">
      <dgm:prSet presAssocID="{5029C6B2-9340-4F0E-986E-58005F476CB2}" presName="sibTrans" presStyleLbl="sibTrans2D1" presStyleIdx="0" presStyleCnt="2"/>
      <dgm:spPr/>
    </dgm:pt>
    <dgm:pt modelId="{9CA9C60A-2431-4B27-8503-23943360315B}" type="pres">
      <dgm:prSet presAssocID="{5029C6B2-9340-4F0E-986E-58005F476CB2}" presName="connectorText" presStyleLbl="sibTrans2D1" presStyleIdx="0" presStyleCnt="2"/>
      <dgm:spPr/>
    </dgm:pt>
    <dgm:pt modelId="{01E6603A-0E9F-456E-A859-BDAA82266251}" type="pres">
      <dgm:prSet presAssocID="{B99F8E51-20CC-43E8-8138-A5AEAECED000}" presName="node" presStyleLbl="node1" presStyleIdx="1" presStyleCnt="3">
        <dgm:presLayoutVars>
          <dgm:bulletEnabled val="1"/>
        </dgm:presLayoutVars>
      </dgm:prSet>
      <dgm:spPr/>
    </dgm:pt>
    <dgm:pt modelId="{C8EA0EEE-5BD8-4CFD-805F-EEE6521ECF27}" type="pres">
      <dgm:prSet presAssocID="{B14FB98C-9F7F-4795-A38A-A77B4F1736BF}" presName="sibTrans" presStyleLbl="sibTrans2D1" presStyleIdx="1" presStyleCnt="2"/>
      <dgm:spPr/>
    </dgm:pt>
    <dgm:pt modelId="{C94A8F17-6FE8-42C9-89C3-2A16ACC40BE0}" type="pres">
      <dgm:prSet presAssocID="{B14FB98C-9F7F-4795-A38A-A77B4F1736BF}" presName="connectorText" presStyleLbl="sibTrans2D1" presStyleIdx="1" presStyleCnt="2"/>
      <dgm:spPr/>
    </dgm:pt>
    <dgm:pt modelId="{CFA534DD-009A-492F-B6C8-BE7965525D4A}" type="pres">
      <dgm:prSet presAssocID="{A76BEDFD-6C33-49AE-910C-6F6E9EDB891B}" presName="node" presStyleLbl="node1" presStyleIdx="2" presStyleCnt="3">
        <dgm:presLayoutVars>
          <dgm:bulletEnabled val="1"/>
        </dgm:presLayoutVars>
      </dgm:prSet>
      <dgm:spPr/>
    </dgm:pt>
  </dgm:ptLst>
  <dgm:cxnLst>
    <dgm:cxn modelId="{EA695D10-AB07-4510-AFAB-73C871E6B380}" type="presOf" srcId="{5029C6B2-9340-4F0E-986E-58005F476CB2}" destId="{9CA9C60A-2431-4B27-8503-23943360315B}" srcOrd="1" destOrd="0" presId="urn:microsoft.com/office/officeart/2005/8/layout/process1"/>
    <dgm:cxn modelId="{2CA1D225-9970-441F-8A50-7ACF502886FD}" srcId="{DD9582DD-463D-4228-A003-E1B64A95AFB6}" destId="{A76BEDFD-6C33-49AE-910C-6F6E9EDB891B}" srcOrd="2" destOrd="0" parTransId="{4CDB9B01-9C95-4F43-BAB4-D155AA5C4762}" sibTransId="{AF87BC7E-8A23-4449-975C-778FB1C2CDE6}"/>
    <dgm:cxn modelId="{E2E5F125-F45A-4FEF-AD08-8CA2D2DD254C}" srcId="{DD9582DD-463D-4228-A003-E1B64A95AFB6}" destId="{A84274D0-6A21-469F-B246-EF0528509B5D}" srcOrd="0" destOrd="0" parTransId="{46E7AB23-DE82-446C-AEEF-DD5666AA6364}" sibTransId="{5029C6B2-9340-4F0E-986E-58005F476CB2}"/>
    <dgm:cxn modelId="{EFD65427-8041-4C0E-A6E0-9DE184CEA3D8}" type="presOf" srcId="{B14FB98C-9F7F-4795-A38A-A77B4F1736BF}" destId="{C8EA0EEE-5BD8-4CFD-805F-EEE6521ECF27}" srcOrd="0" destOrd="0" presId="urn:microsoft.com/office/officeart/2005/8/layout/process1"/>
    <dgm:cxn modelId="{6C11A646-279C-4EE2-9A0B-91A0340402E8}" srcId="{DD9582DD-463D-4228-A003-E1B64A95AFB6}" destId="{B99F8E51-20CC-43E8-8138-A5AEAECED000}" srcOrd="1" destOrd="0" parTransId="{CC78D0B4-ABB6-4FD3-8DA7-10E81C86C906}" sibTransId="{B14FB98C-9F7F-4795-A38A-A77B4F1736BF}"/>
    <dgm:cxn modelId="{CC60797A-DEFD-4E37-AB12-7CA90513BD49}" type="presOf" srcId="{A84274D0-6A21-469F-B246-EF0528509B5D}" destId="{737783DE-5064-4EDA-8DA0-B8BC1074787B}" srcOrd="0" destOrd="0" presId="urn:microsoft.com/office/officeart/2005/8/layout/process1"/>
    <dgm:cxn modelId="{CBF3DC93-F2C5-46D6-BB7F-B4F042B67BA4}" type="presOf" srcId="{B14FB98C-9F7F-4795-A38A-A77B4F1736BF}" destId="{C94A8F17-6FE8-42C9-89C3-2A16ACC40BE0}" srcOrd="1" destOrd="0" presId="urn:microsoft.com/office/officeart/2005/8/layout/process1"/>
    <dgm:cxn modelId="{6F845F9A-D84D-40D2-A585-953CC7FEFD92}" type="presOf" srcId="{A76BEDFD-6C33-49AE-910C-6F6E9EDB891B}" destId="{CFA534DD-009A-492F-B6C8-BE7965525D4A}" srcOrd="0" destOrd="0" presId="urn:microsoft.com/office/officeart/2005/8/layout/process1"/>
    <dgm:cxn modelId="{2AACD6AD-B009-4A20-BBE8-CD32D0F75631}" type="presOf" srcId="{5029C6B2-9340-4F0E-986E-58005F476CB2}" destId="{2E5973FA-2528-41DE-910C-46B45372E4F4}" srcOrd="0" destOrd="0" presId="urn:microsoft.com/office/officeart/2005/8/layout/process1"/>
    <dgm:cxn modelId="{E028A6B6-2DDB-48D4-AC35-D605EEF87667}" type="presOf" srcId="{DD9582DD-463D-4228-A003-E1B64A95AFB6}" destId="{CC73105C-F81C-4182-BB04-ABE04FB585D9}" srcOrd="0" destOrd="0" presId="urn:microsoft.com/office/officeart/2005/8/layout/process1"/>
    <dgm:cxn modelId="{D7C618FC-06C9-4B76-B51E-C69BCEE1B801}" type="presOf" srcId="{B99F8E51-20CC-43E8-8138-A5AEAECED000}" destId="{01E6603A-0E9F-456E-A859-BDAA82266251}" srcOrd="0" destOrd="0" presId="urn:microsoft.com/office/officeart/2005/8/layout/process1"/>
    <dgm:cxn modelId="{BB6EEF14-1584-48F4-A796-955F948FCF20}" type="presParOf" srcId="{CC73105C-F81C-4182-BB04-ABE04FB585D9}" destId="{737783DE-5064-4EDA-8DA0-B8BC1074787B}" srcOrd="0" destOrd="0" presId="urn:microsoft.com/office/officeart/2005/8/layout/process1"/>
    <dgm:cxn modelId="{8F882312-6B21-4079-8C2F-A0FE1196ED05}" type="presParOf" srcId="{CC73105C-F81C-4182-BB04-ABE04FB585D9}" destId="{2E5973FA-2528-41DE-910C-46B45372E4F4}" srcOrd="1" destOrd="0" presId="urn:microsoft.com/office/officeart/2005/8/layout/process1"/>
    <dgm:cxn modelId="{EE278DCF-4793-49D3-9D85-DD8576370A23}" type="presParOf" srcId="{2E5973FA-2528-41DE-910C-46B45372E4F4}" destId="{9CA9C60A-2431-4B27-8503-23943360315B}" srcOrd="0" destOrd="0" presId="urn:microsoft.com/office/officeart/2005/8/layout/process1"/>
    <dgm:cxn modelId="{A2F98C66-A3F2-4576-A2C1-D7BE337E5F75}" type="presParOf" srcId="{CC73105C-F81C-4182-BB04-ABE04FB585D9}" destId="{01E6603A-0E9F-456E-A859-BDAA82266251}" srcOrd="2" destOrd="0" presId="urn:microsoft.com/office/officeart/2005/8/layout/process1"/>
    <dgm:cxn modelId="{EE45D818-E3B8-4CCE-A9FA-FD004A5AB208}" type="presParOf" srcId="{CC73105C-F81C-4182-BB04-ABE04FB585D9}" destId="{C8EA0EEE-5BD8-4CFD-805F-EEE6521ECF27}" srcOrd="3" destOrd="0" presId="urn:microsoft.com/office/officeart/2005/8/layout/process1"/>
    <dgm:cxn modelId="{B5FFB86E-9C6F-485D-8CC9-16A40E84313D}" type="presParOf" srcId="{C8EA0EEE-5BD8-4CFD-805F-EEE6521ECF27}" destId="{C94A8F17-6FE8-42C9-89C3-2A16ACC40BE0}" srcOrd="0" destOrd="0" presId="urn:microsoft.com/office/officeart/2005/8/layout/process1"/>
    <dgm:cxn modelId="{DBB73721-CABB-41B9-96A8-1E58930B44A8}" type="presParOf" srcId="{CC73105C-F81C-4182-BB04-ABE04FB585D9}" destId="{CFA534DD-009A-492F-B6C8-BE7965525D4A}"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0B3937-DF91-4AFD-A875-51F3288EB934}">
      <dsp:nvSpPr>
        <dsp:cNvPr id="0" name=""/>
        <dsp:cNvSpPr/>
      </dsp:nvSpPr>
      <dsp:spPr>
        <a:xfrm>
          <a:off x="0" y="152970"/>
          <a:ext cx="9601200" cy="707264"/>
        </a:xfrm>
        <a:prstGeom prst="roundRect">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pt-BR" sz="3100" kern="1200" dirty="0"/>
            <a:t>RESISTIVA – APLICADORES METALICOS  </a:t>
          </a:r>
        </a:p>
      </dsp:txBody>
      <dsp:txXfrm>
        <a:off x="34526" y="187496"/>
        <a:ext cx="9532148" cy="638212"/>
      </dsp:txXfrm>
    </dsp:sp>
    <dsp:sp modelId="{EDEE372F-F75E-4A8A-BCC6-87A5ED5DB658}">
      <dsp:nvSpPr>
        <dsp:cNvPr id="0" name=""/>
        <dsp:cNvSpPr/>
      </dsp:nvSpPr>
      <dsp:spPr>
        <a:xfrm>
          <a:off x="0" y="860235"/>
          <a:ext cx="9601200" cy="7700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38" tIns="39370" rIns="220472" bIns="39370" numCol="1" spcCol="1270" anchor="t" anchorCtr="0">
          <a:noAutofit/>
        </a:bodyPr>
        <a:lstStyle/>
        <a:p>
          <a:pPr marL="228600" lvl="1" indent="-228600" algn="l" defTabSz="1066800">
            <a:lnSpc>
              <a:spcPct val="90000"/>
            </a:lnSpc>
            <a:spcBef>
              <a:spcPct val="0"/>
            </a:spcBef>
            <a:spcAft>
              <a:spcPct val="20000"/>
            </a:spcAft>
            <a:buChar char="•"/>
          </a:pPr>
          <a:r>
            <a:rPr lang="pt-BR" sz="2400" kern="1200" dirty="0"/>
            <a:t>ONDAS LONGAS E BAIXA FREQUENCIA </a:t>
          </a:r>
        </a:p>
        <a:p>
          <a:pPr marL="228600" lvl="1" indent="-228600" algn="l" defTabSz="1066800">
            <a:lnSpc>
              <a:spcPct val="90000"/>
            </a:lnSpc>
            <a:spcBef>
              <a:spcPct val="0"/>
            </a:spcBef>
            <a:spcAft>
              <a:spcPct val="20000"/>
            </a:spcAft>
            <a:buChar char="•"/>
          </a:pPr>
          <a:r>
            <a:rPr lang="pt-BR" sz="2400" kern="1200" dirty="0"/>
            <a:t>Aquece o tecido de fora para dentro, através de correntes elétricas.</a:t>
          </a:r>
        </a:p>
      </dsp:txBody>
      <dsp:txXfrm>
        <a:off x="0" y="860235"/>
        <a:ext cx="9601200" cy="770040"/>
      </dsp:txXfrm>
    </dsp:sp>
    <dsp:sp modelId="{CD4CE922-B524-468E-A829-7C98DE871A90}">
      <dsp:nvSpPr>
        <dsp:cNvPr id="0" name=""/>
        <dsp:cNvSpPr/>
      </dsp:nvSpPr>
      <dsp:spPr>
        <a:xfrm>
          <a:off x="0" y="1630275"/>
          <a:ext cx="9601200" cy="707264"/>
        </a:xfrm>
        <a:prstGeom prst="roundRect">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pt-BR" sz="3100" kern="1200" dirty="0"/>
            <a:t>CAPACITIVA – APLICADORES REVESTIDOS  </a:t>
          </a:r>
        </a:p>
      </dsp:txBody>
      <dsp:txXfrm>
        <a:off x="34526" y="1664801"/>
        <a:ext cx="9532148" cy="638212"/>
      </dsp:txXfrm>
    </dsp:sp>
    <dsp:sp modelId="{A30388B5-142A-4F9A-A271-CD1E8CB354C1}">
      <dsp:nvSpPr>
        <dsp:cNvPr id="0" name=""/>
        <dsp:cNvSpPr/>
      </dsp:nvSpPr>
      <dsp:spPr>
        <a:xfrm>
          <a:off x="0" y="2337540"/>
          <a:ext cx="9601200" cy="10908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38" tIns="39370" rIns="220472" bIns="39370" numCol="1" spcCol="1270" anchor="t" anchorCtr="0">
          <a:noAutofit/>
        </a:bodyPr>
        <a:lstStyle/>
        <a:p>
          <a:pPr marL="228600" lvl="1" indent="-228600" algn="l" defTabSz="1066800">
            <a:lnSpc>
              <a:spcPct val="90000"/>
            </a:lnSpc>
            <a:spcBef>
              <a:spcPct val="0"/>
            </a:spcBef>
            <a:spcAft>
              <a:spcPct val="20000"/>
            </a:spcAft>
            <a:buChar char="•"/>
          </a:pPr>
          <a:r>
            <a:rPr lang="pt-BR" sz="2400" kern="1200" dirty="0"/>
            <a:t>ONDAS CURTAS E FREQUENCIA DE 13 A 40 MHZ</a:t>
          </a:r>
        </a:p>
        <a:p>
          <a:pPr marL="228600" lvl="1" indent="-228600" algn="l" defTabSz="1066800">
            <a:lnSpc>
              <a:spcPct val="90000"/>
            </a:lnSpc>
            <a:spcBef>
              <a:spcPct val="0"/>
            </a:spcBef>
            <a:spcAft>
              <a:spcPct val="20000"/>
            </a:spcAft>
            <a:buChar char="•"/>
          </a:pPr>
          <a:r>
            <a:rPr lang="pt-BR" sz="2400" kern="1200" dirty="0"/>
            <a:t>Aquece o tecido de dentro para fora, através de um campo eletromagnético.</a:t>
          </a:r>
        </a:p>
      </dsp:txBody>
      <dsp:txXfrm>
        <a:off x="0" y="2337540"/>
        <a:ext cx="9601200" cy="109089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4D5F78-9C51-4E1B-B9D7-E719C7A02381}">
      <dsp:nvSpPr>
        <dsp:cNvPr id="0" name=""/>
        <dsp:cNvSpPr/>
      </dsp:nvSpPr>
      <dsp:spPr>
        <a:xfrm rot="1766204">
          <a:off x="3703904" y="2382074"/>
          <a:ext cx="676551" cy="42363"/>
        </a:xfrm>
        <a:custGeom>
          <a:avLst/>
          <a:gdLst/>
          <a:ahLst/>
          <a:cxnLst/>
          <a:rect l="0" t="0" r="0" b="0"/>
          <a:pathLst>
            <a:path>
              <a:moveTo>
                <a:pt x="0" y="21181"/>
              </a:moveTo>
              <a:lnTo>
                <a:pt x="676551" y="21181"/>
              </a:lnTo>
            </a:path>
          </a:pathLst>
        </a:custGeom>
        <a:noFill/>
        <a:ln w="34925" cap="flat" cmpd="sng" algn="in">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D30DD26-BE5C-4B66-81C7-1BDD9E481B9C}">
      <dsp:nvSpPr>
        <dsp:cNvPr id="0" name=""/>
        <dsp:cNvSpPr/>
      </dsp:nvSpPr>
      <dsp:spPr>
        <a:xfrm rot="19833796">
          <a:off x="3703904" y="1156962"/>
          <a:ext cx="676551" cy="42363"/>
        </a:xfrm>
        <a:custGeom>
          <a:avLst/>
          <a:gdLst/>
          <a:ahLst/>
          <a:cxnLst/>
          <a:rect l="0" t="0" r="0" b="0"/>
          <a:pathLst>
            <a:path>
              <a:moveTo>
                <a:pt x="0" y="21181"/>
              </a:moveTo>
              <a:lnTo>
                <a:pt x="676551" y="21181"/>
              </a:lnTo>
            </a:path>
          </a:pathLst>
        </a:custGeom>
        <a:noFill/>
        <a:ln w="34925" cap="flat" cmpd="sng" algn="in">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54A84ED-7EB0-4962-936B-E88DA86CE04E}">
      <dsp:nvSpPr>
        <dsp:cNvPr id="0" name=""/>
        <dsp:cNvSpPr/>
      </dsp:nvSpPr>
      <dsp:spPr>
        <a:xfrm>
          <a:off x="1826867" y="660871"/>
          <a:ext cx="2259657" cy="2259657"/>
        </a:xfrm>
        <a:prstGeom prst="ellipse">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5DB1E46-5E34-48A5-A1D5-D8AC030D9D7D}">
      <dsp:nvSpPr>
        <dsp:cNvPr id="0" name=""/>
        <dsp:cNvSpPr/>
      </dsp:nvSpPr>
      <dsp:spPr>
        <a:xfrm>
          <a:off x="4249266" y="836"/>
          <a:ext cx="1355794" cy="1355794"/>
        </a:xfrm>
        <a:prstGeom prst="ellipse">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pt-BR" sz="1900" kern="1200" dirty="0"/>
            <a:t>ABLATIVA </a:t>
          </a:r>
        </a:p>
      </dsp:txBody>
      <dsp:txXfrm>
        <a:off x="4447817" y="199387"/>
        <a:ext cx="958692" cy="958692"/>
      </dsp:txXfrm>
    </dsp:sp>
    <dsp:sp modelId="{F335C5C6-92FC-43BD-9682-2F5E05980398}">
      <dsp:nvSpPr>
        <dsp:cNvPr id="0" name=""/>
        <dsp:cNvSpPr/>
      </dsp:nvSpPr>
      <dsp:spPr>
        <a:xfrm>
          <a:off x="5740640" y="836"/>
          <a:ext cx="2033691" cy="1355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228600" lvl="1" indent="-228600" algn="l" defTabSz="889000">
            <a:lnSpc>
              <a:spcPct val="90000"/>
            </a:lnSpc>
            <a:spcBef>
              <a:spcPct val="0"/>
            </a:spcBef>
            <a:spcAft>
              <a:spcPct val="15000"/>
            </a:spcAft>
            <a:buChar char="•"/>
          </a:pPr>
          <a:r>
            <a:rPr lang="pt-BR" sz="2000" kern="1200" dirty="0"/>
            <a:t>POTENCIA ELEVADA</a:t>
          </a:r>
        </a:p>
        <a:p>
          <a:pPr marL="228600" lvl="1" indent="-228600" algn="l" defTabSz="889000">
            <a:lnSpc>
              <a:spcPct val="90000"/>
            </a:lnSpc>
            <a:spcBef>
              <a:spcPct val="0"/>
            </a:spcBef>
            <a:spcAft>
              <a:spcPct val="15000"/>
            </a:spcAft>
            <a:buChar char="•"/>
          </a:pPr>
          <a:r>
            <a:rPr lang="pt-BR" sz="2000" kern="1200" dirty="0"/>
            <a:t>ACIMA DE 90 GRAUS </a:t>
          </a:r>
        </a:p>
      </dsp:txBody>
      <dsp:txXfrm>
        <a:off x="5740640" y="836"/>
        <a:ext cx="2033691" cy="1355794"/>
      </dsp:txXfrm>
    </dsp:sp>
    <dsp:sp modelId="{A026A037-020D-41F2-AEA5-0F3AB3B0036C}">
      <dsp:nvSpPr>
        <dsp:cNvPr id="0" name=""/>
        <dsp:cNvSpPr/>
      </dsp:nvSpPr>
      <dsp:spPr>
        <a:xfrm>
          <a:off x="4249266" y="2224769"/>
          <a:ext cx="1355794" cy="1355794"/>
        </a:xfrm>
        <a:prstGeom prst="ellipse">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pt-BR" sz="1900" kern="1200" dirty="0"/>
            <a:t>NÃO ABLATIVA </a:t>
          </a:r>
        </a:p>
      </dsp:txBody>
      <dsp:txXfrm>
        <a:off x="4447817" y="2423320"/>
        <a:ext cx="958692" cy="958692"/>
      </dsp:txXfrm>
    </dsp:sp>
    <dsp:sp modelId="{049BEC7F-7135-4D7C-BBCB-AAB86E196E1A}">
      <dsp:nvSpPr>
        <dsp:cNvPr id="0" name=""/>
        <dsp:cNvSpPr/>
      </dsp:nvSpPr>
      <dsp:spPr>
        <a:xfrm>
          <a:off x="5740640" y="2224769"/>
          <a:ext cx="2033691" cy="1355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228600" lvl="1" indent="-228600" algn="l" defTabSz="889000">
            <a:lnSpc>
              <a:spcPct val="90000"/>
            </a:lnSpc>
            <a:spcBef>
              <a:spcPct val="0"/>
            </a:spcBef>
            <a:spcAft>
              <a:spcPct val="15000"/>
            </a:spcAft>
            <a:buChar char="•"/>
          </a:pPr>
          <a:r>
            <a:rPr lang="pt-BR" sz="2000" kern="1200" dirty="0"/>
            <a:t>POTENCIA MEDIANA</a:t>
          </a:r>
        </a:p>
        <a:p>
          <a:pPr marL="228600" lvl="1" indent="-228600" algn="l" defTabSz="889000">
            <a:lnSpc>
              <a:spcPct val="90000"/>
            </a:lnSpc>
            <a:spcBef>
              <a:spcPct val="0"/>
            </a:spcBef>
            <a:spcAft>
              <a:spcPct val="15000"/>
            </a:spcAft>
            <a:buChar char="•"/>
          </a:pPr>
          <a:r>
            <a:rPr lang="pt-BR" sz="2000" kern="1200" dirty="0"/>
            <a:t>TEMPERATURA VARIA 37 E 45 GRAUS </a:t>
          </a:r>
        </a:p>
      </dsp:txBody>
      <dsp:txXfrm>
        <a:off x="5740640" y="2224769"/>
        <a:ext cx="2033691" cy="135579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7783DE-5064-4EDA-8DA0-B8BC1074787B}">
      <dsp:nvSpPr>
        <dsp:cNvPr id="0" name=""/>
        <dsp:cNvSpPr/>
      </dsp:nvSpPr>
      <dsp:spPr>
        <a:xfrm>
          <a:off x="8438" y="1034042"/>
          <a:ext cx="2522190" cy="1513314"/>
        </a:xfrm>
        <a:prstGeom prst="roundRect">
          <a:avLst>
            <a:gd name="adj" fmla="val 10000"/>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pt-BR" sz="2900" kern="1200" dirty="0"/>
            <a:t>HIPERTERMIA</a:t>
          </a:r>
        </a:p>
      </dsp:txBody>
      <dsp:txXfrm>
        <a:off x="52761" y="1078365"/>
        <a:ext cx="2433544" cy="1424668"/>
      </dsp:txXfrm>
    </dsp:sp>
    <dsp:sp modelId="{2E5973FA-2528-41DE-910C-46B45372E4F4}">
      <dsp:nvSpPr>
        <dsp:cNvPr id="0" name=""/>
        <dsp:cNvSpPr/>
      </dsp:nvSpPr>
      <dsp:spPr>
        <a:xfrm>
          <a:off x="2782847" y="1477948"/>
          <a:ext cx="534704" cy="62550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endParaRPr lang="pt-BR" sz="2300" kern="1200"/>
        </a:p>
      </dsp:txBody>
      <dsp:txXfrm>
        <a:off x="2782847" y="1603049"/>
        <a:ext cx="374293" cy="375301"/>
      </dsp:txXfrm>
    </dsp:sp>
    <dsp:sp modelId="{01E6603A-0E9F-456E-A859-BDAA82266251}">
      <dsp:nvSpPr>
        <dsp:cNvPr id="0" name=""/>
        <dsp:cNvSpPr/>
      </dsp:nvSpPr>
      <dsp:spPr>
        <a:xfrm>
          <a:off x="3539504" y="1034042"/>
          <a:ext cx="2522190" cy="1513314"/>
        </a:xfrm>
        <a:prstGeom prst="roundRect">
          <a:avLst>
            <a:gd name="adj" fmla="val 10000"/>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pt-BR" sz="2900" kern="1200" dirty="0"/>
            <a:t>TGF BETA</a:t>
          </a:r>
        </a:p>
      </dsp:txBody>
      <dsp:txXfrm>
        <a:off x="3583827" y="1078365"/>
        <a:ext cx="2433544" cy="1424668"/>
      </dsp:txXfrm>
    </dsp:sp>
    <dsp:sp modelId="{C8EA0EEE-5BD8-4CFD-805F-EEE6521ECF27}">
      <dsp:nvSpPr>
        <dsp:cNvPr id="0" name=""/>
        <dsp:cNvSpPr/>
      </dsp:nvSpPr>
      <dsp:spPr>
        <a:xfrm>
          <a:off x="6313914" y="1477948"/>
          <a:ext cx="534704" cy="62550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endParaRPr lang="pt-BR" sz="2300" kern="1200"/>
        </a:p>
      </dsp:txBody>
      <dsp:txXfrm>
        <a:off x="6313914" y="1603049"/>
        <a:ext cx="374293" cy="375301"/>
      </dsp:txXfrm>
    </dsp:sp>
    <dsp:sp modelId="{CFA534DD-009A-492F-B6C8-BE7965525D4A}">
      <dsp:nvSpPr>
        <dsp:cNvPr id="0" name=""/>
        <dsp:cNvSpPr/>
      </dsp:nvSpPr>
      <dsp:spPr>
        <a:xfrm>
          <a:off x="7070571" y="1034042"/>
          <a:ext cx="2522190" cy="1513314"/>
        </a:xfrm>
        <a:prstGeom prst="roundRect">
          <a:avLst>
            <a:gd name="adj" fmla="val 10000"/>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pt-BR" sz="2900" kern="1200" dirty="0"/>
            <a:t>HSP47</a:t>
          </a:r>
        </a:p>
      </dsp:txBody>
      <dsp:txXfrm>
        <a:off x="7114894" y="1078365"/>
        <a:ext cx="2433544" cy="142466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radial2">
  <dgm:title val=""/>
  <dgm:desc val=""/>
  <dgm:catLst>
    <dgm:cat type="relationship" pri="20000"/>
    <dgm:cat type="convert" pri="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ite">
    <dgm:varLst>
      <dgm:chMax val="5"/>
      <dgm:dir/>
      <dgm:animLvl val="ctr"/>
      <dgm:resizeHandles val="exact"/>
    </dgm:varLst>
    <dgm:alg type="composite"/>
    <dgm:shape xmlns:r="http://schemas.openxmlformats.org/officeDocument/2006/relationships" r:blip="">
      <dgm:adjLst/>
    </dgm:shape>
    <dgm:presOf/>
    <dgm:constrLst>
      <dgm:constr type="w" for="ch" forName="cycle" refType="w"/>
      <dgm:constr type="h" for="ch" forName="cycle" refType="h"/>
    </dgm:constrLst>
    <dgm:ruleLst/>
    <dgm:layoutNode name="cycle">
      <dgm:choose name="Name0">
        <dgm:if name="Name1" func="var" arg="dir" op="equ" val="norm">
          <dgm:choose name="Name2">
            <dgm:if name="Name3" axis="ch" ptType="node" func="cnt" op="lte" val="1">
              <dgm:alg type="cycle">
                <dgm:param type="stAng" val="90"/>
                <dgm:param type="spanAng" val="360"/>
                <dgm:param type="ctrShpMap" val="fNode"/>
              </dgm:alg>
            </dgm:if>
            <dgm:if name="Name4" axis="ch" ptType="node" func="cnt" op="equ" val="2">
              <dgm:alg type="cycle">
                <dgm:param type="stAng" val="70"/>
                <dgm:param type="spanAng" val="40"/>
                <dgm:param type="ctrShpMap" val="fNode"/>
              </dgm:alg>
            </dgm:if>
            <dgm:if name="Name5" axis="ch" ptType="node" func="cnt" op="equ" val="3">
              <dgm:alg type="cycle">
                <dgm:param type="stAng" val="60"/>
                <dgm:param type="spanAng" val="60"/>
                <dgm:param type="ctrShpMap" val="fNode"/>
              </dgm:alg>
            </dgm:if>
            <dgm:else name="Name6">
              <dgm:alg type="cycle">
                <dgm:param type="stAng" val="45"/>
                <dgm:param type="spanAng" val="90"/>
                <dgm:param type="ctrShpMap" val="fNode"/>
              </dgm:alg>
            </dgm:else>
          </dgm:choose>
        </dgm:if>
        <dgm:else name="Name7">
          <dgm:choose name="Name8">
            <dgm:if name="Name9" axis="ch" ptType="node" func="cnt" op="lte" val="1">
              <dgm:alg type="cycle">
                <dgm:param type="stAng" val="-90"/>
                <dgm:param type="spanAng" val="-360"/>
                <dgm:param type="ctrShpMap" val="fNode"/>
              </dgm:alg>
            </dgm:if>
            <dgm:if name="Name10" axis="ch" ptType="node" func="cnt" op="equ" val="2">
              <dgm:alg type="cycle">
                <dgm:param type="stAng" val="-70"/>
                <dgm:param type="spanAng" val="-40"/>
                <dgm:param type="ctrShpMap" val="fNode"/>
              </dgm:alg>
            </dgm:if>
            <dgm:if name="Name11" axis="ch" ptType="node" func="cnt" op="equ" val="3">
              <dgm:alg type="cycle">
                <dgm:param type="stAng" val="-60"/>
                <dgm:param type="spanAng" val="-60"/>
                <dgm:param type="ctrShpMap" val="fNode"/>
              </dgm:alg>
            </dgm:if>
            <dgm:else name="Name12">
              <dgm:alg type="cycle">
                <dgm:param type="stAng" val="-45"/>
                <dgm:param type="spanAng" val="-90"/>
                <dgm:param type="ctrShpMap" val="fNode"/>
              </dgm:alg>
            </dgm:else>
          </dgm:choose>
        </dgm:else>
      </dgm:choose>
      <dgm:shape xmlns:r="http://schemas.openxmlformats.org/officeDocument/2006/relationships" r:blip="">
        <dgm:adjLst/>
      </dgm:shape>
      <dgm:presOf/>
      <dgm:constrLst>
        <dgm:constr type="sp" val="20"/>
        <dgm:constr type="w" for="ch" forName="centerShape" refType="w"/>
        <dgm:constr type="w" for="ch" forName="node" refType="w" refFor="ch" refForName="centerShape" fact="1.5"/>
        <dgm:constr type="sibSp" refType="w" refFor="ch" refForName="centerShape" op="equ" fact="0.08"/>
        <dgm:constr type="primFontSz" for="des" forName="parentNode" op="equ" val="65"/>
        <dgm:constr type="secFontSz" for="des" forName="childNode" op="equ" val="65"/>
      </dgm:constrLst>
      <dgm:ruleLst/>
      <dgm:choose name="Name13">
        <dgm:if name="Name14" axis="ch" ptType="node" hideLastTrans="0" func="cnt" op="gte" val="1">
          <dgm:layoutNode name="centerShape" styleLbl="node0">
            <dgm:alg type="composite"/>
            <dgm:shape xmlns:r="http://schemas.openxmlformats.org/officeDocument/2006/relationships" r:blip="">
              <dgm:adjLst/>
            </dgm:shape>
            <dgm:presOf axis="ch" ptType="node" cnt="1"/>
            <dgm:constrLst>
              <dgm:constr type="w" for="ch" forName="connSite" refType="w" fact="0.7"/>
              <dgm:constr type="h" for="ch" forName="connSite" refType="w" fact="0.7"/>
              <dgm:constr type="ctrX" for="ch" forName="connSite" refType="w" fact="0.5"/>
              <dgm:constr type="ctrY" for="ch" forName="connSite" refType="h" fact="0.5"/>
              <dgm:constr type="w" for="ch" forName="visible" refType="w"/>
              <dgm:constr type="h" for="ch" forName="visible" refType="w"/>
              <dgm:constr type="ctrX" for="ch" forName="visible" refType="w" fact="0.5"/>
              <dgm:constr type="ctrY" for="ch" forName="visible" refType="h" fact="0.5"/>
            </dgm:constrLst>
            <dgm:ruleLst/>
            <dgm:layoutNode name="connSite">
              <dgm:alg type="sp"/>
              <dgm:shape xmlns:r="http://schemas.openxmlformats.org/officeDocument/2006/relationships" type="ellipse" r:blip="" hideGeom="1">
                <dgm:adjLst/>
              </dgm:shape>
              <dgm:presOf/>
              <dgm:constrLst/>
              <dgm:ruleLst/>
            </dgm:layoutNode>
            <dgm:layoutNode name="visible">
              <dgm:alg type="sp"/>
              <dgm:shape xmlns:r="http://schemas.openxmlformats.org/officeDocument/2006/relationships" type="ellipse" r:blip="" blipPhldr="1">
                <dgm:adjLst/>
              </dgm:shape>
              <dgm:presOf/>
              <dgm:constrLst/>
              <dgm:ruleLst/>
            </dgm:layoutNode>
          </dgm:layoutNode>
        </dgm:if>
        <dgm:else name="Name15"/>
      </dgm:choose>
      <dgm:forEach name="Name16" axis="ch">
        <dgm:forEach name="Name17" axis="self" ptType="node">
          <dgm:layoutNode name="node">
            <dgm:alg type="composite"/>
            <dgm:shape xmlns:r="http://schemas.openxmlformats.org/officeDocument/2006/relationships" r:blip="">
              <dgm:adjLst/>
            </dgm:shape>
            <dgm:presOf/>
            <dgm:choose name="Name18">
              <dgm:if name="Name19" func="var" arg="dir" op="equ" val="norm">
                <dgm:constrLst>
                  <dgm:constr type="t" for="ch" forName="parentNode"/>
                  <dgm:constr type="l" for="ch" forName="parentNode"/>
                  <dgm:constr type="w" for="ch" forName="parentNode" refType="w" fact="0.4"/>
                  <dgm:constr type="h" for="ch" forName="parentNode" refType="w" refFor="ch" refForName="parentNode" op="equ"/>
                  <dgm:constr type="ctrY" for="ch" forName="childNode" refType="h" refFor="ch" refForName="parentNode" fact="0.5"/>
                  <dgm:constr type="l" for="ch" forName="childNode" refType="w" refFor="ch" refForName="parentNode" op="equ" fact="1.1"/>
                  <dgm:constr type="w" for="ch" forName="childNode" refType="w" fact="0.6"/>
                  <dgm:constr type="h" for="ch" forName="childNode" refType="h" refFor="ch" refForName="parentNode"/>
                </dgm:constrLst>
              </dgm:if>
              <dgm:else name="Name20">
                <dgm:constrLst>
                  <dgm:constr type="t" for="ch" forName="parentNode"/>
                  <dgm:constr type="r" for="ch" forName="parentNode" refType="w"/>
                  <dgm:constr type="w" for="ch" forName="parentNode" refType="w" fact="0.4"/>
                  <dgm:constr type="h" for="ch" forName="parentNode" refType="w" refFor="ch" refForName="parentNode" op="equ"/>
                  <dgm:constr type="ctrY" for="ch" forName="childNode" refType="h" refFor="ch" refForName="parentNode" fact="0.5"/>
                  <dgm:constr type="l" for="ch" forName="childNode"/>
                  <dgm:constr type="w" for="ch" forName="childNode" refType="w" fact="0.6"/>
                  <dgm:constr type="h" for="ch" forName="childNode" refType="h" refFor="ch" refForName="parentNode"/>
                </dgm:constrLst>
              </dgm:else>
            </dgm:choose>
            <dgm:ruleLst/>
            <dgm:layoutNode name="parentNode" styleLbl="node1">
              <dgm:varLst>
                <dgm:chMax val="1"/>
                <dgm:bulletEnabled val="1"/>
              </dgm:varLst>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childNode" styleLbl="revTx" moveWith="parentNode">
              <dgm:varLst>
                <dgm:bulletEnabled val="1"/>
              </dgm:varLst>
              <dgm:alg type="tx">
                <dgm:param type="txAnchorVertCh" val="mid"/>
                <dgm:param type="stBulletLvl" val="1"/>
              </dgm:alg>
              <dgm:choose name="Name21">
                <dgm:if name="Name22" axis="ch" ptType="node" func="cnt" op="gte" val="1">
                  <dgm:shape xmlns:r="http://schemas.openxmlformats.org/officeDocument/2006/relationships" type="rect" r:blip="">
                    <dgm:adjLst/>
                  </dgm:shape>
                </dgm:if>
                <dgm:else name="Name23">
                  <dgm:shape xmlns:r="http://schemas.openxmlformats.org/officeDocument/2006/relationships" type="rect" r:blip="" hideGeom="1">
                    <dgm:adjLst/>
                  </dgm:shape>
                </dgm:else>
              </dgm:choose>
              <dgm:presOf axis="des" ptType="node"/>
              <dgm:constrLst>
                <dgm:constr type="tMarg"/>
                <dgm:constr type="bMarg"/>
                <dgm:constr type="lMarg"/>
                <dgm:constr type="rMarg"/>
              </dgm:constrLst>
              <dgm:ruleLst>
                <dgm:rule type="secFontSz" val="5" fact="NaN" max="NaN"/>
              </dgm:ruleLst>
            </dgm:layoutNode>
          </dgm:layoutNode>
        </dgm:forEach>
        <dgm:forEach name="Name24" axis="self" ptType="parTrans" cnt="1">
          <dgm:layoutNode name="Name25">
            <dgm:alg type="conn">
              <dgm:param type="dim" val="1D"/>
              <dgm:param type="endSty" val="noArr"/>
              <dgm:param type="begPts" val="auto"/>
              <dgm:param type="endPts" val="auto"/>
              <dgm:param type="srcNode" val="connSite"/>
              <dgm:param type="dstNode" val="parentNode"/>
            </dgm:alg>
            <dgm:shape xmlns:r="http://schemas.openxmlformats.org/officeDocument/2006/relationships" type="conn" r:blip="" zOrderOff="-99">
              <dgm:adjLst/>
            </dgm:shape>
            <dgm:presOf axis="self"/>
            <dgm:constrLst>
              <dgm:constr type="connDist"/>
              <dgm:constr type="w" val="1"/>
              <dgm:constr type="h" val="5"/>
              <dgm:constr type="begPad"/>
              <dgm:constr type="endPad"/>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ide de Título">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pt-BR"/>
              <a:t>Clique para editar o título Mestre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0D9F02DF-85CD-4CC1-910C-5B631360C7C0}" type="datetimeFigureOut">
              <a:rPr lang="pt-BR" smtClean="0"/>
              <a:t>15/01/2026</a:t>
            </a:fld>
            <a:endParaRPr lang="pt-BR"/>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pt-BR"/>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2BB7E01C-FD32-414A-8F67-C791E7EF31A5}" type="slidenum">
              <a:rPr lang="pt-BR" smtClean="0"/>
              <a:t>‹nº›</a:t>
            </a:fld>
            <a:endParaRPr lang="pt-BR"/>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318563146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0D9F02DF-85CD-4CC1-910C-5B631360C7C0}" type="datetimeFigureOut">
              <a:rPr lang="pt-BR" smtClean="0"/>
              <a:t>15/01/2026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2BB7E01C-FD32-414A-8F67-C791E7EF31A5}" type="slidenum">
              <a:rPr lang="pt-BR" smtClean="0"/>
              <a:t>‹nº›</a:t>
            </a:fld>
            <a:endParaRPr lang="pt-BR"/>
          </a:p>
        </p:txBody>
      </p:sp>
    </p:spTree>
    <p:extLst>
      <p:ext uri="{BB962C8B-B14F-4D97-AF65-F5344CB8AC3E}">
        <p14:creationId xmlns:p14="http://schemas.microsoft.com/office/powerpoint/2010/main" val="12042232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Cabeçalho da Seção">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pt-BR"/>
              <a:t>Clique para editar o título Mestre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0D9F02DF-85CD-4CC1-910C-5B631360C7C0}" type="datetimeFigureOut">
              <a:rPr lang="pt-BR" smtClean="0"/>
              <a:t>15/01/2026</a:t>
            </a:fld>
            <a:endParaRPr lang="pt-BR"/>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pt-BR"/>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2BB7E01C-FD32-414A-8F67-C791E7EF31A5}" type="slidenum">
              <a:rPr lang="pt-BR" smtClean="0"/>
              <a:t>‹nº›</a:t>
            </a:fld>
            <a:endParaRPr lang="pt-BR"/>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80519673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pt-BR"/>
              <a:t>Clique para editar o título Mestre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0D9F02DF-85CD-4CC1-910C-5B631360C7C0}" type="datetimeFigureOut">
              <a:rPr lang="pt-BR" smtClean="0"/>
              <a:t>15/01/2026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2BB7E01C-FD32-414A-8F67-C791E7EF31A5}" type="slidenum">
              <a:rPr lang="pt-BR" smtClean="0"/>
              <a:t>‹nº›</a:t>
            </a:fld>
            <a:endParaRPr lang="pt-BR"/>
          </a:p>
        </p:txBody>
      </p:sp>
    </p:spTree>
    <p:extLst>
      <p:ext uri="{BB962C8B-B14F-4D97-AF65-F5344CB8AC3E}">
        <p14:creationId xmlns:p14="http://schemas.microsoft.com/office/powerpoint/2010/main" val="40890351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pt-BR"/>
              <a:t>Clique para editar o título Mestre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0D9F02DF-85CD-4CC1-910C-5B631360C7C0}" type="datetimeFigureOut">
              <a:rPr lang="pt-BR" smtClean="0"/>
              <a:t>15/01/2026</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2BB7E01C-FD32-414A-8F67-C791E7EF31A5}" type="slidenum">
              <a:rPr lang="pt-BR" smtClean="0"/>
              <a:t>‹nº›</a:t>
            </a:fld>
            <a:endParaRPr lang="pt-BR"/>
          </a:p>
        </p:txBody>
      </p:sp>
    </p:spTree>
    <p:extLst>
      <p:ext uri="{BB962C8B-B14F-4D97-AF65-F5344CB8AC3E}">
        <p14:creationId xmlns:p14="http://schemas.microsoft.com/office/powerpoint/2010/main" val="2555777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0D9F02DF-85CD-4CC1-910C-5B631360C7C0}" type="datetimeFigureOut">
              <a:rPr lang="pt-BR" smtClean="0"/>
              <a:t>15/01/2026</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2BB7E01C-FD32-414A-8F67-C791E7EF31A5}" type="slidenum">
              <a:rPr lang="pt-BR" smtClean="0"/>
              <a:t>‹nº›</a:t>
            </a:fld>
            <a:endParaRPr lang="pt-BR"/>
          </a:p>
        </p:txBody>
      </p:sp>
    </p:spTree>
    <p:extLst>
      <p:ext uri="{BB962C8B-B14F-4D97-AF65-F5344CB8AC3E}">
        <p14:creationId xmlns:p14="http://schemas.microsoft.com/office/powerpoint/2010/main" val="12186995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9F02DF-85CD-4CC1-910C-5B631360C7C0}" type="datetimeFigureOut">
              <a:rPr lang="pt-BR" smtClean="0"/>
              <a:t>15/01/2026</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2BB7E01C-FD32-414A-8F67-C791E7EF31A5}" type="slidenum">
              <a:rPr lang="pt-BR" smtClean="0"/>
              <a:t>‹nº›</a:t>
            </a:fld>
            <a:endParaRPr lang="pt-BR"/>
          </a:p>
        </p:txBody>
      </p:sp>
    </p:spTree>
    <p:extLst>
      <p:ext uri="{BB962C8B-B14F-4D97-AF65-F5344CB8AC3E}">
        <p14:creationId xmlns:p14="http://schemas.microsoft.com/office/powerpoint/2010/main" val="4094171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údo com Legenda">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pt-BR"/>
              <a:t>Clique para editar o título Mestre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0D9F02DF-85CD-4CC1-910C-5B631360C7C0}" type="datetimeFigureOut">
              <a:rPr lang="pt-BR" smtClean="0"/>
              <a:t>15/01/2026</a:t>
            </a:fld>
            <a:endParaRPr lang="pt-BR"/>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pt-B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2BB7E01C-FD32-414A-8F67-C791E7EF31A5}" type="slidenum">
              <a:rPr lang="pt-BR" smtClean="0"/>
              <a:t>‹nº›</a:t>
            </a:fld>
            <a:endParaRPr lang="pt-BR"/>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526739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m com Legenda">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a:t>Clique no ícone para adicionar uma imagem</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0D9F02DF-85CD-4CC1-910C-5B631360C7C0}" type="datetimeFigureOut">
              <a:rPr lang="pt-BR" smtClean="0"/>
              <a:t>15/01/2026</a:t>
            </a:fld>
            <a:endParaRPr lang="pt-BR"/>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pt-B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2BB7E01C-FD32-414A-8F67-C791E7EF31A5}" type="slidenum">
              <a:rPr lang="pt-BR" smtClean="0"/>
              <a:t>‹nº›</a:t>
            </a:fld>
            <a:endParaRPr lang="pt-BR"/>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748112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0D9F02DF-85CD-4CC1-910C-5B631360C7C0}" type="datetimeFigureOut">
              <a:rPr lang="pt-BR" smtClean="0"/>
              <a:t>15/01/2026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2BB7E01C-FD32-414A-8F67-C791E7EF31A5}" type="slidenum">
              <a:rPr lang="pt-BR" smtClean="0"/>
              <a:t>‹nº›</a:t>
            </a:fld>
            <a:endParaRPr lang="pt-BR"/>
          </a:p>
        </p:txBody>
      </p:sp>
    </p:spTree>
    <p:extLst>
      <p:ext uri="{BB962C8B-B14F-4D97-AF65-F5344CB8AC3E}">
        <p14:creationId xmlns:p14="http://schemas.microsoft.com/office/powerpoint/2010/main" val="27453763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0D9F02DF-85CD-4CC1-910C-5B631360C7C0}" type="datetimeFigureOut">
              <a:rPr lang="pt-BR" smtClean="0"/>
              <a:t>15/01/2026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2BB7E01C-FD32-414A-8F67-C791E7EF31A5}" type="slidenum">
              <a:rPr lang="pt-BR" smtClean="0"/>
              <a:t>‹nº›</a:t>
            </a:fld>
            <a:endParaRPr lang="pt-BR"/>
          </a:p>
        </p:txBody>
      </p:sp>
    </p:spTree>
    <p:extLst>
      <p:ext uri="{BB962C8B-B14F-4D97-AF65-F5344CB8AC3E}">
        <p14:creationId xmlns:p14="http://schemas.microsoft.com/office/powerpoint/2010/main" val="33261964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pt-BR"/>
              <a:t>Clique para editar o título Mestre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0D9F02DF-85CD-4CC1-910C-5B631360C7C0}" type="datetimeFigureOut">
              <a:rPr lang="pt-BR" smtClean="0"/>
              <a:t>15/01/2026</a:t>
            </a:fld>
            <a:endParaRPr lang="pt-BR"/>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pt-BR"/>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2BB7E01C-FD32-414A-8F67-C791E7EF31A5}" type="slidenum">
              <a:rPr lang="pt-BR" smtClean="0"/>
              <a:t>‹nº›</a:t>
            </a:fld>
            <a:endParaRPr lang="pt-BR"/>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43251312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3.jpe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72B4D8-7994-9E46-D7A8-4623A7101979}"/>
              </a:ext>
            </a:extLst>
          </p:cNvPr>
          <p:cNvSpPr>
            <a:spLocks noGrp="1"/>
          </p:cNvSpPr>
          <p:nvPr>
            <p:ph type="ctrTitle"/>
          </p:nvPr>
        </p:nvSpPr>
        <p:spPr/>
        <p:txBody>
          <a:bodyPr/>
          <a:lstStyle/>
          <a:p>
            <a:r>
              <a:rPr lang="pt-BR" dirty="0"/>
              <a:t>Radiofrequência</a:t>
            </a:r>
            <a:br>
              <a:rPr lang="pt-BR" dirty="0"/>
            </a:br>
            <a:r>
              <a:rPr lang="pt-BR" dirty="0"/>
              <a:t>Criofrequencia </a:t>
            </a:r>
          </a:p>
        </p:txBody>
      </p:sp>
      <p:sp>
        <p:nvSpPr>
          <p:cNvPr id="3" name="Subtítulo 2">
            <a:extLst>
              <a:ext uri="{FF2B5EF4-FFF2-40B4-BE49-F238E27FC236}">
                <a16:creationId xmlns:a16="http://schemas.microsoft.com/office/drawing/2014/main" id="{0E244AB9-8BA6-6D88-148F-3D6BBDEF1256}"/>
              </a:ext>
            </a:extLst>
          </p:cNvPr>
          <p:cNvSpPr>
            <a:spLocks noGrp="1"/>
          </p:cNvSpPr>
          <p:nvPr>
            <p:ph type="subTitle" idx="1"/>
          </p:nvPr>
        </p:nvSpPr>
        <p:spPr/>
        <p:txBody>
          <a:bodyPr/>
          <a:lstStyle/>
          <a:p>
            <a:r>
              <a:rPr lang="pt-BR" dirty="0" err="1"/>
              <a:t>Profº</a:t>
            </a:r>
            <a:r>
              <a:rPr lang="pt-BR" dirty="0"/>
              <a:t>: Mariana Macedo Justi</a:t>
            </a:r>
          </a:p>
        </p:txBody>
      </p:sp>
    </p:spTree>
    <p:extLst>
      <p:ext uri="{BB962C8B-B14F-4D97-AF65-F5344CB8AC3E}">
        <p14:creationId xmlns:p14="http://schemas.microsoft.com/office/powerpoint/2010/main" val="1135930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2DDD1C-AC65-F54A-F56C-9D934F9C5EF4}"/>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C1CB5182-28B6-9CD8-7911-A79F8C8BC6A0}"/>
              </a:ext>
            </a:extLst>
          </p:cNvPr>
          <p:cNvSpPr>
            <a:spLocks noGrp="1"/>
          </p:cNvSpPr>
          <p:nvPr>
            <p:ph idx="1"/>
          </p:nvPr>
        </p:nvSpPr>
        <p:spPr/>
        <p:txBody>
          <a:bodyPr/>
          <a:lstStyle/>
          <a:p>
            <a:endParaRPr lang="pt-BR"/>
          </a:p>
        </p:txBody>
      </p:sp>
      <p:pic>
        <p:nvPicPr>
          <p:cNvPr id="2050" name="Picture 2" descr="Criofrequência: Máquina Superpoderosa para Redução de Gordur - Bela vista -  Bela vista">
            <a:extLst>
              <a:ext uri="{FF2B5EF4-FFF2-40B4-BE49-F238E27FC236}">
                <a16:creationId xmlns:a16="http://schemas.microsoft.com/office/drawing/2014/main" id="{8256722B-F5F1-458C-28A8-149BA55074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2198" y="-3246"/>
            <a:ext cx="10442666" cy="6861246"/>
          </a:xfrm>
          <a:prstGeom prst="rect">
            <a:avLst/>
          </a:prstGeom>
          <a:noFill/>
          <a:extLst>
            <a:ext uri="{909E8E84-426E-40DD-AFC4-6F175D3DCCD1}">
              <a14:hiddenFill xmlns:a14="http://schemas.microsoft.com/office/drawing/2010/main">
                <a:solidFill>
                  <a:srgbClr val="FFFFFF"/>
                </a:solidFill>
              </a14:hiddenFill>
            </a:ext>
          </a:extLst>
        </p:spPr>
      </p:pic>
      <p:sp>
        <p:nvSpPr>
          <p:cNvPr id="4" name="CaixaDeTexto 3">
            <a:extLst>
              <a:ext uri="{FF2B5EF4-FFF2-40B4-BE49-F238E27FC236}">
                <a16:creationId xmlns:a16="http://schemas.microsoft.com/office/drawing/2014/main" id="{F6865ED7-D9BA-3C17-578F-1C48EDC3CB40}"/>
              </a:ext>
            </a:extLst>
          </p:cNvPr>
          <p:cNvSpPr txBox="1"/>
          <p:nvPr/>
        </p:nvSpPr>
        <p:spPr>
          <a:xfrm>
            <a:off x="872198" y="5888502"/>
            <a:ext cx="1749287" cy="707886"/>
          </a:xfrm>
          <a:prstGeom prst="rect">
            <a:avLst/>
          </a:prstGeom>
          <a:noFill/>
        </p:spPr>
        <p:txBody>
          <a:bodyPr wrap="square" rtlCol="0">
            <a:spAutoFit/>
          </a:bodyPr>
          <a:lstStyle/>
          <a:p>
            <a:r>
              <a:rPr lang="pt-BR" sz="2000" dirty="0"/>
              <a:t>CRIO</a:t>
            </a:r>
          </a:p>
          <a:p>
            <a:r>
              <a:rPr lang="pt-BR" sz="2000" dirty="0"/>
              <a:t>FREQUENCIA </a:t>
            </a:r>
          </a:p>
        </p:txBody>
      </p:sp>
    </p:spTree>
    <p:extLst>
      <p:ext uri="{BB962C8B-B14F-4D97-AF65-F5344CB8AC3E}">
        <p14:creationId xmlns:p14="http://schemas.microsoft.com/office/powerpoint/2010/main" val="4090856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5DD738-AB15-289B-1528-8694998B0DCF}"/>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99D66462-3D7E-C2B7-2C87-EBC75178E374}"/>
              </a:ext>
            </a:extLst>
          </p:cNvPr>
          <p:cNvSpPr>
            <a:spLocks noGrp="1"/>
          </p:cNvSpPr>
          <p:nvPr>
            <p:ph idx="1"/>
          </p:nvPr>
        </p:nvSpPr>
        <p:spPr/>
        <p:txBody>
          <a:bodyPr/>
          <a:lstStyle/>
          <a:p>
            <a:endParaRPr lang="pt-BR"/>
          </a:p>
        </p:txBody>
      </p:sp>
      <p:pic>
        <p:nvPicPr>
          <p:cNvPr id="3074" name="Picture 2" descr="Criofrequência: você sabe como utilizar no seu centro de estética?">
            <a:extLst>
              <a:ext uri="{FF2B5EF4-FFF2-40B4-BE49-F238E27FC236}">
                <a16:creationId xmlns:a16="http://schemas.microsoft.com/office/drawing/2014/main" id="{C786F8EE-1C0C-5DDB-6005-27A5EDD5CB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240"/>
            <a:ext cx="12219214" cy="6842760"/>
          </a:xfrm>
          <a:prstGeom prst="rect">
            <a:avLst/>
          </a:prstGeom>
          <a:noFill/>
          <a:extLst>
            <a:ext uri="{909E8E84-426E-40DD-AFC4-6F175D3DCCD1}">
              <a14:hiddenFill xmlns:a14="http://schemas.microsoft.com/office/drawing/2010/main">
                <a:solidFill>
                  <a:srgbClr val="FFFFFF"/>
                </a:solidFill>
              </a14:hiddenFill>
            </a:ext>
          </a:extLst>
        </p:spPr>
      </p:pic>
      <p:sp>
        <p:nvSpPr>
          <p:cNvPr id="4" name="CaixaDeTexto 3">
            <a:extLst>
              <a:ext uri="{FF2B5EF4-FFF2-40B4-BE49-F238E27FC236}">
                <a16:creationId xmlns:a16="http://schemas.microsoft.com/office/drawing/2014/main" id="{E621E0A8-02FA-A1F9-6FBC-BFB813933688}"/>
              </a:ext>
            </a:extLst>
          </p:cNvPr>
          <p:cNvSpPr txBox="1"/>
          <p:nvPr/>
        </p:nvSpPr>
        <p:spPr>
          <a:xfrm>
            <a:off x="240986" y="1159987"/>
            <a:ext cx="1749287" cy="707886"/>
          </a:xfrm>
          <a:prstGeom prst="rect">
            <a:avLst/>
          </a:prstGeom>
          <a:noFill/>
        </p:spPr>
        <p:txBody>
          <a:bodyPr wrap="square" rtlCol="0">
            <a:spAutoFit/>
          </a:bodyPr>
          <a:lstStyle/>
          <a:p>
            <a:r>
              <a:rPr lang="pt-BR" sz="2000" dirty="0"/>
              <a:t>CRIO</a:t>
            </a:r>
          </a:p>
          <a:p>
            <a:r>
              <a:rPr lang="pt-BR" sz="2000" dirty="0"/>
              <a:t>FREQUENCIA </a:t>
            </a:r>
          </a:p>
        </p:txBody>
      </p:sp>
    </p:spTree>
    <p:extLst>
      <p:ext uri="{BB962C8B-B14F-4D97-AF65-F5344CB8AC3E}">
        <p14:creationId xmlns:p14="http://schemas.microsoft.com/office/powerpoint/2010/main" val="34778971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67F3D0-84E2-00E5-84A0-65F918ACDA34}"/>
              </a:ext>
            </a:extLst>
          </p:cNvPr>
          <p:cNvSpPr>
            <a:spLocks noGrp="1"/>
          </p:cNvSpPr>
          <p:nvPr>
            <p:ph type="title"/>
          </p:nvPr>
        </p:nvSpPr>
        <p:spPr/>
        <p:txBody>
          <a:bodyPr/>
          <a:lstStyle/>
          <a:p>
            <a:r>
              <a:rPr lang="pt-BR" dirty="0"/>
              <a:t>RADIOFREQUENCIA </a:t>
            </a:r>
          </a:p>
        </p:txBody>
      </p:sp>
      <p:sp>
        <p:nvSpPr>
          <p:cNvPr id="3" name="Espaço Reservado para Conteúdo 2">
            <a:extLst>
              <a:ext uri="{FF2B5EF4-FFF2-40B4-BE49-F238E27FC236}">
                <a16:creationId xmlns:a16="http://schemas.microsoft.com/office/drawing/2014/main" id="{0499335D-4402-CB53-294B-764585F5FDB8}"/>
              </a:ext>
            </a:extLst>
          </p:cNvPr>
          <p:cNvSpPr>
            <a:spLocks noGrp="1"/>
          </p:cNvSpPr>
          <p:nvPr>
            <p:ph idx="1"/>
          </p:nvPr>
        </p:nvSpPr>
        <p:spPr/>
        <p:txBody>
          <a:bodyPr/>
          <a:lstStyle/>
          <a:p>
            <a:r>
              <a:rPr lang="pt-BR" dirty="0"/>
              <a:t>TERAPIA QUE UTILIZA CORRENTE ELETRICA DE ALTA FREQUENCIA, ACIMA DE 250 kHz.</a:t>
            </a:r>
          </a:p>
          <a:p>
            <a:r>
              <a:rPr lang="pt-BR" dirty="0"/>
              <a:t>APARELHOS CAPACITIVOS – FREQUENCIA PROXIMA A 450 kHz</a:t>
            </a:r>
          </a:p>
          <a:p>
            <a:r>
              <a:rPr lang="pt-BR" dirty="0"/>
              <a:t>APARELHO RESISTIVO – ACIMA DE 1 MHz</a:t>
            </a:r>
          </a:p>
          <a:p>
            <a:r>
              <a:rPr lang="pt-BR" dirty="0"/>
              <a:t>Não é o valor da frequência que determina a qualidade do equipamento.</a:t>
            </a:r>
          </a:p>
        </p:txBody>
      </p:sp>
    </p:spTree>
    <p:extLst>
      <p:ext uri="{BB962C8B-B14F-4D97-AF65-F5344CB8AC3E}">
        <p14:creationId xmlns:p14="http://schemas.microsoft.com/office/powerpoint/2010/main" val="22129324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3DD09E-32F4-6AA4-B893-037D4150FEA6}"/>
              </a:ext>
            </a:extLst>
          </p:cNvPr>
          <p:cNvSpPr>
            <a:spLocks noGrp="1"/>
          </p:cNvSpPr>
          <p:nvPr>
            <p:ph type="title"/>
          </p:nvPr>
        </p:nvSpPr>
        <p:spPr/>
        <p:txBody>
          <a:bodyPr/>
          <a:lstStyle/>
          <a:p>
            <a:r>
              <a:rPr lang="pt-BR" dirty="0"/>
              <a:t>RADIOFREQUENCIA </a:t>
            </a:r>
          </a:p>
        </p:txBody>
      </p:sp>
      <p:graphicFrame>
        <p:nvGraphicFramePr>
          <p:cNvPr id="4" name="Espaço Reservado para Conteúdo 3">
            <a:extLst>
              <a:ext uri="{FF2B5EF4-FFF2-40B4-BE49-F238E27FC236}">
                <a16:creationId xmlns:a16="http://schemas.microsoft.com/office/drawing/2014/main" id="{0749FF02-0120-B9F7-93E5-54AD8188FAD0}"/>
              </a:ext>
            </a:extLst>
          </p:cNvPr>
          <p:cNvGraphicFramePr>
            <a:graphicFrameLocks noGrp="1"/>
          </p:cNvGraphicFramePr>
          <p:nvPr>
            <p:ph idx="1"/>
            <p:extLst>
              <p:ext uri="{D42A27DB-BD31-4B8C-83A1-F6EECF244321}">
                <p14:modId xmlns:p14="http://schemas.microsoft.com/office/powerpoint/2010/main" val="145084872"/>
              </p:ext>
            </p:extLst>
          </p:nvPr>
        </p:nvGraphicFramePr>
        <p:xfrm>
          <a:off x="1371600" y="2286000"/>
          <a:ext cx="9601200" cy="3581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389099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9D998E-2245-5FC4-19EB-AD886EB4324D}"/>
              </a:ext>
            </a:extLst>
          </p:cNvPr>
          <p:cNvSpPr>
            <a:spLocks noGrp="1"/>
          </p:cNvSpPr>
          <p:nvPr>
            <p:ph type="title"/>
          </p:nvPr>
        </p:nvSpPr>
        <p:spPr/>
        <p:txBody>
          <a:bodyPr/>
          <a:lstStyle/>
          <a:p>
            <a:r>
              <a:rPr lang="pt-BR" dirty="0"/>
              <a:t>RADIOFREQUENCIA </a:t>
            </a:r>
          </a:p>
        </p:txBody>
      </p:sp>
      <p:graphicFrame>
        <p:nvGraphicFramePr>
          <p:cNvPr id="4" name="Espaço Reservado para Conteúdo 3">
            <a:extLst>
              <a:ext uri="{FF2B5EF4-FFF2-40B4-BE49-F238E27FC236}">
                <a16:creationId xmlns:a16="http://schemas.microsoft.com/office/drawing/2014/main" id="{E3AD7ABA-E0FB-605F-D5AF-4725BF135565}"/>
              </a:ext>
            </a:extLst>
          </p:cNvPr>
          <p:cNvGraphicFramePr>
            <a:graphicFrameLocks noGrp="1"/>
          </p:cNvGraphicFramePr>
          <p:nvPr>
            <p:ph idx="1"/>
            <p:extLst>
              <p:ext uri="{D42A27DB-BD31-4B8C-83A1-F6EECF244321}">
                <p14:modId xmlns:p14="http://schemas.microsoft.com/office/powerpoint/2010/main" val="680395030"/>
              </p:ext>
            </p:extLst>
          </p:nvPr>
        </p:nvGraphicFramePr>
        <p:xfrm>
          <a:off x="1371600" y="2286000"/>
          <a:ext cx="9601200" cy="3581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CaixaDeTexto 4">
            <a:extLst>
              <a:ext uri="{FF2B5EF4-FFF2-40B4-BE49-F238E27FC236}">
                <a16:creationId xmlns:a16="http://schemas.microsoft.com/office/drawing/2014/main" id="{AF412F37-8413-E75E-3D11-BDF0649C1F93}"/>
              </a:ext>
            </a:extLst>
          </p:cNvPr>
          <p:cNvSpPr txBox="1"/>
          <p:nvPr/>
        </p:nvSpPr>
        <p:spPr>
          <a:xfrm>
            <a:off x="2323004" y="2286000"/>
            <a:ext cx="1749287" cy="707886"/>
          </a:xfrm>
          <a:prstGeom prst="rect">
            <a:avLst/>
          </a:prstGeom>
          <a:noFill/>
        </p:spPr>
        <p:txBody>
          <a:bodyPr wrap="square" rtlCol="0">
            <a:spAutoFit/>
          </a:bodyPr>
          <a:lstStyle/>
          <a:p>
            <a:r>
              <a:rPr lang="pt-BR" sz="2000" dirty="0"/>
              <a:t>RADIO</a:t>
            </a:r>
          </a:p>
          <a:p>
            <a:r>
              <a:rPr lang="pt-BR" sz="2000" dirty="0"/>
              <a:t>FREQUENCIA </a:t>
            </a:r>
          </a:p>
        </p:txBody>
      </p:sp>
      <p:sp>
        <p:nvSpPr>
          <p:cNvPr id="3" name="CaixaDeTexto 2">
            <a:extLst>
              <a:ext uri="{FF2B5EF4-FFF2-40B4-BE49-F238E27FC236}">
                <a16:creationId xmlns:a16="http://schemas.microsoft.com/office/drawing/2014/main" id="{67DEE929-AB32-E658-AEB3-19EB60C0523A}"/>
              </a:ext>
            </a:extLst>
          </p:cNvPr>
          <p:cNvSpPr txBox="1"/>
          <p:nvPr/>
        </p:nvSpPr>
        <p:spPr>
          <a:xfrm>
            <a:off x="2323004" y="4872111"/>
            <a:ext cx="1749287" cy="707886"/>
          </a:xfrm>
          <a:prstGeom prst="rect">
            <a:avLst/>
          </a:prstGeom>
          <a:noFill/>
        </p:spPr>
        <p:txBody>
          <a:bodyPr wrap="square" rtlCol="0">
            <a:spAutoFit/>
          </a:bodyPr>
          <a:lstStyle/>
          <a:p>
            <a:r>
              <a:rPr lang="pt-BR" sz="2000" dirty="0"/>
              <a:t>CRIO</a:t>
            </a:r>
          </a:p>
          <a:p>
            <a:r>
              <a:rPr lang="pt-BR" sz="2000" dirty="0"/>
              <a:t>FREQUENCIA </a:t>
            </a:r>
          </a:p>
        </p:txBody>
      </p:sp>
      <p:pic>
        <p:nvPicPr>
          <p:cNvPr id="1026" name="Picture 2" descr="Criofrequência - O que é, como funciona, tipos e benefícios">
            <a:extLst>
              <a:ext uri="{FF2B5EF4-FFF2-40B4-BE49-F238E27FC236}">
                <a16:creationId xmlns:a16="http://schemas.microsoft.com/office/drawing/2014/main" id="{94EF0D81-8A0F-9C56-4DF5-FFA4197DA22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78481" y="3471240"/>
            <a:ext cx="2421840" cy="12109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38399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CD1FDE-F5A7-508E-6BF3-AAC2D4379BE1}"/>
              </a:ext>
            </a:extLst>
          </p:cNvPr>
          <p:cNvSpPr>
            <a:spLocks noGrp="1"/>
          </p:cNvSpPr>
          <p:nvPr>
            <p:ph type="title"/>
          </p:nvPr>
        </p:nvSpPr>
        <p:spPr/>
        <p:txBody>
          <a:bodyPr/>
          <a:lstStyle/>
          <a:p>
            <a:r>
              <a:rPr lang="pt-BR" dirty="0"/>
              <a:t>RADIOFREQUENCIA </a:t>
            </a:r>
          </a:p>
        </p:txBody>
      </p:sp>
      <p:sp>
        <p:nvSpPr>
          <p:cNvPr id="3" name="Espaço Reservado para Conteúdo 2">
            <a:extLst>
              <a:ext uri="{FF2B5EF4-FFF2-40B4-BE49-F238E27FC236}">
                <a16:creationId xmlns:a16="http://schemas.microsoft.com/office/drawing/2014/main" id="{696722AB-B9AC-08CE-56E2-2A88023772C9}"/>
              </a:ext>
            </a:extLst>
          </p:cNvPr>
          <p:cNvSpPr>
            <a:spLocks noGrp="1"/>
          </p:cNvSpPr>
          <p:nvPr>
            <p:ph idx="1"/>
          </p:nvPr>
        </p:nvSpPr>
        <p:spPr/>
        <p:txBody>
          <a:bodyPr>
            <a:normAutofit lnSpcReduction="10000"/>
          </a:bodyPr>
          <a:lstStyle/>
          <a:p>
            <a:r>
              <a:rPr lang="pt-BR" sz="5400" dirty="0"/>
              <a:t>USO DO GEL COMO MEIO DE ACOPLAMENTO DIMINUI A PASSAGEM DA CORRENTE ELETRICA ATRAVES DO TECIDO CUTANEO </a:t>
            </a:r>
          </a:p>
        </p:txBody>
      </p:sp>
    </p:spTree>
    <p:extLst>
      <p:ext uri="{BB962C8B-B14F-4D97-AF65-F5344CB8AC3E}">
        <p14:creationId xmlns:p14="http://schemas.microsoft.com/office/powerpoint/2010/main" val="27303013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703C8C-8F8D-3699-F1FC-C833490E8A85}"/>
              </a:ext>
            </a:extLst>
          </p:cNvPr>
          <p:cNvSpPr>
            <a:spLocks noGrp="1"/>
          </p:cNvSpPr>
          <p:nvPr>
            <p:ph type="title"/>
          </p:nvPr>
        </p:nvSpPr>
        <p:spPr/>
        <p:txBody>
          <a:bodyPr/>
          <a:lstStyle/>
          <a:p>
            <a:r>
              <a:rPr lang="pt-BR" dirty="0"/>
              <a:t>RADIOFREQUENCIA </a:t>
            </a:r>
          </a:p>
        </p:txBody>
      </p:sp>
      <p:sp>
        <p:nvSpPr>
          <p:cNvPr id="3" name="Espaço Reservado para Conteúdo 2">
            <a:extLst>
              <a:ext uri="{FF2B5EF4-FFF2-40B4-BE49-F238E27FC236}">
                <a16:creationId xmlns:a16="http://schemas.microsoft.com/office/drawing/2014/main" id="{FB2ECCD6-3E99-86EC-DB25-568D6D548A4F}"/>
              </a:ext>
            </a:extLst>
          </p:cNvPr>
          <p:cNvSpPr>
            <a:spLocks noGrp="1"/>
          </p:cNvSpPr>
          <p:nvPr>
            <p:ph idx="1"/>
          </p:nvPr>
        </p:nvSpPr>
        <p:spPr/>
        <p:txBody>
          <a:bodyPr/>
          <a:lstStyle/>
          <a:p>
            <a:r>
              <a:rPr lang="pt-BR" dirty="0"/>
              <a:t>É uma técnica que utiliza a agitação das moléculas de água para aquecer os tecidos e estimular a produção de colágeno. A corrente ou eletromagnetismo geram agitação, calor, e atrito entre moléculas. </a:t>
            </a:r>
          </a:p>
          <a:p>
            <a:endParaRPr lang="pt-BR" dirty="0"/>
          </a:p>
          <a:p>
            <a:endParaRPr lang="pt-BR" dirty="0"/>
          </a:p>
          <a:p>
            <a:r>
              <a:rPr lang="pt-BR" dirty="0"/>
              <a:t>Por que não podemos usar gel condutor?</a:t>
            </a:r>
          </a:p>
        </p:txBody>
      </p:sp>
    </p:spTree>
    <p:extLst>
      <p:ext uri="{BB962C8B-B14F-4D97-AF65-F5344CB8AC3E}">
        <p14:creationId xmlns:p14="http://schemas.microsoft.com/office/powerpoint/2010/main" val="5307165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51700A-CE1D-E89C-B2D5-19F9B32F6188}"/>
              </a:ext>
            </a:extLst>
          </p:cNvPr>
          <p:cNvSpPr>
            <a:spLocks noGrp="1"/>
          </p:cNvSpPr>
          <p:nvPr>
            <p:ph type="title"/>
          </p:nvPr>
        </p:nvSpPr>
        <p:spPr/>
        <p:txBody>
          <a:bodyPr/>
          <a:lstStyle/>
          <a:p>
            <a:r>
              <a:rPr lang="pt-BR" dirty="0"/>
              <a:t>RADIOFREQUENCIA </a:t>
            </a:r>
          </a:p>
        </p:txBody>
      </p:sp>
      <p:sp>
        <p:nvSpPr>
          <p:cNvPr id="3" name="Espaço Reservado para Conteúdo 2">
            <a:extLst>
              <a:ext uri="{FF2B5EF4-FFF2-40B4-BE49-F238E27FC236}">
                <a16:creationId xmlns:a16="http://schemas.microsoft.com/office/drawing/2014/main" id="{4B1D2722-FEC5-3845-BE9F-444A1F982E69}"/>
              </a:ext>
            </a:extLst>
          </p:cNvPr>
          <p:cNvSpPr>
            <a:spLocks noGrp="1"/>
          </p:cNvSpPr>
          <p:nvPr>
            <p:ph idx="1"/>
          </p:nvPr>
        </p:nvSpPr>
        <p:spPr/>
        <p:txBody>
          <a:bodyPr/>
          <a:lstStyle/>
          <a:p>
            <a:r>
              <a:rPr lang="pt-BR" dirty="0"/>
              <a:t>APLICAÇÕES </a:t>
            </a:r>
          </a:p>
          <a:p>
            <a:r>
              <a:rPr lang="pt-BR" dirty="0"/>
              <a:t>Melhora da elasticidade</a:t>
            </a:r>
          </a:p>
          <a:p>
            <a:r>
              <a:rPr lang="pt-BR" dirty="0"/>
              <a:t>Redução da flacidez </a:t>
            </a:r>
          </a:p>
          <a:p>
            <a:r>
              <a:rPr lang="pt-BR" dirty="0"/>
              <a:t>Estimula a produção de colágeno </a:t>
            </a:r>
          </a:p>
          <a:p>
            <a:r>
              <a:rPr lang="pt-BR" dirty="0"/>
              <a:t>Rejuvenescimento da pele</a:t>
            </a:r>
          </a:p>
          <a:p>
            <a:r>
              <a:rPr lang="pt-BR" dirty="0"/>
              <a:t>Combate a flacidez </a:t>
            </a:r>
          </a:p>
          <a:p>
            <a:r>
              <a:rPr lang="pt-BR" dirty="0"/>
              <a:t>Tratamento celulite, cicatrizes, estrias, rugas.</a:t>
            </a:r>
          </a:p>
          <a:p>
            <a:r>
              <a:rPr lang="pt-BR" dirty="0"/>
              <a:t>Tratamentos de regiões intimas</a:t>
            </a:r>
          </a:p>
        </p:txBody>
      </p:sp>
    </p:spTree>
    <p:extLst>
      <p:ext uri="{BB962C8B-B14F-4D97-AF65-F5344CB8AC3E}">
        <p14:creationId xmlns:p14="http://schemas.microsoft.com/office/powerpoint/2010/main" val="3882296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ço Reservado para Conteúdo 4">
            <a:extLst>
              <a:ext uri="{FF2B5EF4-FFF2-40B4-BE49-F238E27FC236}">
                <a16:creationId xmlns:a16="http://schemas.microsoft.com/office/drawing/2014/main" id="{B764FFA7-FD5D-3BD4-F959-0AE5B586B3B3}"/>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0150"/>
          <a:stretch/>
        </p:blipFill>
        <p:spPr>
          <a:xfrm rot="16200000">
            <a:off x="2596088" y="-828546"/>
            <a:ext cx="6387910" cy="8775252"/>
          </a:xfrm>
        </p:spPr>
      </p:pic>
    </p:spTree>
    <p:extLst>
      <p:ext uri="{BB962C8B-B14F-4D97-AF65-F5344CB8AC3E}">
        <p14:creationId xmlns:p14="http://schemas.microsoft.com/office/powerpoint/2010/main" val="2037320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B33F7B-DF29-CB7F-6F94-CAE37EA72CB0}"/>
              </a:ext>
            </a:extLst>
          </p:cNvPr>
          <p:cNvSpPr>
            <a:spLocks noGrp="1"/>
          </p:cNvSpPr>
          <p:nvPr>
            <p:ph type="title"/>
          </p:nvPr>
        </p:nvSpPr>
        <p:spPr/>
        <p:txBody>
          <a:bodyPr/>
          <a:lstStyle/>
          <a:p>
            <a:r>
              <a:rPr lang="pt-BR" dirty="0"/>
              <a:t>CRIOFREQUENCIA </a:t>
            </a:r>
          </a:p>
        </p:txBody>
      </p:sp>
      <p:sp>
        <p:nvSpPr>
          <p:cNvPr id="3" name="Espaço Reservado para Conteúdo 2">
            <a:extLst>
              <a:ext uri="{FF2B5EF4-FFF2-40B4-BE49-F238E27FC236}">
                <a16:creationId xmlns:a16="http://schemas.microsoft.com/office/drawing/2014/main" id="{C56F6415-96AF-282A-DD76-01C7F740C96A}"/>
              </a:ext>
            </a:extLst>
          </p:cNvPr>
          <p:cNvSpPr>
            <a:spLocks noGrp="1"/>
          </p:cNvSpPr>
          <p:nvPr>
            <p:ph idx="1"/>
          </p:nvPr>
        </p:nvSpPr>
        <p:spPr/>
        <p:txBody>
          <a:bodyPr/>
          <a:lstStyle/>
          <a:p>
            <a:r>
              <a:rPr lang="pt-BR" sz="6000" b="1" dirty="0"/>
              <a:t>Quente e frio ao mesmo tempo! Isso é possível?</a:t>
            </a:r>
            <a:endParaRPr lang="pt-BR" sz="6000" dirty="0"/>
          </a:p>
          <a:p>
            <a:endParaRPr lang="pt-BR" dirty="0"/>
          </a:p>
        </p:txBody>
      </p:sp>
    </p:spTree>
    <p:extLst>
      <p:ext uri="{BB962C8B-B14F-4D97-AF65-F5344CB8AC3E}">
        <p14:creationId xmlns:p14="http://schemas.microsoft.com/office/powerpoint/2010/main" val="30395767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773510-E250-8E77-1FC8-19B039DE58DB}"/>
              </a:ext>
            </a:extLst>
          </p:cNvPr>
          <p:cNvSpPr>
            <a:spLocks noGrp="1"/>
          </p:cNvSpPr>
          <p:nvPr>
            <p:ph type="title"/>
          </p:nvPr>
        </p:nvSpPr>
        <p:spPr/>
        <p:txBody>
          <a:bodyPr/>
          <a:lstStyle/>
          <a:p>
            <a:r>
              <a:rPr lang="pt-BR" dirty="0"/>
              <a:t>CRIOFREQUENCIA </a:t>
            </a:r>
          </a:p>
        </p:txBody>
      </p:sp>
      <p:sp>
        <p:nvSpPr>
          <p:cNvPr id="3" name="Espaço Reservado para Conteúdo 2">
            <a:extLst>
              <a:ext uri="{FF2B5EF4-FFF2-40B4-BE49-F238E27FC236}">
                <a16:creationId xmlns:a16="http://schemas.microsoft.com/office/drawing/2014/main" id="{955C7BB2-E65A-7E0A-E111-854F65EF4F26}"/>
              </a:ext>
            </a:extLst>
          </p:cNvPr>
          <p:cNvSpPr>
            <a:spLocks noGrp="1"/>
          </p:cNvSpPr>
          <p:nvPr>
            <p:ph idx="1"/>
          </p:nvPr>
        </p:nvSpPr>
        <p:spPr/>
        <p:txBody>
          <a:bodyPr/>
          <a:lstStyle/>
          <a:p>
            <a:pPr algn="just">
              <a:lnSpc>
                <a:spcPct val="150000"/>
              </a:lnSpc>
              <a:spcBef>
                <a:spcPts val="0"/>
              </a:spcBef>
              <a:spcAft>
                <a:spcPts val="0"/>
              </a:spcAft>
            </a:pPr>
            <a:r>
              <a:rPr lang="pt-BR" dirty="0"/>
              <a:t>A energia desprendida pela comunicação dos eletrodos leva a um melhor aporte circulatório e de nutrientes, hidratação tecidual, aumento da oxigenação, aceleração da eliminação de </a:t>
            </a:r>
            <a:r>
              <a:rPr lang="pt-BR" dirty="0" err="1"/>
              <a:t>catabólitos</a:t>
            </a:r>
            <a:r>
              <a:rPr lang="pt-BR" dirty="0"/>
              <a:t>, lipólise, contração do tecido conectivo.</a:t>
            </a:r>
          </a:p>
        </p:txBody>
      </p:sp>
    </p:spTree>
    <p:extLst>
      <p:ext uri="{BB962C8B-B14F-4D97-AF65-F5344CB8AC3E}">
        <p14:creationId xmlns:p14="http://schemas.microsoft.com/office/powerpoint/2010/main" val="30374190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6F89B15-CCF1-8F12-1111-0EEF950F5196}"/>
              </a:ext>
            </a:extLst>
          </p:cNvPr>
          <p:cNvSpPr>
            <a:spLocks noGrp="1"/>
          </p:cNvSpPr>
          <p:nvPr>
            <p:ph type="title"/>
          </p:nvPr>
        </p:nvSpPr>
        <p:spPr/>
        <p:txBody>
          <a:bodyPr/>
          <a:lstStyle/>
          <a:p>
            <a:r>
              <a:rPr lang="pt-BR" dirty="0"/>
              <a:t>CRIOFREQUENCIA </a:t>
            </a:r>
          </a:p>
        </p:txBody>
      </p:sp>
      <p:sp>
        <p:nvSpPr>
          <p:cNvPr id="3" name="Espaço Reservado para Conteúdo 2">
            <a:extLst>
              <a:ext uri="{FF2B5EF4-FFF2-40B4-BE49-F238E27FC236}">
                <a16:creationId xmlns:a16="http://schemas.microsoft.com/office/drawing/2014/main" id="{465F9766-1729-4B52-DEDE-954D0DFC9457}"/>
              </a:ext>
            </a:extLst>
          </p:cNvPr>
          <p:cNvSpPr>
            <a:spLocks noGrp="1"/>
          </p:cNvSpPr>
          <p:nvPr>
            <p:ph idx="1"/>
          </p:nvPr>
        </p:nvSpPr>
        <p:spPr/>
        <p:txBody>
          <a:bodyPr/>
          <a:lstStyle/>
          <a:p>
            <a:r>
              <a:rPr lang="pt-BR" dirty="0"/>
              <a:t>COM UM SISTEMA DE RESFRIAMENTO DE PONTEIRA, ONDE TEM A CAPACIDADE DE ELEVAR A TEMPERATURA TECIDUAL PROXIMA DE 50 GRAUS, OCASIONANDO UM CHOQUE TERMICO ENTRE AS CAMADAS DA PELE.</a:t>
            </a:r>
          </a:p>
          <a:p>
            <a:r>
              <a:rPr lang="pt-BR" dirty="0"/>
              <a:t>O CHOQUE TERMICO É MAIS EFETIVO TANTO NA PRODUÇÃO DE COLAGENO COMO NO PROCESSO LIPOLITICO. </a:t>
            </a:r>
          </a:p>
          <a:p>
            <a:r>
              <a:rPr lang="pt-BR" dirty="0"/>
              <a:t>O RESFRIAMENTO PROTEGE A EPIDERME </a:t>
            </a:r>
          </a:p>
        </p:txBody>
      </p:sp>
    </p:spTree>
    <p:extLst>
      <p:ext uri="{BB962C8B-B14F-4D97-AF65-F5344CB8AC3E}">
        <p14:creationId xmlns:p14="http://schemas.microsoft.com/office/powerpoint/2010/main" val="35114870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F92508-44AC-2C80-8ED5-6BD8719F26E7}"/>
              </a:ext>
            </a:extLst>
          </p:cNvPr>
          <p:cNvSpPr>
            <a:spLocks noGrp="1"/>
          </p:cNvSpPr>
          <p:nvPr>
            <p:ph type="title"/>
          </p:nvPr>
        </p:nvSpPr>
        <p:spPr/>
        <p:txBody>
          <a:bodyPr/>
          <a:lstStyle/>
          <a:p>
            <a:r>
              <a:rPr lang="pt-BR" dirty="0"/>
              <a:t>RADIOFREQUENCIA/CRIOFREQUENCIA</a:t>
            </a:r>
          </a:p>
        </p:txBody>
      </p:sp>
      <p:sp>
        <p:nvSpPr>
          <p:cNvPr id="3" name="Espaço Reservado para Conteúdo 2">
            <a:extLst>
              <a:ext uri="{FF2B5EF4-FFF2-40B4-BE49-F238E27FC236}">
                <a16:creationId xmlns:a16="http://schemas.microsoft.com/office/drawing/2014/main" id="{50B550F8-03CB-5703-C119-0764D26E0364}"/>
              </a:ext>
            </a:extLst>
          </p:cNvPr>
          <p:cNvSpPr>
            <a:spLocks noGrp="1"/>
          </p:cNvSpPr>
          <p:nvPr>
            <p:ph idx="1"/>
          </p:nvPr>
        </p:nvSpPr>
        <p:spPr/>
        <p:txBody>
          <a:bodyPr>
            <a:normAutofit/>
          </a:bodyPr>
          <a:lstStyle/>
          <a:p>
            <a:r>
              <a:rPr lang="pt-BR" dirty="0"/>
              <a:t>A temperatura tecidual entre 39 e 45 graus não causam nem um dano significativo, gerando basicamente a retração dos tecidos pela reorganização do colágeno.</a:t>
            </a:r>
          </a:p>
          <a:p>
            <a:r>
              <a:rPr lang="pt-BR" dirty="0"/>
              <a:t>Os danos começam a ser irreversíveis em alguns tecidos com temperaturas acima de 50 graus (desnaturação).</a:t>
            </a:r>
          </a:p>
          <a:p>
            <a:r>
              <a:rPr lang="pt-BR" dirty="0"/>
              <a:t>As atividades enzimáticas se reduzem também com temperaturas acima de 50 graus.</a:t>
            </a:r>
          </a:p>
          <a:p>
            <a:r>
              <a:rPr lang="pt-BR" dirty="0"/>
              <a:t>Próximo de 70 graus acontece a coagulação (o colágeno é convertido em glicose).</a:t>
            </a:r>
          </a:p>
          <a:p>
            <a:r>
              <a:rPr lang="pt-BR" dirty="0"/>
              <a:t>Entre 90 e 100 graus o tecido é completamente desidratado. </a:t>
            </a:r>
          </a:p>
          <a:p>
            <a:pPr marL="0" indent="0">
              <a:buNone/>
            </a:pPr>
            <a:endParaRPr lang="pt-BR" dirty="0"/>
          </a:p>
        </p:txBody>
      </p:sp>
    </p:spTree>
    <p:extLst>
      <p:ext uri="{BB962C8B-B14F-4D97-AF65-F5344CB8AC3E}">
        <p14:creationId xmlns:p14="http://schemas.microsoft.com/office/powerpoint/2010/main" val="21212450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E82089-4694-BDD9-E834-0F293E8C8EB5}"/>
              </a:ext>
            </a:extLst>
          </p:cNvPr>
          <p:cNvSpPr>
            <a:spLocks noGrp="1"/>
          </p:cNvSpPr>
          <p:nvPr>
            <p:ph type="title"/>
          </p:nvPr>
        </p:nvSpPr>
        <p:spPr/>
        <p:txBody>
          <a:bodyPr/>
          <a:lstStyle/>
          <a:p>
            <a:r>
              <a:rPr lang="pt-BR" dirty="0"/>
              <a:t>RADIOFREQUENCIA/CRIOFREQUENCIA </a:t>
            </a:r>
          </a:p>
        </p:txBody>
      </p:sp>
      <p:sp>
        <p:nvSpPr>
          <p:cNvPr id="3" name="Espaço Reservado para Conteúdo 2">
            <a:extLst>
              <a:ext uri="{FF2B5EF4-FFF2-40B4-BE49-F238E27FC236}">
                <a16:creationId xmlns:a16="http://schemas.microsoft.com/office/drawing/2014/main" id="{FBAE930D-73FE-8126-48BA-0E2F7202FE7C}"/>
              </a:ext>
            </a:extLst>
          </p:cNvPr>
          <p:cNvSpPr>
            <a:spLocks noGrp="1"/>
          </p:cNvSpPr>
          <p:nvPr>
            <p:ph idx="1"/>
          </p:nvPr>
        </p:nvSpPr>
        <p:spPr/>
        <p:txBody>
          <a:bodyPr/>
          <a:lstStyle/>
          <a:p>
            <a:r>
              <a:rPr lang="pt-BR" dirty="0"/>
              <a:t>Acima de 100 graus acontece a transição para vapor de agua </a:t>
            </a:r>
            <a:r>
              <a:rPr lang="pt-BR" dirty="0" err="1"/>
              <a:t>intra</a:t>
            </a:r>
            <a:r>
              <a:rPr lang="pt-BR" dirty="0"/>
              <a:t> e extracelular (o tecido rapidamente se desseca, a glicose tem um efeito adesivo após a dessecação).</a:t>
            </a:r>
          </a:p>
          <a:p>
            <a:r>
              <a:rPr lang="pt-BR" dirty="0"/>
              <a:t>Acima de 150 graus acontece a carbonização ou queimadura patológicas de quarto grau.</a:t>
            </a:r>
          </a:p>
          <a:p>
            <a:r>
              <a:rPr lang="pt-BR" dirty="0"/>
              <a:t>A vaporização dos tecidos ocorre em temperaturas superiores a 300ºC.</a:t>
            </a:r>
          </a:p>
        </p:txBody>
      </p:sp>
    </p:spTree>
    <p:extLst>
      <p:ext uri="{BB962C8B-B14F-4D97-AF65-F5344CB8AC3E}">
        <p14:creationId xmlns:p14="http://schemas.microsoft.com/office/powerpoint/2010/main" val="41822088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8F229A-C038-33F1-EF30-9356F42746EF}"/>
              </a:ext>
            </a:extLst>
          </p:cNvPr>
          <p:cNvSpPr>
            <a:spLocks noGrp="1"/>
          </p:cNvSpPr>
          <p:nvPr>
            <p:ph type="title"/>
          </p:nvPr>
        </p:nvSpPr>
        <p:spPr/>
        <p:txBody>
          <a:bodyPr/>
          <a:lstStyle/>
          <a:p>
            <a:r>
              <a:rPr lang="pt-BR" dirty="0"/>
              <a:t>RADIOFREQUENCIA/CRIOFREQUENCIA </a:t>
            </a:r>
          </a:p>
        </p:txBody>
      </p:sp>
      <p:sp>
        <p:nvSpPr>
          <p:cNvPr id="3" name="Espaço Reservado para Conteúdo 2">
            <a:extLst>
              <a:ext uri="{FF2B5EF4-FFF2-40B4-BE49-F238E27FC236}">
                <a16:creationId xmlns:a16="http://schemas.microsoft.com/office/drawing/2014/main" id="{32D84363-8AAA-82BE-097F-C4CC8B1F5143}"/>
              </a:ext>
            </a:extLst>
          </p:cNvPr>
          <p:cNvSpPr>
            <a:spLocks noGrp="1"/>
          </p:cNvSpPr>
          <p:nvPr>
            <p:ph idx="1"/>
          </p:nvPr>
        </p:nvSpPr>
        <p:spPr/>
        <p:txBody>
          <a:bodyPr/>
          <a:lstStyle/>
          <a:p>
            <a:r>
              <a:rPr lang="pt-BR" dirty="0"/>
              <a:t>EFEITOS FISIOLOGICOS </a:t>
            </a:r>
          </a:p>
          <a:p>
            <a:r>
              <a:rPr lang="pt-BR" dirty="0"/>
              <a:t>Vasodilatação. </a:t>
            </a:r>
          </a:p>
          <a:p>
            <a:r>
              <a:rPr lang="pt-BR" dirty="0"/>
              <a:t>Aumento circulação.</a:t>
            </a:r>
          </a:p>
          <a:p>
            <a:r>
              <a:rPr lang="pt-BR" dirty="0"/>
              <a:t>Expulsão de catabólicos tóxicos e radicais livres que são os causadores do processo de envelhecimento. </a:t>
            </a:r>
          </a:p>
          <a:p>
            <a:r>
              <a:rPr lang="pt-BR" dirty="0"/>
              <a:t>Grande poder regenerativo.</a:t>
            </a:r>
          </a:p>
          <a:p>
            <a:r>
              <a:rPr lang="pt-BR" dirty="0"/>
              <a:t>O efeito térmico muda a forma das fibras.</a:t>
            </a:r>
          </a:p>
          <a:p>
            <a:r>
              <a:rPr lang="pt-BR" dirty="0"/>
              <a:t>Desnaturação do colágeno para formação de um novo colágeno. </a:t>
            </a:r>
          </a:p>
        </p:txBody>
      </p:sp>
    </p:spTree>
    <p:extLst>
      <p:ext uri="{BB962C8B-B14F-4D97-AF65-F5344CB8AC3E}">
        <p14:creationId xmlns:p14="http://schemas.microsoft.com/office/powerpoint/2010/main" val="4429988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6A2DD9-87AF-E983-0B18-BD7AA2B34DE5}"/>
              </a:ext>
            </a:extLst>
          </p:cNvPr>
          <p:cNvSpPr>
            <a:spLocks noGrp="1"/>
          </p:cNvSpPr>
          <p:nvPr>
            <p:ph type="title"/>
          </p:nvPr>
        </p:nvSpPr>
        <p:spPr/>
        <p:txBody>
          <a:bodyPr/>
          <a:lstStyle/>
          <a:p>
            <a:r>
              <a:rPr lang="pt-BR" dirty="0"/>
              <a:t>CRIOFREQUENCIA </a:t>
            </a:r>
          </a:p>
        </p:txBody>
      </p:sp>
      <p:sp>
        <p:nvSpPr>
          <p:cNvPr id="3" name="Espaço Reservado para Conteúdo 2">
            <a:extLst>
              <a:ext uri="{FF2B5EF4-FFF2-40B4-BE49-F238E27FC236}">
                <a16:creationId xmlns:a16="http://schemas.microsoft.com/office/drawing/2014/main" id="{0E79721E-007E-849D-B32D-AC734B3D06D0}"/>
              </a:ext>
            </a:extLst>
          </p:cNvPr>
          <p:cNvSpPr>
            <a:spLocks noGrp="1"/>
          </p:cNvSpPr>
          <p:nvPr>
            <p:ph idx="1"/>
          </p:nvPr>
        </p:nvSpPr>
        <p:spPr/>
        <p:txBody>
          <a:bodyPr/>
          <a:lstStyle/>
          <a:p>
            <a:pPr algn="just" fontAlgn="base">
              <a:lnSpc>
                <a:spcPct val="150000"/>
              </a:lnSpc>
              <a:spcBef>
                <a:spcPts val="0"/>
              </a:spcBef>
              <a:spcAft>
                <a:spcPts val="0"/>
              </a:spcAft>
            </a:pPr>
            <a:r>
              <a:rPr lang="pt-BR" b="1" dirty="0"/>
              <a:t>1) Vasodilatação e aumento da circulação sanguínea</a:t>
            </a:r>
            <a:endParaRPr lang="pt-BR" dirty="0"/>
          </a:p>
          <a:p>
            <a:pPr algn="just" fontAlgn="base">
              <a:lnSpc>
                <a:spcPct val="150000"/>
              </a:lnSpc>
              <a:spcBef>
                <a:spcPts val="0"/>
              </a:spcBef>
              <a:spcAft>
                <a:spcPts val="0"/>
              </a:spcAft>
            </a:pPr>
            <a:r>
              <a:rPr lang="pt-BR" dirty="0"/>
              <a:t>Além da elevação da temperatura que produz uma vasodilatação local, há também estímulo do aporte de nutriente e oxigênio, acelerando a eliminação dos </a:t>
            </a:r>
            <a:r>
              <a:rPr lang="pt-BR" dirty="0" err="1"/>
              <a:t>catabólitos</a:t>
            </a:r>
            <a:r>
              <a:rPr lang="pt-BR" dirty="0"/>
              <a:t>, melhorando o edema e promovendo uma ação desintoxicante na região de tratamento.</a:t>
            </a:r>
          </a:p>
          <a:p>
            <a:pPr algn="just" fontAlgn="base">
              <a:lnSpc>
                <a:spcPct val="150000"/>
              </a:lnSpc>
              <a:spcBef>
                <a:spcPts val="0"/>
              </a:spcBef>
              <a:spcAft>
                <a:spcPts val="0"/>
              </a:spcAft>
            </a:pPr>
            <a:r>
              <a:rPr lang="pt-BR" dirty="0"/>
              <a:t>O incremento da circulação aparece a partir dos 40°C.</a:t>
            </a:r>
          </a:p>
          <a:p>
            <a:pPr marL="0" indent="0">
              <a:buNone/>
            </a:pPr>
            <a:endParaRPr lang="pt-BR" dirty="0"/>
          </a:p>
        </p:txBody>
      </p:sp>
    </p:spTree>
    <p:extLst>
      <p:ext uri="{BB962C8B-B14F-4D97-AF65-F5344CB8AC3E}">
        <p14:creationId xmlns:p14="http://schemas.microsoft.com/office/powerpoint/2010/main" val="20612269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505985-D9D7-76AC-E5A6-24502149B263}"/>
              </a:ext>
            </a:extLst>
          </p:cNvPr>
          <p:cNvSpPr>
            <a:spLocks noGrp="1"/>
          </p:cNvSpPr>
          <p:nvPr>
            <p:ph type="title"/>
          </p:nvPr>
        </p:nvSpPr>
        <p:spPr/>
        <p:txBody>
          <a:bodyPr/>
          <a:lstStyle/>
          <a:p>
            <a:r>
              <a:rPr lang="pt-BR" dirty="0"/>
              <a:t>CRIOFREQUENCIA </a:t>
            </a:r>
          </a:p>
        </p:txBody>
      </p:sp>
      <p:sp>
        <p:nvSpPr>
          <p:cNvPr id="3" name="Espaço Reservado para Conteúdo 2">
            <a:extLst>
              <a:ext uri="{FF2B5EF4-FFF2-40B4-BE49-F238E27FC236}">
                <a16:creationId xmlns:a16="http://schemas.microsoft.com/office/drawing/2014/main" id="{43EFBC51-61BC-F3C5-A293-866006F1A9B1}"/>
              </a:ext>
            </a:extLst>
          </p:cNvPr>
          <p:cNvSpPr>
            <a:spLocks noGrp="1"/>
          </p:cNvSpPr>
          <p:nvPr>
            <p:ph idx="1"/>
          </p:nvPr>
        </p:nvSpPr>
        <p:spPr/>
        <p:txBody>
          <a:bodyPr/>
          <a:lstStyle/>
          <a:p>
            <a:pPr algn="just" fontAlgn="base">
              <a:lnSpc>
                <a:spcPct val="150000"/>
              </a:lnSpc>
              <a:spcBef>
                <a:spcPts val="0"/>
              </a:spcBef>
              <a:spcAft>
                <a:spcPts val="0"/>
              </a:spcAft>
            </a:pPr>
            <a:r>
              <a:rPr lang="pt-BR" b="1" dirty="0"/>
              <a:t>2) Viscosidade</a:t>
            </a:r>
            <a:endParaRPr lang="pt-BR" dirty="0"/>
          </a:p>
          <a:p>
            <a:pPr algn="just" fontAlgn="base">
              <a:lnSpc>
                <a:spcPct val="150000"/>
              </a:lnSpc>
              <a:spcBef>
                <a:spcPts val="0"/>
              </a:spcBef>
              <a:spcAft>
                <a:spcPts val="0"/>
              </a:spcAft>
            </a:pPr>
            <a:r>
              <a:rPr lang="pt-BR" dirty="0"/>
              <a:t>O aumento da temperatura causa diminuição da viscosidade dos líquidos, como sangue, linfa e também dos líquidos dentro e através dos espaços intersticiais, promovendo uma melhora circulatória e redução de edema.</a:t>
            </a:r>
          </a:p>
          <a:p>
            <a:endParaRPr lang="pt-BR" dirty="0"/>
          </a:p>
        </p:txBody>
      </p:sp>
    </p:spTree>
    <p:extLst>
      <p:ext uri="{BB962C8B-B14F-4D97-AF65-F5344CB8AC3E}">
        <p14:creationId xmlns:p14="http://schemas.microsoft.com/office/powerpoint/2010/main" val="1468339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1E55D4-7A3A-7E1E-A9D5-A7FAD96DA29A}"/>
              </a:ext>
            </a:extLst>
          </p:cNvPr>
          <p:cNvSpPr>
            <a:spLocks noGrp="1"/>
          </p:cNvSpPr>
          <p:nvPr>
            <p:ph type="title"/>
          </p:nvPr>
        </p:nvSpPr>
        <p:spPr/>
        <p:txBody>
          <a:bodyPr/>
          <a:lstStyle/>
          <a:p>
            <a:r>
              <a:rPr lang="pt-BR" dirty="0"/>
              <a:t>CRIOFREQUENCIA </a:t>
            </a:r>
          </a:p>
        </p:txBody>
      </p:sp>
      <p:sp>
        <p:nvSpPr>
          <p:cNvPr id="3" name="Espaço Reservado para Conteúdo 2">
            <a:extLst>
              <a:ext uri="{FF2B5EF4-FFF2-40B4-BE49-F238E27FC236}">
                <a16:creationId xmlns:a16="http://schemas.microsoft.com/office/drawing/2014/main" id="{852EB213-F993-4521-CD05-EF3BDE4BAE25}"/>
              </a:ext>
            </a:extLst>
          </p:cNvPr>
          <p:cNvSpPr>
            <a:spLocks noGrp="1"/>
          </p:cNvSpPr>
          <p:nvPr>
            <p:ph idx="1"/>
          </p:nvPr>
        </p:nvSpPr>
        <p:spPr/>
        <p:txBody>
          <a:bodyPr/>
          <a:lstStyle/>
          <a:p>
            <a:pPr algn="just" fontAlgn="base">
              <a:lnSpc>
                <a:spcPct val="150000"/>
              </a:lnSpc>
              <a:spcBef>
                <a:spcPts val="0"/>
              </a:spcBef>
              <a:spcAft>
                <a:spcPts val="0"/>
              </a:spcAft>
            </a:pPr>
            <a:r>
              <a:rPr lang="pt-BR" b="1" dirty="0"/>
              <a:t>3) Atividade metabólica e enzimática</a:t>
            </a:r>
            <a:endParaRPr lang="pt-BR" dirty="0"/>
          </a:p>
          <a:p>
            <a:pPr algn="just" fontAlgn="base">
              <a:lnSpc>
                <a:spcPct val="150000"/>
              </a:lnSpc>
              <a:spcBef>
                <a:spcPts val="0"/>
              </a:spcBef>
              <a:spcAft>
                <a:spcPts val="0"/>
              </a:spcAft>
            </a:pPr>
            <a:r>
              <a:rPr lang="pt-BR" dirty="0"/>
              <a:t>O aumento da temperatura ocasiona aumento da atividade celular, incluindo a motilidade celular, síntese e liberação de mediadores químicos, por exemplo. A taxa metabólica é afetada com o aquecimento tecidual.</a:t>
            </a:r>
          </a:p>
          <a:p>
            <a:pPr algn="just" fontAlgn="base">
              <a:lnSpc>
                <a:spcPct val="150000"/>
              </a:lnSpc>
              <a:spcBef>
                <a:spcPts val="0"/>
              </a:spcBef>
              <a:spcAft>
                <a:spcPts val="0"/>
              </a:spcAft>
            </a:pPr>
            <a:r>
              <a:rPr lang="pt-BR" dirty="0"/>
              <a:t>Esse aumento é de cerca de 13% para cada 1°C de aumento da temperatura.</a:t>
            </a:r>
          </a:p>
          <a:p>
            <a:endParaRPr lang="pt-BR" dirty="0"/>
          </a:p>
        </p:txBody>
      </p:sp>
    </p:spTree>
    <p:extLst>
      <p:ext uri="{BB962C8B-B14F-4D97-AF65-F5344CB8AC3E}">
        <p14:creationId xmlns:p14="http://schemas.microsoft.com/office/powerpoint/2010/main" val="12457954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E8E9E8A-AE6B-B796-0DAD-D94FCB48B50B}"/>
              </a:ext>
            </a:extLst>
          </p:cNvPr>
          <p:cNvSpPr>
            <a:spLocks noGrp="1"/>
          </p:cNvSpPr>
          <p:nvPr>
            <p:ph type="title"/>
          </p:nvPr>
        </p:nvSpPr>
        <p:spPr/>
        <p:txBody>
          <a:bodyPr/>
          <a:lstStyle/>
          <a:p>
            <a:r>
              <a:rPr lang="pt-BR" dirty="0"/>
              <a:t>CRIOFREQUENCIA</a:t>
            </a:r>
          </a:p>
        </p:txBody>
      </p:sp>
      <p:sp>
        <p:nvSpPr>
          <p:cNvPr id="3" name="Espaço Reservado para Conteúdo 2">
            <a:extLst>
              <a:ext uri="{FF2B5EF4-FFF2-40B4-BE49-F238E27FC236}">
                <a16:creationId xmlns:a16="http://schemas.microsoft.com/office/drawing/2014/main" id="{786B0695-E319-B5F3-ED94-6E40891C59F9}"/>
              </a:ext>
            </a:extLst>
          </p:cNvPr>
          <p:cNvSpPr>
            <a:spLocks noGrp="1"/>
          </p:cNvSpPr>
          <p:nvPr>
            <p:ph idx="1"/>
          </p:nvPr>
        </p:nvSpPr>
        <p:spPr/>
        <p:txBody>
          <a:bodyPr/>
          <a:lstStyle/>
          <a:p>
            <a:pPr algn="just" fontAlgn="base">
              <a:lnSpc>
                <a:spcPct val="150000"/>
              </a:lnSpc>
              <a:spcBef>
                <a:spcPts val="0"/>
              </a:spcBef>
              <a:spcAft>
                <a:spcPts val="0"/>
              </a:spcAft>
            </a:pPr>
            <a:r>
              <a:rPr lang="pt-BR" b="1" dirty="0"/>
              <a:t>4) Neocolagênese e </a:t>
            </a:r>
            <a:r>
              <a:rPr lang="pt-BR" b="1" dirty="0" err="1"/>
              <a:t>neoelastogênese</a:t>
            </a:r>
            <a:endParaRPr lang="pt-BR" dirty="0"/>
          </a:p>
          <a:p>
            <a:pPr algn="just" fontAlgn="base">
              <a:lnSpc>
                <a:spcPct val="150000"/>
              </a:lnSpc>
              <a:spcBef>
                <a:spcPts val="0"/>
              </a:spcBef>
              <a:spcAft>
                <a:spcPts val="0"/>
              </a:spcAft>
            </a:pPr>
            <a:r>
              <a:rPr lang="pt-BR" dirty="0"/>
              <a:t>Com o aumento da temperatura local, se produz pequenos processos inflamatórios, gerando uma estimulação do fibroblasto à produzir novas fibras de colágeno e elastina. O pico da produção se dá em cerca de 21 dias, mas permanece por até 4 meses após a sessão.</a:t>
            </a:r>
          </a:p>
          <a:p>
            <a:endParaRPr lang="pt-BR" dirty="0"/>
          </a:p>
          <a:p>
            <a:endParaRPr lang="pt-BR" dirty="0"/>
          </a:p>
        </p:txBody>
      </p:sp>
    </p:spTree>
    <p:extLst>
      <p:ext uri="{BB962C8B-B14F-4D97-AF65-F5344CB8AC3E}">
        <p14:creationId xmlns:p14="http://schemas.microsoft.com/office/powerpoint/2010/main" val="37930744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4F7908-302F-D2C7-AD6A-3C36F809B260}"/>
              </a:ext>
            </a:extLst>
          </p:cNvPr>
          <p:cNvSpPr>
            <a:spLocks noGrp="1"/>
          </p:cNvSpPr>
          <p:nvPr>
            <p:ph type="title"/>
          </p:nvPr>
        </p:nvSpPr>
        <p:spPr/>
        <p:txBody>
          <a:bodyPr/>
          <a:lstStyle/>
          <a:p>
            <a:r>
              <a:rPr lang="pt-BR" dirty="0"/>
              <a:t>CRIOLIPOLISE</a:t>
            </a:r>
          </a:p>
        </p:txBody>
      </p:sp>
      <p:sp>
        <p:nvSpPr>
          <p:cNvPr id="3" name="Espaço Reservado para Conteúdo 2">
            <a:extLst>
              <a:ext uri="{FF2B5EF4-FFF2-40B4-BE49-F238E27FC236}">
                <a16:creationId xmlns:a16="http://schemas.microsoft.com/office/drawing/2014/main" id="{072506F0-2337-FDD6-5347-1ADD5CD685CF}"/>
              </a:ext>
            </a:extLst>
          </p:cNvPr>
          <p:cNvSpPr>
            <a:spLocks noGrp="1"/>
          </p:cNvSpPr>
          <p:nvPr>
            <p:ph idx="1"/>
          </p:nvPr>
        </p:nvSpPr>
        <p:spPr>
          <a:xfrm>
            <a:off x="1371600" y="2286000"/>
            <a:ext cx="9601200" cy="4002258"/>
          </a:xfrm>
        </p:spPr>
        <p:txBody>
          <a:bodyPr>
            <a:normAutofit lnSpcReduction="10000"/>
          </a:bodyPr>
          <a:lstStyle/>
          <a:p>
            <a:pPr algn="just" fontAlgn="base">
              <a:lnSpc>
                <a:spcPct val="150000"/>
              </a:lnSpc>
              <a:spcBef>
                <a:spcPts val="0"/>
              </a:spcBef>
              <a:spcAft>
                <a:spcPts val="0"/>
              </a:spcAft>
            </a:pPr>
            <a:r>
              <a:rPr lang="pt-BR" b="1" dirty="0"/>
              <a:t>5) Alteração no colágeno</a:t>
            </a:r>
            <a:endParaRPr lang="pt-BR" dirty="0"/>
          </a:p>
          <a:p>
            <a:pPr algn="just" fontAlgn="base">
              <a:lnSpc>
                <a:spcPct val="150000"/>
              </a:lnSpc>
              <a:spcBef>
                <a:spcPts val="0"/>
              </a:spcBef>
              <a:spcAft>
                <a:spcPts val="0"/>
              </a:spcAft>
            </a:pPr>
            <a:r>
              <a:rPr lang="pt-BR" dirty="0"/>
              <a:t>Com temperaturas em uma faixa terapeuticamente aplicável tem-se mostrado alteração na extensibilidade do colágeno.</a:t>
            </a:r>
          </a:p>
          <a:p>
            <a:pPr algn="just" fontAlgn="base">
              <a:lnSpc>
                <a:spcPct val="150000"/>
              </a:lnSpc>
              <a:spcBef>
                <a:spcPts val="0"/>
              </a:spcBef>
              <a:spcAft>
                <a:spcPts val="0"/>
              </a:spcAft>
            </a:pPr>
            <a:r>
              <a:rPr lang="pt-BR" b="1" dirty="0"/>
              <a:t>6) Adipócito</a:t>
            </a:r>
            <a:endParaRPr lang="pt-BR" dirty="0"/>
          </a:p>
          <a:p>
            <a:pPr algn="just" fontAlgn="base">
              <a:lnSpc>
                <a:spcPct val="150000"/>
              </a:lnSpc>
              <a:spcBef>
                <a:spcPts val="0"/>
              </a:spcBef>
              <a:spcAft>
                <a:spcPts val="0"/>
              </a:spcAft>
            </a:pPr>
            <a:r>
              <a:rPr lang="pt-BR" dirty="0"/>
              <a:t>Com o choque térmico e aumento da temperatura interna, gera-se a lipólise, onde o Triglicerídeos se rompe, formando as moléculas de Ácido Graxo e Glicerol livres.</a:t>
            </a:r>
          </a:p>
          <a:p>
            <a:pPr algn="just" fontAlgn="base">
              <a:lnSpc>
                <a:spcPct val="150000"/>
              </a:lnSpc>
              <a:spcBef>
                <a:spcPts val="0"/>
              </a:spcBef>
              <a:spcAft>
                <a:spcPts val="0"/>
              </a:spcAft>
            </a:pPr>
            <a:r>
              <a:rPr lang="pt-BR" dirty="0"/>
              <a:t>A célula “expulsa” esse conteúdo, que agora está em menor tamanho, para o meio extra celular. O glicerol será metabolizado pelo fígado, enquanto o ácido graxo se transforma em energia para o organismo utilizar.</a:t>
            </a:r>
          </a:p>
          <a:p>
            <a:endParaRPr lang="pt-BR" dirty="0"/>
          </a:p>
        </p:txBody>
      </p:sp>
    </p:spTree>
    <p:extLst>
      <p:ext uri="{BB962C8B-B14F-4D97-AF65-F5344CB8AC3E}">
        <p14:creationId xmlns:p14="http://schemas.microsoft.com/office/powerpoint/2010/main" val="41057834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FFDE53-3CBA-F36B-02D6-DEB2C2ACD616}"/>
              </a:ext>
            </a:extLst>
          </p:cNvPr>
          <p:cNvSpPr>
            <a:spLocks noGrp="1"/>
          </p:cNvSpPr>
          <p:nvPr>
            <p:ph type="title"/>
          </p:nvPr>
        </p:nvSpPr>
        <p:spPr/>
        <p:txBody>
          <a:bodyPr/>
          <a:lstStyle/>
          <a:p>
            <a:r>
              <a:rPr lang="pt-BR" dirty="0"/>
              <a:t>CRIOFREQUENCIA</a:t>
            </a:r>
          </a:p>
        </p:txBody>
      </p:sp>
      <p:sp>
        <p:nvSpPr>
          <p:cNvPr id="3" name="Espaço Reservado para Conteúdo 2">
            <a:extLst>
              <a:ext uri="{FF2B5EF4-FFF2-40B4-BE49-F238E27FC236}">
                <a16:creationId xmlns:a16="http://schemas.microsoft.com/office/drawing/2014/main" id="{F8F31391-C24D-8554-4783-8FAA33A654FA}"/>
              </a:ext>
            </a:extLst>
          </p:cNvPr>
          <p:cNvSpPr>
            <a:spLocks noGrp="1"/>
          </p:cNvSpPr>
          <p:nvPr>
            <p:ph idx="1"/>
          </p:nvPr>
        </p:nvSpPr>
        <p:spPr/>
        <p:txBody>
          <a:bodyPr/>
          <a:lstStyle/>
          <a:p>
            <a:pPr algn="just" fontAlgn="base">
              <a:lnSpc>
                <a:spcPct val="150000"/>
              </a:lnSpc>
              <a:spcBef>
                <a:spcPts val="0"/>
              </a:spcBef>
              <a:spcAft>
                <a:spcPts val="0"/>
              </a:spcAft>
            </a:pPr>
            <a:r>
              <a:rPr lang="pt-BR" b="1" dirty="0"/>
              <a:t>7) Efeito lifting</a:t>
            </a:r>
            <a:endParaRPr lang="pt-BR" dirty="0"/>
          </a:p>
          <a:p>
            <a:pPr algn="just" fontAlgn="base">
              <a:lnSpc>
                <a:spcPct val="150000"/>
              </a:lnSpc>
              <a:spcBef>
                <a:spcPts val="0"/>
              </a:spcBef>
              <a:spcAft>
                <a:spcPts val="0"/>
              </a:spcAft>
            </a:pPr>
            <a:r>
              <a:rPr lang="pt-BR" dirty="0"/>
              <a:t>O choque térmico promovido pelas alterações de temperaturas (fria e quente) promove uma retração imediata das fibras colágenas existentes, fazendo com que o tecido da região se contraia.</a:t>
            </a:r>
          </a:p>
          <a:p>
            <a:endParaRPr lang="pt-BR" dirty="0"/>
          </a:p>
        </p:txBody>
      </p:sp>
    </p:spTree>
    <p:extLst>
      <p:ext uri="{BB962C8B-B14F-4D97-AF65-F5344CB8AC3E}">
        <p14:creationId xmlns:p14="http://schemas.microsoft.com/office/powerpoint/2010/main" val="10203492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575449-289C-9690-D56E-CD9D329053E4}"/>
              </a:ext>
            </a:extLst>
          </p:cNvPr>
          <p:cNvSpPr>
            <a:spLocks noGrp="1"/>
          </p:cNvSpPr>
          <p:nvPr>
            <p:ph type="title"/>
          </p:nvPr>
        </p:nvSpPr>
        <p:spPr/>
        <p:txBody>
          <a:bodyPr/>
          <a:lstStyle/>
          <a:p>
            <a:r>
              <a:rPr lang="pt-BR" dirty="0"/>
              <a:t>CRIOFREQUENCIA </a:t>
            </a:r>
          </a:p>
        </p:txBody>
      </p:sp>
      <p:sp>
        <p:nvSpPr>
          <p:cNvPr id="3" name="Espaço Reservado para Conteúdo 2">
            <a:extLst>
              <a:ext uri="{FF2B5EF4-FFF2-40B4-BE49-F238E27FC236}">
                <a16:creationId xmlns:a16="http://schemas.microsoft.com/office/drawing/2014/main" id="{2B21EECE-59BF-16C9-E995-04497232A7F4}"/>
              </a:ext>
            </a:extLst>
          </p:cNvPr>
          <p:cNvSpPr>
            <a:spLocks noGrp="1"/>
          </p:cNvSpPr>
          <p:nvPr>
            <p:ph idx="1"/>
          </p:nvPr>
        </p:nvSpPr>
        <p:spPr/>
        <p:txBody>
          <a:bodyPr/>
          <a:lstStyle/>
          <a:p>
            <a:endParaRPr lang="pt-BR" dirty="0"/>
          </a:p>
        </p:txBody>
      </p:sp>
      <p:pic>
        <p:nvPicPr>
          <p:cNvPr id="7170" name="Picture 2">
            <a:extLst>
              <a:ext uri="{FF2B5EF4-FFF2-40B4-BE49-F238E27FC236}">
                <a16:creationId xmlns:a16="http://schemas.microsoft.com/office/drawing/2014/main" id="{B28E58D4-8F3F-9CB9-AF94-C3462AB789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6063" y="1638300"/>
            <a:ext cx="15022286" cy="487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22754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8E83F0-3A41-BB01-71EE-0A006CF4AB15}"/>
              </a:ext>
            </a:extLst>
          </p:cNvPr>
          <p:cNvSpPr>
            <a:spLocks noGrp="1"/>
          </p:cNvSpPr>
          <p:nvPr>
            <p:ph type="title"/>
          </p:nvPr>
        </p:nvSpPr>
        <p:spPr/>
        <p:txBody>
          <a:bodyPr/>
          <a:lstStyle/>
          <a:p>
            <a:r>
              <a:rPr lang="pt-BR" dirty="0"/>
              <a:t>CRIOFREQUENCIA </a:t>
            </a:r>
          </a:p>
        </p:txBody>
      </p:sp>
      <p:sp>
        <p:nvSpPr>
          <p:cNvPr id="3" name="Espaço Reservado para Conteúdo 2">
            <a:extLst>
              <a:ext uri="{FF2B5EF4-FFF2-40B4-BE49-F238E27FC236}">
                <a16:creationId xmlns:a16="http://schemas.microsoft.com/office/drawing/2014/main" id="{7B863F69-D358-7CA8-F9D0-093F6ABFA5B3}"/>
              </a:ext>
            </a:extLst>
          </p:cNvPr>
          <p:cNvSpPr>
            <a:spLocks noGrp="1"/>
          </p:cNvSpPr>
          <p:nvPr>
            <p:ph idx="1"/>
          </p:nvPr>
        </p:nvSpPr>
        <p:spPr>
          <a:xfrm>
            <a:off x="1371600" y="2285999"/>
            <a:ext cx="9601200" cy="4269545"/>
          </a:xfrm>
        </p:spPr>
        <p:txBody>
          <a:bodyPr>
            <a:normAutofit fontScale="92500" lnSpcReduction="10000"/>
          </a:bodyPr>
          <a:lstStyle/>
          <a:p>
            <a:pPr algn="just" fontAlgn="base">
              <a:lnSpc>
                <a:spcPct val="150000"/>
              </a:lnSpc>
              <a:spcBef>
                <a:spcPts val="0"/>
              </a:spcBef>
              <a:spcAft>
                <a:spcPts val="0"/>
              </a:spcAft>
            </a:pPr>
            <a:r>
              <a:rPr lang="pt-BR" dirty="0"/>
              <a:t>A</a:t>
            </a:r>
            <a:r>
              <a:rPr lang="pt-BR" b="1" dirty="0"/>
              <a:t> </a:t>
            </a:r>
            <a:r>
              <a:rPr lang="pt-BR" b="1" dirty="0" err="1"/>
              <a:t>Criofrequência</a:t>
            </a:r>
            <a:r>
              <a:rPr lang="pt-BR" dirty="0"/>
              <a:t> age com uma corrente eletromagnética, promovendo choque térmico no tecido, desestabilizando o metabolismo, gerando uma lise nas células de gordura.</a:t>
            </a:r>
          </a:p>
          <a:p>
            <a:pPr algn="just" fontAlgn="base">
              <a:lnSpc>
                <a:spcPct val="150000"/>
              </a:lnSpc>
              <a:spcBef>
                <a:spcPts val="0"/>
              </a:spcBef>
              <a:spcAft>
                <a:spcPts val="0"/>
              </a:spcAft>
            </a:pPr>
            <a:r>
              <a:rPr lang="pt-BR" dirty="0"/>
              <a:t>Esse choque térmico é promovido pelo contato da pele com a ponteira, que resfria a superfície do tecido a 10 graus negativos (-10°C).</a:t>
            </a:r>
          </a:p>
          <a:p>
            <a:pPr algn="just" fontAlgn="base">
              <a:lnSpc>
                <a:spcPct val="150000"/>
              </a:lnSpc>
              <a:spcBef>
                <a:spcPts val="0"/>
              </a:spcBef>
              <a:spcAft>
                <a:spcPts val="0"/>
              </a:spcAft>
            </a:pPr>
            <a:r>
              <a:rPr lang="pt-BR" dirty="0"/>
              <a:t>Enquanto o calor internamente no tecido pode chegar em até 60 graus positivos (60°C), simultaneamente, agindo com muita segurando até as camadas mais profundas.</a:t>
            </a:r>
          </a:p>
          <a:p>
            <a:pPr algn="just" fontAlgn="base">
              <a:lnSpc>
                <a:spcPct val="150000"/>
              </a:lnSpc>
              <a:spcBef>
                <a:spcPts val="0"/>
              </a:spcBef>
              <a:spcAft>
                <a:spcPts val="0"/>
              </a:spcAft>
            </a:pPr>
            <a:r>
              <a:rPr lang="pt-BR" dirty="0"/>
              <a:t>A </a:t>
            </a:r>
            <a:r>
              <a:rPr lang="pt-BR" dirty="0" err="1"/>
              <a:t>Criofrequência</a:t>
            </a:r>
            <a:r>
              <a:rPr lang="pt-BR" dirty="0"/>
              <a:t> também possui uma ação na estimulação da formação de novas fibras de colágeno e de elastina (neocolagênese e </a:t>
            </a:r>
            <a:r>
              <a:rPr lang="pt-BR" dirty="0" err="1"/>
              <a:t>neoelastogênese</a:t>
            </a:r>
            <a:r>
              <a:rPr lang="pt-BR" dirty="0"/>
              <a:t>).</a:t>
            </a:r>
          </a:p>
          <a:p>
            <a:pPr algn="just" fontAlgn="base">
              <a:lnSpc>
                <a:spcPct val="150000"/>
              </a:lnSpc>
              <a:spcBef>
                <a:spcPts val="0"/>
              </a:spcBef>
              <a:spcAft>
                <a:spcPts val="0"/>
              </a:spcAft>
            </a:pPr>
            <a:r>
              <a:rPr lang="pt-BR" dirty="0"/>
              <a:t>O resultado deste estímulo proporciona a tensão instantânea da pele, conhecido como efeito lifting, além de promover resultados a longo prazo.</a:t>
            </a:r>
          </a:p>
          <a:p>
            <a:endParaRPr lang="pt-BR" dirty="0"/>
          </a:p>
        </p:txBody>
      </p:sp>
    </p:spTree>
    <p:extLst>
      <p:ext uri="{BB962C8B-B14F-4D97-AF65-F5344CB8AC3E}">
        <p14:creationId xmlns:p14="http://schemas.microsoft.com/office/powerpoint/2010/main" val="5882223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F3C5BB-7912-F385-686E-646BC0596F9D}"/>
              </a:ext>
            </a:extLst>
          </p:cNvPr>
          <p:cNvSpPr>
            <a:spLocks noGrp="1"/>
          </p:cNvSpPr>
          <p:nvPr>
            <p:ph type="title"/>
          </p:nvPr>
        </p:nvSpPr>
        <p:spPr/>
        <p:txBody>
          <a:bodyPr/>
          <a:lstStyle/>
          <a:p>
            <a:r>
              <a:rPr lang="pt-BR" dirty="0"/>
              <a:t>CRIOFREQUENCIA </a:t>
            </a:r>
          </a:p>
        </p:txBody>
      </p:sp>
      <p:sp>
        <p:nvSpPr>
          <p:cNvPr id="3" name="Espaço Reservado para Conteúdo 2">
            <a:extLst>
              <a:ext uri="{FF2B5EF4-FFF2-40B4-BE49-F238E27FC236}">
                <a16:creationId xmlns:a16="http://schemas.microsoft.com/office/drawing/2014/main" id="{DD6F5504-6CE3-F7C0-D26D-FD81F82842E7}"/>
              </a:ext>
            </a:extLst>
          </p:cNvPr>
          <p:cNvSpPr>
            <a:spLocks noGrp="1"/>
          </p:cNvSpPr>
          <p:nvPr>
            <p:ph idx="1"/>
          </p:nvPr>
        </p:nvSpPr>
        <p:spPr/>
        <p:txBody>
          <a:bodyPr/>
          <a:lstStyle/>
          <a:p>
            <a:pPr algn="just" fontAlgn="base">
              <a:lnSpc>
                <a:spcPct val="150000"/>
              </a:lnSpc>
              <a:spcBef>
                <a:spcPts val="0"/>
              </a:spcBef>
              <a:spcAft>
                <a:spcPts val="0"/>
              </a:spcAft>
            </a:pPr>
            <a:r>
              <a:rPr lang="pt-BR" dirty="0"/>
              <a:t>A sessão pode durar de 30 a 60 minutos, de acordo com o tamanho da área a ser trabalhada.</a:t>
            </a:r>
          </a:p>
          <a:p>
            <a:pPr algn="just" fontAlgn="base">
              <a:lnSpc>
                <a:spcPct val="150000"/>
              </a:lnSpc>
              <a:spcBef>
                <a:spcPts val="0"/>
              </a:spcBef>
              <a:spcAft>
                <a:spcPts val="0"/>
              </a:spcAft>
            </a:pPr>
            <a:r>
              <a:rPr lang="pt-BR" dirty="0"/>
              <a:t>Os resultados já são visíveis desde a primeira sessão, porém se faz necessário uma continuidade do tratamento, com uma média de 4 a 8 sessões, podendo realizar essas sessões semanais, quinzenais ou com intervalos de até 21 dias, sempre de acordo com a avaliação e indicação de cada paciente.</a:t>
            </a:r>
          </a:p>
          <a:p>
            <a:endParaRPr lang="pt-BR" dirty="0"/>
          </a:p>
        </p:txBody>
      </p:sp>
    </p:spTree>
    <p:extLst>
      <p:ext uri="{BB962C8B-B14F-4D97-AF65-F5344CB8AC3E}">
        <p14:creationId xmlns:p14="http://schemas.microsoft.com/office/powerpoint/2010/main" val="8545482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92A437-EA43-2916-27AF-33BA17E54B97}"/>
              </a:ext>
            </a:extLst>
          </p:cNvPr>
          <p:cNvSpPr>
            <a:spLocks noGrp="1"/>
          </p:cNvSpPr>
          <p:nvPr>
            <p:ph type="title"/>
          </p:nvPr>
        </p:nvSpPr>
        <p:spPr/>
        <p:txBody>
          <a:bodyPr/>
          <a:lstStyle/>
          <a:p>
            <a:r>
              <a:rPr lang="pt-BR" dirty="0"/>
              <a:t>RADIOFREQUENCIA/CRIOFREQUENCIA </a:t>
            </a:r>
          </a:p>
        </p:txBody>
      </p:sp>
      <p:sp>
        <p:nvSpPr>
          <p:cNvPr id="3" name="Espaço Reservado para Conteúdo 2">
            <a:extLst>
              <a:ext uri="{FF2B5EF4-FFF2-40B4-BE49-F238E27FC236}">
                <a16:creationId xmlns:a16="http://schemas.microsoft.com/office/drawing/2014/main" id="{7E04AF24-C01E-0889-4692-B2096BAF48D2}"/>
              </a:ext>
            </a:extLst>
          </p:cNvPr>
          <p:cNvSpPr>
            <a:spLocks noGrp="1"/>
          </p:cNvSpPr>
          <p:nvPr>
            <p:ph idx="1"/>
          </p:nvPr>
        </p:nvSpPr>
        <p:spPr/>
        <p:txBody>
          <a:bodyPr/>
          <a:lstStyle/>
          <a:p>
            <a:r>
              <a:rPr lang="pt-BR" dirty="0"/>
              <a:t>Pesquisar sobre as proteínas de choque térmico </a:t>
            </a:r>
          </a:p>
          <a:p>
            <a:endParaRPr lang="pt-BR" dirty="0"/>
          </a:p>
          <a:p>
            <a:r>
              <a:rPr lang="pt-BR" dirty="0"/>
              <a:t>A Radiofrequência/Criofrequencia forma colágeno novo, e meu paciente forma colágeno novo?</a:t>
            </a:r>
          </a:p>
          <a:p>
            <a:r>
              <a:rPr lang="pt-BR" dirty="0"/>
              <a:t>O que influencia para formar colágeno novo?</a:t>
            </a:r>
          </a:p>
        </p:txBody>
      </p:sp>
    </p:spTree>
    <p:extLst>
      <p:ext uri="{BB962C8B-B14F-4D97-AF65-F5344CB8AC3E}">
        <p14:creationId xmlns:p14="http://schemas.microsoft.com/office/powerpoint/2010/main" val="38282125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6C3076-CFB3-4458-BEE3-1A5EEA166102}"/>
              </a:ext>
            </a:extLst>
          </p:cNvPr>
          <p:cNvSpPr>
            <a:spLocks noGrp="1"/>
          </p:cNvSpPr>
          <p:nvPr>
            <p:ph type="title"/>
          </p:nvPr>
        </p:nvSpPr>
        <p:spPr/>
        <p:txBody>
          <a:bodyPr/>
          <a:lstStyle/>
          <a:p>
            <a:r>
              <a:rPr lang="pt-BR" dirty="0"/>
              <a:t>RADIOFREQUENCIA/CRIOFREQUENCIA </a:t>
            </a:r>
          </a:p>
        </p:txBody>
      </p:sp>
      <p:sp>
        <p:nvSpPr>
          <p:cNvPr id="3" name="Espaço Reservado para Conteúdo 2">
            <a:extLst>
              <a:ext uri="{FF2B5EF4-FFF2-40B4-BE49-F238E27FC236}">
                <a16:creationId xmlns:a16="http://schemas.microsoft.com/office/drawing/2014/main" id="{A8FE18AF-F3EF-BDD4-165C-36429D2072B2}"/>
              </a:ext>
            </a:extLst>
          </p:cNvPr>
          <p:cNvSpPr>
            <a:spLocks noGrp="1"/>
          </p:cNvSpPr>
          <p:nvPr>
            <p:ph idx="1"/>
          </p:nvPr>
        </p:nvSpPr>
        <p:spPr/>
        <p:txBody>
          <a:bodyPr/>
          <a:lstStyle/>
          <a:p>
            <a:r>
              <a:rPr lang="pt-BR" dirty="0"/>
              <a:t>As proteínas de choque térmico conferem proteção as moléculas na sua formação, servem para designar substancias que sem fazer parte da estrutura final de proteínas, evitam interações incorretas entre elas, auxiliam na montagem final, na síntese, dobramento e degradação. </a:t>
            </a:r>
          </a:p>
          <a:p>
            <a:r>
              <a:rPr lang="pt-BR" dirty="0"/>
              <a:t>Uma das principais proteínas de choque térmico é a HSP47.</a:t>
            </a:r>
          </a:p>
          <a:p>
            <a:r>
              <a:rPr lang="pt-BR" dirty="0"/>
              <a:t>O aumento da expressão das HSP47 pode ser alvo de distúrbio relacionado ao colágeno e formação de fibrose.  </a:t>
            </a:r>
          </a:p>
        </p:txBody>
      </p:sp>
    </p:spTree>
    <p:extLst>
      <p:ext uri="{BB962C8B-B14F-4D97-AF65-F5344CB8AC3E}">
        <p14:creationId xmlns:p14="http://schemas.microsoft.com/office/powerpoint/2010/main" val="19298941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03D2C3-6130-3C9A-A3A5-B5B684848A3C}"/>
              </a:ext>
            </a:extLst>
          </p:cNvPr>
          <p:cNvSpPr>
            <a:spLocks noGrp="1"/>
          </p:cNvSpPr>
          <p:nvPr>
            <p:ph type="title"/>
          </p:nvPr>
        </p:nvSpPr>
        <p:spPr/>
        <p:txBody>
          <a:bodyPr/>
          <a:lstStyle/>
          <a:p>
            <a:r>
              <a:rPr lang="pt-BR" dirty="0"/>
              <a:t>RADIOFREQUENCIA/CRIOFREQUENCIA </a:t>
            </a:r>
          </a:p>
        </p:txBody>
      </p:sp>
      <p:graphicFrame>
        <p:nvGraphicFramePr>
          <p:cNvPr id="4" name="Espaço Reservado para Conteúdo 3">
            <a:extLst>
              <a:ext uri="{FF2B5EF4-FFF2-40B4-BE49-F238E27FC236}">
                <a16:creationId xmlns:a16="http://schemas.microsoft.com/office/drawing/2014/main" id="{6D804C26-46F6-B17B-9EF1-DED1FA8AC75A}"/>
              </a:ext>
            </a:extLst>
          </p:cNvPr>
          <p:cNvGraphicFramePr>
            <a:graphicFrameLocks noGrp="1"/>
          </p:cNvGraphicFramePr>
          <p:nvPr>
            <p:ph idx="1"/>
            <p:extLst>
              <p:ext uri="{D42A27DB-BD31-4B8C-83A1-F6EECF244321}">
                <p14:modId xmlns:p14="http://schemas.microsoft.com/office/powerpoint/2010/main" val="3746740846"/>
              </p:ext>
            </p:extLst>
          </p:nvPr>
        </p:nvGraphicFramePr>
        <p:xfrm>
          <a:off x="1371600" y="2286000"/>
          <a:ext cx="9601200" cy="3581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647112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4EC949D-BD46-3AF2-854D-42D4071F7556}"/>
              </a:ext>
            </a:extLst>
          </p:cNvPr>
          <p:cNvSpPr>
            <a:spLocks noGrp="1"/>
          </p:cNvSpPr>
          <p:nvPr>
            <p:ph type="title"/>
          </p:nvPr>
        </p:nvSpPr>
        <p:spPr/>
        <p:txBody>
          <a:bodyPr/>
          <a:lstStyle/>
          <a:p>
            <a:r>
              <a:rPr lang="pt-BR" dirty="0"/>
              <a:t>CRIOFREQUENCIA </a:t>
            </a:r>
          </a:p>
        </p:txBody>
      </p:sp>
      <p:sp>
        <p:nvSpPr>
          <p:cNvPr id="3" name="Espaço Reservado para Conteúdo 2">
            <a:extLst>
              <a:ext uri="{FF2B5EF4-FFF2-40B4-BE49-F238E27FC236}">
                <a16:creationId xmlns:a16="http://schemas.microsoft.com/office/drawing/2014/main" id="{79362ADC-1206-DE1A-85F9-B2F6E35602DA}"/>
              </a:ext>
            </a:extLst>
          </p:cNvPr>
          <p:cNvSpPr>
            <a:spLocks noGrp="1"/>
          </p:cNvSpPr>
          <p:nvPr>
            <p:ph idx="1"/>
          </p:nvPr>
        </p:nvSpPr>
        <p:spPr/>
        <p:txBody>
          <a:bodyPr/>
          <a:lstStyle/>
          <a:p>
            <a:r>
              <a:rPr lang="pt-BR" dirty="0"/>
              <a:t>CONTRA INDICAÇÕES </a:t>
            </a:r>
          </a:p>
          <a:p>
            <a:r>
              <a:rPr lang="pt-BR" dirty="0"/>
              <a:t>Portador de marcapasso </a:t>
            </a:r>
          </a:p>
          <a:p>
            <a:r>
              <a:rPr lang="pt-BR" dirty="0"/>
              <a:t>Gestante e lactante</a:t>
            </a:r>
          </a:p>
          <a:p>
            <a:r>
              <a:rPr lang="pt-BR" dirty="0"/>
              <a:t>Dermatite </a:t>
            </a:r>
          </a:p>
          <a:p>
            <a:r>
              <a:rPr lang="pt-BR" dirty="0"/>
              <a:t>Epilepsia </a:t>
            </a:r>
          </a:p>
          <a:p>
            <a:r>
              <a:rPr lang="pt-BR" dirty="0"/>
              <a:t>Câncer</a:t>
            </a:r>
          </a:p>
          <a:p>
            <a:r>
              <a:rPr lang="pt-BR" dirty="0"/>
              <a:t>Uso de corticoides, anti-inflamatório, antibióticos, compostos emagrecedores...</a:t>
            </a:r>
          </a:p>
          <a:p>
            <a:r>
              <a:rPr lang="pt-BR" dirty="0"/>
              <a:t>Implante de metal ou silicones </a:t>
            </a:r>
          </a:p>
          <a:p>
            <a:endParaRPr lang="pt-BR" dirty="0"/>
          </a:p>
        </p:txBody>
      </p:sp>
    </p:spTree>
    <p:extLst>
      <p:ext uri="{BB962C8B-B14F-4D97-AF65-F5344CB8AC3E}">
        <p14:creationId xmlns:p14="http://schemas.microsoft.com/office/powerpoint/2010/main" val="27625435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EE979C-7C20-2E9B-A08E-91C6C1177A18}"/>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B41F4B49-4ADC-8BC0-336C-515E1987F720}"/>
              </a:ext>
            </a:extLst>
          </p:cNvPr>
          <p:cNvSpPr>
            <a:spLocks noGrp="1"/>
          </p:cNvSpPr>
          <p:nvPr>
            <p:ph idx="1"/>
          </p:nvPr>
        </p:nvSpPr>
        <p:spPr/>
        <p:txBody>
          <a:bodyPr/>
          <a:lstStyle/>
          <a:p>
            <a:endParaRPr lang="pt-BR"/>
          </a:p>
        </p:txBody>
      </p:sp>
      <p:pic>
        <p:nvPicPr>
          <p:cNvPr id="4098" name="Picture 2" descr="Resultados visíveis para um contorno facial mais definido!&#10;criofrequência&#10;redução de papada">
            <a:extLst>
              <a:ext uri="{FF2B5EF4-FFF2-40B4-BE49-F238E27FC236}">
                <a16:creationId xmlns:a16="http://schemas.microsoft.com/office/drawing/2014/main" id="{ADA2A352-C60E-3069-1C95-6D78E33873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60" y="-1308"/>
            <a:ext cx="11458290" cy="6859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7856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60D13A-13BE-865F-3E9C-C71D325A1771}"/>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F51B5FFD-BE95-701C-EC86-60501FCF03BD}"/>
              </a:ext>
            </a:extLst>
          </p:cNvPr>
          <p:cNvSpPr>
            <a:spLocks noGrp="1"/>
          </p:cNvSpPr>
          <p:nvPr>
            <p:ph idx="1"/>
          </p:nvPr>
        </p:nvSpPr>
        <p:spPr/>
        <p:txBody>
          <a:bodyPr/>
          <a:lstStyle/>
          <a:p>
            <a:endParaRPr lang="pt-BR"/>
          </a:p>
        </p:txBody>
      </p:sp>
      <p:pic>
        <p:nvPicPr>
          <p:cNvPr id="5122" name="Picture 2" descr="Com apenas uma sessão você irá alcançar resultados eficazes e satisfatórios!&#10;redução de gordura &#10;criofrequência">
            <a:extLst>
              <a:ext uri="{FF2B5EF4-FFF2-40B4-BE49-F238E27FC236}">
                <a16:creationId xmlns:a16="http://schemas.microsoft.com/office/drawing/2014/main" id="{2423C5FE-E10B-9D98-264C-D9F981D6C4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57" y="-26573"/>
            <a:ext cx="11500493" cy="70322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94117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69C7D7-3F03-866B-B636-F7089BE61BF3}"/>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F2601C7A-70C3-E83E-3CBA-C5D879E20365}"/>
              </a:ext>
            </a:extLst>
          </p:cNvPr>
          <p:cNvSpPr>
            <a:spLocks noGrp="1"/>
          </p:cNvSpPr>
          <p:nvPr>
            <p:ph idx="1"/>
          </p:nvPr>
        </p:nvSpPr>
        <p:spPr/>
        <p:txBody>
          <a:bodyPr/>
          <a:lstStyle/>
          <a:p>
            <a:endParaRPr lang="pt-BR"/>
          </a:p>
        </p:txBody>
      </p:sp>
      <p:pic>
        <p:nvPicPr>
          <p:cNvPr id="6146" name="Picture 2" descr="Criofrequência">
            <a:extLst>
              <a:ext uri="{FF2B5EF4-FFF2-40B4-BE49-F238E27FC236}">
                <a16:creationId xmlns:a16="http://schemas.microsoft.com/office/drawing/2014/main" id="{7B531ED9-4C29-0EBA-916A-C0A912CC6A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963" y="-181491"/>
            <a:ext cx="11169748" cy="70900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25911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5E7BDB-5EE5-FFBB-3D01-9D25EE24A0BB}"/>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AD381A4E-C549-0764-0513-182D8E5021E0}"/>
              </a:ext>
            </a:extLst>
          </p:cNvPr>
          <p:cNvSpPr>
            <a:spLocks noGrp="1"/>
          </p:cNvSpPr>
          <p:nvPr>
            <p:ph idx="1"/>
          </p:nvPr>
        </p:nvSpPr>
        <p:spPr/>
        <p:txBody>
          <a:bodyPr/>
          <a:lstStyle/>
          <a:p>
            <a:endParaRPr lang="pt-BR"/>
          </a:p>
        </p:txBody>
      </p:sp>
    </p:spTree>
    <p:extLst>
      <p:ext uri="{BB962C8B-B14F-4D97-AF65-F5344CB8AC3E}">
        <p14:creationId xmlns:p14="http://schemas.microsoft.com/office/powerpoint/2010/main" val="922919234"/>
      </p:ext>
    </p:extLst>
  </p:cSld>
  <p:clrMapOvr>
    <a:masterClrMapping/>
  </p:clrMapOvr>
</p:sld>
</file>

<file path=ppt/theme/theme1.xml><?xml version="1.0" encoding="utf-8"?>
<a:theme xmlns:a="http://schemas.openxmlformats.org/drawingml/2006/main" name="Cortar">
  <a:themeElements>
    <a:clrScheme name="Cortar">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ortar">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ortar">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TM10001105[[fn=Cortar]]</Template>
  <TotalTime>17618</TotalTime>
  <Words>1223</Words>
  <Application>Microsoft Office PowerPoint</Application>
  <PresentationFormat>Widescreen</PresentationFormat>
  <Paragraphs>126</Paragraphs>
  <Slides>33</Slides>
  <Notes>0</Notes>
  <HiddenSlides>0</HiddenSlides>
  <MMClips>0</MMClips>
  <ScaleCrop>false</ScaleCrop>
  <HeadingPairs>
    <vt:vector size="6" baseType="variant">
      <vt:variant>
        <vt:lpstr>Fontes usadas</vt:lpstr>
      </vt:variant>
      <vt:variant>
        <vt:i4>2</vt:i4>
      </vt:variant>
      <vt:variant>
        <vt:lpstr>Tema</vt:lpstr>
      </vt:variant>
      <vt:variant>
        <vt:i4>1</vt:i4>
      </vt:variant>
      <vt:variant>
        <vt:lpstr>Títulos de slides</vt:lpstr>
      </vt:variant>
      <vt:variant>
        <vt:i4>33</vt:i4>
      </vt:variant>
    </vt:vector>
  </HeadingPairs>
  <TitlesOfParts>
    <vt:vector size="36" baseType="lpstr">
      <vt:lpstr>Arial</vt:lpstr>
      <vt:lpstr>Franklin Gothic Book</vt:lpstr>
      <vt:lpstr>Cortar</vt:lpstr>
      <vt:lpstr>Radiofrequência Criofrequencia </vt:lpstr>
      <vt:lpstr>Apresentação do PowerPoint</vt:lpstr>
      <vt:lpstr>Apresentação do PowerPoint</vt:lpstr>
      <vt:lpstr>RADIOFREQUENCIA </vt:lpstr>
      <vt:lpstr>RADIOFREQUENCIA </vt:lpstr>
      <vt:lpstr>RADIOFREQUENCIA </vt:lpstr>
      <vt:lpstr>RADIOFREQUENCIA </vt:lpstr>
      <vt:lpstr>RADIOFREQUENCIA </vt:lpstr>
      <vt:lpstr>RADIOFREQUENCIA </vt:lpstr>
      <vt:lpstr>Apresentação do PowerPoint</vt:lpstr>
      <vt:lpstr>CRIOFREQUENCIA </vt:lpstr>
      <vt:lpstr>CRIOFREQUENCIA </vt:lpstr>
      <vt:lpstr>CRIOFREQUENCIA </vt:lpstr>
      <vt:lpstr>RADIOFREQUENCIA/CRIOFREQUENCIA</vt:lpstr>
      <vt:lpstr>RADIOFREQUENCIA/CRIOFREQUENCIA </vt:lpstr>
      <vt:lpstr>RADIOFREQUENCIA/CRIOFREQUENCIA </vt:lpstr>
      <vt:lpstr>CRIOFREQUENCIA </vt:lpstr>
      <vt:lpstr>CRIOFREQUENCIA </vt:lpstr>
      <vt:lpstr>CRIOFREQUENCIA </vt:lpstr>
      <vt:lpstr>CRIOFREQUENCIA</vt:lpstr>
      <vt:lpstr>CRIOLIPOLISE</vt:lpstr>
      <vt:lpstr>CRIOFREQUENCIA</vt:lpstr>
      <vt:lpstr>CRIOFREQUENCIA </vt:lpstr>
      <vt:lpstr>CRIOFREQUENCIA </vt:lpstr>
      <vt:lpstr>CRIOFREQUENCIA </vt:lpstr>
      <vt:lpstr>RADIOFREQUENCIA/CRIOFREQUENCIA </vt:lpstr>
      <vt:lpstr>RADIOFREQUENCIA/CRIOFREQUENCIA </vt:lpstr>
      <vt:lpstr>RADIOFREQUENCIA/CRIOFREQUENCIA </vt:lpstr>
      <vt:lpstr>CRIOFREQUENCIA </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Radiofrequência Criofrequencia </dc:title>
  <dc:creator>Mariana</dc:creator>
  <cp:lastModifiedBy>mariana justi</cp:lastModifiedBy>
  <cp:revision>7</cp:revision>
  <dcterms:created xsi:type="dcterms:W3CDTF">2025-02-27T19:19:48Z</dcterms:created>
  <dcterms:modified xsi:type="dcterms:W3CDTF">2026-01-15T19:58:58Z</dcterms:modified>
</cp:coreProperties>
</file>