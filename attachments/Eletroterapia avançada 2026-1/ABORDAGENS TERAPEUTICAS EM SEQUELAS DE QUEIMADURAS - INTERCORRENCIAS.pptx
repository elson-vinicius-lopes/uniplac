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23" r:id="rId14"/>
    <p:sldId id="319" r:id="rId15"/>
    <p:sldId id="297" r:id="rId16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60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318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ABORDAGENS TERAPEUTICAS EM SEQUELAS DE QUEIMADURAS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41AB80-1080-BBF8-2FD0-69EABE3ACFFC}"/>
              </a:ext>
            </a:extLst>
          </p:cNvPr>
          <p:cNvSpPr txBox="1"/>
          <p:nvPr/>
        </p:nvSpPr>
        <p:spPr>
          <a:xfrm>
            <a:off x="3617843" y="5830957"/>
            <a:ext cx="50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PROF MARIANA MACEDO JUSTI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TRATAMENTO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inicio do tratamento é fundamental para a recuperação. </a:t>
            </a:r>
          </a:p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Queimadura </a:t>
            </a:r>
            <a:br>
              <a:rPr lang="pt-BR" dirty="0"/>
            </a:br>
            <a:r>
              <a:rPr lang="pt-BR" dirty="0"/>
              <a:t>por frio </a:t>
            </a:r>
            <a:br>
              <a:rPr lang="pt-BR" dirty="0"/>
            </a:br>
            <a:endParaRPr lang="pt-BR" dirty="0"/>
          </a:p>
        </p:txBody>
      </p: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12817DD3-3E67-FF97-4464-9F77BF68B23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2718" r="3271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6" y="36858"/>
            <a:ext cx="5259554" cy="249502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Objetivo do tratamento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41341"/>
            <a:ext cx="5259554" cy="336067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1 – Controlar crescimento bacteriano (</a:t>
            </a:r>
            <a:r>
              <a:rPr lang="pt-BR" dirty="0" err="1"/>
              <a:t>sulfadiazina</a:t>
            </a:r>
            <a:r>
              <a:rPr lang="pt-BR" dirty="0"/>
              <a:t> de prata, vitamina A, vitamina E, óleo de girassol). </a:t>
            </a:r>
          </a:p>
          <a:p>
            <a:pPr rtl="0"/>
            <a:r>
              <a:rPr lang="pt-BR" dirty="0"/>
              <a:t>2 – Remoção do tecido desvitalizado</a:t>
            </a:r>
          </a:p>
          <a:p>
            <a:pPr rtl="0"/>
            <a:r>
              <a:rPr lang="pt-BR" dirty="0"/>
              <a:t>3 – Estimular a epitelização (crescimento de queratinócitos). </a:t>
            </a:r>
          </a:p>
          <a:p>
            <a:pPr rtl="0"/>
            <a:r>
              <a:rPr lang="pt-BR" dirty="0"/>
              <a:t>4 – Curativo úmido – solução fisiológica em gaze, a cada duas horas. </a:t>
            </a:r>
          </a:p>
          <a:p>
            <a:pPr rtl="0"/>
            <a:endParaRPr lang="pt-BR" dirty="0"/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5FA24C3C-D8B3-1379-74D9-2ADD634790A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6380" r="638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que utilizar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851869" cy="3497698"/>
          </a:xfrm>
        </p:spPr>
        <p:txBody>
          <a:bodyPr numCol="2" rtlCol="0">
            <a:normAutofit fontScale="92500" lnSpcReduction="1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LASER DE CO2 FRACIONADO</a:t>
            </a:r>
          </a:p>
          <a:p>
            <a:pPr rtl="0"/>
            <a:r>
              <a:rPr lang="pt-BR" dirty="0"/>
              <a:t>LUZ INTENSA PULSADA </a:t>
            </a:r>
          </a:p>
          <a:p>
            <a:pPr rtl="0"/>
            <a:r>
              <a:rPr lang="pt-BR" dirty="0"/>
              <a:t>LASER DE BAIXA POTENCIA </a:t>
            </a:r>
          </a:p>
          <a:p>
            <a:pPr rtl="0"/>
            <a:r>
              <a:rPr lang="pt-BR" dirty="0"/>
              <a:t>CINESIOTERAPIA</a:t>
            </a:r>
          </a:p>
          <a:p>
            <a:pPr rtl="0"/>
            <a:r>
              <a:rPr lang="pt-BR" dirty="0"/>
              <a:t>MASSOTERAPIA </a:t>
            </a:r>
          </a:p>
          <a:p>
            <a:pPr rtl="0"/>
            <a:r>
              <a:rPr lang="pt-BR" dirty="0"/>
              <a:t>LIBERAÇÃO MIOFASCIAL</a:t>
            </a:r>
          </a:p>
          <a:p>
            <a:pPr rtl="0"/>
            <a:r>
              <a:rPr lang="pt-BR" dirty="0"/>
              <a:t>MALHAS COMPRESSIVAS </a:t>
            </a:r>
          </a:p>
          <a:p>
            <a:pPr rtl="0"/>
            <a:r>
              <a:rPr lang="pt-BR" dirty="0"/>
              <a:t>FITA DE GEL DE SILICONE </a:t>
            </a:r>
          </a:p>
          <a:p>
            <a:pPr rtl="0"/>
            <a:r>
              <a:rPr lang="pt-BR" dirty="0"/>
              <a:t>MICROCORRENTES</a:t>
            </a:r>
          </a:p>
          <a:p>
            <a:pPr rtl="0"/>
            <a:r>
              <a:rPr lang="pt-BR" dirty="0"/>
              <a:t>ONDAS DE CHOQUE </a:t>
            </a:r>
          </a:p>
          <a:p>
            <a:pPr rtl="0"/>
            <a:r>
              <a:rPr lang="pt-BR" dirty="0"/>
              <a:t>RADIOFREQUENCIA </a:t>
            </a:r>
          </a:p>
          <a:p>
            <a:pPr rtl="0"/>
            <a:r>
              <a:rPr lang="pt-BR" dirty="0"/>
              <a:t>CRIOFREQUENCIA </a:t>
            </a:r>
          </a:p>
          <a:p>
            <a:pPr rtl="0"/>
            <a:r>
              <a:rPr lang="pt-BR" dirty="0"/>
              <a:t>ULTRASSOM </a:t>
            </a:r>
          </a:p>
          <a:p>
            <a:pPr rtl="0"/>
            <a:r>
              <a:rPr lang="pt-BR" dirty="0"/>
              <a:t>ENDREMOLOGIA </a:t>
            </a:r>
          </a:p>
          <a:p>
            <a:pPr rtl="0"/>
            <a:r>
              <a:rPr lang="pt-BR" dirty="0"/>
              <a:t>MICROAGULHAMENTO </a:t>
            </a:r>
          </a:p>
          <a:p>
            <a:pPr rtl="0"/>
            <a:r>
              <a:rPr lang="pt-BR" dirty="0"/>
              <a:t>ARGILOTERAPIA</a:t>
            </a:r>
          </a:p>
          <a:p>
            <a:pPr rtl="0"/>
            <a:r>
              <a:rPr lang="pt-BR" dirty="0"/>
              <a:t>OLEOS ESSENCIAIS</a:t>
            </a:r>
          </a:p>
          <a:p>
            <a:pPr rtl="0"/>
            <a:r>
              <a:rPr lang="pt-BR" dirty="0"/>
              <a:t>CRIOTERAPIA</a:t>
            </a:r>
          </a:p>
          <a:p>
            <a:pPr rtl="0"/>
            <a:r>
              <a:rPr lang="pt-BR" dirty="0"/>
              <a:t>CORTOCOIDES</a:t>
            </a:r>
          </a:p>
          <a:p>
            <a:pPr rtl="0"/>
            <a:r>
              <a:rPr lang="pt-BR" dirty="0"/>
              <a:t>OZONIOTERAPIA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380082" cy="252021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ABORDAGEM DOS TRATAMENTOS 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QUE COMPREENDE CADA TRATAMENTO E SUAS COMPETENCIAS 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3273288" cy="122238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CINESIO</a:t>
            </a:r>
            <a:br>
              <a:rPr lang="pt-BR" dirty="0"/>
            </a:br>
            <a:r>
              <a:rPr lang="pt-BR" dirty="0"/>
              <a:t>TERAPIA 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439886" cy="372033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SÃO EXERCICIOS TERAPEUTICOS QUE VISAM MELHORIA NAS FUNÇOES E INCAPACIDADES DE ATIVIDADES </a:t>
            </a:r>
          </a:p>
        </p:txBody>
      </p:sp>
      <p:sp>
        <p:nvSpPr>
          <p:cNvPr id="17" name="Espaço Reservado para Conteúdo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621612" cy="372033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RECURSO QUE UTILIZA FAIXAS OU FITAS ADESIVAS, RIGIDAS OU ELASTICAS, QUE DESENCADEIAM EFEITOS MECANICOS E NEUROFISIOLOGICOS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88C446-ED26-6BF5-A6F0-C2A8B2F6A35C}"/>
              </a:ext>
            </a:extLst>
          </p:cNvPr>
          <p:cNvSpPr txBox="1"/>
          <p:nvPr/>
        </p:nvSpPr>
        <p:spPr>
          <a:xfrm>
            <a:off x="4782159" y="903219"/>
            <a:ext cx="3407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accent6"/>
                </a:solidFill>
                <a:latin typeface="+mj-lt"/>
              </a:rPr>
              <a:t>BANDAGEM </a:t>
            </a:r>
          </a:p>
          <a:p>
            <a:r>
              <a:rPr lang="pt-BR" sz="3600" dirty="0">
                <a:solidFill>
                  <a:schemeClr val="accent6"/>
                </a:solidFill>
                <a:latin typeface="+mj-lt"/>
              </a:rPr>
              <a:t>ELASTICA</a:t>
            </a:r>
            <a:r>
              <a:rPr lang="pt-BR" dirty="0">
                <a:solidFill>
                  <a:schemeClr val="accent6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65393"/>
            <a:ext cx="7155402" cy="10916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COSMETICOS UTILIZADOS </a:t>
            </a:r>
          </a:p>
        </p:txBody>
      </p:sp>
      <p:sp>
        <p:nvSpPr>
          <p:cNvPr id="14" name="Espaço Reservado para Conteúdo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763962" cy="414337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dirty="0"/>
              <a:t>PARA REPOSIÇÃO DERMICA E EPIDERMICA:</a:t>
            </a:r>
          </a:p>
          <a:p>
            <a:pPr marL="0" indent="0" rtl="0">
              <a:buNone/>
            </a:pPr>
            <a:r>
              <a:rPr lang="pt-BR" dirty="0"/>
              <a:t>1 ANTIOXIDANTES</a:t>
            </a:r>
          </a:p>
          <a:p>
            <a:pPr marL="0" indent="0" rtl="0">
              <a:buNone/>
            </a:pPr>
            <a:r>
              <a:rPr lang="pt-BR" dirty="0"/>
              <a:t>2 HIDRATANTES</a:t>
            </a:r>
          </a:p>
          <a:p>
            <a:pPr marL="0" indent="0" rtl="0">
              <a:buNone/>
            </a:pPr>
            <a:r>
              <a:rPr lang="pt-BR" dirty="0"/>
              <a:t>3 MODULADORES DE MELANOGENESE</a:t>
            </a:r>
          </a:p>
        </p:txBody>
      </p:sp>
      <p:sp>
        <p:nvSpPr>
          <p:cNvPr id="13" name="Espaço Reservado para Conteúdo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4207904" cy="4143375"/>
          </a:xfrm>
        </p:spPr>
        <p:txBody>
          <a:bodyPr rtlCol="0"/>
          <a:lstStyle>
            <a:defPPr>
              <a:defRPr lang="pt-BR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METALOPROTEINASES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CATALASE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GLUTATIONA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MIELOPEROXIDASE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FATORES DE CRESCIMENTO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dirty="0"/>
              <a:t>ALANINA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OBS: O ESTRESSE OXIDATIVO PROVENIENTE DO TRAUMA PROVOCA ATRASO NA CICATRIZAÇÃO 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1026" name="Picture 2" descr="PRODUTOS COSMÉTICOS - Dermatosaude - Dra Ana Lucia Pinheiro">
            <a:extLst>
              <a:ext uri="{FF2B5EF4-FFF2-40B4-BE49-F238E27FC236}">
                <a16:creationId xmlns:a16="http://schemas.microsoft.com/office/drawing/2014/main" id="{B8D2525C-AF5A-D91F-3ACB-2F9E9FAA0415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6" r="3641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E65F972F-033B-A559-B7CC-EEE3F629B2A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047726" y="39357"/>
            <a:ext cx="5380383" cy="6779285"/>
          </a:xfrm>
        </p:spPr>
      </p:pic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9" name="Espaço Reservado para Imagem 8">
            <a:extLst>
              <a:ext uri="{FF2B5EF4-FFF2-40B4-BE49-F238E27FC236}">
                <a16:creationId xmlns:a16="http://schemas.microsoft.com/office/drawing/2014/main" id="{E90A0391-A461-20FC-4C0C-A6237A0C8A1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24034" r="24034"/>
          <a:stretch>
            <a:fillRect/>
          </a:stretch>
        </p:blipFill>
        <p:spPr>
          <a:xfrm>
            <a:off x="8990013" y="3429000"/>
            <a:ext cx="3201987" cy="3452813"/>
          </a:xfr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9" name="Espaço Reservado para Imagem 8">
            <a:extLst>
              <a:ext uri="{FF2B5EF4-FFF2-40B4-BE49-F238E27FC236}">
                <a16:creationId xmlns:a16="http://schemas.microsoft.com/office/drawing/2014/main" id="{E90A0391-A461-20FC-4C0C-A6237A0C8A1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4034" r="24034"/>
          <a:stretch>
            <a:fillRect/>
          </a:stretch>
        </p:blipFill>
        <p:spPr>
          <a:xfrm>
            <a:off x="8990013" y="3429000"/>
            <a:ext cx="3201987" cy="3452813"/>
          </a:xfrm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142FA9D1-213A-1E25-FE44-448792E9F06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1008810" y="324678"/>
            <a:ext cx="7379816" cy="6059219"/>
          </a:xfrm>
        </p:spPr>
      </p:pic>
    </p:spTree>
    <p:extLst>
      <p:ext uri="{BB962C8B-B14F-4D97-AF65-F5344CB8AC3E}">
        <p14:creationId xmlns:p14="http://schemas.microsoft.com/office/powerpoint/2010/main" val="335577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FATORES DE CRESCIMENTO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50000"/>
              </a:lnSpc>
              <a:spcAft>
                <a:spcPts val="0"/>
              </a:spcAft>
            </a:pPr>
            <a:r>
              <a:rPr lang="pt-BR" dirty="0"/>
              <a:t>ESTIMULAM E ATIVAM A PROLIFERAÇÃO CELULAR, A ANGIOGENESE E A MITOGENESE. 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64451702"/>
              </p:ext>
            </p:extLst>
          </p:nvPr>
        </p:nvGraphicFramePr>
        <p:xfrm>
          <a:off x="4525781" y="2117357"/>
          <a:ext cx="7281906" cy="50749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56213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556213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10523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1258957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Meta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FATOR DE CRESCIMENTO FIBROBLASTICO 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Sinaliza síntese de matriz extracelular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 err="1">
                          <a:solidFill>
                            <a:schemeClr val="accent6"/>
                          </a:solidFill>
                        </a:rPr>
                        <a:t>bFGF</a:t>
                      </a:r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Previne queloides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FATOR DE CRESCIMENTO TRANSFORMADOR 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Cicatrizante, acelera a remodelação do tecido 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 err="1">
                          <a:solidFill>
                            <a:schemeClr val="accent6"/>
                          </a:solidFill>
                        </a:rPr>
                        <a:t>TGFß</a:t>
                      </a:r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Previne fibrose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FATOR DE CRESCIMENTO INSULINICO 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Cicatrizante, acelera remodelação do tecido de granulação 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IGF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Previne desordem vascular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FATOR DE CRESCIMENTO FIBROBLASTICO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Estimula formação de novos vasos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 err="1">
                          <a:solidFill>
                            <a:schemeClr val="accent6"/>
                          </a:solidFill>
                        </a:rPr>
                        <a:t>aFGF</a:t>
                      </a:r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noProof="0" dirty="0">
                          <a:solidFill>
                            <a:schemeClr val="accent6"/>
                          </a:solidFill>
                        </a:rPr>
                        <a:t>Previne fragilidade vascular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endParaRPr lang="pt-BR" noProof="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rrar é humano, não resolver é insano">
            <a:extLst>
              <a:ext uri="{FF2B5EF4-FFF2-40B4-BE49-F238E27FC236}">
                <a16:creationId xmlns:a16="http://schemas.microsoft.com/office/drawing/2014/main" id="{6BED888C-E7DE-B229-5A10-64044B20F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4" y="0"/>
            <a:ext cx="680768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71af3243-3dd4-4a8d-8c0d-dd76da1f02a5"/>
    <ds:schemaRef ds:uri="http://schemas.microsoft.com/office/infopath/2007/PartnerControls"/>
    <ds:schemaRef ds:uri="http://purl.org/dc/dcmitype/"/>
    <ds:schemaRef ds:uri="http://www.w3.org/XML/1998/namespace"/>
    <ds:schemaRef ds:uri="http://schemas.microsoft.com/sharepoint/v3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{DB59C338-65B6-4BF9-8E5B-98AFAC88EF98}tf78438558_win32</Template>
  <TotalTime>178</TotalTime>
  <Words>285</Words>
  <Application>Microsoft Office PowerPoint</Application>
  <PresentationFormat>Widescreen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Personalizado</vt:lpstr>
      <vt:lpstr>ABORDAGENS TERAPEUTICAS EM SEQUELAS DE QUEIMADURAS</vt:lpstr>
      <vt:lpstr>TRATAMENTO </vt:lpstr>
      <vt:lpstr>Queimadura  por frio  </vt:lpstr>
      <vt:lpstr>Objetivo do tratamento </vt:lpstr>
      <vt:lpstr>O que utilizar </vt:lpstr>
      <vt:lpstr>ABORDAGEM DOS TRATAMENTOS </vt:lpstr>
      <vt:lpstr>CINESIO TERAPIA </vt:lpstr>
      <vt:lpstr>COSMETICOS UTILIZADOS </vt:lpstr>
      <vt:lpstr>Apresentação do PowerPoint</vt:lpstr>
      <vt:lpstr>Apresentação do PowerPoint</vt:lpstr>
      <vt:lpstr>FATORES DE CRESCIMENTO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ABORDAGENS TERAPEUTICAS EM SEQUELAS DE QUEIMADURAS</dc:title>
  <dc:subject/>
  <dc:creator>Mariana</dc:creator>
  <cp:lastModifiedBy>Mariana</cp:lastModifiedBy>
  <cp:revision>2</cp:revision>
  <dcterms:created xsi:type="dcterms:W3CDTF">2025-02-20T16:04:54Z</dcterms:created>
  <dcterms:modified xsi:type="dcterms:W3CDTF">2025-02-20T19:03:34Z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