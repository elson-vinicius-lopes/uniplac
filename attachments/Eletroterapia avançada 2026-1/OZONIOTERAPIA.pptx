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83" r:id="rId3"/>
    <p:sldId id="257" r:id="rId4"/>
    <p:sldId id="286" r:id="rId5"/>
    <p:sldId id="29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84" r:id="rId15"/>
    <p:sldId id="285" r:id="rId16"/>
    <p:sldId id="296" r:id="rId17"/>
    <p:sldId id="298" r:id="rId18"/>
    <p:sldId id="266" r:id="rId19"/>
    <p:sldId id="287" r:id="rId20"/>
    <p:sldId id="288" r:id="rId21"/>
    <p:sldId id="289" r:id="rId22"/>
    <p:sldId id="290" r:id="rId23"/>
    <p:sldId id="291" r:id="rId24"/>
    <p:sldId id="267" r:id="rId25"/>
    <p:sldId id="292" r:id="rId26"/>
    <p:sldId id="293" r:id="rId27"/>
    <p:sldId id="300" r:id="rId28"/>
    <p:sldId id="301" r:id="rId29"/>
    <p:sldId id="294" r:id="rId30"/>
    <p:sldId id="282" r:id="rId31"/>
    <p:sldId id="268" r:id="rId32"/>
    <p:sldId id="269" r:id="rId33"/>
    <p:sldId id="270" r:id="rId34"/>
    <p:sldId id="273" r:id="rId35"/>
    <p:sldId id="274" r:id="rId36"/>
    <p:sldId id="271" r:id="rId37"/>
    <p:sldId id="295" r:id="rId38"/>
    <p:sldId id="272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99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8B287A-0897-403D-B03C-3706F2995EC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152F62A-8BCA-4D96-A3B2-92BF3705E90A}">
      <dgm:prSet phldrT="[Texto]"/>
      <dgm:spPr/>
      <dgm:t>
        <a:bodyPr/>
        <a:lstStyle/>
        <a:p>
          <a:r>
            <a:rPr lang="pt-BR" dirty="0"/>
            <a:t>Doses baixas </a:t>
          </a:r>
        </a:p>
      </dgm:t>
    </dgm:pt>
    <dgm:pt modelId="{3D935365-9A4F-4C12-B6BD-E60E66B24873}" type="parTrans" cxnId="{DAA619D7-1460-4760-A2F4-BF45F5AB1191}">
      <dgm:prSet/>
      <dgm:spPr/>
      <dgm:t>
        <a:bodyPr/>
        <a:lstStyle/>
        <a:p>
          <a:endParaRPr lang="pt-BR"/>
        </a:p>
      </dgm:t>
    </dgm:pt>
    <dgm:pt modelId="{7A036FD6-070A-4E33-B94C-05403412E937}" type="sibTrans" cxnId="{DAA619D7-1460-4760-A2F4-BF45F5AB1191}">
      <dgm:prSet/>
      <dgm:spPr/>
      <dgm:t>
        <a:bodyPr/>
        <a:lstStyle/>
        <a:p>
          <a:endParaRPr lang="pt-BR"/>
        </a:p>
      </dgm:t>
    </dgm:pt>
    <dgm:pt modelId="{98E33676-350C-4B66-AD50-46491E2803B1}">
      <dgm:prSet phldrT="[Texto]"/>
      <dgm:spPr/>
      <dgm:t>
        <a:bodyPr/>
        <a:lstStyle/>
        <a:p>
          <a:r>
            <a:rPr lang="pt-BR" dirty="0"/>
            <a:t>Efeito imunomodulador</a:t>
          </a:r>
        </a:p>
      </dgm:t>
    </dgm:pt>
    <dgm:pt modelId="{EC2D5914-034F-422B-9021-E650A792296E}" type="parTrans" cxnId="{DC56E4A0-9FBE-4849-9F01-6A0B4253BD2F}">
      <dgm:prSet/>
      <dgm:spPr/>
      <dgm:t>
        <a:bodyPr/>
        <a:lstStyle/>
        <a:p>
          <a:endParaRPr lang="pt-BR"/>
        </a:p>
      </dgm:t>
    </dgm:pt>
    <dgm:pt modelId="{297FFD9C-76C6-4742-BFD7-D686A94BB6AF}" type="sibTrans" cxnId="{DC56E4A0-9FBE-4849-9F01-6A0B4253BD2F}">
      <dgm:prSet/>
      <dgm:spPr/>
      <dgm:t>
        <a:bodyPr/>
        <a:lstStyle/>
        <a:p>
          <a:endParaRPr lang="pt-BR"/>
        </a:p>
      </dgm:t>
    </dgm:pt>
    <dgm:pt modelId="{304A6E8E-BDD0-41B4-BEA3-3176C2083EBF}">
      <dgm:prSet phldrT="[Texto]"/>
      <dgm:spPr/>
      <dgm:t>
        <a:bodyPr/>
        <a:lstStyle/>
        <a:p>
          <a:r>
            <a:rPr lang="pt-BR" dirty="0"/>
            <a:t>Usado em doenças de comprometimento do sistema imunológico </a:t>
          </a:r>
        </a:p>
      </dgm:t>
    </dgm:pt>
    <dgm:pt modelId="{7CFC6CF8-8D62-4732-8D84-3A807A5ABBC0}" type="parTrans" cxnId="{81AB875A-B6AF-4046-BEC0-083E5A44576C}">
      <dgm:prSet/>
      <dgm:spPr/>
      <dgm:t>
        <a:bodyPr/>
        <a:lstStyle/>
        <a:p>
          <a:endParaRPr lang="pt-BR"/>
        </a:p>
      </dgm:t>
    </dgm:pt>
    <dgm:pt modelId="{5A49CD4C-474E-4D15-88F9-8DDB8863A14A}" type="sibTrans" cxnId="{81AB875A-B6AF-4046-BEC0-083E5A44576C}">
      <dgm:prSet/>
      <dgm:spPr/>
      <dgm:t>
        <a:bodyPr/>
        <a:lstStyle/>
        <a:p>
          <a:endParaRPr lang="pt-BR"/>
        </a:p>
      </dgm:t>
    </dgm:pt>
    <dgm:pt modelId="{93C9F5E1-978E-402A-90A6-8C85E22F1BB2}">
      <dgm:prSet phldrT="[Texto]"/>
      <dgm:spPr/>
      <dgm:t>
        <a:bodyPr/>
        <a:lstStyle/>
        <a:p>
          <a:r>
            <a:rPr lang="pt-BR" dirty="0"/>
            <a:t>Doses medias </a:t>
          </a:r>
        </a:p>
      </dgm:t>
    </dgm:pt>
    <dgm:pt modelId="{86444B51-E234-4FD4-8DAD-221ED6DEA299}" type="parTrans" cxnId="{8ACE6EDE-26B3-463E-82FA-B6E11C3C94B7}">
      <dgm:prSet/>
      <dgm:spPr/>
      <dgm:t>
        <a:bodyPr/>
        <a:lstStyle/>
        <a:p>
          <a:endParaRPr lang="pt-BR"/>
        </a:p>
      </dgm:t>
    </dgm:pt>
    <dgm:pt modelId="{51C54CCC-F1B5-4FD8-84AF-983AA07953BD}" type="sibTrans" cxnId="{8ACE6EDE-26B3-463E-82FA-B6E11C3C94B7}">
      <dgm:prSet/>
      <dgm:spPr/>
      <dgm:t>
        <a:bodyPr/>
        <a:lstStyle/>
        <a:p>
          <a:endParaRPr lang="pt-BR"/>
        </a:p>
      </dgm:t>
    </dgm:pt>
    <dgm:pt modelId="{A6ADC378-E64B-48C1-899D-9D1F43247CD7}">
      <dgm:prSet phldrT="[Texto]"/>
      <dgm:spPr/>
      <dgm:t>
        <a:bodyPr/>
        <a:lstStyle/>
        <a:p>
          <a:r>
            <a:rPr lang="pt-BR" dirty="0"/>
            <a:t>Imunomoduladores e estimuladores do sistema enzimático de defesa antioxidante, ou doenças crônico degenerativas </a:t>
          </a:r>
        </a:p>
      </dgm:t>
    </dgm:pt>
    <dgm:pt modelId="{865DD8A1-694E-49B3-A09A-DADE43F46872}" type="parTrans" cxnId="{01D8A6A7-8ECC-4D79-9C74-2D6F30FFEA65}">
      <dgm:prSet/>
      <dgm:spPr/>
      <dgm:t>
        <a:bodyPr/>
        <a:lstStyle/>
        <a:p>
          <a:endParaRPr lang="pt-BR"/>
        </a:p>
      </dgm:t>
    </dgm:pt>
    <dgm:pt modelId="{5C645330-2E07-43C5-B05A-B71D7C1FC0E8}" type="sibTrans" cxnId="{01D8A6A7-8ECC-4D79-9C74-2D6F30FFEA65}">
      <dgm:prSet/>
      <dgm:spPr/>
      <dgm:t>
        <a:bodyPr/>
        <a:lstStyle/>
        <a:p>
          <a:endParaRPr lang="pt-BR"/>
        </a:p>
      </dgm:t>
    </dgm:pt>
    <dgm:pt modelId="{8E9428EE-B0CE-47EF-9E3F-6937E30832EB}">
      <dgm:prSet phldrT="[Texto]"/>
      <dgm:spPr/>
      <dgm:t>
        <a:bodyPr/>
        <a:lstStyle/>
        <a:p>
          <a:r>
            <a:rPr lang="pt-BR" dirty="0"/>
            <a:t>Diabetes, arteriosclerose, DPOC, Parkinson, Alzheimer, demência senil</a:t>
          </a:r>
        </a:p>
      </dgm:t>
    </dgm:pt>
    <dgm:pt modelId="{BE55A341-AC1E-446D-92B6-B9C7D23F4CCD}" type="parTrans" cxnId="{BE3DCA1F-1F7C-4E0E-A741-9D5B4447DE79}">
      <dgm:prSet/>
      <dgm:spPr/>
      <dgm:t>
        <a:bodyPr/>
        <a:lstStyle/>
        <a:p>
          <a:endParaRPr lang="pt-BR"/>
        </a:p>
      </dgm:t>
    </dgm:pt>
    <dgm:pt modelId="{B5B7785E-0871-4A88-BF35-CD8365EA4BE0}" type="sibTrans" cxnId="{BE3DCA1F-1F7C-4E0E-A741-9D5B4447DE79}">
      <dgm:prSet/>
      <dgm:spPr/>
      <dgm:t>
        <a:bodyPr/>
        <a:lstStyle/>
        <a:p>
          <a:endParaRPr lang="pt-BR"/>
        </a:p>
      </dgm:t>
    </dgm:pt>
    <dgm:pt modelId="{E5E8F9B0-02B5-4B49-9B3D-22414E597B43}">
      <dgm:prSet phldrT="[Texto]"/>
      <dgm:spPr/>
      <dgm:t>
        <a:bodyPr/>
        <a:lstStyle/>
        <a:p>
          <a:r>
            <a:rPr lang="pt-BR" dirty="0"/>
            <a:t>Doses altas</a:t>
          </a:r>
        </a:p>
      </dgm:t>
    </dgm:pt>
    <dgm:pt modelId="{0B5C3C8C-9F1F-44A6-8E92-07F3808075DB}" type="parTrans" cxnId="{EC3D094A-9E1D-4DA3-A07B-80EA27A44904}">
      <dgm:prSet/>
      <dgm:spPr/>
      <dgm:t>
        <a:bodyPr/>
        <a:lstStyle/>
        <a:p>
          <a:endParaRPr lang="pt-BR"/>
        </a:p>
      </dgm:t>
    </dgm:pt>
    <dgm:pt modelId="{592CFF0F-21DE-4F33-9FEB-3CDD6C698562}" type="sibTrans" cxnId="{EC3D094A-9E1D-4DA3-A07B-80EA27A44904}">
      <dgm:prSet/>
      <dgm:spPr/>
      <dgm:t>
        <a:bodyPr/>
        <a:lstStyle/>
        <a:p>
          <a:endParaRPr lang="pt-BR"/>
        </a:p>
      </dgm:t>
    </dgm:pt>
    <dgm:pt modelId="{C910312B-5C87-4538-BD8B-81DA232C3347}">
      <dgm:prSet phldrT="[Texto]"/>
      <dgm:spPr/>
      <dgm:t>
        <a:bodyPr/>
        <a:lstStyle/>
        <a:p>
          <a:r>
            <a:rPr lang="pt-BR" dirty="0"/>
            <a:t>Ulceras e feridas infectadas</a:t>
          </a:r>
        </a:p>
      </dgm:t>
    </dgm:pt>
    <dgm:pt modelId="{0D0A9CB8-BE0A-4F0B-8D8F-5C8FC29ED262}" type="parTrans" cxnId="{D8AA90F4-F332-429C-9A1C-8F5ADCC4C175}">
      <dgm:prSet/>
      <dgm:spPr/>
      <dgm:t>
        <a:bodyPr/>
        <a:lstStyle/>
        <a:p>
          <a:endParaRPr lang="pt-BR"/>
        </a:p>
      </dgm:t>
    </dgm:pt>
    <dgm:pt modelId="{7BF971DC-ADD6-4498-BDC6-C638F96E2F69}" type="sibTrans" cxnId="{D8AA90F4-F332-429C-9A1C-8F5ADCC4C175}">
      <dgm:prSet/>
      <dgm:spPr/>
      <dgm:t>
        <a:bodyPr/>
        <a:lstStyle/>
        <a:p>
          <a:endParaRPr lang="pt-BR"/>
        </a:p>
      </dgm:t>
    </dgm:pt>
    <dgm:pt modelId="{AAEF667A-25E8-4298-B352-3FF1AC0B047D}">
      <dgm:prSet phldrT="[Texto]"/>
      <dgm:spPr/>
      <dgm:t>
        <a:bodyPr/>
        <a:lstStyle/>
        <a:p>
          <a:r>
            <a:rPr lang="pt-BR" dirty="0"/>
            <a:t>Para ozonizar óleos e agua </a:t>
          </a:r>
        </a:p>
      </dgm:t>
    </dgm:pt>
    <dgm:pt modelId="{E3F3BB63-4F1F-4983-A52C-234167769939}" type="parTrans" cxnId="{DA10941B-36D4-453F-8EA4-DCCCE6526BAC}">
      <dgm:prSet/>
      <dgm:spPr/>
      <dgm:t>
        <a:bodyPr/>
        <a:lstStyle/>
        <a:p>
          <a:endParaRPr lang="pt-BR"/>
        </a:p>
      </dgm:t>
    </dgm:pt>
    <dgm:pt modelId="{5E27FC58-2836-4800-99C4-240B0AC40F33}" type="sibTrans" cxnId="{DA10941B-36D4-453F-8EA4-DCCCE6526BAC}">
      <dgm:prSet/>
      <dgm:spPr/>
      <dgm:t>
        <a:bodyPr/>
        <a:lstStyle/>
        <a:p>
          <a:endParaRPr lang="pt-BR"/>
        </a:p>
      </dgm:t>
    </dgm:pt>
    <dgm:pt modelId="{0D78593A-B906-4EE5-AD64-E38C647BD35A}" type="pres">
      <dgm:prSet presAssocID="{448B287A-0897-403D-B03C-3706F2995EC3}" presName="Name0" presStyleCnt="0">
        <dgm:presLayoutVars>
          <dgm:dir/>
          <dgm:animLvl val="lvl"/>
          <dgm:resizeHandles val="exact"/>
        </dgm:presLayoutVars>
      </dgm:prSet>
      <dgm:spPr/>
    </dgm:pt>
    <dgm:pt modelId="{9455D880-02DF-4691-8657-A648D00995B8}" type="pres">
      <dgm:prSet presAssocID="{0152F62A-8BCA-4D96-A3B2-92BF3705E90A}" presName="linNode" presStyleCnt="0"/>
      <dgm:spPr/>
    </dgm:pt>
    <dgm:pt modelId="{D051EA85-2FC4-414B-A523-D212436BF593}" type="pres">
      <dgm:prSet presAssocID="{0152F62A-8BCA-4D96-A3B2-92BF3705E90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769BE35-6DFA-49BA-9DFD-BACC873E1098}" type="pres">
      <dgm:prSet presAssocID="{0152F62A-8BCA-4D96-A3B2-92BF3705E90A}" presName="descendantText" presStyleLbl="alignAccFollowNode1" presStyleIdx="0" presStyleCnt="3" custScaleY="92156">
        <dgm:presLayoutVars>
          <dgm:bulletEnabled val="1"/>
        </dgm:presLayoutVars>
      </dgm:prSet>
      <dgm:spPr/>
    </dgm:pt>
    <dgm:pt modelId="{E213754F-D1C8-49A3-B17C-BD89A575E31F}" type="pres">
      <dgm:prSet presAssocID="{7A036FD6-070A-4E33-B94C-05403412E937}" presName="sp" presStyleCnt="0"/>
      <dgm:spPr/>
    </dgm:pt>
    <dgm:pt modelId="{B0B0D843-5FF3-487F-81AF-AA1077001B2C}" type="pres">
      <dgm:prSet presAssocID="{93C9F5E1-978E-402A-90A6-8C85E22F1BB2}" presName="linNode" presStyleCnt="0"/>
      <dgm:spPr/>
    </dgm:pt>
    <dgm:pt modelId="{415222B1-06AC-4CC6-BA9B-D5376963CAD5}" type="pres">
      <dgm:prSet presAssocID="{93C9F5E1-978E-402A-90A6-8C85E22F1BB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CF32188-78D4-4D48-93B8-D2F1DD971A26}" type="pres">
      <dgm:prSet presAssocID="{93C9F5E1-978E-402A-90A6-8C85E22F1BB2}" presName="descendantText" presStyleLbl="alignAccFollowNode1" presStyleIdx="1" presStyleCnt="3">
        <dgm:presLayoutVars>
          <dgm:bulletEnabled val="1"/>
        </dgm:presLayoutVars>
      </dgm:prSet>
      <dgm:spPr/>
    </dgm:pt>
    <dgm:pt modelId="{23DBAB2B-B192-4E72-9A64-C91B5AFBD556}" type="pres">
      <dgm:prSet presAssocID="{51C54CCC-F1B5-4FD8-84AF-983AA07953BD}" presName="sp" presStyleCnt="0"/>
      <dgm:spPr/>
    </dgm:pt>
    <dgm:pt modelId="{629DACB8-9969-42BA-ABB8-F5F273432F30}" type="pres">
      <dgm:prSet presAssocID="{E5E8F9B0-02B5-4B49-9B3D-22414E597B43}" presName="linNode" presStyleCnt="0"/>
      <dgm:spPr/>
    </dgm:pt>
    <dgm:pt modelId="{0BEF3D33-9DE9-47C7-AF08-CF9DBC20BE65}" type="pres">
      <dgm:prSet presAssocID="{E5E8F9B0-02B5-4B49-9B3D-22414E597B4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8EF1E0D-8A12-4B88-956F-BF6380F3296B}" type="pres">
      <dgm:prSet presAssocID="{E5E8F9B0-02B5-4B49-9B3D-22414E597B4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BAA3D04-B29D-49E4-A209-2D5C59EEC4BA}" type="presOf" srcId="{93C9F5E1-978E-402A-90A6-8C85E22F1BB2}" destId="{415222B1-06AC-4CC6-BA9B-D5376963CAD5}" srcOrd="0" destOrd="0" presId="urn:microsoft.com/office/officeart/2005/8/layout/vList5"/>
    <dgm:cxn modelId="{25AE3817-4C8D-47A6-9C2D-4E550CFF6223}" type="presOf" srcId="{A6ADC378-E64B-48C1-899D-9D1F43247CD7}" destId="{0CF32188-78D4-4D48-93B8-D2F1DD971A26}" srcOrd="0" destOrd="0" presId="urn:microsoft.com/office/officeart/2005/8/layout/vList5"/>
    <dgm:cxn modelId="{DA10941B-36D4-453F-8EA4-DCCCE6526BAC}" srcId="{E5E8F9B0-02B5-4B49-9B3D-22414E597B43}" destId="{AAEF667A-25E8-4298-B352-3FF1AC0B047D}" srcOrd="1" destOrd="0" parTransId="{E3F3BB63-4F1F-4983-A52C-234167769939}" sibTransId="{5E27FC58-2836-4800-99C4-240B0AC40F33}"/>
    <dgm:cxn modelId="{BE3DCA1F-1F7C-4E0E-A741-9D5B4447DE79}" srcId="{93C9F5E1-978E-402A-90A6-8C85E22F1BB2}" destId="{8E9428EE-B0CE-47EF-9E3F-6937E30832EB}" srcOrd="1" destOrd="0" parTransId="{BE55A341-AC1E-446D-92B6-B9C7D23F4CCD}" sibTransId="{B5B7785E-0871-4A88-BF35-CD8365EA4BE0}"/>
    <dgm:cxn modelId="{5300EF27-F6F5-470B-AEB1-DDF3E042480C}" type="presOf" srcId="{304A6E8E-BDD0-41B4-BEA3-3176C2083EBF}" destId="{C769BE35-6DFA-49BA-9DFD-BACC873E1098}" srcOrd="0" destOrd="1" presId="urn:microsoft.com/office/officeart/2005/8/layout/vList5"/>
    <dgm:cxn modelId="{DED8EE67-4B0A-4225-8D1E-7DD2482567C6}" type="presOf" srcId="{0152F62A-8BCA-4D96-A3B2-92BF3705E90A}" destId="{D051EA85-2FC4-414B-A523-D212436BF593}" srcOrd="0" destOrd="0" presId="urn:microsoft.com/office/officeart/2005/8/layout/vList5"/>
    <dgm:cxn modelId="{EC3D094A-9E1D-4DA3-A07B-80EA27A44904}" srcId="{448B287A-0897-403D-B03C-3706F2995EC3}" destId="{E5E8F9B0-02B5-4B49-9B3D-22414E597B43}" srcOrd="2" destOrd="0" parTransId="{0B5C3C8C-9F1F-44A6-8E92-07F3808075DB}" sibTransId="{592CFF0F-21DE-4F33-9FEB-3CDD6C698562}"/>
    <dgm:cxn modelId="{86B3F056-9FE5-4C1C-B51E-73D6F7F5FB6F}" type="presOf" srcId="{C910312B-5C87-4538-BD8B-81DA232C3347}" destId="{98EF1E0D-8A12-4B88-956F-BF6380F3296B}" srcOrd="0" destOrd="0" presId="urn:microsoft.com/office/officeart/2005/8/layout/vList5"/>
    <dgm:cxn modelId="{81AB875A-B6AF-4046-BEC0-083E5A44576C}" srcId="{0152F62A-8BCA-4D96-A3B2-92BF3705E90A}" destId="{304A6E8E-BDD0-41B4-BEA3-3176C2083EBF}" srcOrd="1" destOrd="0" parTransId="{7CFC6CF8-8D62-4732-8D84-3A807A5ABBC0}" sibTransId="{5A49CD4C-474E-4D15-88F9-8DDB8863A14A}"/>
    <dgm:cxn modelId="{83AFF89B-BF5A-421C-9E02-6DAC7002E2A0}" type="presOf" srcId="{8E9428EE-B0CE-47EF-9E3F-6937E30832EB}" destId="{0CF32188-78D4-4D48-93B8-D2F1DD971A26}" srcOrd="0" destOrd="1" presId="urn:microsoft.com/office/officeart/2005/8/layout/vList5"/>
    <dgm:cxn modelId="{DC56E4A0-9FBE-4849-9F01-6A0B4253BD2F}" srcId="{0152F62A-8BCA-4D96-A3B2-92BF3705E90A}" destId="{98E33676-350C-4B66-AD50-46491E2803B1}" srcOrd="0" destOrd="0" parTransId="{EC2D5914-034F-422B-9021-E650A792296E}" sibTransId="{297FFD9C-76C6-4742-BFD7-D686A94BB6AF}"/>
    <dgm:cxn modelId="{01D8A6A7-8ECC-4D79-9C74-2D6F30FFEA65}" srcId="{93C9F5E1-978E-402A-90A6-8C85E22F1BB2}" destId="{A6ADC378-E64B-48C1-899D-9D1F43247CD7}" srcOrd="0" destOrd="0" parTransId="{865DD8A1-694E-49B3-A09A-DADE43F46872}" sibTransId="{5C645330-2E07-43C5-B05A-B71D7C1FC0E8}"/>
    <dgm:cxn modelId="{915094C4-2AE6-4DD4-BCAE-E60240A28002}" type="presOf" srcId="{AAEF667A-25E8-4298-B352-3FF1AC0B047D}" destId="{98EF1E0D-8A12-4B88-956F-BF6380F3296B}" srcOrd="0" destOrd="1" presId="urn:microsoft.com/office/officeart/2005/8/layout/vList5"/>
    <dgm:cxn modelId="{35D28FCF-56A7-4B80-A2D3-3819489A717C}" type="presOf" srcId="{E5E8F9B0-02B5-4B49-9B3D-22414E597B43}" destId="{0BEF3D33-9DE9-47C7-AF08-CF9DBC20BE65}" srcOrd="0" destOrd="0" presId="urn:microsoft.com/office/officeart/2005/8/layout/vList5"/>
    <dgm:cxn modelId="{3D8BECD6-96C6-4343-BB97-43E3964B5D1F}" type="presOf" srcId="{98E33676-350C-4B66-AD50-46491E2803B1}" destId="{C769BE35-6DFA-49BA-9DFD-BACC873E1098}" srcOrd="0" destOrd="0" presId="urn:microsoft.com/office/officeart/2005/8/layout/vList5"/>
    <dgm:cxn modelId="{DAA619D7-1460-4760-A2F4-BF45F5AB1191}" srcId="{448B287A-0897-403D-B03C-3706F2995EC3}" destId="{0152F62A-8BCA-4D96-A3B2-92BF3705E90A}" srcOrd="0" destOrd="0" parTransId="{3D935365-9A4F-4C12-B6BD-E60E66B24873}" sibTransId="{7A036FD6-070A-4E33-B94C-05403412E937}"/>
    <dgm:cxn modelId="{7D97D2DC-AC25-4BB6-BA9D-16B63FF5A4FC}" type="presOf" srcId="{448B287A-0897-403D-B03C-3706F2995EC3}" destId="{0D78593A-B906-4EE5-AD64-E38C647BD35A}" srcOrd="0" destOrd="0" presId="urn:microsoft.com/office/officeart/2005/8/layout/vList5"/>
    <dgm:cxn modelId="{8ACE6EDE-26B3-463E-82FA-B6E11C3C94B7}" srcId="{448B287A-0897-403D-B03C-3706F2995EC3}" destId="{93C9F5E1-978E-402A-90A6-8C85E22F1BB2}" srcOrd="1" destOrd="0" parTransId="{86444B51-E234-4FD4-8DAD-221ED6DEA299}" sibTransId="{51C54CCC-F1B5-4FD8-84AF-983AA07953BD}"/>
    <dgm:cxn modelId="{D8AA90F4-F332-429C-9A1C-8F5ADCC4C175}" srcId="{E5E8F9B0-02B5-4B49-9B3D-22414E597B43}" destId="{C910312B-5C87-4538-BD8B-81DA232C3347}" srcOrd="0" destOrd="0" parTransId="{0D0A9CB8-BE0A-4F0B-8D8F-5C8FC29ED262}" sibTransId="{7BF971DC-ADD6-4498-BDC6-C638F96E2F69}"/>
    <dgm:cxn modelId="{AAF249E5-5437-4655-8BF4-8EB5FA3407C3}" type="presParOf" srcId="{0D78593A-B906-4EE5-AD64-E38C647BD35A}" destId="{9455D880-02DF-4691-8657-A648D00995B8}" srcOrd="0" destOrd="0" presId="urn:microsoft.com/office/officeart/2005/8/layout/vList5"/>
    <dgm:cxn modelId="{D1B0DF6B-C6B4-4DC5-8904-AAA48E0D4DA9}" type="presParOf" srcId="{9455D880-02DF-4691-8657-A648D00995B8}" destId="{D051EA85-2FC4-414B-A523-D212436BF593}" srcOrd="0" destOrd="0" presId="urn:microsoft.com/office/officeart/2005/8/layout/vList5"/>
    <dgm:cxn modelId="{E7314FCB-529D-47F5-A717-01BFC5A72A85}" type="presParOf" srcId="{9455D880-02DF-4691-8657-A648D00995B8}" destId="{C769BE35-6DFA-49BA-9DFD-BACC873E1098}" srcOrd="1" destOrd="0" presId="urn:microsoft.com/office/officeart/2005/8/layout/vList5"/>
    <dgm:cxn modelId="{F535DA38-308B-4A9A-84D2-43980C1BB63E}" type="presParOf" srcId="{0D78593A-B906-4EE5-AD64-E38C647BD35A}" destId="{E213754F-D1C8-49A3-B17C-BD89A575E31F}" srcOrd="1" destOrd="0" presId="urn:microsoft.com/office/officeart/2005/8/layout/vList5"/>
    <dgm:cxn modelId="{1AC152D5-7B11-42A3-86B0-3DEB987C6181}" type="presParOf" srcId="{0D78593A-B906-4EE5-AD64-E38C647BD35A}" destId="{B0B0D843-5FF3-487F-81AF-AA1077001B2C}" srcOrd="2" destOrd="0" presId="urn:microsoft.com/office/officeart/2005/8/layout/vList5"/>
    <dgm:cxn modelId="{38E0B0E7-E11A-40AC-A51E-9B920E413E11}" type="presParOf" srcId="{B0B0D843-5FF3-487F-81AF-AA1077001B2C}" destId="{415222B1-06AC-4CC6-BA9B-D5376963CAD5}" srcOrd="0" destOrd="0" presId="urn:microsoft.com/office/officeart/2005/8/layout/vList5"/>
    <dgm:cxn modelId="{15E06DDB-878E-4EED-B6CE-2A7073250A8A}" type="presParOf" srcId="{B0B0D843-5FF3-487F-81AF-AA1077001B2C}" destId="{0CF32188-78D4-4D48-93B8-D2F1DD971A26}" srcOrd="1" destOrd="0" presId="urn:microsoft.com/office/officeart/2005/8/layout/vList5"/>
    <dgm:cxn modelId="{85842A93-D03E-40D1-9504-49DB4826E4FA}" type="presParOf" srcId="{0D78593A-B906-4EE5-AD64-E38C647BD35A}" destId="{23DBAB2B-B192-4E72-9A64-C91B5AFBD556}" srcOrd="3" destOrd="0" presId="urn:microsoft.com/office/officeart/2005/8/layout/vList5"/>
    <dgm:cxn modelId="{34FFC2DC-6EBF-4686-9620-8BEE417B60B2}" type="presParOf" srcId="{0D78593A-B906-4EE5-AD64-E38C647BD35A}" destId="{629DACB8-9969-42BA-ABB8-F5F273432F30}" srcOrd="4" destOrd="0" presId="urn:microsoft.com/office/officeart/2005/8/layout/vList5"/>
    <dgm:cxn modelId="{533A7DCE-C0CA-411F-8289-87336CD1C2F2}" type="presParOf" srcId="{629DACB8-9969-42BA-ABB8-F5F273432F30}" destId="{0BEF3D33-9DE9-47C7-AF08-CF9DBC20BE65}" srcOrd="0" destOrd="0" presId="urn:microsoft.com/office/officeart/2005/8/layout/vList5"/>
    <dgm:cxn modelId="{78DC67A5-C13F-484E-9E12-FF29BF2206E1}" type="presParOf" srcId="{629DACB8-9969-42BA-ABB8-F5F273432F30}" destId="{98EF1E0D-8A12-4B88-956F-BF6380F3296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6D0AFF-176E-40FE-8A6F-35DDE410F6D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5B1A4CC2-A9B4-408D-88FF-1B1F0657A8AB}">
      <dgm:prSet phldrT="[Texto]"/>
      <dgm:spPr/>
      <dgm:t>
        <a:bodyPr/>
        <a:lstStyle/>
        <a:p>
          <a:r>
            <a:rPr lang="pt-BR" dirty="0"/>
            <a:t>Ativação imunológica </a:t>
          </a:r>
        </a:p>
      </dgm:t>
    </dgm:pt>
    <dgm:pt modelId="{C4333116-38F4-4328-BB8C-2396F2FBCD9E}" type="parTrans" cxnId="{2DADEFA4-A5B1-43C3-90DF-93D9A6A065F2}">
      <dgm:prSet/>
      <dgm:spPr/>
      <dgm:t>
        <a:bodyPr/>
        <a:lstStyle/>
        <a:p>
          <a:endParaRPr lang="pt-BR"/>
        </a:p>
      </dgm:t>
    </dgm:pt>
    <dgm:pt modelId="{A9B72CD0-B6A1-4A00-94E2-E02257DD5CB7}" type="sibTrans" cxnId="{2DADEFA4-A5B1-43C3-90DF-93D9A6A065F2}">
      <dgm:prSet/>
      <dgm:spPr/>
      <dgm:t>
        <a:bodyPr/>
        <a:lstStyle/>
        <a:p>
          <a:endParaRPr lang="pt-BR"/>
        </a:p>
      </dgm:t>
    </dgm:pt>
    <dgm:pt modelId="{94572452-77C2-4DE8-AAC3-FCA182C614A3}">
      <dgm:prSet phldrT="[Texto]"/>
      <dgm:spPr/>
      <dgm:t>
        <a:bodyPr/>
        <a:lstStyle/>
        <a:p>
          <a:r>
            <a:rPr lang="pt-BR" dirty="0"/>
            <a:t>Vasodilatação</a:t>
          </a:r>
        </a:p>
        <a:p>
          <a:r>
            <a:rPr lang="pt-BR" dirty="0" err="1"/>
            <a:t>neoangiogenese</a:t>
          </a:r>
          <a:r>
            <a:rPr lang="pt-BR" dirty="0"/>
            <a:t> </a:t>
          </a:r>
        </a:p>
      </dgm:t>
    </dgm:pt>
    <dgm:pt modelId="{F769A4F5-93DA-4C9B-B4AC-DA0812D6F818}" type="parTrans" cxnId="{3EE05832-3D1F-4EC3-AE04-C0469787A663}">
      <dgm:prSet/>
      <dgm:spPr/>
      <dgm:t>
        <a:bodyPr/>
        <a:lstStyle/>
        <a:p>
          <a:endParaRPr lang="pt-BR"/>
        </a:p>
      </dgm:t>
    </dgm:pt>
    <dgm:pt modelId="{9DA9680F-DF15-4F92-A9EB-D369B789782F}" type="sibTrans" cxnId="{3EE05832-3D1F-4EC3-AE04-C0469787A663}">
      <dgm:prSet/>
      <dgm:spPr/>
      <dgm:t>
        <a:bodyPr/>
        <a:lstStyle/>
        <a:p>
          <a:endParaRPr lang="pt-BR"/>
        </a:p>
      </dgm:t>
    </dgm:pt>
    <dgm:pt modelId="{8E199432-4EF3-470C-B699-069364D98EF8}">
      <dgm:prSet phldrT="[Texto]"/>
      <dgm:spPr/>
      <dgm:t>
        <a:bodyPr/>
        <a:lstStyle/>
        <a:p>
          <a:r>
            <a:rPr lang="pt-BR" dirty="0"/>
            <a:t>Estimula cicatrização  </a:t>
          </a:r>
        </a:p>
      </dgm:t>
    </dgm:pt>
    <dgm:pt modelId="{3548CF19-E558-4745-BCAA-7DF6CC963C8A}" type="parTrans" cxnId="{68F098EC-E7F6-46E8-B35B-F51374907A8B}">
      <dgm:prSet/>
      <dgm:spPr/>
      <dgm:t>
        <a:bodyPr/>
        <a:lstStyle/>
        <a:p>
          <a:endParaRPr lang="pt-BR"/>
        </a:p>
      </dgm:t>
    </dgm:pt>
    <dgm:pt modelId="{E851756A-CA88-4C7A-8AD8-39F8BCBA81E3}" type="sibTrans" cxnId="{68F098EC-E7F6-46E8-B35B-F51374907A8B}">
      <dgm:prSet/>
      <dgm:spPr/>
      <dgm:t>
        <a:bodyPr/>
        <a:lstStyle/>
        <a:p>
          <a:endParaRPr lang="pt-BR"/>
        </a:p>
      </dgm:t>
    </dgm:pt>
    <dgm:pt modelId="{C46A04D8-6FFF-436F-9A45-88E3A3A96657}" type="pres">
      <dgm:prSet presAssocID="{1B6D0AFF-176E-40FE-8A6F-35DDE410F6D4}" presName="CompostProcess" presStyleCnt="0">
        <dgm:presLayoutVars>
          <dgm:dir/>
          <dgm:resizeHandles val="exact"/>
        </dgm:presLayoutVars>
      </dgm:prSet>
      <dgm:spPr/>
    </dgm:pt>
    <dgm:pt modelId="{4C77A36F-2AE1-49E8-B965-2F605D19A67F}" type="pres">
      <dgm:prSet presAssocID="{1B6D0AFF-176E-40FE-8A6F-35DDE410F6D4}" presName="arrow" presStyleLbl="bgShp" presStyleIdx="0" presStyleCnt="1"/>
      <dgm:spPr/>
    </dgm:pt>
    <dgm:pt modelId="{43591B4E-3699-4A16-B005-A09DE1D38592}" type="pres">
      <dgm:prSet presAssocID="{1B6D0AFF-176E-40FE-8A6F-35DDE410F6D4}" presName="linearProcess" presStyleCnt="0"/>
      <dgm:spPr/>
    </dgm:pt>
    <dgm:pt modelId="{513261D7-2AB0-4B87-8AE4-BB38B9548918}" type="pres">
      <dgm:prSet presAssocID="{5B1A4CC2-A9B4-408D-88FF-1B1F0657A8AB}" presName="textNode" presStyleLbl="node1" presStyleIdx="0" presStyleCnt="3">
        <dgm:presLayoutVars>
          <dgm:bulletEnabled val="1"/>
        </dgm:presLayoutVars>
      </dgm:prSet>
      <dgm:spPr/>
    </dgm:pt>
    <dgm:pt modelId="{AA982FB7-A1D5-4BDE-9FE8-ABF14E7117E7}" type="pres">
      <dgm:prSet presAssocID="{A9B72CD0-B6A1-4A00-94E2-E02257DD5CB7}" presName="sibTrans" presStyleCnt="0"/>
      <dgm:spPr/>
    </dgm:pt>
    <dgm:pt modelId="{E49D49DF-138F-4A51-8CC2-593AB165A1B0}" type="pres">
      <dgm:prSet presAssocID="{8E199432-4EF3-470C-B699-069364D98EF8}" presName="textNode" presStyleLbl="node1" presStyleIdx="1" presStyleCnt="3">
        <dgm:presLayoutVars>
          <dgm:bulletEnabled val="1"/>
        </dgm:presLayoutVars>
      </dgm:prSet>
      <dgm:spPr/>
    </dgm:pt>
    <dgm:pt modelId="{2D50FB33-4758-4927-90E2-0A11C98946BA}" type="pres">
      <dgm:prSet presAssocID="{E851756A-CA88-4C7A-8AD8-39F8BCBA81E3}" presName="sibTrans" presStyleCnt="0"/>
      <dgm:spPr/>
    </dgm:pt>
    <dgm:pt modelId="{AF991FE5-9119-4E66-AB14-FEEA9A4C5257}" type="pres">
      <dgm:prSet presAssocID="{94572452-77C2-4DE8-AAC3-FCA182C614A3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3EE05832-3D1F-4EC3-AE04-C0469787A663}" srcId="{1B6D0AFF-176E-40FE-8A6F-35DDE410F6D4}" destId="{94572452-77C2-4DE8-AAC3-FCA182C614A3}" srcOrd="2" destOrd="0" parTransId="{F769A4F5-93DA-4C9B-B4AC-DA0812D6F818}" sibTransId="{9DA9680F-DF15-4F92-A9EB-D369B789782F}"/>
    <dgm:cxn modelId="{B9D6CE6A-1C75-4E62-9F9A-37B31CAA5AE7}" type="presOf" srcId="{1B6D0AFF-176E-40FE-8A6F-35DDE410F6D4}" destId="{C46A04D8-6FFF-436F-9A45-88E3A3A96657}" srcOrd="0" destOrd="0" presId="urn:microsoft.com/office/officeart/2005/8/layout/hProcess9"/>
    <dgm:cxn modelId="{3837AD4C-A1C7-4C21-B77A-609E596D4745}" type="presOf" srcId="{8E199432-4EF3-470C-B699-069364D98EF8}" destId="{E49D49DF-138F-4A51-8CC2-593AB165A1B0}" srcOrd="0" destOrd="0" presId="urn:microsoft.com/office/officeart/2005/8/layout/hProcess9"/>
    <dgm:cxn modelId="{2DADEFA4-A5B1-43C3-90DF-93D9A6A065F2}" srcId="{1B6D0AFF-176E-40FE-8A6F-35DDE410F6D4}" destId="{5B1A4CC2-A9B4-408D-88FF-1B1F0657A8AB}" srcOrd="0" destOrd="0" parTransId="{C4333116-38F4-4328-BB8C-2396F2FBCD9E}" sibTransId="{A9B72CD0-B6A1-4A00-94E2-E02257DD5CB7}"/>
    <dgm:cxn modelId="{F83A28C3-0071-4B60-80A8-D221D67ACE21}" type="presOf" srcId="{94572452-77C2-4DE8-AAC3-FCA182C614A3}" destId="{AF991FE5-9119-4E66-AB14-FEEA9A4C5257}" srcOrd="0" destOrd="0" presId="urn:microsoft.com/office/officeart/2005/8/layout/hProcess9"/>
    <dgm:cxn modelId="{36F01AD2-0DA7-4553-AE47-985E51ADD2E7}" type="presOf" srcId="{5B1A4CC2-A9B4-408D-88FF-1B1F0657A8AB}" destId="{513261D7-2AB0-4B87-8AE4-BB38B9548918}" srcOrd="0" destOrd="0" presId="urn:microsoft.com/office/officeart/2005/8/layout/hProcess9"/>
    <dgm:cxn modelId="{68F098EC-E7F6-46E8-B35B-F51374907A8B}" srcId="{1B6D0AFF-176E-40FE-8A6F-35DDE410F6D4}" destId="{8E199432-4EF3-470C-B699-069364D98EF8}" srcOrd="1" destOrd="0" parTransId="{3548CF19-E558-4745-BCAA-7DF6CC963C8A}" sibTransId="{E851756A-CA88-4C7A-8AD8-39F8BCBA81E3}"/>
    <dgm:cxn modelId="{DE286B7D-94FC-4A65-B5E6-D99E1AEF4271}" type="presParOf" srcId="{C46A04D8-6FFF-436F-9A45-88E3A3A96657}" destId="{4C77A36F-2AE1-49E8-B965-2F605D19A67F}" srcOrd="0" destOrd="0" presId="urn:microsoft.com/office/officeart/2005/8/layout/hProcess9"/>
    <dgm:cxn modelId="{B94A27C8-92A6-4512-9DDF-7B64D86ACBFA}" type="presParOf" srcId="{C46A04D8-6FFF-436F-9A45-88E3A3A96657}" destId="{43591B4E-3699-4A16-B005-A09DE1D38592}" srcOrd="1" destOrd="0" presId="urn:microsoft.com/office/officeart/2005/8/layout/hProcess9"/>
    <dgm:cxn modelId="{7E7172E4-4F9C-47CD-BAC6-144D01659B5A}" type="presParOf" srcId="{43591B4E-3699-4A16-B005-A09DE1D38592}" destId="{513261D7-2AB0-4B87-8AE4-BB38B9548918}" srcOrd="0" destOrd="0" presId="urn:microsoft.com/office/officeart/2005/8/layout/hProcess9"/>
    <dgm:cxn modelId="{EE222208-42A0-455B-A4AC-1C1A4A7375BE}" type="presParOf" srcId="{43591B4E-3699-4A16-B005-A09DE1D38592}" destId="{AA982FB7-A1D5-4BDE-9FE8-ABF14E7117E7}" srcOrd="1" destOrd="0" presId="urn:microsoft.com/office/officeart/2005/8/layout/hProcess9"/>
    <dgm:cxn modelId="{BD0A7D52-190D-4AE4-B167-3C63A19BE4AE}" type="presParOf" srcId="{43591B4E-3699-4A16-B005-A09DE1D38592}" destId="{E49D49DF-138F-4A51-8CC2-593AB165A1B0}" srcOrd="2" destOrd="0" presId="urn:microsoft.com/office/officeart/2005/8/layout/hProcess9"/>
    <dgm:cxn modelId="{9F2142CD-BAFE-4A84-BBE5-3069D1B2334A}" type="presParOf" srcId="{43591B4E-3699-4A16-B005-A09DE1D38592}" destId="{2D50FB33-4758-4927-90E2-0A11C98946BA}" srcOrd="3" destOrd="0" presId="urn:microsoft.com/office/officeart/2005/8/layout/hProcess9"/>
    <dgm:cxn modelId="{663507C8-957C-479E-9189-4929C2634495}" type="presParOf" srcId="{43591B4E-3699-4A16-B005-A09DE1D38592}" destId="{AF991FE5-9119-4E66-AB14-FEEA9A4C5257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69BE35-6DFA-49BA-9DFD-BACC873E1098}">
      <dsp:nvSpPr>
        <dsp:cNvPr id="0" name=""/>
        <dsp:cNvSpPr/>
      </dsp:nvSpPr>
      <dsp:spPr>
        <a:xfrm rot="5400000">
          <a:off x="5756061" y="-2380800"/>
          <a:ext cx="736999" cy="57642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Efeito imunomodulador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Usado em doenças de comprometimento do sistema imunológico </a:t>
          </a:r>
        </a:p>
      </dsp:txBody>
      <dsp:txXfrm rot="-5400000">
        <a:off x="3242415" y="168823"/>
        <a:ext cx="5728315" cy="665045"/>
      </dsp:txXfrm>
    </dsp:sp>
    <dsp:sp modelId="{D051EA85-2FC4-414B-A523-D212436BF593}">
      <dsp:nvSpPr>
        <dsp:cNvPr id="0" name=""/>
        <dsp:cNvSpPr/>
      </dsp:nvSpPr>
      <dsp:spPr>
        <a:xfrm>
          <a:off x="0" y="1514"/>
          <a:ext cx="3242414" cy="9996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900" kern="1200" dirty="0"/>
            <a:t>Doses baixas </a:t>
          </a:r>
        </a:p>
      </dsp:txBody>
      <dsp:txXfrm>
        <a:off x="48799" y="50313"/>
        <a:ext cx="3144816" cy="902064"/>
      </dsp:txXfrm>
    </dsp:sp>
    <dsp:sp modelId="{0CF32188-78D4-4D48-93B8-D2F1DD971A26}">
      <dsp:nvSpPr>
        <dsp:cNvPr id="0" name=""/>
        <dsp:cNvSpPr/>
      </dsp:nvSpPr>
      <dsp:spPr>
        <a:xfrm rot="5400000">
          <a:off x="5724695" y="-1331154"/>
          <a:ext cx="799729" cy="57642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Imunomoduladores e estimuladores do sistema enzimático de defesa antioxidante, ou doenças crônico degenerativas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Diabetes, arteriosclerose, DPOC, Parkinson, Alzheimer, demência senil</a:t>
          </a:r>
        </a:p>
      </dsp:txBody>
      <dsp:txXfrm rot="-5400000">
        <a:off x="3242414" y="1190167"/>
        <a:ext cx="5725252" cy="721649"/>
      </dsp:txXfrm>
    </dsp:sp>
    <dsp:sp modelId="{415222B1-06AC-4CC6-BA9B-D5376963CAD5}">
      <dsp:nvSpPr>
        <dsp:cNvPr id="0" name=""/>
        <dsp:cNvSpPr/>
      </dsp:nvSpPr>
      <dsp:spPr>
        <a:xfrm>
          <a:off x="0" y="1051160"/>
          <a:ext cx="3242414" cy="9996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900" kern="1200" dirty="0"/>
            <a:t>Doses medias </a:t>
          </a:r>
        </a:p>
      </dsp:txBody>
      <dsp:txXfrm>
        <a:off x="48799" y="1099959"/>
        <a:ext cx="3144816" cy="902064"/>
      </dsp:txXfrm>
    </dsp:sp>
    <dsp:sp modelId="{98EF1E0D-8A12-4B88-956F-BF6380F3296B}">
      <dsp:nvSpPr>
        <dsp:cNvPr id="0" name=""/>
        <dsp:cNvSpPr/>
      </dsp:nvSpPr>
      <dsp:spPr>
        <a:xfrm rot="5400000">
          <a:off x="5724695" y="-281509"/>
          <a:ext cx="799729" cy="57642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Ulceras e feridas infectadas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Para ozonizar óleos e agua </a:t>
          </a:r>
        </a:p>
      </dsp:txBody>
      <dsp:txXfrm rot="-5400000">
        <a:off x="3242414" y="2239812"/>
        <a:ext cx="5725252" cy="721649"/>
      </dsp:txXfrm>
    </dsp:sp>
    <dsp:sp modelId="{0BEF3D33-9DE9-47C7-AF08-CF9DBC20BE65}">
      <dsp:nvSpPr>
        <dsp:cNvPr id="0" name=""/>
        <dsp:cNvSpPr/>
      </dsp:nvSpPr>
      <dsp:spPr>
        <a:xfrm>
          <a:off x="0" y="2100805"/>
          <a:ext cx="3242414" cy="9996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900" kern="1200" dirty="0"/>
            <a:t>Doses altas</a:t>
          </a:r>
        </a:p>
      </dsp:txBody>
      <dsp:txXfrm>
        <a:off x="48799" y="2149604"/>
        <a:ext cx="3144816" cy="9020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7A36F-2AE1-49E8-B965-2F605D19A67F}">
      <dsp:nvSpPr>
        <dsp:cNvPr id="0" name=""/>
        <dsp:cNvSpPr/>
      </dsp:nvSpPr>
      <dsp:spPr>
        <a:xfrm>
          <a:off x="877625" y="0"/>
          <a:ext cx="9946418" cy="313420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3261D7-2AB0-4B87-8AE4-BB38B9548918}">
      <dsp:nvSpPr>
        <dsp:cNvPr id="0" name=""/>
        <dsp:cNvSpPr/>
      </dsp:nvSpPr>
      <dsp:spPr>
        <a:xfrm>
          <a:off x="308540" y="940261"/>
          <a:ext cx="3510500" cy="12536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Ativação imunológica </a:t>
          </a:r>
        </a:p>
      </dsp:txBody>
      <dsp:txXfrm>
        <a:off x="369740" y="1001461"/>
        <a:ext cx="3388100" cy="1131282"/>
      </dsp:txXfrm>
    </dsp:sp>
    <dsp:sp modelId="{E49D49DF-138F-4A51-8CC2-593AB165A1B0}">
      <dsp:nvSpPr>
        <dsp:cNvPr id="0" name=""/>
        <dsp:cNvSpPr/>
      </dsp:nvSpPr>
      <dsp:spPr>
        <a:xfrm>
          <a:off x="4095584" y="940261"/>
          <a:ext cx="3510500" cy="12536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Estimula cicatrização  </a:t>
          </a:r>
        </a:p>
      </dsp:txBody>
      <dsp:txXfrm>
        <a:off x="4156784" y="1001461"/>
        <a:ext cx="3388100" cy="1131282"/>
      </dsp:txXfrm>
    </dsp:sp>
    <dsp:sp modelId="{AF991FE5-9119-4E66-AB14-FEEA9A4C5257}">
      <dsp:nvSpPr>
        <dsp:cNvPr id="0" name=""/>
        <dsp:cNvSpPr/>
      </dsp:nvSpPr>
      <dsp:spPr>
        <a:xfrm>
          <a:off x="7882628" y="940261"/>
          <a:ext cx="3510500" cy="12536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Vasodilatação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 err="1"/>
            <a:t>neoangiogenese</a:t>
          </a:r>
          <a:r>
            <a:rPr lang="pt-BR" sz="2800" kern="1200" dirty="0"/>
            <a:t> </a:t>
          </a:r>
        </a:p>
      </dsp:txBody>
      <dsp:txXfrm>
        <a:off x="7943828" y="1001461"/>
        <a:ext cx="3388100" cy="11312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1703D-2139-A9AC-091F-D51F6D16B4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OZONIOTERAPIA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77DB92-C979-EA65-FA5A-AF69199837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Prof</a:t>
            </a:r>
            <a:r>
              <a:rPr lang="pt-BR" dirty="0"/>
              <a:t> Mariana Macedo Justi </a:t>
            </a:r>
          </a:p>
        </p:txBody>
      </p:sp>
    </p:spTree>
    <p:extLst>
      <p:ext uri="{BB962C8B-B14F-4D97-AF65-F5344CB8AC3E}">
        <p14:creationId xmlns:p14="http://schemas.microsoft.com/office/powerpoint/2010/main" val="246898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7C242-AEA8-3726-F481-C96483E4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B8D5D-D573-40FD-4390-B4BD93EA3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AutoShape 2" descr="BLOG Philozon | Geradores de Ozônio">
            <a:extLst>
              <a:ext uri="{FF2B5EF4-FFF2-40B4-BE49-F238E27FC236}">
                <a16:creationId xmlns:a16="http://schemas.microsoft.com/office/drawing/2014/main" id="{263A1891-4B11-6513-E5FC-7B689BD984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2C01C00-6466-E044-A7D1-776A3365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05" y="0"/>
            <a:ext cx="122030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3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HEÇA OS BENEFÍCIOS DA OZÔNIOTERAPIA NO TRATAMENTO DE PESSOAS COM FERIDAS">
            <a:extLst>
              <a:ext uri="{FF2B5EF4-FFF2-40B4-BE49-F238E27FC236}">
                <a16:creationId xmlns:a16="http://schemas.microsoft.com/office/drawing/2014/main" id="{B20FACE4-EB17-3AE7-8CB6-64152B539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0" y="0"/>
            <a:ext cx="1216520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28893A7-E722-0B54-C34A-98224010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297CF7-AC74-7E0C-304A-6987E779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483299"/>
            <a:ext cx="7729728" cy="3101983"/>
          </a:xfrm>
        </p:spPr>
        <p:txBody>
          <a:bodyPr/>
          <a:lstStyle/>
          <a:p>
            <a:r>
              <a:rPr lang="pt-BR" sz="2000" b="1" dirty="0"/>
              <a:t>O QUE É A OZONIOTERAPIA?</a:t>
            </a:r>
          </a:p>
          <a:p>
            <a:r>
              <a:rPr lang="pt-BR" sz="2000" b="1" dirty="0"/>
              <a:t>É uma forma tri atômica do oxigênio, incolor, com odor de ar de uma tormenta de verão. </a:t>
            </a:r>
          </a:p>
          <a:p>
            <a:r>
              <a:rPr lang="pt-BR" sz="2000" b="1" dirty="0"/>
              <a:t>É utilizado oxigênio medicinal, necessita ser o mais puro possível.</a:t>
            </a:r>
          </a:p>
          <a:p>
            <a:r>
              <a:rPr lang="pt-BR" sz="2000" b="1" dirty="0"/>
              <a:t>O ozônio é um gás altamente instável se recompondo em oxigênio dependendo da concentração e temperatura. </a:t>
            </a:r>
          </a:p>
          <a:p>
            <a:r>
              <a:rPr lang="pt-BR" sz="2000" b="1" dirty="0"/>
              <a:t>A 20°C o tempo de meia vida do ozônio é de 30 min.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1111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BC897-587A-708D-32C7-FC17D8F9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B196CF-E296-45D0-EEA8-1CA5188AB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15F9C900-27A1-F806-7593-869B68194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252" y="32111"/>
            <a:ext cx="7118253" cy="681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71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80A5B-0CCA-30CE-8929-6B11C35F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AA80B8-74A2-AFCF-0428-E1803B67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30F124-409B-CE12-25BD-BEDC4EDB7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8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zonioterapia - Skin&amp;Co Clínica de Estética Integrativa">
            <a:extLst>
              <a:ext uri="{FF2B5EF4-FFF2-40B4-BE49-F238E27FC236}">
                <a16:creationId xmlns:a16="http://schemas.microsoft.com/office/drawing/2014/main" id="{2E219879-AE22-CE49-9953-F1DA26B8E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000"/>
                    </a14:imgEffect>
                    <a14:imgEffect>
                      <a14:saturation sat="67000"/>
                    </a14:imgEffect>
                    <a14:imgEffect>
                      <a14:brightnessContrast bright="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889" y="2632574"/>
            <a:ext cx="6218922" cy="414402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D1A5283-7932-C3B9-770E-B73DD9FE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D11EAE-10DF-9A54-42D2-A06687340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841" y="2632574"/>
            <a:ext cx="7729728" cy="31019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No estudo realizado por </a:t>
            </a:r>
            <a:r>
              <a:rPr lang="pt-BR" sz="2000" dirty="0" err="1"/>
              <a:t>Gregorio</a:t>
            </a:r>
            <a:r>
              <a:rPr lang="pt-BR" sz="2000" dirty="0"/>
              <a:t> Martinez Sanchez 2013, (Aspectos práticos em </a:t>
            </a:r>
            <a:r>
              <a:rPr lang="pt-BR" sz="2000" dirty="0" err="1"/>
              <a:t>ozonioterapia</a:t>
            </a:r>
            <a:r>
              <a:rPr lang="pt-BR" sz="2000" dirty="0"/>
              <a:t>), se demonstrou a importância de usar o gás nos primeiros 10 min depois de gerado, no qual 10% da dose inicial é perdida. </a:t>
            </a:r>
          </a:p>
        </p:txBody>
      </p:sp>
    </p:spTree>
    <p:extLst>
      <p:ext uri="{BB962C8B-B14F-4D97-AF65-F5344CB8AC3E}">
        <p14:creationId xmlns:p14="http://schemas.microsoft.com/office/powerpoint/2010/main" val="2496821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9A33E-FD23-DAED-C501-369BE15A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DC248A0-F530-A764-C2EE-5F1CFA5E5A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5842577"/>
              </p:ext>
            </p:extLst>
          </p:nvPr>
        </p:nvGraphicFramePr>
        <p:xfrm>
          <a:off x="2230438" y="2638425"/>
          <a:ext cx="7731124" cy="340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5562">
                  <a:extLst>
                    <a:ext uri="{9D8B030D-6E8A-4147-A177-3AD203B41FA5}">
                      <a16:colId xmlns:a16="http://schemas.microsoft.com/office/drawing/2014/main" val="435290612"/>
                    </a:ext>
                  </a:extLst>
                </a:gridCol>
                <a:gridCol w="3865562">
                  <a:extLst>
                    <a:ext uri="{9D8B030D-6E8A-4147-A177-3AD203B41FA5}">
                      <a16:colId xmlns:a16="http://schemas.microsoft.com/office/drawing/2014/main" val="34384086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CONCENTRAÇÃO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EFEITOS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118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0,1 </a:t>
                      </a:r>
                      <a:r>
                        <a:rPr lang="pt-BR" dirty="0" err="1"/>
                        <a:t>ppmv</a:t>
                      </a:r>
                      <a:r>
                        <a:rPr lang="pt-BR" dirty="0"/>
                        <a:t> (0,2mg/m3)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Lacrimejamento e irritação no trato respiratório superior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00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0,2 </a:t>
                      </a:r>
                      <a:r>
                        <a:rPr lang="pt-BR" dirty="0" err="1"/>
                        <a:t>ppmv</a:t>
                      </a:r>
                      <a:r>
                        <a:rPr lang="pt-BR" dirty="0"/>
                        <a:t> (0,2mg/m3)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Rinite, tosse, cefaleia, náuseas. Pessoas </a:t>
                      </a:r>
                      <a:r>
                        <a:rPr lang="pt-BR" dirty="0" err="1"/>
                        <a:t>pre</a:t>
                      </a:r>
                      <a:r>
                        <a:rPr lang="pt-BR" dirty="0"/>
                        <a:t> dispostas podem desenvolver asma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100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 a 5 </a:t>
                      </a:r>
                      <a:r>
                        <a:rPr lang="pt-BR" dirty="0" err="1"/>
                        <a:t>ppmv</a:t>
                      </a:r>
                      <a:r>
                        <a:rPr lang="pt-BR" dirty="0"/>
                        <a:t> (4 a 10mg/m3) 10 a 20min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Aumento de </a:t>
                      </a:r>
                      <a:r>
                        <a:rPr lang="pt-BR" dirty="0" err="1"/>
                        <a:t>dispineia</a:t>
                      </a:r>
                      <a:r>
                        <a:rPr lang="pt-BR" dirty="0"/>
                        <a:t> (falta de ar)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945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5 </a:t>
                      </a:r>
                      <a:r>
                        <a:rPr lang="pt-BR" dirty="0" err="1"/>
                        <a:t>ppmv</a:t>
                      </a:r>
                      <a:r>
                        <a:rPr lang="pt-BR" dirty="0"/>
                        <a:t> (10mg/m3) 60min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Edema agudo do pulmão e paralisia respiratória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25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10 </a:t>
                      </a:r>
                      <a:r>
                        <a:rPr lang="pt-BR" dirty="0" err="1"/>
                        <a:t>ppmv</a:t>
                      </a:r>
                      <a:r>
                        <a:rPr lang="pt-BR" dirty="0"/>
                        <a:t> (20mg/m3)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Morte em 4 horas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953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50 </a:t>
                      </a:r>
                      <a:r>
                        <a:rPr lang="pt-BR" dirty="0" err="1"/>
                        <a:t>ppmv</a:t>
                      </a:r>
                      <a:r>
                        <a:rPr lang="pt-BR" dirty="0"/>
                        <a:t> (100mg/m3)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Morte em 1 minuto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599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491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ACC6C-90EF-9181-7710-9AFFB1AD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0F5733-B76C-DDF9-76E5-A4AF5AE88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872" y="2591117"/>
            <a:ext cx="7729728" cy="31019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</a:rPr>
              <a:t>O principal risco identificado com uso de gerador de ozônio é a garantia de destruição de ozônio residual. Deve ser direcionado a um destrutor de gases, uma espécie de catalisador de gases. </a:t>
            </a:r>
          </a:p>
        </p:txBody>
      </p:sp>
      <p:pic>
        <p:nvPicPr>
          <p:cNvPr id="4098" name="Picture 2" descr="4 indicações da ozonioterapia na Estética - João Tassinary">
            <a:extLst>
              <a:ext uri="{FF2B5EF4-FFF2-40B4-BE49-F238E27FC236}">
                <a16:creationId xmlns:a16="http://schemas.microsoft.com/office/drawing/2014/main" id="{18A938E0-5A8C-6A2B-5FD8-51C303CAA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265" y="3630634"/>
            <a:ext cx="4704107" cy="310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909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51DC9A-2B5C-6A69-3787-87D61EDF7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7318A9-0B33-E05C-DDF0-4D7A75528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2779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</a:rPr>
              <a:t>O ozônio reage rapidamente com a água, salinas fisiológicas, plasma, linfa, urina...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</a:rPr>
              <a:t>Concentrações muito baixas são praticamente inúteis e concentrações muito altas podem causar um efeito negativo, elas devem causar um estresse oxidativo capaz de engatilhar resposta fisiológicas e biológicas sem toxicidade. Sendo capaz de reverter um estresse oxidativo, de envelhecimento, infecções crônicas, diabetes, aterosclerose, processos degenerativos e câncer. </a:t>
            </a:r>
          </a:p>
        </p:txBody>
      </p:sp>
    </p:spTree>
    <p:extLst>
      <p:ext uri="{BB962C8B-B14F-4D97-AF65-F5344CB8AC3E}">
        <p14:creationId xmlns:p14="http://schemas.microsoft.com/office/powerpoint/2010/main" val="1570773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EB9D3-E291-AD05-3511-530CE3CB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6D71B2-655B-F604-11E3-100E616BA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0974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FUNÇOES DO OZONIO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Modula processo inflamatório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Aumenta capacidade antioxidante por meio de enzimas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Ativa células imunocompetentes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Acelera processo de reparação tecidual, lesões e feridas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Ativa metabolismo de hemácias, melhorando a oxigenação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Aumenta níveis de ATP o que contribui para a fisiologia do rejuvenescimento e do emagrecimento. </a:t>
            </a:r>
          </a:p>
        </p:txBody>
      </p:sp>
    </p:spTree>
    <p:extLst>
      <p:ext uri="{BB962C8B-B14F-4D97-AF65-F5344CB8AC3E}">
        <p14:creationId xmlns:p14="http://schemas.microsoft.com/office/powerpoint/2010/main" val="207236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Ozonize-se » O que é a ozonioterapia? - ABOZ - Associação Brasileira de  Ozonioterapia">
            <a:extLst>
              <a:ext uri="{FF2B5EF4-FFF2-40B4-BE49-F238E27FC236}">
                <a16:creationId xmlns:a16="http://schemas.microsoft.com/office/drawing/2014/main" id="{8135236A-87F3-4084-E867-01CB1EC53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3000" contrast="-5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603" y="2386408"/>
            <a:ext cx="6513341" cy="436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C76321-9E62-BDD8-C2B6-A4979762E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5D18C8-BA4F-9F12-0CC1-791E0ABB3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34621"/>
          </a:xfrm>
        </p:spPr>
        <p:txBody>
          <a:bodyPr>
            <a:normAutofit/>
          </a:bodyPr>
          <a:lstStyle/>
          <a:p>
            <a:r>
              <a:rPr lang="pt-BR" sz="2000" dirty="0"/>
              <a:t>UTILIZAÇÕES </a:t>
            </a:r>
          </a:p>
          <a:p>
            <a:r>
              <a:rPr lang="pt-BR" sz="2000" dirty="0"/>
              <a:t>Tratamentos de queda capilar, alopecia, e oxidação</a:t>
            </a:r>
          </a:p>
          <a:p>
            <a:r>
              <a:rPr lang="pt-BR" sz="2000" dirty="0"/>
              <a:t>Baixa imunidade</a:t>
            </a:r>
          </a:p>
          <a:p>
            <a:r>
              <a:rPr lang="pt-BR" sz="2000" dirty="0"/>
              <a:t>Organismo inflamado, baixa citocinas inflamatórias </a:t>
            </a:r>
          </a:p>
          <a:p>
            <a:r>
              <a:rPr lang="pt-BR" sz="2000" dirty="0"/>
              <a:t>Lipedema </a:t>
            </a:r>
          </a:p>
          <a:p>
            <a:r>
              <a:rPr lang="pt-BR" sz="2000" dirty="0"/>
              <a:t>Envelhecimento </a:t>
            </a:r>
          </a:p>
          <a:p>
            <a:r>
              <a:rPr lang="pt-BR" sz="2000" dirty="0"/>
              <a:t>Redução de peso e medidas</a:t>
            </a:r>
          </a:p>
          <a:p>
            <a:r>
              <a:rPr lang="pt-BR" sz="2000" dirty="0"/>
              <a:t>Celulite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064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A0423-A91F-EAE5-0AF6-69518FDB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030F63-2AEE-5DDD-40EB-B923986A4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4321" y="2441096"/>
            <a:ext cx="7729728" cy="31019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</a:rPr>
              <a:t>ESTIMULA CAPACIDADE ANTIOXIDANTE DO ORGANISMO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</a:rPr>
              <a:t>Aumenta enzimas como superóxido 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tx1"/>
                </a:solidFill>
              </a:rPr>
              <a:t>dismutase SOD, catalase, glutationa 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tx1"/>
                </a:solidFill>
              </a:rPr>
              <a:t>peroxidase </a:t>
            </a:r>
            <a:r>
              <a:rPr lang="pt-BR" sz="2000" dirty="0" err="1">
                <a:solidFill>
                  <a:schemeClr val="tx1"/>
                </a:solidFill>
              </a:rPr>
              <a:t>GPx</a:t>
            </a:r>
            <a:r>
              <a:rPr lang="pt-BR" sz="2000" dirty="0">
                <a:solidFill>
                  <a:schemeClr val="tx1"/>
                </a:solidFill>
              </a:rPr>
              <a:t>, que são os sistemas 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tx1"/>
                </a:solidFill>
              </a:rPr>
              <a:t>antioxidantes e removedores de 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2000" dirty="0">
                <a:solidFill>
                  <a:schemeClr val="tx1"/>
                </a:solidFill>
              </a:rPr>
              <a:t>radicais livres. </a:t>
            </a:r>
          </a:p>
        </p:txBody>
      </p:sp>
      <p:pic>
        <p:nvPicPr>
          <p:cNvPr id="6146" name="Picture 2" descr="Por que o ozônio reage com látex mas não faz mal para o organismo? -  Philozon">
            <a:extLst>
              <a:ext uri="{FF2B5EF4-FFF2-40B4-BE49-F238E27FC236}">
                <a16:creationId xmlns:a16="http://schemas.microsoft.com/office/drawing/2014/main" id="{58C25713-C096-DE53-1B81-263715C6F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099" y="3053909"/>
            <a:ext cx="4989341" cy="3734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191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C0761-FA8C-12EE-8C13-4CD0C8A5A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0EE207-7DE2-C5DB-736D-86676BE9B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50" y="2384826"/>
            <a:ext cx="7729728" cy="310198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>
                <a:solidFill>
                  <a:schemeClr val="tx1"/>
                </a:solidFill>
              </a:rPr>
              <a:t>Com um potente efeito bactericida proporciona um ataque direto aos microrganismos realizando a oxidação do seu material biológico. Sendo que o poder bactericida do ozônio pode ser até quatro mil vezes mais rápido que do cloro (</a:t>
            </a:r>
            <a:r>
              <a:rPr lang="pt-BR" sz="2000" dirty="0" err="1">
                <a:solidFill>
                  <a:schemeClr val="tx1"/>
                </a:solidFill>
              </a:rPr>
              <a:t>Mehlman</a:t>
            </a:r>
            <a:r>
              <a:rPr lang="pt-BR" sz="2000" dirty="0">
                <a:solidFill>
                  <a:schemeClr val="tx1"/>
                </a:solidFill>
              </a:rPr>
              <a:t>; </a:t>
            </a:r>
            <a:r>
              <a:rPr lang="pt-BR" sz="2000" dirty="0" err="1">
                <a:solidFill>
                  <a:schemeClr val="tx1"/>
                </a:solidFill>
              </a:rPr>
              <a:t>Borek</a:t>
            </a:r>
            <a:r>
              <a:rPr lang="pt-BR" sz="2000" dirty="0">
                <a:solidFill>
                  <a:schemeClr val="tx1"/>
                </a:solidFill>
              </a:rPr>
              <a:t>, 1987). Após penetrar no organismo, o ozônio melhora a oxigenação celular e, melhora diretamente, o metabolismo corporal (Pino et al.1999). </a:t>
            </a:r>
          </a:p>
        </p:txBody>
      </p:sp>
      <p:pic>
        <p:nvPicPr>
          <p:cNvPr id="7170" name="Picture 2" descr="Como o ozônio age em microrganismos?">
            <a:extLst>
              <a:ext uri="{FF2B5EF4-FFF2-40B4-BE49-F238E27FC236}">
                <a16:creationId xmlns:a16="http://schemas.microsoft.com/office/drawing/2014/main" id="{D17E3DF8-05BB-D432-7B01-F1817AEA1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128" y="4743858"/>
            <a:ext cx="4397854" cy="211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4332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1A97A-8180-7A5D-B329-A51E19B49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9A3C6F-C1BB-E345-731E-794038577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194" name="Picture 2" descr="Ozônio na Desinfecção de Água e Efluentes – NaturalTec">
            <a:extLst>
              <a:ext uri="{FF2B5EF4-FFF2-40B4-BE49-F238E27FC236}">
                <a16:creationId xmlns:a16="http://schemas.microsoft.com/office/drawing/2014/main" id="{46E56D8C-70DC-A2AF-48D4-9F307F17F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5222" y="0"/>
            <a:ext cx="1236244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747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A4311-B1A6-63F5-AA3E-7FD750CF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C704EB-726D-EE0A-6142-36596DCFC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218" name="Picture 2" descr="Como o ozônio age em microrganismos?">
            <a:extLst>
              <a:ext uri="{FF2B5EF4-FFF2-40B4-BE49-F238E27FC236}">
                <a16:creationId xmlns:a16="http://schemas.microsoft.com/office/drawing/2014/main" id="{228B1787-279D-27A1-A450-EAA3CA2E2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0843"/>
            <a:ext cx="12180548" cy="586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180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04967-0547-B954-6203-C059571F8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04AB03-30E4-94D3-93E3-6B4F30684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4338" name="Picture 2" descr="Ozônio Ação sobre as células">
            <a:extLst>
              <a:ext uri="{FF2B5EF4-FFF2-40B4-BE49-F238E27FC236}">
                <a16:creationId xmlns:a16="http://schemas.microsoft.com/office/drawing/2014/main" id="{E06405E6-30CF-B515-C09A-2893F6E0F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32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FB369-4550-DEC9-FD39-E3609515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057A4D-22F5-D1C3-4ED0-53BDF8F3B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08AE8A70-CB16-F2DF-9D53-8A6F49655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9698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D1B2E-40FB-A729-65CC-AC943F75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E4FB67-5793-0D1E-3E3A-72B75C9FB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 SUA UTILIZAÇÃO: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Há vários meios utilizados para a administração de ozônio, que podem ser injetados por via subcutânea (SC), intramuscular (IM), </a:t>
            </a:r>
            <a:r>
              <a:rPr lang="pt-BR" sz="2000" dirty="0" err="1"/>
              <a:t>intradiscal</a:t>
            </a:r>
            <a:r>
              <a:rPr lang="pt-BR" sz="2000" dirty="0"/>
              <a:t>, </a:t>
            </a:r>
            <a:r>
              <a:rPr lang="pt-BR" sz="2000" dirty="0" err="1"/>
              <a:t>intracavitaria</a:t>
            </a:r>
            <a:r>
              <a:rPr lang="pt-BR" sz="2000" dirty="0"/>
              <a:t> (espaços peritonial e pleural), </a:t>
            </a:r>
            <a:r>
              <a:rPr lang="pt-BR" sz="2000" dirty="0" err="1"/>
              <a:t>intravaginal</a:t>
            </a:r>
            <a:r>
              <a:rPr lang="pt-BR" sz="2000" dirty="0"/>
              <a:t>, </a:t>
            </a:r>
            <a:r>
              <a:rPr lang="pt-BR" sz="2000" dirty="0" err="1"/>
              <a:t>intrauretral</a:t>
            </a:r>
            <a:r>
              <a:rPr lang="pt-BR" sz="2000" dirty="0"/>
              <a:t> (retal), vesical e auto-hemoterapia ozonizada (</a:t>
            </a:r>
            <a:r>
              <a:rPr lang="pt-BR" sz="2000" dirty="0" err="1"/>
              <a:t>Morette</a:t>
            </a:r>
            <a:r>
              <a:rPr lang="pt-BR" sz="2000" dirty="0"/>
              <a:t>, 2011). </a:t>
            </a:r>
          </a:p>
        </p:txBody>
      </p:sp>
    </p:spTree>
    <p:extLst>
      <p:ext uri="{BB962C8B-B14F-4D97-AF65-F5344CB8AC3E}">
        <p14:creationId xmlns:p14="http://schemas.microsoft.com/office/powerpoint/2010/main" val="271922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C81A8-EAB3-2494-5428-A9C4F61A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0BCBE7-99C9-E8CD-0881-DC0E3960A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 via sistêmica ou retal é a principal e mais eficaz via para a administração do ozônio. Onde uma mistura de ozônio e oxigênio é introduzida pelo reto e absorvida pelo intestino. Embora não muito utilizada para tratamentos estéticos. Esta via beneficia diversos problemas de saúde, como colite ulcerosa, doenças inflamatórias, intestinais, doenças autoimunes e é considerado um dos métodos mais seguros (BORDIN </a:t>
            </a:r>
            <a:r>
              <a:rPr lang="pt-BR" sz="2000" i="1" dirty="0"/>
              <a:t>et al.</a:t>
            </a:r>
            <a:r>
              <a:rPr lang="pt-BR" sz="2000" dirty="0"/>
              <a:t>, 2022).</a:t>
            </a:r>
          </a:p>
        </p:txBody>
      </p:sp>
    </p:spTree>
    <p:extLst>
      <p:ext uri="{BB962C8B-B14F-4D97-AF65-F5344CB8AC3E}">
        <p14:creationId xmlns:p14="http://schemas.microsoft.com/office/powerpoint/2010/main" val="997811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DED6E-E0E5-37B6-4FD4-DC7E4FB0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7E32D6-206E-560F-1AD8-5370A1CA1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pt-BR" sz="2000" dirty="0"/>
              <a:t>A via subcutânea (hipoderme) e a via intradérmica (derme) são muito utilizadas no tratamento estético, onde a aplicação é injetável diretamente na pele, principalmente para tratamento de celulites, gordura localizada, hipercromias, aplicação de colágeno, entre outros. (ALBANEZI, 2021; MACEDO </a:t>
            </a:r>
            <a:r>
              <a:rPr lang="pt-BR" sz="2000" i="1" dirty="0"/>
              <a:t>et al</a:t>
            </a:r>
            <a:r>
              <a:rPr lang="pt-BR" sz="2000" dirty="0"/>
              <a:t>., 2022).</a:t>
            </a:r>
          </a:p>
          <a:p>
            <a:pPr algn="just" fontAlgn="base"/>
            <a:r>
              <a:rPr lang="pt-BR" sz="2000" dirty="0"/>
              <a:t>As vias intra-articular e periarticular a aplicação é realizada nas articulações. Ela pode ocorrer tanto ao redor da lesão quanto da inflamação. Recomenda-se a aplicação nos casos de tendinite, entorses, lesões articulares agudas e reumatismo (FERREIRA </a:t>
            </a:r>
            <a:r>
              <a:rPr lang="pt-BR" sz="2000" i="1" dirty="0"/>
              <a:t>et al.</a:t>
            </a:r>
            <a:r>
              <a:rPr lang="pt-BR" sz="2000" dirty="0"/>
              <a:t>, 2021).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0886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B421D4-E74A-D80E-909C-BC4A5F356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F3BADB-8816-5409-F708-5C3595372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243" y="2553638"/>
            <a:ext cx="9144000" cy="3720553"/>
          </a:xfrm>
        </p:spPr>
        <p:txBody>
          <a:bodyPr>
            <a:noAutofit/>
          </a:bodyPr>
          <a:lstStyle/>
          <a:p>
            <a:pPr algn="just"/>
            <a:r>
              <a:rPr lang="pt-BR" sz="2000" dirty="0"/>
              <a:t>A Auto-Hemoterapia pequena ou menor retira uma pequena quantidade do sangue (aproximadamente 5 ml), ozoniza e reaplica no músculo para estimular o sistema imunológico, oxigenar o músculo e estimular a regeneração, energia e crescimento de células musculares. Já a Auto-Hemoterapia grande ou maior, consiste em retirar uma porção de sangue e tratá-la com o ozônio, sendo reinserida na veia depois. Neste caso, o ozônio reage imediatamente nos glóbulos vermelhos e brancos do sangue, bem como no plasma, ativando assim o seu metabolismo. É uma prática, mais antiga, porém atualmente, está associada ao ozônio para estimular a circulação do organismo e redução de processos inflamatórios e degenerativos, doenças arteriais, diabetes, insuficiência renal e várias doenças virais, assim como, algumas doenças de pele (LOPES, 2020; ALBANEZI, 2021).</a:t>
            </a:r>
          </a:p>
        </p:txBody>
      </p:sp>
    </p:spTree>
    <p:extLst>
      <p:ext uri="{BB962C8B-B14F-4D97-AF65-F5344CB8AC3E}">
        <p14:creationId xmlns:p14="http://schemas.microsoft.com/office/powerpoint/2010/main" val="4291922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CFF35AFA-5E79-34F8-74DD-74080AB36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552" y="1122953"/>
            <a:ext cx="3750447" cy="5814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D35577-9A87-9030-4016-0EEC9814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3307FF-4586-47A5-B286-894E654D5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25" y="2791325"/>
            <a:ext cx="7729728" cy="3101983"/>
          </a:xfrm>
        </p:spPr>
        <p:txBody>
          <a:bodyPr/>
          <a:lstStyle/>
          <a:p>
            <a:pPr algn="just" fontAlgn="base"/>
            <a:r>
              <a:rPr lang="pt-BR" sz="2000" dirty="0"/>
              <a:t>A via otológica ou auricular é indicada para enxaquecas, degenerações oculares, inflamações e infecções respiratórias, inclusive para crianças (BORDIN </a:t>
            </a:r>
            <a:r>
              <a:rPr lang="pt-BR" sz="2000" i="1" dirty="0"/>
              <a:t>et al</a:t>
            </a:r>
            <a:r>
              <a:rPr lang="pt-BR" sz="2000" dirty="0"/>
              <a:t>., 2022).</a:t>
            </a:r>
          </a:p>
          <a:p>
            <a:pPr algn="just" fontAlgn="base"/>
            <a:r>
              <a:rPr lang="pt-BR" sz="2000" dirty="0"/>
              <a:t>A via tópica é aplicada na forma de água e óleo ozonizado. Geralmente óleo de girassol ou de oliva, ambos com o efeito hidratante, anti-inflamatório, antioxidante, calmante, antimicrobiano e cicatrizante. Podendo ser utilizados em feridas, acne, infecções locais, dermatites, cicatrização pós-cirúrgica, por estimular o colágeno e a elastina (ALBANEZI, 2021).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760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FD097-B472-3C02-69D8-69299070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0A3283-6979-1664-7A92-C6A760695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1675" y="2539571"/>
            <a:ext cx="7729728" cy="3101983"/>
          </a:xfrm>
        </p:spPr>
        <p:txBody>
          <a:bodyPr>
            <a:noAutofit/>
          </a:bodyPr>
          <a:lstStyle/>
          <a:p>
            <a:pPr algn="just"/>
            <a:r>
              <a:rPr lang="pt-BR" sz="2000" dirty="0"/>
              <a:t>A via por bags ou bolsas de ozônio </a:t>
            </a:r>
          </a:p>
          <a:p>
            <a:pPr marL="0" indent="0" algn="just">
              <a:buNone/>
            </a:pPr>
            <a:r>
              <a:rPr lang="pt-BR" sz="2000" dirty="0"/>
              <a:t>(mistura de gases insuflado em bolsas </a:t>
            </a:r>
          </a:p>
          <a:p>
            <a:pPr marL="0" indent="0" algn="just">
              <a:buNone/>
            </a:pPr>
            <a:r>
              <a:rPr lang="pt-BR" sz="2000" dirty="0"/>
              <a:t>plásticas), aplicada diretamente em contato</a:t>
            </a:r>
          </a:p>
          <a:p>
            <a:pPr marL="0" indent="0" algn="just">
              <a:buNone/>
            </a:pPr>
            <a:r>
              <a:rPr lang="pt-BR" sz="2000" dirty="0"/>
              <a:t>com a área afetada para acelerar o processo </a:t>
            </a:r>
          </a:p>
          <a:p>
            <a:pPr marL="0" indent="0" algn="just">
              <a:buNone/>
            </a:pPr>
            <a:r>
              <a:rPr lang="pt-BR" sz="2000" dirty="0"/>
              <a:t>de cura de feridas, que têm uma cicatrização </a:t>
            </a:r>
          </a:p>
          <a:p>
            <a:pPr marL="0" indent="0" algn="just">
              <a:buNone/>
            </a:pPr>
            <a:r>
              <a:rPr lang="pt-BR" sz="2000" dirty="0"/>
              <a:t>mais lenta, como por exemplo em diabéticos, </a:t>
            </a:r>
          </a:p>
          <a:p>
            <a:pPr marL="0" indent="0" algn="just">
              <a:buNone/>
            </a:pPr>
            <a:r>
              <a:rPr lang="pt-BR" sz="2000" dirty="0"/>
              <a:t>em dermatites atópicas e alergias intensas </a:t>
            </a:r>
          </a:p>
          <a:p>
            <a:pPr marL="0" indent="0" algn="just">
              <a:buNone/>
            </a:pPr>
            <a:r>
              <a:rPr lang="pt-BR" sz="2000" dirty="0"/>
              <a:t>(BORDIN </a:t>
            </a:r>
            <a:r>
              <a:rPr lang="pt-BR" sz="2000" i="1" dirty="0"/>
              <a:t>et al.</a:t>
            </a:r>
            <a:r>
              <a:rPr lang="pt-BR" sz="2000" dirty="0"/>
              <a:t>,2022).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EE70CE21-2D47-01CE-9A6A-D8B539B8F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455" y="2298279"/>
            <a:ext cx="6775145" cy="4564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844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8AACD-C5BD-1AE1-A2B3-DC220EBB0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404376-AA85-0171-822B-71C10DBD6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5703" y="2638044"/>
            <a:ext cx="9501809" cy="369649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Muitos dos tratamentos estéticos baseiam-se na produção de inflamação controlada para uma resposta esperada, como estímulo de colágeno, clareamento de manchas, dentre outros. Devido esse processo já ocasionar uma certa inflamação no organismo, para que o corpo aceite bem os procedimentos, principalmente quando se trata de absorção de vitaminas, é interessante que se faça um tratamento de desinflamação do organismo, o que pode ser promovido pela aplicação do ozônio (Nesi, 2018), podendo ser uma boa escolha em protocolos de entrada, preparando o organismo para receber outros procedimentos. </a:t>
            </a:r>
          </a:p>
        </p:txBody>
      </p:sp>
    </p:spTree>
    <p:extLst>
      <p:ext uri="{BB962C8B-B14F-4D97-AF65-F5344CB8AC3E}">
        <p14:creationId xmlns:p14="http://schemas.microsoft.com/office/powerpoint/2010/main" val="3471095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CE46B-7AA3-2082-1D60-10735F03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0F05E-B051-D707-8B92-2FF5AFCE3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92418"/>
          </a:xfrm>
        </p:spPr>
        <p:txBody>
          <a:bodyPr>
            <a:normAutofit/>
          </a:bodyPr>
          <a:lstStyle/>
          <a:p>
            <a:pPr algn="just" fontAlgn="base"/>
            <a:r>
              <a:rPr lang="pt-BR" sz="2000" dirty="0"/>
              <a:t>As principais formas de administração da ozonioterapia na estética podem ser feitas de maneira tópica, através de óleos ou águas ozonizadas, inserção do ozônio ao vapor d’água, banhos de imersão (</a:t>
            </a:r>
            <a:r>
              <a:rPr lang="pt-BR" sz="2000" dirty="0" err="1"/>
              <a:t>hidrozoniotepia</a:t>
            </a:r>
            <a:r>
              <a:rPr lang="pt-BR" sz="2000" dirty="0"/>
              <a:t>), bolsas plásticas (bags), bem como por meio de aplicações por injeções (LOPEZ, 2021; LOPES, 2020).</a:t>
            </a:r>
          </a:p>
          <a:p>
            <a:pPr algn="just" fontAlgn="base"/>
            <a:r>
              <a:rPr lang="pt-BR" sz="2000" dirty="0"/>
              <a:t>Em Algumas disfunções estéticas faciais e corporais necessitam de um complemento circulatório para sua melhor resposta ao tratamento, logo, a ozonioterapia aplicada sistemicamente associada a local, pode ser um poderoso aliado no tratamento dessas disfunções clínicas (BORGES </a:t>
            </a:r>
            <a:r>
              <a:rPr lang="pt-BR" sz="2000" i="1" dirty="0"/>
              <a:t>et al</a:t>
            </a:r>
            <a:r>
              <a:rPr lang="pt-BR" sz="2000" dirty="0"/>
              <a:t>.,2021).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49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49D1C-27CE-C83C-CA06-2C5618B8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27E9B4-1EAC-89FA-7538-35628E368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959704"/>
          </a:xfrm>
        </p:spPr>
        <p:txBody>
          <a:bodyPr>
            <a:noAutofit/>
          </a:bodyPr>
          <a:lstStyle/>
          <a:p>
            <a:pPr algn="just"/>
            <a:r>
              <a:rPr lang="pt-BR" sz="2000" dirty="0"/>
              <a:t>Tendo em vista que na estética a ozonioterapia possui uma ação anti-inflamatória, atribuindo uma ação hidrofílica, ajudando na oxigenação do tecido e melhorando a circulação no local, onde as células adiposas sofrem morte celular e eliminam fluidos intersticiais estagnados (Edemas </a:t>
            </a:r>
            <a:r>
              <a:rPr lang="pt-BR" sz="2000" dirty="0" err="1"/>
              <a:t>celulíticos</a:t>
            </a:r>
            <a:r>
              <a:rPr lang="pt-BR" sz="2000" dirty="0"/>
              <a:t> crônicos) no sistema. Pode auxiliar na redução de medidas com degradação de lipídios no corpo, regulando funções dos rins, fígado e tireoide. Além de atuar contra o envelhecimento tegumentar, tratamento da acne, flacidez da pele, eliminação do </a:t>
            </a:r>
            <a:r>
              <a:rPr lang="pt-BR" sz="2000" dirty="0" err="1"/>
              <a:t>Fibro</a:t>
            </a:r>
            <a:r>
              <a:rPr lang="pt-BR" sz="2000" dirty="0"/>
              <a:t> Edema </a:t>
            </a:r>
            <a:r>
              <a:rPr lang="pt-BR" sz="2000" dirty="0" err="1"/>
              <a:t>Gelóide</a:t>
            </a:r>
            <a:r>
              <a:rPr lang="pt-BR" sz="2000" dirty="0"/>
              <a:t> (celulite), no tratamento da atrofia tegumentar (estrias), da gordura localizada, das hipercromias e queda capilar (BORGES, 2021; BORDIN </a:t>
            </a:r>
            <a:r>
              <a:rPr lang="pt-BR" sz="2000" i="1" dirty="0"/>
              <a:t>et al</a:t>
            </a:r>
            <a:r>
              <a:rPr lang="pt-BR" sz="2000" dirty="0"/>
              <a:t>., 2022).</a:t>
            </a:r>
          </a:p>
        </p:txBody>
      </p:sp>
    </p:spTree>
    <p:extLst>
      <p:ext uri="{BB962C8B-B14F-4D97-AF65-F5344CB8AC3E}">
        <p14:creationId xmlns:p14="http://schemas.microsoft.com/office/powerpoint/2010/main" val="3762992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CFF3D-0691-06DC-498B-76E24229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9F1862-75D7-729A-9D08-1CB8B6AFF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509538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O ozonioterapia capilar, é uma técnica que usa o gás ozônio para melhorar a saúde do couro cabeludo e dos fios, combatendo queda, caspa e oleosidade, fortalecendo, reparando e estimulando o crescimento, devido às suas propriedades antissépticas, anti-inflamatórias e de oxigenação, sendo eficaz para diversos problemas e potencializando outros tratamentos. Combate a queda de cabelo e estimula o crescimento, reduz caspa, oleosidade e seborreia, fortalece os fios, dando brilho, maciez e corpo ao fio, rejuvenesce e reconstrói o cabelo. </a:t>
            </a:r>
          </a:p>
          <a:p>
            <a:pPr algn="just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340963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1C561-2FEC-6B5C-AB78-DC626BFBA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890B3C-F788-F252-E624-96D8EAD46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22079"/>
          </a:xfrm>
        </p:spPr>
        <p:txBody>
          <a:bodyPr>
            <a:normAutofit/>
          </a:bodyPr>
          <a:lstStyle/>
          <a:p>
            <a:pPr algn="just"/>
            <a:r>
              <a:rPr lang="pt-BR" sz="2000" b="1" dirty="0"/>
              <a:t>CAPILAR: </a:t>
            </a:r>
          </a:p>
          <a:p>
            <a:pPr algn="just"/>
            <a:r>
              <a:rPr lang="pt-BR" sz="2000" b="1" dirty="0"/>
              <a:t>Oxigenação e nutrição</a:t>
            </a:r>
            <a:r>
              <a:rPr lang="pt-BR" sz="2000" dirty="0"/>
              <a:t>: Aumenta o oxigênio nos folículos, melhorando a circulação e transporte de nutrientes.</a:t>
            </a:r>
          </a:p>
          <a:p>
            <a:pPr algn="just"/>
            <a:r>
              <a:rPr lang="pt-BR" sz="2000" b="1" dirty="0"/>
              <a:t>Ação antimicrobiana</a:t>
            </a:r>
            <a:r>
              <a:rPr lang="pt-BR" sz="2000" dirty="0"/>
              <a:t>: Elimina bactérias e fungos, tratando infecções, caspa e dermatites.</a:t>
            </a:r>
          </a:p>
          <a:p>
            <a:pPr algn="just"/>
            <a:r>
              <a:rPr lang="pt-BR" sz="2000" b="1" dirty="0"/>
              <a:t>Reparação</a:t>
            </a:r>
            <a:r>
              <a:rPr lang="pt-BR" sz="2000" dirty="0"/>
              <a:t>: Repõe massa capilar, fortalece a estrutura do fio, reduz pontas duplas e </a:t>
            </a:r>
            <a:r>
              <a:rPr lang="pt-BR" sz="2000" dirty="0" err="1"/>
              <a:t>frizz</a:t>
            </a:r>
            <a:r>
              <a:rPr lang="pt-BR" sz="2000" dirty="0"/>
              <a:t>, ideal para cabelos danificados por química.</a:t>
            </a:r>
          </a:p>
          <a:p>
            <a:pPr algn="just"/>
            <a:r>
              <a:rPr lang="pt-BR" sz="2000" b="1" dirty="0"/>
              <a:t>Potencialização</a:t>
            </a:r>
            <a:r>
              <a:rPr lang="pt-BR" sz="2000" dirty="0"/>
              <a:t>: O vapor de ozônio abre as cutículas, facilitando a absorção de máscaras, argilas e outros ativos. 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4786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C94D9-4AA2-7C96-1843-8F67A446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A7EC86-A8B1-53D3-D0F3-63BE2D5D2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Considerando que o ozônio é um só, para alcançar os resultados esperados no tratamento de disfunções estéticas, é preciso ter conhecimento da técnica e das concentrações ideais para aplicação, assim como, do tempo de duração, a demarcação da área e a massagem pós aplicação. Somente um profissional habilitado poderá definir um protocolo de tratamento de acordo com a necessidade de cada paciente (UNIÃO, 2020; SOUZA </a:t>
            </a:r>
            <a:r>
              <a:rPr lang="pt-BR" sz="2000" i="1" dirty="0"/>
              <a:t>et al</a:t>
            </a:r>
            <a:r>
              <a:rPr lang="pt-BR" sz="2000" dirty="0"/>
              <a:t>., 2021).</a:t>
            </a:r>
          </a:p>
        </p:txBody>
      </p:sp>
    </p:spTree>
    <p:extLst>
      <p:ext uri="{BB962C8B-B14F-4D97-AF65-F5344CB8AC3E}">
        <p14:creationId xmlns:p14="http://schemas.microsoft.com/office/powerpoint/2010/main" val="2094933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9F366-A856-96BB-748A-C76A4F0A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17CC3A5-DBDD-228C-4C9A-5DDAEE8B8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2548" y="0"/>
            <a:ext cx="6006903" cy="6761395"/>
          </a:xfrm>
        </p:spPr>
      </p:pic>
    </p:spTree>
    <p:extLst>
      <p:ext uri="{BB962C8B-B14F-4D97-AF65-F5344CB8AC3E}">
        <p14:creationId xmlns:p14="http://schemas.microsoft.com/office/powerpoint/2010/main" val="33495934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69017-FED0-02E4-A2C8-7FAE34364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– doses  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2D5E1497-2774-2AC3-C151-8570EA0008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1380715"/>
              </p:ext>
            </p:extLst>
          </p:nvPr>
        </p:nvGraphicFramePr>
        <p:xfrm>
          <a:off x="2231135" y="2638044"/>
          <a:ext cx="9006707" cy="3101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68341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0C992-E61C-7C15-0856-129A0171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DE99B73E-06E9-E33E-FAFE-A657CF45B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2816541"/>
              </p:ext>
            </p:extLst>
          </p:nvPr>
        </p:nvGraphicFramePr>
        <p:xfrm>
          <a:off x="682486" y="2373382"/>
          <a:ext cx="10827028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6757">
                  <a:extLst>
                    <a:ext uri="{9D8B030D-6E8A-4147-A177-3AD203B41FA5}">
                      <a16:colId xmlns:a16="http://schemas.microsoft.com/office/drawing/2014/main" val="1606316532"/>
                    </a:ext>
                  </a:extLst>
                </a:gridCol>
                <a:gridCol w="2706757">
                  <a:extLst>
                    <a:ext uri="{9D8B030D-6E8A-4147-A177-3AD203B41FA5}">
                      <a16:colId xmlns:a16="http://schemas.microsoft.com/office/drawing/2014/main" val="278838643"/>
                    </a:ext>
                  </a:extLst>
                </a:gridCol>
                <a:gridCol w="2706757">
                  <a:extLst>
                    <a:ext uri="{9D8B030D-6E8A-4147-A177-3AD203B41FA5}">
                      <a16:colId xmlns:a16="http://schemas.microsoft.com/office/drawing/2014/main" val="2979275073"/>
                    </a:ext>
                  </a:extLst>
                </a:gridCol>
                <a:gridCol w="2706757">
                  <a:extLst>
                    <a:ext uri="{9D8B030D-6E8A-4147-A177-3AD203B41FA5}">
                      <a16:colId xmlns:a16="http://schemas.microsoft.com/office/drawing/2014/main" val="34690102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Concentração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Aplicação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Indicação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Eficácia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66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100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90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80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70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Tópica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Feridas infectadas</a:t>
                      </a:r>
                    </a:p>
                    <a:p>
                      <a:r>
                        <a:rPr lang="pt-BR" dirty="0"/>
                        <a:t>Colite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Germicida</a:t>
                      </a:r>
                    </a:p>
                    <a:p>
                      <a:r>
                        <a:rPr lang="pt-BR" dirty="0"/>
                        <a:t>Limpeza de feridas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729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60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50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Tópica ou sistêmica/ limite para o tratamento sistêmico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Retardo de cicatrização </a:t>
                      </a:r>
                    </a:p>
                    <a:p>
                      <a:r>
                        <a:rPr lang="pt-BR" dirty="0"/>
                        <a:t>Feridas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Germicida</a:t>
                      </a:r>
                    </a:p>
                    <a:p>
                      <a:r>
                        <a:rPr lang="pt-BR" dirty="0"/>
                        <a:t>Ativação do metabolismo celular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8154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40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30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20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10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Sistêmico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Desordens circulatórias/arteriais</a:t>
                      </a:r>
                    </a:p>
                    <a:p>
                      <a:r>
                        <a:rPr lang="pt-BR" dirty="0"/>
                        <a:t>Desequilíbrio imunológico </a:t>
                      </a:r>
                    </a:p>
                    <a:p>
                      <a:r>
                        <a:rPr lang="pt-BR" dirty="0"/>
                        <a:t>Revitalização e melhora da circulação 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Ativação do metabolismo de hemácias </a:t>
                      </a:r>
                    </a:p>
                    <a:p>
                      <a:r>
                        <a:rPr lang="pt-BR" dirty="0"/>
                        <a:t>Imuno modulação </a:t>
                      </a:r>
                    </a:p>
                    <a:p>
                      <a:r>
                        <a:rPr lang="pt-BR" dirty="0"/>
                        <a:t>Aumento de </a:t>
                      </a:r>
                      <a:r>
                        <a:rPr lang="pt-BR" dirty="0" err="1"/>
                        <a:t>anti</a:t>
                      </a:r>
                      <a:r>
                        <a:rPr lang="pt-BR" dirty="0"/>
                        <a:t> oxidantes e de varredores de radicais livre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403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504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17575-E3CE-FD38-C1E3-80E251E0A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endParaRPr lang="pt-BR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EB767A20-C8B4-E971-1FBB-F5FF263538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8482640"/>
              </p:ext>
            </p:extLst>
          </p:nvPr>
        </p:nvGraphicFramePr>
        <p:xfrm>
          <a:off x="1692964" y="2598668"/>
          <a:ext cx="880607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5357">
                  <a:extLst>
                    <a:ext uri="{9D8B030D-6E8A-4147-A177-3AD203B41FA5}">
                      <a16:colId xmlns:a16="http://schemas.microsoft.com/office/drawing/2014/main" val="3410776530"/>
                    </a:ext>
                  </a:extLst>
                </a:gridCol>
                <a:gridCol w="2935357">
                  <a:extLst>
                    <a:ext uri="{9D8B030D-6E8A-4147-A177-3AD203B41FA5}">
                      <a16:colId xmlns:a16="http://schemas.microsoft.com/office/drawing/2014/main" val="667372695"/>
                    </a:ext>
                  </a:extLst>
                </a:gridCol>
                <a:gridCol w="2935357">
                  <a:extLst>
                    <a:ext uri="{9D8B030D-6E8A-4147-A177-3AD203B41FA5}">
                      <a16:colId xmlns:a16="http://schemas.microsoft.com/office/drawing/2014/main" val="869859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Aplicação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Concentração ozônio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Volume de ozônio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259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TRATAMENTO SISTEMICO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444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Auto hemoterapia maior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 – 30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 (</a:t>
                      </a:r>
                      <a:r>
                        <a:rPr lang="pt-BR" dirty="0" err="1"/>
                        <a:t>max</a:t>
                      </a:r>
                      <a:r>
                        <a:rPr lang="pt-BR" dirty="0"/>
                        <a:t> 40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50 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945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Insuflação retal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 – 25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Max 300 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477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Auto hemoterapia menor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 – 20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 ml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956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TRATAMENTO TÓPICO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39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Limpeza de feridas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80 – 100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87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Cura de feridas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 – 25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833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Injeções em síndrome de 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 1 – 10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 ml – 20 ml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16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Em combinações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 – 20 </a:t>
                      </a:r>
                      <a:r>
                        <a:rPr lang="pt-BR" dirty="0" err="1"/>
                        <a:t>ug</a:t>
                      </a:r>
                      <a:r>
                        <a:rPr lang="pt-BR" dirty="0"/>
                        <a:t>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1ml – 20 ml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097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3259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C4BA7-F0BC-717F-FA8B-1002F2FC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– via retal (</a:t>
            </a:r>
            <a:r>
              <a:rPr lang="pt-BR" dirty="0" err="1"/>
              <a:t>bocci</a:t>
            </a:r>
            <a:r>
              <a:rPr lang="pt-BR" dirty="0"/>
              <a:t>) 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320218A4-2573-3B75-2361-C1C0C40010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211479"/>
              </p:ext>
            </p:extLst>
          </p:nvPr>
        </p:nvGraphicFramePr>
        <p:xfrm>
          <a:off x="2231136" y="2333625"/>
          <a:ext cx="772972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8137">
                  <a:extLst>
                    <a:ext uri="{9D8B030D-6E8A-4147-A177-3AD203B41FA5}">
                      <a16:colId xmlns:a16="http://schemas.microsoft.com/office/drawing/2014/main" val="2781237213"/>
                    </a:ext>
                  </a:extLst>
                </a:gridCol>
                <a:gridCol w="1985145">
                  <a:extLst>
                    <a:ext uri="{9D8B030D-6E8A-4147-A177-3AD203B41FA5}">
                      <a16:colId xmlns:a16="http://schemas.microsoft.com/office/drawing/2014/main" val="594508584"/>
                    </a:ext>
                  </a:extLst>
                </a:gridCol>
                <a:gridCol w="2238222">
                  <a:extLst>
                    <a:ext uri="{9D8B030D-6E8A-4147-A177-3AD203B41FA5}">
                      <a16:colId xmlns:a16="http://schemas.microsoft.com/office/drawing/2014/main" val="191523649"/>
                    </a:ext>
                  </a:extLst>
                </a:gridCol>
                <a:gridCol w="2238222">
                  <a:extLst>
                    <a:ext uri="{9D8B030D-6E8A-4147-A177-3AD203B41FA5}">
                      <a16:colId xmlns:a16="http://schemas.microsoft.com/office/drawing/2014/main" val="1196296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Semana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Concentração ozônio mcg/ml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Gás volume em 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25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 semana</a:t>
                      </a:r>
                    </a:p>
                    <a:p>
                      <a:r>
                        <a:rPr lang="pt-BR" dirty="0"/>
                        <a:t>Dose baixa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  <a:p>
                      <a:r>
                        <a:rPr lang="pt-BR" dirty="0"/>
                        <a:t>3</a:t>
                      </a:r>
                    </a:p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</a:t>
                      </a:r>
                    </a:p>
                    <a:p>
                      <a:r>
                        <a:rPr lang="pt-BR" dirty="0"/>
                        <a:t>5</a:t>
                      </a:r>
                    </a:p>
                    <a:p>
                      <a:r>
                        <a:rPr lang="pt-B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100</a:t>
                      </a:r>
                    </a:p>
                    <a:p>
                      <a:r>
                        <a:rPr lang="pt-BR" dirty="0"/>
                        <a:t>150</a:t>
                      </a:r>
                    </a:p>
                    <a:p>
                      <a:r>
                        <a:rPr lang="pt-BR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612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 semana</a:t>
                      </a:r>
                    </a:p>
                    <a:p>
                      <a:r>
                        <a:rPr lang="pt-BR" dirty="0"/>
                        <a:t>Dose media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  <a:p>
                      <a:r>
                        <a:rPr lang="pt-BR" dirty="0"/>
                        <a:t>3</a:t>
                      </a:r>
                    </a:p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  <a:p>
                      <a:r>
                        <a:rPr lang="pt-BR" dirty="0"/>
                        <a:t>10</a:t>
                      </a:r>
                    </a:p>
                    <a:p>
                      <a:r>
                        <a:rPr lang="pt-B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200</a:t>
                      </a:r>
                    </a:p>
                    <a:p>
                      <a:r>
                        <a:rPr lang="pt-BR" dirty="0"/>
                        <a:t>250</a:t>
                      </a:r>
                    </a:p>
                    <a:p>
                      <a:r>
                        <a:rPr lang="pt-BR" dirty="0"/>
                        <a:t>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39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 semana</a:t>
                      </a:r>
                    </a:p>
                    <a:p>
                      <a:r>
                        <a:rPr lang="pt-BR" dirty="0"/>
                        <a:t>Dose 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  <a:p>
                      <a:r>
                        <a:rPr lang="pt-BR" dirty="0"/>
                        <a:t>3</a:t>
                      </a:r>
                    </a:p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</a:t>
                      </a:r>
                    </a:p>
                    <a:p>
                      <a:r>
                        <a:rPr lang="pt-BR" dirty="0"/>
                        <a:t>25</a:t>
                      </a:r>
                    </a:p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300</a:t>
                      </a:r>
                    </a:p>
                    <a:p>
                      <a:r>
                        <a:rPr lang="pt-BR" dirty="0"/>
                        <a:t>350</a:t>
                      </a:r>
                    </a:p>
                    <a:p>
                      <a:r>
                        <a:rPr lang="pt-BR" dirty="0"/>
                        <a:t>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077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 semana </a:t>
                      </a:r>
                    </a:p>
                    <a:p>
                      <a:r>
                        <a:rPr lang="pt-BR" dirty="0"/>
                        <a:t>Dose alta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  <a:p>
                      <a:r>
                        <a:rPr lang="pt-BR" dirty="0"/>
                        <a:t>3</a:t>
                      </a:r>
                    </a:p>
                    <a:p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35</a:t>
                      </a:r>
                    </a:p>
                    <a:p>
                      <a:r>
                        <a:rPr lang="pt-BR" dirty="0"/>
                        <a:t>35</a:t>
                      </a:r>
                    </a:p>
                    <a:p>
                      <a:r>
                        <a:rPr lang="pt-BR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400</a:t>
                      </a:r>
                    </a:p>
                    <a:p>
                      <a:r>
                        <a:rPr lang="pt-BR" dirty="0"/>
                        <a:t>450</a:t>
                      </a:r>
                    </a:p>
                    <a:p>
                      <a:r>
                        <a:rPr lang="pt-BR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54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8810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895E0-AEFE-3A0F-8B10-C5167CAB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– protocolo cuba </a:t>
            </a: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2FC4310F-D4FC-7945-B125-708EE196C8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4669552"/>
              </p:ext>
            </p:extLst>
          </p:nvPr>
        </p:nvGraphicFramePr>
        <p:xfrm>
          <a:off x="2230438" y="2638425"/>
          <a:ext cx="773112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1125">
                  <a:extLst>
                    <a:ext uri="{9D8B030D-6E8A-4147-A177-3AD203B41FA5}">
                      <a16:colId xmlns:a16="http://schemas.microsoft.com/office/drawing/2014/main" val="3347425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Insuflação retal de ozônio – CUBA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925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 SEMANA 5 DIAS: 20 mcg/ml, 100 ml de gás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70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2 SEMANA 5 DIAS: 30 mcg/ml, 100 ml de gás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568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 SEMANA 5 DIAS: 35 mcg/ml, 150 ml de gás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273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4 SEMANA 5 DIAS: 40 mcg/ml, 200 ml de gás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096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937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1A40D-5E26-0E3B-B313-07957C6C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5A4315-039D-0E2B-6963-9B1EE9512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dirty="0"/>
              <a:t>CONTRAINDICAÇÕES </a:t>
            </a:r>
          </a:p>
          <a:p>
            <a:r>
              <a:rPr lang="pt-BR" sz="2000" dirty="0"/>
              <a:t>Deficiência absoluta da enzima glicose 6 fosfato desidrogenase (G6PD) – enzima que protege as células do corpo contra danos oxidativos</a:t>
            </a:r>
          </a:p>
          <a:p>
            <a:r>
              <a:rPr lang="pt-BR" sz="2000" dirty="0"/>
              <a:t>Favismo em função do risco de hemólise</a:t>
            </a:r>
          </a:p>
          <a:p>
            <a:r>
              <a:rPr lang="pt-BR" sz="2000" dirty="0"/>
              <a:t>Intoxicação aguda por álcool </a:t>
            </a:r>
          </a:p>
          <a:p>
            <a:r>
              <a:rPr lang="pt-BR" sz="2000" dirty="0"/>
              <a:t>Gravidez </a:t>
            </a:r>
          </a:p>
          <a:p>
            <a:r>
              <a:rPr lang="pt-BR" sz="2000" dirty="0"/>
              <a:t>Caquexia </a:t>
            </a:r>
          </a:p>
          <a:p>
            <a:r>
              <a:rPr lang="pt-BR" sz="2000" dirty="0"/>
              <a:t>Estado convulsivo </a:t>
            </a:r>
          </a:p>
          <a:p>
            <a:r>
              <a:rPr lang="pt-BR" sz="2000" dirty="0"/>
              <a:t>Alto grau de estresse oxidativo </a:t>
            </a:r>
          </a:p>
        </p:txBody>
      </p:sp>
    </p:spTree>
    <p:extLst>
      <p:ext uri="{BB962C8B-B14F-4D97-AF65-F5344CB8AC3E}">
        <p14:creationId xmlns:p14="http://schemas.microsoft.com/office/powerpoint/2010/main" val="1267101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F03133-2263-5601-A8C8-153458C92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ozonioterapia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F6AF85-3821-6083-6A49-A9A96EE07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000" dirty="0"/>
              <a:t>A literatura destaca uma série de contraindicações à aplicação da ozonioterapia, como intoxicação alcoólica aguda, problemas cardíacos, gravidez ou período de desnutrição aguda, anemia grave, miastenia grave, trombocitopenia, hipertireoidismo e insuficiência da enzima glicose-6-fosfato desidrogenase. . Além disso, é importante ressaltar que os materiais que entram em contato com o oxigênio devem ser resistentes a ele. É o caso do silicone, do vidro e do teflon devido às suas propriedades oxidantes intrínsecas (SANTIAGO,GOMES, 2019).</a:t>
            </a:r>
          </a:p>
        </p:txBody>
      </p:sp>
    </p:spTree>
    <p:extLst>
      <p:ext uri="{BB962C8B-B14F-4D97-AF65-F5344CB8AC3E}">
        <p14:creationId xmlns:p14="http://schemas.microsoft.com/office/powerpoint/2010/main" val="3970722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89103-D268-4AF2-3F96-3A16F41EC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519B79-4AC1-175C-33E5-A1D31D978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EFEITOS COLATERIAS </a:t>
            </a:r>
          </a:p>
          <a:p>
            <a:r>
              <a:rPr lang="pt-BR" sz="2000" dirty="0"/>
              <a:t>Dor da agulha</a:t>
            </a:r>
          </a:p>
          <a:p>
            <a:r>
              <a:rPr lang="pt-BR" sz="2000" dirty="0"/>
              <a:t>Sensação de queimação que dura segundos </a:t>
            </a:r>
          </a:p>
          <a:p>
            <a:r>
              <a:rPr lang="pt-BR" sz="2000" dirty="0"/>
              <a:t>Flatulências no caso do retal</a:t>
            </a:r>
          </a:p>
          <a:p>
            <a:r>
              <a:rPr lang="pt-BR" sz="2000" dirty="0"/>
              <a:t>Hipoglicemia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1942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977B4-31C3-9012-5B49-A8BC78AF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E8F52DE-F51F-80EE-61C1-8AD34E6549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876936"/>
              </p:ext>
            </p:extLst>
          </p:nvPr>
        </p:nvGraphicFramePr>
        <p:xfrm>
          <a:off x="185530" y="2153412"/>
          <a:ext cx="11701669" cy="3134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Agrupar 8">
            <a:extLst>
              <a:ext uri="{FF2B5EF4-FFF2-40B4-BE49-F238E27FC236}">
                <a16:creationId xmlns:a16="http://schemas.microsoft.com/office/drawing/2014/main" id="{F06A5788-F28D-FC58-D2CE-030C5F3A20A9}"/>
              </a:ext>
            </a:extLst>
          </p:cNvPr>
          <p:cNvGrpSpPr/>
          <p:nvPr/>
        </p:nvGrpSpPr>
        <p:grpSpPr>
          <a:xfrm>
            <a:off x="2432437" y="4660776"/>
            <a:ext cx="3510500" cy="1253682"/>
            <a:chOff x="4095584" y="940261"/>
            <a:chExt cx="3510500" cy="1253682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F7B1F3DE-FC6C-C364-384D-ADF0C3BF6096}"/>
                </a:ext>
              </a:extLst>
            </p:cNvPr>
            <p:cNvSpPr/>
            <p:nvPr/>
          </p:nvSpPr>
          <p:spPr>
            <a:xfrm>
              <a:off x="4095584" y="940261"/>
              <a:ext cx="3510500" cy="125368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1" name="Retângulo: Cantos Arredondados 4">
              <a:extLst>
                <a:ext uri="{FF2B5EF4-FFF2-40B4-BE49-F238E27FC236}">
                  <a16:creationId xmlns:a16="http://schemas.microsoft.com/office/drawing/2014/main" id="{5D0DE2FD-4A94-E616-99B1-EB480762C337}"/>
                </a:ext>
              </a:extLst>
            </p:cNvPr>
            <p:cNvSpPr txBox="1"/>
            <p:nvPr/>
          </p:nvSpPr>
          <p:spPr>
            <a:xfrm>
              <a:off x="4156784" y="1001461"/>
              <a:ext cx="3388100" cy="11312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3300" dirty="0"/>
                <a:t>Reconstrução de tecido </a:t>
              </a:r>
              <a:endParaRPr lang="pt-BR" sz="3300" kern="1200" dirty="0"/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D4E34AE-64FF-2032-6C46-069E14B9533A}"/>
              </a:ext>
            </a:extLst>
          </p:cNvPr>
          <p:cNvGrpSpPr/>
          <p:nvPr/>
        </p:nvGrpSpPr>
        <p:grpSpPr>
          <a:xfrm>
            <a:off x="6187863" y="4660776"/>
            <a:ext cx="3510500" cy="1253682"/>
            <a:chOff x="4095584" y="940261"/>
            <a:chExt cx="3510500" cy="1253682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CE1D37E7-0E78-46F2-163A-DD4B5DB07731}"/>
                </a:ext>
              </a:extLst>
            </p:cNvPr>
            <p:cNvSpPr/>
            <p:nvPr/>
          </p:nvSpPr>
          <p:spPr>
            <a:xfrm>
              <a:off x="4095584" y="940261"/>
              <a:ext cx="3510500" cy="125368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Retângulo: Cantos Arredondados 4">
              <a:extLst>
                <a:ext uri="{FF2B5EF4-FFF2-40B4-BE49-F238E27FC236}">
                  <a16:creationId xmlns:a16="http://schemas.microsoft.com/office/drawing/2014/main" id="{B6E06B08-236C-61DA-0035-D5EE36BCD727}"/>
                </a:ext>
              </a:extLst>
            </p:cNvPr>
            <p:cNvSpPr txBox="1"/>
            <p:nvPr/>
          </p:nvSpPr>
          <p:spPr>
            <a:xfrm>
              <a:off x="4156784" y="1001461"/>
              <a:ext cx="3388100" cy="11312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marL="0" lvl="0" indent="0" algn="ctr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3300" dirty="0"/>
                <a:t>Regula oxirredução </a:t>
              </a:r>
              <a:endParaRPr lang="pt-BR" sz="33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97910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BD434-9D00-C921-89C5-540AA3D5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9D53B3-4224-239D-78FF-87C7A9442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165" y="2638044"/>
            <a:ext cx="10031896" cy="374950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ATIVAÇÃO IMUNOLOGICA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Ativa </a:t>
            </a:r>
            <a:r>
              <a:rPr lang="pt-BR" sz="2000" dirty="0" err="1"/>
              <a:t>NFkB</a:t>
            </a:r>
            <a:r>
              <a:rPr lang="pt-BR" sz="2000" dirty="0"/>
              <a:t> nos linfócitos, com síntese de citocinas que replicam o estimulo pelo sistema linfático, estimulando ativação imunológica.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As células imunes requer 100x mais oxigênio quando necessitam combater patógenos.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Baixa de O2 piora na resposta imune e as tornam hospedeiras de vírus e bactérias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Melhora tecidos isquêmicos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Influencia no sistema de transporte mitocondrial otimizando o metabolismo de todas as células e protetores contra alterações mutagênicas </a:t>
            </a:r>
          </a:p>
        </p:txBody>
      </p:sp>
    </p:spTree>
    <p:extLst>
      <p:ext uri="{BB962C8B-B14F-4D97-AF65-F5344CB8AC3E}">
        <p14:creationId xmlns:p14="http://schemas.microsoft.com/office/powerpoint/2010/main" val="2535441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C8D8E-BD3B-98B0-E9B1-E5534210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8D4F54-837D-7BAD-07CD-B6BCEEA0F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ESTIMULA A CICATRIZAÇÃO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Rupturas e feridas esgotam O2  e sofrem hipoxia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O2 previne a ferida de ser infectada, induz angiogênese, diferenciação, migração e proliferação celular, síntese de colágeno e fechamento das feridas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O ozônio tem alta capacidade de estimular a restauração de tecidos e processos regenerativos melhorando a microcirculação</a:t>
            </a:r>
          </a:p>
        </p:txBody>
      </p:sp>
    </p:spTree>
    <p:extLst>
      <p:ext uri="{BB962C8B-B14F-4D97-AF65-F5344CB8AC3E}">
        <p14:creationId xmlns:p14="http://schemas.microsoft.com/office/powerpoint/2010/main" val="3935045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8965A-5363-B486-0AFE-335AAD83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078BBC-0E25-AA60-2227-784D9AE90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VASODILATAÇÃO E NEOANGIOGENESE </a:t>
            </a:r>
          </a:p>
          <a:p>
            <a:r>
              <a:rPr lang="pt-BR" sz="2000" dirty="0"/>
              <a:t>Maior vasodilatação e síntese de oxido nítrico, aumenta fluxo mais diminui a pressão arterial </a:t>
            </a:r>
          </a:p>
          <a:p>
            <a:r>
              <a:rPr lang="pt-BR" sz="2000" dirty="0"/>
              <a:t>Oxido nítrico melhora eritropoiese, mobiliza células tronco e </a:t>
            </a:r>
            <a:r>
              <a:rPr lang="pt-BR" sz="2000" dirty="0" err="1"/>
              <a:t>neoangiogenese</a:t>
            </a:r>
            <a:r>
              <a:rPr lang="pt-BR" sz="2000" dirty="0"/>
              <a:t> em áreas isquêmicas</a:t>
            </a:r>
          </a:p>
          <a:p>
            <a:r>
              <a:rPr lang="pt-BR" sz="2000" dirty="0"/>
              <a:t>Insuficientes cardíacos crônicos apresentam melhoras significativas com indução a </a:t>
            </a:r>
            <a:r>
              <a:rPr lang="pt-BR" sz="2000" dirty="0" err="1"/>
              <a:t>neoangiogenese</a:t>
            </a:r>
            <a:r>
              <a:rPr lang="pt-BR" sz="2000" dirty="0"/>
              <a:t> (mas precisa de liberação medica)</a:t>
            </a:r>
          </a:p>
        </p:txBody>
      </p:sp>
    </p:spTree>
    <p:extLst>
      <p:ext uri="{BB962C8B-B14F-4D97-AF65-F5344CB8AC3E}">
        <p14:creationId xmlns:p14="http://schemas.microsoft.com/office/powerpoint/2010/main" val="28988132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00E45-752F-1A57-87D9-CF7188DF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27A4BB-EE83-4914-A228-326427E1C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RECONSTRUÇÃO DE TECIDOS </a:t>
            </a:r>
          </a:p>
          <a:p>
            <a:r>
              <a:rPr lang="pt-BR" sz="2000" dirty="0"/>
              <a:t>Oxido nítrico pelo aumento de O3, provoca mudança homeostática da medula óssea que produz células tronco</a:t>
            </a:r>
          </a:p>
          <a:p>
            <a:r>
              <a:rPr lang="pt-BR" sz="2000" dirty="0"/>
              <a:t>As células tronco se espalham pelas redes capilares ate áreas afetadas atraídas por mecanismos </a:t>
            </a:r>
            <a:r>
              <a:rPr lang="pt-BR" sz="2000" dirty="0" err="1"/>
              <a:t>quimioativos</a:t>
            </a:r>
            <a:endParaRPr lang="pt-BR" sz="2000" dirty="0"/>
          </a:p>
          <a:p>
            <a:r>
              <a:rPr lang="pt-BR" sz="2000" dirty="0"/>
              <a:t>O reparo tissular ocorre com proliferação e diferenciação das células tronco, na presença de oxigênio e fatores de crescimento </a:t>
            </a:r>
          </a:p>
        </p:txBody>
      </p:sp>
    </p:spTree>
    <p:extLst>
      <p:ext uri="{BB962C8B-B14F-4D97-AF65-F5344CB8AC3E}">
        <p14:creationId xmlns:p14="http://schemas.microsoft.com/office/powerpoint/2010/main" val="14562589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06F79-35AB-5659-3B1E-43F340E5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8A2EBB-A9F2-24FF-4237-8B72D8120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REGULA OXIRREDUÇÃO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Ao alcançar os alvos uma pequena quantidade de metabolitos da oxidação do O3, agem como moléculas sinalizadoras de um  estresse oxidativo em andamento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Estas moléculas provocam uma regulação de enzimas antioxidantes, sendo as principais SOD, CAT, GSH, RED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000" dirty="0"/>
              <a:t>Os patógenos não produzem estas enzimas antioxidantes, e por esta razão são destruídos</a:t>
            </a:r>
          </a:p>
        </p:txBody>
      </p:sp>
    </p:spTree>
    <p:extLst>
      <p:ext uri="{BB962C8B-B14F-4D97-AF65-F5344CB8AC3E}">
        <p14:creationId xmlns:p14="http://schemas.microsoft.com/office/powerpoint/2010/main" val="14162445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0AFEAA-747E-5105-6B23-768955614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Ozonioterapia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922E52-69AF-9016-7F1F-ECEA3F0F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sz="2400" dirty="0" err="1"/>
              <a:t>Ozonioterapia</a:t>
            </a:r>
            <a:r>
              <a:rPr lang="pt-BR" sz="2400" dirty="0"/>
              <a:t> reduz o estresse oxidativo por aumentar a síntese das principais enzimas antioxidantes, e depois que ele entra no organismo retorna a sua molécula original O2. </a:t>
            </a:r>
          </a:p>
        </p:txBody>
      </p:sp>
    </p:spTree>
    <p:extLst>
      <p:ext uri="{BB962C8B-B14F-4D97-AF65-F5344CB8AC3E}">
        <p14:creationId xmlns:p14="http://schemas.microsoft.com/office/powerpoint/2010/main" val="4597039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B6288-42E1-CA69-DA74-4DA6F428D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14B699-A774-DCAD-E750-9E55D5C58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939535-8239-25CC-C531-4AD67EAF8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1" y="0"/>
            <a:ext cx="11652312" cy="686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017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75EF1-C218-DB58-9823-315F6DFC7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E7D226-59A0-5760-C0D5-9F68D4947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6386" name="Picture 2" descr="Ozonioterapia | Embella Estética Avançada">
            <a:extLst>
              <a:ext uri="{FF2B5EF4-FFF2-40B4-BE49-F238E27FC236}">
                <a16:creationId xmlns:a16="http://schemas.microsoft.com/office/drawing/2014/main" id="{505A0481-CC31-14BF-5605-3D8CCA6ADD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862" y="5862"/>
            <a:ext cx="6865033" cy="686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0308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CBB69-4131-C970-2455-2A6A53653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3420E8-C7DA-8DC7-5DF8-8CDD66158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7410" name="Picture 2" descr="Concept T.I. Ozônio Inject – VIEW – Estética 10X | Drª Joyce Rodrigues">
            <a:extLst>
              <a:ext uri="{FF2B5EF4-FFF2-40B4-BE49-F238E27FC236}">
                <a16:creationId xmlns:a16="http://schemas.microsoft.com/office/drawing/2014/main" id="{2FBFC1D3-4963-ADFF-A57F-767AC493E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426" y="548640"/>
            <a:ext cx="12241886" cy="5753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0315123"/>
      </p:ext>
    </p:extLst>
  </p:cSld>
  <p:clrMapOvr>
    <a:masterClrMapping/>
  </p:clrMapOvr>
</p:sld>
</file>

<file path=ppt/theme/theme1.xml><?xml version="1.0" encoding="utf-8"?>
<a:theme xmlns:a="http://schemas.openxmlformats.org/drawingml/2006/main" name="Pacote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TM10001115[[fn=Pacote]]</Template>
  <TotalTime>13016</TotalTime>
  <Words>2506</Words>
  <Application>Microsoft Office PowerPoint</Application>
  <PresentationFormat>Widescreen</PresentationFormat>
  <Paragraphs>270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1" baseType="lpstr">
      <vt:lpstr>Arial</vt:lpstr>
      <vt:lpstr>Gill Sans MT</vt:lpstr>
      <vt:lpstr>Pacote</vt:lpstr>
      <vt:lpstr>OZONIOTERAPIA </vt:lpstr>
      <vt:lpstr>Apresentação do PowerPoint</vt:lpstr>
      <vt:lpstr>Ozonioterapia </vt:lpstr>
      <vt:lpstr>Apresentação do PowerPoint</vt:lpstr>
      <vt:lpstr>Apresentação do PowerPoint</vt:lpstr>
      <vt:lpstr>Ozonioterapia </vt:lpstr>
      <vt:lpstr>Ozonioterapia </vt:lpstr>
      <vt:lpstr>Ozonioterapia </vt:lpstr>
      <vt:lpstr>Ozonioterapia </vt:lpstr>
      <vt:lpstr>ozonioterapia</vt:lpstr>
      <vt:lpstr>Ozonioterapia </vt:lpstr>
      <vt:lpstr>Ozonioterapia </vt:lpstr>
      <vt:lpstr>Ozonioterapia </vt:lpstr>
      <vt:lpstr>Apresentação do PowerPoint</vt:lpstr>
      <vt:lpstr>Apresentação do PowerPoint</vt:lpstr>
      <vt:lpstr>Apresentação do PowerPoint</vt:lpstr>
      <vt:lpstr>Apresentação do PowerPoint</vt:lpstr>
      <vt:lpstr>ozonioterapia</vt:lpstr>
      <vt:lpstr>Ozonioterapia</vt:lpstr>
      <vt:lpstr>ozonioterapia</vt:lpstr>
      <vt:lpstr>ozonioterapia</vt:lpstr>
      <vt:lpstr>ozonioterapia</vt:lpstr>
      <vt:lpstr>ozonioterapia</vt:lpstr>
      <vt:lpstr>Ozonioterapia </vt:lpstr>
      <vt:lpstr>ozonioterapia</vt:lpstr>
      <vt:lpstr>ozonioterapia</vt:lpstr>
      <vt:lpstr>ozonioterapia</vt:lpstr>
      <vt:lpstr>ozonioterapia</vt:lpstr>
      <vt:lpstr>ozonioterapia</vt:lpstr>
      <vt:lpstr>Apresentação do PowerPoint</vt:lpstr>
      <vt:lpstr>Ozonioterapia – doses  </vt:lpstr>
      <vt:lpstr>Ozonioterapia </vt:lpstr>
      <vt:lpstr>ozonioterapia</vt:lpstr>
      <vt:lpstr>Ozonioterapia – via retal (bocci) </vt:lpstr>
      <vt:lpstr>Ozonioterapia – protocolo cuba </vt:lpstr>
      <vt:lpstr>Ozonioterapia </vt:lpstr>
      <vt:lpstr>ozonioterapia</vt:lpstr>
      <vt:lpstr>Ozonioterapia </vt:lpstr>
      <vt:lpstr>Ozonioterapia </vt:lpstr>
      <vt:lpstr>Ozonioterapia </vt:lpstr>
      <vt:lpstr>Ozonioterapia </vt:lpstr>
      <vt:lpstr>Ozonioterapia </vt:lpstr>
      <vt:lpstr>Ozonioterapia </vt:lpstr>
      <vt:lpstr>Ozonioterapia </vt:lpstr>
      <vt:lpstr>Ozonioterapia 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OZONIOTERAPIA </dc:title>
  <dc:creator>Mariana</dc:creator>
  <cp:lastModifiedBy>mariana justi</cp:lastModifiedBy>
  <cp:revision>16</cp:revision>
  <dcterms:created xsi:type="dcterms:W3CDTF">2025-03-06T20:28:42Z</dcterms:created>
  <dcterms:modified xsi:type="dcterms:W3CDTF">2026-01-14T19:56:23Z</dcterms:modified>
</cp:coreProperties>
</file>