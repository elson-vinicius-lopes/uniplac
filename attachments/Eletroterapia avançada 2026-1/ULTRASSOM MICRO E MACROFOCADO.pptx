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90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91" r:id="rId24"/>
    <p:sldId id="279" r:id="rId25"/>
    <p:sldId id="280" r:id="rId26"/>
    <p:sldId id="281" r:id="rId27"/>
    <p:sldId id="292" r:id="rId28"/>
    <p:sldId id="293" r:id="rId29"/>
    <p:sldId id="282" r:id="rId30"/>
    <p:sldId id="294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5" r:id="rId39"/>
    <p:sldId id="296" r:id="rId40"/>
    <p:sldId id="297" r:id="rId41"/>
    <p:sldId id="298" r:id="rId42"/>
    <p:sldId id="262" r:id="rId43"/>
    <p:sldId id="301" r:id="rId44"/>
    <p:sldId id="299" r:id="rId45"/>
    <p:sldId id="300" r:id="rId46"/>
    <p:sldId id="303" r:id="rId47"/>
    <p:sldId id="263" r:id="rId4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2E8B17-58BA-41ED-AAA2-AA519527873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FB8B4E08-E9FC-4032-82ED-20469DD90E05}">
      <dgm:prSet phldrT="[Texto]"/>
      <dgm:spPr/>
      <dgm:t>
        <a:bodyPr/>
        <a:lstStyle/>
        <a:p>
          <a:r>
            <a:rPr lang="pt-BR" dirty="0"/>
            <a:t>Frequência </a:t>
          </a:r>
        </a:p>
      </dgm:t>
    </dgm:pt>
    <dgm:pt modelId="{2AF43066-6209-4804-8ED5-CCAD8162F4DB}" type="parTrans" cxnId="{3F9F141D-F6CD-4CC6-BD02-235831988332}">
      <dgm:prSet/>
      <dgm:spPr/>
      <dgm:t>
        <a:bodyPr/>
        <a:lstStyle/>
        <a:p>
          <a:endParaRPr lang="pt-BR"/>
        </a:p>
      </dgm:t>
    </dgm:pt>
    <dgm:pt modelId="{86D449E5-25DF-449F-8B4F-F89F5C4CD857}" type="sibTrans" cxnId="{3F9F141D-F6CD-4CC6-BD02-235831988332}">
      <dgm:prSet/>
      <dgm:spPr/>
      <dgm:t>
        <a:bodyPr/>
        <a:lstStyle/>
        <a:p>
          <a:endParaRPr lang="pt-BR"/>
        </a:p>
      </dgm:t>
    </dgm:pt>
    <dgm:pt modelId="{E59EA3B0-1281-4AB0-9AA5-1B76EF9BC957}">
      <dgm:prSet phldrT="[Texto]"/>
      <dgm:spPr/>
      <dgm:t>
        <a:bodyPr/>
        <a:lstStyle/>
        <a:p>
          <a:r>
            <a:rPr lang="pt-BR" dirty="0"/>
            <a:t>Absorção </a:t>
          </a:r>
        </a:p>
      </dgm:t>
    </dgm:pt>
    <dgm:pt modelId="{8B741E15-8937-4693-8A73-DC746FFA8E77}" type="parTrans" cxnId="{F0CE2E6A-CD43-4FD1-9AB7-6EB547526527}">
      <dgm:prSet/>
      <dgm:spPr/>
      <dgm:t>
        <a:bodyPr/>
        <a:lstStyle/>
        <a:p>
          <a:endParaRPr lang="pt-BR"/>
        </a:p>
      </dgm:t>
    </dgm:pt>
    <dgm:pt modelId="{AC0BEE89-D29B-4405-822D-6047C0EB6F6B}" type="sibTrans" cxnId="{F0CE2E6A-CD43-4FD1-9AB7-6EB547526527}">
      <dgm:prSet/>
      <dgm:spPr/>
      <dgm:t>
        <a:bodyPr/>
        <a:lstStyle/>
        <a:p>
          <a:endParaRPr lang="pt-BR"/>
        </a:p>
      </dgm:t>
    </dgm:pt>
    <dgm:pt modelId="{345BE417-54B7-4B43-9692-8A197D28B64B}">
      <dgm:prSet phldrT="[Texto]"/>
      <dgm:spPr/>
      <dgm:t>
        <a:bodyPr/>
        <a:lstStyle/>
        <a:p>
          <a:r>
            <a:rPr lang="pt-BR" dirty="0"/>
            <a:t>Penetração </a:t>
          </a:r>
        </a:p>
      </dgm:t>
    </dgm:pt>
    <dgm:pt modelId="{79AB0944-409B-4B89-83A7-1C7408F2455F}" type="parTrans" cxnId="{FC343414-D7F1-4130-9CE2-93E6E6CA5488}">
      <dgm:prSet/>
      <dgm:spPr/>
      <dgm:t>
        <a:bodyPr/>
        <a:lstStyle/>
        <a:p>
          <a:endParaRPr lang="pt-BR"/>
        </a:p>
      </dgm:t>
    </dgm:pt>
    <dgm:pt modelId="{3AAEED4D-AA07-4DE3-954F-5703830B535C}" type="sibTrans" cxnId="{FC343414-D7F1-4130-9CE2-93E6E6CA5488}">
      <dgm:prSet/>
      <dgm:spPr/>
      <dgm:t>
        <a:bodyPr/>
        <a:lstStyle/>
        <a:p>
          <a:endParaRPr lang="pt-BR"/>
        </a:p>
      </dgm:t>
    </dgm:pt>
    <dgm:pt modelId="{540D4C23-ADB7-42D4-90B2-76C1157CB745}" type="pres">
      <dgm:prSet presAssocID="{762E8B17-58BA-41ED-AAA2-AA5195278730}" presName="CompostProcess" presStyleCnt="0">
        <dgm:presLayoutVars>
          <dgm:dir/>
          <dgm:resizeHandles val="exact"/>
        </dgm:presLayoutVars>
      </dgm:prSet>
      <dgm:spPr/>
    </dgm:pt>
    <dgm:pt modelId="{675EA254-326D-474D-B780-1DF9CE857979}" type="pres">
      <dgm:prSet presAssocID="{762E8B17-58BA-41ED-AAA2-AA5195278730}" presName="arrow" presStyleLbl="bgShp" presStyleIdx="0" presStyleCnt="1"/>
      <dgm:spPr/>
    </dgm:pt>
    <dgm:pt modelId="{46864CA1-EB84-49B7-A94D-61F15234B0B4}" type="pres">
      <dgm:prSet presAssocID="{762E8B17-58BA-41ED-AAA2-AA5195278730}" presName="linearProcess" presStyleCnt="0"/>
      <dgm:spPr/>
    </dgm:pt>
    <dgm:pt modelId="{272A2463-2514-4594-B990-52F60DD86F32}" type="pres">
      <dgm:prSet presAssocID="{FB8B4E08-E9FC-4032-82ED-20469DD90E05}" presName="textNode" presStyleLbl="node1" presStyleIdx="0" presStyleCnt="3">
        <dgm:presLayoutVars>
          <dgm:bulletEnabled val="1"/>
        </dgm:presLayoutVars>
      </dgm:prSet>
      <dgm:spPr/>
    </dgm:pt>
    <dgm:pt modelId="{B412A856-58EE-4E0D-8B14-52D44CAC294C}" type="pres">
      <dgm:prSet presAssocID="{86D449E5-25DF-449F-8B4F-F89F5C4CD857}" presName="sibTrans" presStyleCnt="0"/>
      <dgm:spPr/>
    </dgm:pt>
    <dgm:pt modelId="{972B46CF-CF0D-45B6-931E-EE87C6348DD3}" type="pres">
      <dgm:prSet presAssocID="{E59EA3B0-1281-4AB0-9AA5-1B76EF9BC957}" presName="textNode" presStyleLbl="node1" presStyleIdx="1" presStyleCnt="3">
        <dgm:presLayoutVars>
          <dgm:bulletEnabled val="1"/>
        </dgm:presLayoutVars>
      </dgm:prSet>
      <dgm:spPr/>
    </dgm:pt>
    <dgm:pt modelId="{095D2318-267C-4233-974F-6DC87DCD64C0}" type="pres">
      <dgm:prSet presAssocID="{AC0BEE89-D29B-4405-822D-6047C0EB6F6B}" presName="sibTrans" presStyleCnt="0"/>
      <dgm:spPr/>
    </dgm:pt>
    <dgm:pt modelId="{2D7DC50B-9706-40E1-AC83-B311AC126617}" type="pres">
      <dgm:prSet presAssocID="{345BE417-54B7-4B43-9692-8A197D28B64B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5BBC5213-7733-4A98-9A25-18B71790D05A}" type="presOf" srcId="{762E8B17-58BA-41ED-AAA2-AA5195278730}" destId="{540D4C23-ADB7-42D4-90B2-76C1157CB745}" srcOrd="0" destOrd="0" presId="urn:microsoft.com/office/officeart/2005/8/layout/hProcess9"/>
    <dgm:cxn modelId="{FC343414-D7F1-4130-9CE2-93E6E6CA5488}" srcId="{762E8B17-58BA-41ED-AAA2-AA5195278730}" destId="{345BE417-54B7-4B43-9692-8A197D28B64B}" srcOrd="2" destOrd="0" parTransId="{79AB0944-409B-4B89-83A7-1C7408F2455F}" sibTransId="{3AAEED4D-AA07-4DE3-954F-5703830B535C}"/>
    <dgm:cxn modelId="{3F9F141D-F6CD-4CC6-BD02-235831988332}" srcId="{762E8B17-58BA-41ED-AAA2-AA5195278730}" destId="{FB8B4E08-E9FC-4032-82ED-20469DD90E05}" srcOrd="0" destOrd="0" parTransId="{2AF43066-6209-4804-8ED5-CCAD8162F4DB}" sibTransId="{86D449E5-25DF-449F-8B4F-F89F5C4CD857}"/>
    <dgm:cxn modelId="{00F33829-EE23-4777-A1EE-C3E8B63BE5C1}" type="presOf" srcId="{E59EA3B0-1281-4AB0-9AA5-1B76EF9BC957}" destId="{972B46CF-CF0D-45B6-931E-EE87C6348DD3}" srcOrd="0" destOrd="0" presId="urn:microsoft.com/office/officeart/2005/8/layout/hProcess9"/>
    <dgm:cxn modelId="{F0CE2E6A-CD43-4FD1-9AB7-6EB547526527}" srcId="{762E8B17-58BA-41ED-AAA2-AA5195278730}" destId="{E59EA3B0-1281-4AB0-9AA5-1B76EF9BC957}" srcOrd="1" destOrd="0" parTransId="{8B741E15-8937-4693-8A73-DC746FFA8E77}" sibTransId="{AC0BEE89-D29B-4405-822D-6047C0EB6F6B}"/>
    <dgm:cxn modelId="{3BFE337B-E754-483B-A982-E80DCE775043}" type="presOf" srcId="{345BE417-54B7-4B43-9692-8A197D28B64B}" destId="{2D7DC50B-9706-40E1-AC83-B311AC126617}" srcOrd="0" destOrd="0" presId="urn:microsoft.com/office/officeart/2005/8/layout/hProcess9"/>
    <dgm:cxn modelId="{0A0C528C-7575-403F-9D6B-B41634AD7674}" type="presOf" srcId="{FB8B4E08-E9FC-4032-82ED-20469DD90E05}" destId="{272A2463-2514-4594-B990-52F60DD86F32}" srcOrd="0" destOrd="0" presId="urn:microsoft.com/office/officeart/2005/8/layout/hProcess9"/>
    <dgm:cxn modelId="{798230B7-E853-43F4-980C-36EA9A47B959}" type="presParOf" srcId="{540D4C23-ADB7-42D4-90B2-76C1157CB745}" destId="{675EA254-326D-474D-B780-1DF9CE857979}" srcOrd="0" destOrd="0" presId="urn:microsoft.com/office/officeart/2005/8/layout/hProcess9"/>
    <dgm:cxn modelId="{9AAB1970-3297-4C44-8BF3-E0310A6379D8}" type="presParOf" srcId="{540D4C23-ADB7-42D4-90B2-76C1157CB745}" destId="{46864CA1-EB84-49B7-A94D-61F15234B0B4}" srcOrd="1" destOrd="0" presId="urn:microsoft.com/office/officeart/2005/8/layout/hProcess9"/>
    <dgm:cxn modelId="{D8698A15-0ACE-4C6A-84B1-F3859437880F}" type="presParOf" srcId="{46864CA1-EB84-49B7-A94D-61F15234B0B4}" destId="{272A2463-2514-4594-B990-52F60DD86F32}" srcOrd="0" destOrd="0" presId="urn:microsoft.com/office/officeart/2005/8/layout/hProcess9"/>
    <dgm:cxn modelId="{3941E1C5-2433-4159-90E7-41CAEB55987F}" type="presParOf" srcId="{46864CA1-EB84-49B7-A94D-61F15234B0B4}" destId="{B412A856-58EE-4E0D-8B14-52D44CAC294C}" srcOrd="1" destOrd="0" presId="urn:microsoft.com/office/officeart/2005/8/layout/hProcess9"/>
    <dgm:cxn modelId="{1377D1B3-C8B7-4C9D-94AA-313724AFBEF8}" type="presParOf" srcId="{46864CA1-EB84-49B7-A94D-61F15234B0B4}" destId="{972B46CF-CF0D-45B6-931E-EE87C6348DD3}" srcOrd="2" destOrd="0" presId="urn:microsoft.com/office/officeart/2005/8/layout/hProcess9"/>
    <dgm:cxn modelId="{5BA2E23F-5CDB-44AD-9A6F-98BA8C1D5646}" type="presParOf" srcId="{46864CA1-EB84-49B7-A94D-61F15234B0B4}" destId="{095D2318-267C-4233-974F-6DC87DCD64C0}" srcOrd="3" destOrd="0" presId="urn:microsoft.com/office/officeart/2005/8/layout/hProcess9"/>
    <dgm:cxn modelId="{6AC29503-FC04-4962-8A78-515685FFEC12}" type="presParOf" srcId="{46864CA1-EB84-49B7-A94D-61F15234B0B4}" destId="{2D7DC50B-9706-40E1-AC83-B311AC126617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5EA254-326D-474D-B780-1DF9CE857979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A2463-2514-4594-B990-52F60DD86F32}">
      <dsp:nvSpPr>
        <dsp:cNvPr id="0" name=""/>
        <dsp:cNvSpPr/>
      </dsp:nvSpPr>
      <dsp:spPr>
        <a:xfrm>
          <a:off x="5070" y="1305401"/>
          <a:ext cx="3250568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600" kern="1200" dirty="0"/>
            <a:t>Frequência </a:t>
          </a:r>
        </a:p>
      </dsp:txBody>
      <dsp:txXfrm>
        <a:off x="90036" y="1390367"/>
        <a:ext cx="3080636" cy="1570603"/>
      </dsp:txXfrm>
    </dsp:sp>
    <dsp:sp modelId="{972B46CF-CF0D-45B6-931E-EE87C6348DD3}">
      <dsp:nvSpPr>
        <dsp:cNvPr id="0" name=""/>
        <dsp:cNvSpPr/>
      </dsp:nvSpPr>
      <dsp:spPr>
        <a:xfrm>
          <a:off x="3632515" y="1305401"/>
          <a:ext cx="3250568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600" kern="1200" dirty="0"/>
            <a:t>Absorção </a:t>
          </a:r>
        </a:p>
      </dsp:txBody>
      <dsp:txXfrm>
        <a:off x="3717481" y="1390367"/>
        <a:ext cx="3080636" cy="1570603"/>
      </dsp:txXfrm>
    </dsp:sp>
    <dsp:sp modelId="{2D7DC50B-9706-40E1-AC83-B311AC126617}">
      <dsp:nvSpPr>
        <dsp:cNvPr id="0" name=""/>
        <dsp:cNvSpPr/>
      </dsp:nvSpPr>
      <dsp:spPr>
        <a:xfrm>
          <a:off x="7259961" y="1305401"/>
          <a:ext cx="3250568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4600" kern="1200" dirty="0"/>
            <a:t>Penetração </a:t>
          </a:r>
        </a:p>
      </dsp:txBody>
      <dsp:txXfrm>
        <a:off x="7344927" y="1390367"/>
        <a:ext cx="3080636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A4FF9-ABCF-3421-7E2D-7D57251BD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8AD7F9-B895-5492-542A-D2984F877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CBC487-04E6-1D25-3353-8A48E293A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B41A21-D1C4-2B5C-C348-C397B1BDB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DF71F1-8C17-2E6F-7906-3ACF3C5B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81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E3861-222F-A75F-A9DD-E44EEAF75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258696-ED8D-3CE2-BEF8-1D1234D3DD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24D129-74B7-E6AE-9420-EE0929BEA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555906-153B-980A-6D27-99CEDD393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FAD6CC-518D-D7BA-7DB9-FF66EDFC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117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AA66F3-4321-8C57-5519-C0703F626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772E1-816E-8B59-B6AD-8089890C6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D82279-8322-E8D7-7E0A-DEEDA956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E212D-4859-B5E7-6C11-BA688FF27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0D4C79-C8A7-9710-688C-D80ECC472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34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F862AA-810C-9B12-B5FF-56CA9F5B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0A9464-FEF1-0D61-712C-4C548BE2EE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9AAA364-39D8-55DF-835D-1B990285A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565BAED-D242-DADD-90BA-02027DA5E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EDC9A2-51FA-4120-517F-0FF2CDC5D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248F0A-32A3-B20F-3A94-77327FF9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953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8CE5CF-207D-6AC2-4919-1CF088D7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98972D-49DC-D4E5-9349-B6D16E00B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7164E90-D71C-B376-D6C2-8BB307CB8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AE5281-1225-F667-99B4-1B93C1A558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96A357B-FA19-4457-9D49-494B7A259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4DA3A9D-3136-703D-6C14-D7AA0EE63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225E830-1522-C2C9-1ECB-0B632B8F4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2AB0FC5-56AB-CE61-ABAD-50C15A9C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5358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5F090-3876-B652-6FC9-81919525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44ACC4-0C51-EAA7-E93B-85AA46F1C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61DEAB-06A7-6B8C-D21F-3450C4A3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ED946DA-CE93-5A33-009B-79F87BDD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136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7A7B2B-99A4-49AC-9F71-8F3B0ECC9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5234F59-C4B2-7C36-B50B-B6EAE480D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C0CA01D-34F5-74B9-8BE1-604B72E04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6158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4693E2-F1FE-99AD-A699-120147ABD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B6A604-395A-A6B7-2E5D-517E73EE5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BAD9EB-574F-C8C5-700B-CF8B891B5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3486B42-45D4-FD63-DDB0-458865320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96D867-B717-750D-C2BC-E84799AF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4EC4A-6138-5906-1D72-ACA6B9CE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796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6DD93F-4F99-E055-E7B5-170284DC6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FC9A28D-83B0-08B9-2943-C039807281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BD1500B-AF1C-2ABA-E05C-2178F9D0D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FF283B-8DA4-3519-4EA0-4CE66357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4B94DF6-0EFD-7BAE-8A67-AA5A7081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5B627FA-3507-090C-F6A9-C7DA15424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5480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24A9F-A927-4F00-6755-C47AA6914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C0A931-7059-A893-F6F0-4352F18EC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484F71-60A7-3E90-3F94-C73E3A052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FA5AC8-58AA-34CA-A9FD-C2D0C7DD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51C064-77B8-DBE6-BC7D-D572F6D5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862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2C2351-9B4A-F8F7-2E24-0D80FDAFC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32F954-2232-F7A2-0008-1E6B3273B9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7A4635-F74F-DDDE-785D-B8FBA9B8B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48735-4AA2-7AF0-C09B-9211A2119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120F8D-D35A-E107-23D5-BDAD11AF8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575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65A8168-9869-2D6C-C7DD-4A347409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138D0DC-9A3E-5A6D-4BDD-98EDC1A26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543F9C-E54A-F57B-CF17-C05696D4B6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96A997-F4B2-4A7B-8748-22C5488BFE25}" type="datetimeFigureOut">
              <a:rPr lang="pt-BR" smtClean="0"/>
              <a:t>13/04/2026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CABDAA-AC41-9F8A-BBE8-771204623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A0E845-8DC5-E627-0DF7-3B9BF0B12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986F5-FE79-4365-8DE8-7AA0081D31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6036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ACE59-4CEC-F38C-6927-2B1E73EEB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ULTRASSOM MICRO E MACROFOCADO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79AECD-DACC-9540-8647-9080292DF2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Prof</a:t>
            </a:r>
            <a:r>
              <a:rPr lang="pt-BR" dirty="0"/>
              <a:t> : Mariana Macedo Justi </a:t>
            </a:r>
          </a:p>
        </p:txBody>
      </p:sp>
    </p:spTree>
    <p:extLst>
      <p:ext uri="{BB962C8B-B14F-4D97-AF65-F5344CB8AC3E}">
        <p14:creationId xmlns:p14="http://schemas.microsoft.com/office/powerpoint/2010/main" val="162214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46486-A4A6-8A33-B7DC-2F6B1729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6313D3-1929-99F6-79C8-12C3DEC2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O ultrassom </a:t>
            </a:r>
            <a:r>
              <a:rPr lang="pt-BR" b="0" i="0" dirty="0" err="1">
                <a:effectLst/>
                <a:latin typeface="Google Sans"/>
              </a:rPr>
              <a:t>microfocado</a:t>
            </a:r>
            <a:r>
              <a:rPr lang="pt-BR" b="0" i="0" dirty="0">
                <a:effectLst/>
                <a:latin typeface="Google Sans"/>
              </a:rPr>
              <a:t> é um tratamento estético não invasivo que usa ondas ultrassônicas para rejuvenescer a pele. Ele é indicado para tratar a flacidez facial, rugas, e sinais de envelhecimento. 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>
                <a:latin typeface="Google Sans"/>
              </a:rPr>
              <a:t>Ultrassom vem da palavra som, ondas mecânicas audíveis.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0" i="0" dirty="0">
                <a:effectLst/>
                <a:latin typeface="Google Sans"/>
              </a:rPr>
              <a:t>As ondas sonoras audíveis são ondas mecânicas que vibram entre 20 e 20.000 hertz (Hz). São as ondas que o ouvido humano consegue captar e que nos permitem ouvir os sons do dia a dia, como a fala e a música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5635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EAB813-CBF2-27FD-CA54-119BC12FE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55493D-0758-1942-5710-2FB8B6614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Ultrassom acima de 20000 Hz são considerados terapêuticos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Ultrassom de baixa 40 kHz esta na faixa audível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Ultrassom micro e </a:t>
            </a:r>
            <a:r>
              <a:rPr lang="pt-BR" dirty="0" err="1"/>
              <a:t>macrofocado</a:t>
            </a:r>
            <a:r>
              <a:rPr lang="pt-BR" dirty="0"/>
              <a:t> se encontram acima de 20000 Hz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4337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36EB4-F8B3-F673-6243-4770D76DB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18CA59-70DB-E017-CEED-D140920056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O ultrassom depende de maios de propagação que podem ser sólidos, líquidos e gasoso.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No caso do ultrassom convencional se utiliza gel de contato.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No caso do ultrassom </a:t>
            </a:r>
            <a:r>
              <a:rPr lang="pt-BR" dirty="0" err="1"/>
              <a:t>microfocado</a:t>
            </a:r>
            <a:r>
              <a:rPr lang="pt-BR" dirty="0"/>
              <a:t> se utiliza agua (destilada), em sua forma liquida e gel de contato para aplicação na pele. </a:t>
            </a:r>
          </a:p>
        </p:txBody>
      </p:sp>
    </p:spTree>
    <p:extLst>
      <p:ext uri="{BB962C8B-B14F-4D97-AF65-F5344CB8AC3E}">
        <p14:creationId xmlns:p14="http://schemas.microsoft.com/office/powerpoint/2010/main" val="3486880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873F0-520D-04D1-C987-077182F5D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FD0993-D514-22F0-AA89-66659DBD4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CAVITAÇÃO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ESTAVEL – normal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Microbolhas que se comprimem e se dilatam – quando rompem liberam a energia.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INSTAVEL – energia alta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Acumulo de energia dentro da bolha que implode, uma energia mais lesiva, com calor associado.</a:t>
            </a:r>
          </a:p>
        </p:txBody>
      </p:sp>
    </p:spTree>
    <p:extLst>
      <p:ext uri="{BB962C8B-B14F-4D97-AF65-F5344CB8AC3E}">
        <p14:creationId xmlns:p14="http://schemas.microsoft.com/office/powerpoint/2010/main" val="178640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D52DE3-2462-F3D2-4FCB-C153F2137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pic>
        <p:nvPicPr>
          <p:cNvPr id="1026" name="Picture 2" descr="Herus Hifu Fismatek Aparelho De Ultrassom Microfocado Com 3 Cartuchos | HS  Med | Aparelhos de Estética, Fisioterapia e Saúde">
            <a:extLst>
              <a:ext uri="{FF2B5EF4-FFF2-40B4-BE49-F238E27FC236}">
                <a16:creationId xmlns:a16="http://schemas.microsoft.com/office/drawing/2014/main" id="{E39FBEF7-D4DE-ED2C-780E-083753C8F68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149" y="1239338"/>
            <a:ext cx="5822644" cy="5822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9312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AF6DE-F901-A88C-3BE1-3A9FAEB38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43D3132-FAC8-2FD9-0640-2338A63CD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 aplicação deve seguir algumas regras e uma delas e a mais importante seria o acoplamento completo do transdutor na pele, que deve ser a 90 graus.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Se não acoplar bem há risco de lesão e intercorrências.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Neste caso pode ocorrer superficialização de pontos de coagulação formando bolas na pele. O cuidado com as potencias altas geram maiores riscos de intercorrências. </a:t>
            </a:r>
          </a:p>
        </p:txBody>
      </p:sp>
    </p:spTree>
    <p:extLst>
      <p:ext uri="{BB962C8B-B14F-4D97-AF65-F5344CB8AC3E}">
        <p14:creationId xmlns:p14="http://schemas.microsoft.com/office/powerpoint/2010/main" val="1179377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A63E47-B16F-3C47-D344-4FB419B6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416E87-9B88-713D-4430-4A3F892E7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Ação do ultrassom </a:t>
            </a:r>
            <a:r>
              <a:rPr lang="pt-BR" dirty="0" err="1"/>
              <a:t>microfocado</a:t>
            </a:r>
            <a:endParaRPr lang="pt-BR" dirty="0"/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Emissão de focos de calor em Joules (lesão térmica)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Lesão e resposta fisiológica da pele 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Maior produção de colágeno (derme, na hipoderme há menor disposição de fibras de colágeno e elastina), quanto mais proteína, maior será a absorção. 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Aumento do processo inflamatório </a:t>
            </a:r>
          </a:p>
          <a:p>
            <a:pPr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Formação de pontos de coágulos </a:t>
            </a:r>
          </a:p>
        </p:txBody>
      </p:sp>
    </p:spTree>
    <p:extLst>
      <p:ext uri="{BB962C8B-B14F-4D97-AF65-F5344CB8AC3E}">
        <p14:creationId xmlns:p14="http://schemas.microsoft.com/office/powerpoint/2010/main" val="52726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DF4D3F-1A89-FEA9-26B1-B2468E76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6046E1BB-BBDA-A438-9E1D-D433BDAA6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97124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eta: para Cima 6">
            <a:extLst>
              <a:ext uri="{FF2B5EF4-FFF2-40B4-BE49-F238E27FC236}">
                <a16:creationId xmlns:a16="http://schemas.microsoft.com/office/drawing/2014/main" id="{E167A99D-4AF0-5F52-4A83-E2000F36C967}"/>
              </a:ext>
            </a:extLst>
          </p:cNvPr>
          <p:cNvSpPr/>
          <p:nvPr/>
        </p:nvSpPr>
        <p:spPr>
          <a:xfrm>
            <a:off x="595884" y="3429000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Cima 7">
            <a:extLst>
              <a:ext uri="{FF2B5EF4-FFF2-40B4-BE49-F238E27FC236}">
                <a16:creationId xmlns:a16="http://schemas.microsoft.com/office/drawing/2014/main" id="{9FE84E74-374D-EE16-6B0F-D1677359ED74}"/>
              </a:ext>
            </a:extLst>
          </p:cNvPr>
          <p:cNvSpPr/>
          <p:nvPr/>
        </p:nvSpPr>
        <p:spPr>
          <a:xfrm>
            <a:off x="4251139" y="3429000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Cima 8">
            <a:extLst>
              <a:ext uri="{FF2B5EF4-FFF2-40B4-BE49-F238E27FC236}">
                <a16:creationId xmlns:a16="http://schemas.microsoft.com/office/drawing/2014/main" id="{C2456B79-434A-BC4F-1E68-452CBA126036}"/>
              </a:ext>
            </a:extLst>
          </p:cNvPr>
          <p:cNvSpPr/>
          <p:nvPr/>
        </p:nvSpPr>
        <p:spPr>
          <a:xfrm rot="10800000">
            <a:off x="7870111" y="3512090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062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32587-DD99-8CDE-EFB4-0E29133D1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772014-D303-6D62-C3BB-99A54C7DD2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20000Hz alta frequência – focalizados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Alta absorção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Baixa penetração no tecido 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40 kHz – 3 MHz baixa frequência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Baixa absorção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Alta penetração no tecido </a:t>
            </a:r>
          </a:p>
        </p:txBody>
      </p:sp>
    </p:spTree>
    <p:extLst>
      <p:ext uri="{BB962C8B-B14F-4D97-AF65-F5344CB8AC3E}">
        <p14:creationId xmlns:p14="http://schemas.microsoft.com/office/powerpoint/2010/main" val="1681633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A78504-54CF-BC36-4F83-E96679DC8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FAD57E-2E54-D6C1-834F-54552FE0B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Transdutores de ultrassom micro e macro focados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Se apresentam em </a:t>
            </a:r>
            <a:r>
              <a:rPr lang="pt-BR" dirty="0" err="1"/>
              <a:t>Milimetros</a:t>
            </a:r>
            <a:r>
              <a:rPr lang="pt-BR" dirty="0"/>
              <a:t>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1,5mm, 3,0mm, 4,5mm, 6.0mm, 9,0mm, 18mm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pt-BR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Transdutores de ultrassom convencional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Se apresentam em centímetros para aplicação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Maior penetração no tecido </a:t>
            </a:r>
          </a:p>
        </p:txBody>
      </p:sp>
    </p:spTree>
    <p:extLst>
      <p:ext uri="{BB962C8B-B14F-4D97-AF65-F5344CB8AC3E}">
        <p14:creationId xmlns:p14="http://schemas.microsoft.com/office/powerpoint/2010/main" val="1703107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68DD7-03BD-DC4C-DF3D-1478A68D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3D6103-3151-90FF-2564-E2B0257040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Indicação dos transdutores – </a:t>
            </a:r>
            <a:r>
              <a:rPr lang="pt-BR" dirty="0" err="1"/>
              <a:t>microfocados</a:t>
            </a:r>
            <a:r>
              <a:rPr lang="pt-BR" dirty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1,5mm (remodelação de colágeno, flacidez e rugas)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Estimulo de colágeno – derme superficial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3,0mm (remodelação de colágeno, flacidez e rugas)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Estimulo colágeno – derme profunda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4,5mm (pontos de coagulação no SMAS)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Pontos maiores com retração tecidual profunda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84789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8680FC-82A0-0592-2EE8-B502EC6C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20648E-3581-7C65-B46D-AD66D64AE0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Indicação dos transdutores – </a:t>
            </a:r>
            <a:r>
              <a:rPr lang="pt-BR" dirty="0" err="1"/>
              <a:t>macrofocados</a:t>
            </a:r>
            <a:r>
              <a:rPr lang="pt-BR" dirty="0"/>
              <a:t>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6,0 ou 7,0mm – lesão de tecido (celulite)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Subcutânea superficial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8,0 ou 9,0mm – lesão de tecido (celulite e gordura localizada papada)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Subcutânea médio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10 a 18mm – lesão de tecido (gordura localizada)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Subcutâneo profundo  </a:t>
            </a:r>
          </a:p>
        </p:txBody>
      </p:sp>
    </p:spTree>
    <p:extLst>
      <p:ext uri="{BB962C8B-B14F-4D97-AF65-F5344CB8AC3E}">
        <p14:creationId xmlns:p14="http://schemas.microsoft.com/office/powerpoint/2010/main" val="4133756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B3BC8F-6BC2-03A3-6591-F6BABA383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86916B43-A53B-5747-8FE3-EE67DAD30D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7807551"/>
              </p:ext>
            </p:extLst>
          </p:nvPr>
        </p:nvGraphicFramePr>
        <p:xfrm>
          <a:off x="838200" y="2697822"/>
          <a:ext cx="10515600" cy="211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8467386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143016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4299724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524871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45396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Rosto/pescoço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Abdômen/braço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Testa/olhos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olhos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377310"/>
                  </a:ext>
                </a:extLst>
              </a:tr>
              <a:tr h="251313"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7MHz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7MHz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2201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Profundidade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4,5mm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13mm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3,0mm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2203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Espaçamento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1,2mm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1,6mm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1,0mm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929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Comprimento transdutor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25-30mm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30mm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25-30mm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15mm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8413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922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5C0FA-42AB-897D-5EA6-819C933DD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E22A86-545B-9013-A78E-8C56316C1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B9E4C64-C976-47B7-89E9-83E009111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18" y="1287219"/>
            <a:ext cx="11548364" cy="422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802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36AF8-A9B4-7D99-2E93-23F9366FC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1C708C-AE7B-DC46-C4A3-CEE1546D8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DOSE ALTAS GERAM UMA LESÃO MAIOR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Ultrassom micro e macro focado apresentam cristal ou cerâmica concava, entregando a energia e um determinado ponto especifico.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Temperatura varia em torno de 65 a 80°C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O melhor resultados para lifting fácil é quando atinge o SMAS, a profundidade correta da pele. </a:t>
            </a:r>
          </a:p>
        </p:txBody>
      </p:sp>
    </p:spTree>
    <p:extLst>
      <p:ext uri="{BB962C8B-B14F-4D97-AF65-F5344CB8AC3E}">
        <p14:creationId xmlns:p14="http://schemas.microsoft.com/office/powerpoint/2010/main" val="3480177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E19FAB-C0C7-5E3B-8637-A1D13A39C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9E960F-7EAE-B700-F41B-7B0FED6DB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SMAS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Sistema muscular apo neurótico superficial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Membrana que recobre o corpo e recobre os músculos, entre a pele, a fáscia muscular e os músculos.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Tecido com alto poder de retração.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Geralmente utilizado o transdutor de 4,5mm para atingir este tecido.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4681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8B77F0-598C-942A-BD4E-F6308B6E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DDDBB4-784E-2C87-1305-951B39EBDE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Diferenças entre as tecnologias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LIP – superficial indicado para hipercromia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LASER – não atinge derme profunda, chega a 100°C, profundidade de 1,5mm.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RADIOFREQUENCIA  - atinge derme total e não faz aplicação especifica, chega a 55°C, profundidade de 3mm.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HIFU – atinge ate o SMAS, chega em torno de 65 a 80°C, com profundidades variáveis de 1,5 a 18mm.</a:t>
            </a:r>
          </a:p>
        </p:txBody>
      </p:sp>
    </p:spTree>
    <p:extLst>
      <p:ext uri="{BB962C8B-B14F-4D97-AF65-F5344CB8AC3E}">
        <p14:creationId xmlns:p14="http://schemas.microsoft.com/office/powerpoint/2010/main" val="33654102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1047A-487F-1031-FDE9-8F64B830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90DE9C-BF40-46C5-77AE-A06922F57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Jato de plasma confere uma retração superficial chegando no máximo na região da derme superficial.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Rosto mais gordinho se atentar na avalição, pois não vai atingir os 4,5mm, podendo não atingir o SMAS.</a:t>
            </a:r>
          </a:p>
        </p:txBody>
      </p:sp>
    </p:spTree>
    <p:extLst>
      <p:ext uri="{BB962C8B-B14F-4D97-AF65-F5344CB8AC3E}">
        <p14:creationId xmlns:p14="http://schemas.microsoft.com/office/powerpoint/2010/main" val="4010218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6C536-8109-4E2C-11CF-49169678A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43F9C1-FD61-AD97-ACC6-9553D6734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EFEITOS FISIOLOGICOS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Uso da termoterapia – possui doses de 0,2 a 8J de potencia.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Resultado em até 180 dias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Produz lesão por calor, lesão térmica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Processo inflamatório com fagocitose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Proliferação de fibroblastos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Intensa deposição de colágeno intensa regeneração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Lesão somente na zona focal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Acima de 65°C há desnaturação do colágeno, alto deposito de colágeno por conta das proteínas de choque térmico. 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01307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3D7175-AFDA-47C9-879A-E9CEADC76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A9236-EFBC-3249-FA74-96871CEB2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b="1" dirty="0"/>
              <a:t>48h horas ate 10 semanas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Proliferação de fibroblastos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Neocolagênese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b="1" dirty="0"/>
              <a:t>28 dia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Remodelação do tecido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Pele mais espessa, mais colágeno e elastina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b="1" dirty="0"/>
              <a:t>10 semanas após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Colágeno totalmente substituído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Se espera 3 meses para nova avaliação, se não houver resultados rever aplicação. 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446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EBF9F5-6BD2-D681-6AB0-A16E99836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5FD671-F5C0-C977-F1AE-DD859185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Após 45 dias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De acordo com estudos histológicos há maior surgimento de fibroblastos, e maior proliferação de tecido.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Em regiões de pele fina ou pálpebras se utilizam sempre menores doses, a fim de não gerar grandes lesões. </a:t>
            </a:r>
          </a:p>
        </p:txBody>
      </p:sp>
    </p:spTree>
    <p:extLst>
      <p:ext uri="{BB962C8B-B14F-4D97-AF65-F5344CB8AC3E}">
        <p14:creationId xmlns:p14="http://schemas.microsoft.com/office/powerpoint/2010/main" val="51311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63F1C-D470-7B87-3C25-AC539DB02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8DA940-7C12-6253-C920-0ED9BF4DB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4A3018-B83E-ECCE-F3D6-DB57AF375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26" y="2053885"/>
            <a:ext cx="11472948" cy="338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515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B307DC-B405-9803-08FF-07730D429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9761A4-806A-307C-FB7F-BEEF0155E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INDICAÇÕES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Flacidez de pescoço, face, colo e corporal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Rugas faciais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Lifting de sobrancelha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Queixo duplo (papada)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Celulite e gordura localizada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Harmonização facial e corporal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Estética intima </a:t>
            </a:r>
          </a:p>
        </p:txBody>
      </p:sp>
    </p:spTree>
    <p:extLst>
      <p:ext uri="{BB962C8B-B14F-4D97-AF65-F5344CB8AC3E}">
        <p14:creationId xmlns:p14="http://schemas.microsoft.com/office/powerpoint/2010/main" val="54013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599F0C-7194-E644-4A66-9B10459F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F6D214-CFD3-B0B2-2CFD-940C625A3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Marcas do mercado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ULTHERA – possui ultrassom acoplado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Profissional precisa saber sobre ultrassonografia, conhecimento técnico do assunto.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ULTRAFORMER III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Tem a ponteira mais estreita, bom para área dos olhos.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MPT – o mais rápido do mercado, </a:t>
            </a:r>
            <a:r>
              <a:rPr lang="pt-BR" dirty="0" err="1"/>
              <a:t>micropulso</a:t>
            </a:r>
            <a:r>
              <a:rPr lang="pt-BR" dirty="0"/>
              <a:t> com 2 disparos a cada 0,93seg. Pontos mais pequenos e finos, impressão que faz linha.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DOUBLE – com ultrassom acoplado. </a:t>
            </a:r>
          </a:p>
        </p:txBody>
      </p:sp>
    </p:spTree>
    <p:extLst>
      <p:ext uri="{BB962C8B-B14F-4D97-AF65-F5344CB8AC3E}">
        <p14:creationId xmlns:p14="http://schemas.microsoft.com/office/powerpoint/2010/main" val="36581552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7EB43-799D-8F7C-F102-A4CE81B3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CC8DC1-4768-B6FA-5BD4-A2EA6A572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ULTRASKIN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Com ultrassom acoplado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HIPRO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Mão livre, com único cartucho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HERUS HIFU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 err="1"/>
              <a:t>Unilinhas</a:t>
            </a:r>
            <a:r>
              <a:rPr lang="pt-BR" dirty="0"/>
              <a:t>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2 geração 4d  - multilinhas 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ULTRAMED MEDICAL SAN</a:t>
            </a:r>
          </a:p>
          <a:p>
            <a:pPr>
              <a:lnSpc>
                <a:spcPct val="160000"/>
              </a:lnSpc>
              <a:spcBef>
                <a:spcPts val="0"/>
              </a:spcBef>
            </a:pPr>
            <a:r>
              <a:rPr lang="pt-BR" dirty="0" err="1"/>
              <a:t>Unilinhas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460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DEE36-248A-EA04-F864-9DBE71FFE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CF8AC4-1F85-C1DC-C41A-C290CE640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C09ACA6-4F8D-634D-972D-1328F3AA27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0" y="681037"/>
            <a:ext cx="11621740" cy="540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620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BE99F-4F9B-4476-0818-EEA5C8A67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589193-A9C1-4489-E709-7AB2957142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847E6D3-80CA-8635-54BA-206A4FC2E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46" y="802470"/>
            <a:ext cx="11811907" cy="537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875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17F34B-5A0A-B61C-FE95-E9506E13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2D24E0-1947-B50E-F606-FBF12F148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1" dirty="0"/>
              <a:t>O excesso de pontos ou linhas pode atingir o SMAS e a gordura juntos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b="1" dirty="0"/>
              <a:t>Esse se torna um problema de aferição. </a:t>
            </a:r>
          </a:p>
        </p:txBody>
      </p:sp>
    </p:spTree>
    <p:extLst>
      <p:ext uri="{BB962C8B-B14F-4D97-AF65-F5344CB8AC3E}">
        <p14:creationId xmlns:p14="http://schemas.microsoft.com/office/powerpoint/2010/main" val="753465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0BDFB-AB62-C543-843F-D8B6E993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33C59C-ED15-E91F-BFD2-A18345F00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58D9849-FF6C-9C61-A503-20F813F4C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23" y="562708"/>
            <a:ext cx="11653548" cy="5753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930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FC1E1-393C-DB8B-8A6C-47485788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91C6FF-BAD8-2F16-A5B8-86E6A3E25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CONTRA INDICAÇÕES RELATIVAS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Complicações hemorrágicas – liberação medica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Uso de anticoagulantes – liberação medica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Doença auto imune – liberação medica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Condições medicas que tenham problemas de cicatrização - liberação medica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Tabagismo – difícil reparo tecidual, colágeno prejudicado, usar baixas doses nem que tenha que fazer mais aplicações.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Uso de corticoides – síntese de proteína prejudicada. </a:t>
            </a:r>
          </a:p>
        </p:txBody>
      </p:sp>
    </p:spTree>
    <p:extLst>
      <p:ext uri="{BB962C8B-B14F-4D97-AF65-F5344CB8AC3E}">
        <p14:creationId xmlns:p14="http://schemas.microsoft.com/office/powerpoint/2010/main" val="13913279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4B657C-7F17-FCAA-CC36-00F7B22E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33A47A-19A3-7725-0A24-1983D5AD2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Expectativa irreal – alguns pacientes tem resultado com 1 sessão, outros com 3 sessões.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Queloide – local e altura diferente não atinge os mm necessários, com fisiologia alterada local.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Implante – local e fisiologia alterados.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Preenchimento – A.H mesmo doses baixas degrada o produto, não são recomendadas doses altas ne após 30 dias.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Fios PDO ou tração – calor degrada os fios recomendado somente após 6 meses. </a:t>
            </a:r>
          </a:p>
        </p:txBody>
      </p:sp>
    </p:spTree>
    <p:extLst>
      <p:ext uri="{BB962C8B-B14F-4D97-AF65-F5344CB8AC3E}">
        <p14:creationId xmlns:p14="http://schemas.microsoft.com/office/powerpoint/2010/main" val="1904027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D821A-E2B7-1771-01DF-782DDB826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6DE759-37DB-AD14-D3DD-AFC4FF098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Melasma – calor faz processo inflamatório 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Mais há estudo que relata melhoria no Melasma, associado a hidroquinona, a 1.5mm, 0,2J, dose baixa, profundidade superficial, 3 sessões, 2 passagens 1 horizontal e 1 vertical, associado ao uso da hidroquinona.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Micro focado não aumentou o Melasma e também não prejudicou. </a:t>
            </a:r>
          </a:p>
        </p:txBody>
      </p:sp>
    </p:spTree>
    <p:extLst>
      <p:ext uri="{BB962C8B-B14F-4D97-AF65-F5344CB8AC3E}">
        <p14:creationId xmlns:p14="http://schemas.microsoft.com/office/powerpoint/2010/main" val="14547469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AE1DC5-9964-2BD0-558B-6420EBAFD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80EF3A-7F25-32E0-DDAE-083001675B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CONTRA INDICAÇÃO ABSOLUTA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Ferida aberta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Acne grave ou cística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Marcapasso ou desfibrilador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Area de implante metálico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Infecção ativa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Gravidez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Doenças psicológicas ou psíquicas </a:t>
            </a:r>
          </a:p>
          <a:p>
            <a:pPr algn="just">
              <a:lnSpc>
                <a:spcPct val="160000"/>
              </a:lnSpc>
              <a:spcBef>
                <a:spcPts val="0"/>
              </a:spcBef>
            </a:pPr>
            <a:r>
              <a:rPr lang="pt-BR" dirty="0"/>
              <a:t>Uso de </a:t>
            </a:r>
            <a:r>
              <a:rPr lang="pt-BR" dirty="0" err="1"/>
              <a:t>roacutam</a:t>
            </a:r>
            <a:r>
              <a:rPr lang="pt-BR" dirty="0"/>
              <a:t> – isotretinoína confere desidratação a pele, pele mais frágil, com fisiologia alterada, altera a formação de colágeno. </a:t>
            </a:r>
          </a:p>
        </p:txBody>
      </p:sp>
    </p:spTree>
    <p:extLst>
      <p:ext uri="{BB962C8B-B14F-4D97-AF65-F5344CB8AC3E}">
        <p14:creationId xmlns:p14="http://schemas.microsoft.com/office/powerpoint/2010/main" val="38008329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847066-F8C3-D627-D945-0A204051B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72E08C-D579-B5E7-4414-B0A9C390F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PREPARO DA PELE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Hidratação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Limpeza de pele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pt-BR" dirty="0"/>
              <a:t>Microagulhamento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389950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E8FED6-5F63-B5A6-2B7F-A3DF1F9AE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0CBE10-883D-E07C-3176-840DD6CEA9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b="1" dirty="0"/>
              <a:t>Zonas de exclusão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b="1" dirty="0"/>
              <a:t>ONDE NÃO APLICAR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Em locais onde aparecem os nervos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Ramo temporal nervo facial - têmporas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Ramo nervo supra orbicular – entre as sobrancelhas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Ramo do nervo marginal mandibular – próximo a boca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Ramo do nervo mentoniano – mento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AREA DA TIREOIDE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RAMO FACIAL – LATERAL DA ORELHA </a:t>
            </a:r>
          </a:p>
          <a:p>
            <a:pPr algn="just">
              <a:lnSpc>
                <a:spcPct val="170000"/>
              </a:lnSpc>
              <a:spcBef>
                <a:spcPts val="0"/>
              </a:spcBef>
            </a:pPr>
            <a:r>
              <a:rPr lang="pt-BR" dirty="0"/>
              <a:t>PODE DAR PARESTESIA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0294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D69161-80E8-6168-1559-15EFEED97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762559-F439-C4B7-75A1-1235A752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E05EA25-1704-BCF5-4CF6-D1A958D3A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36" y="523704"/>
            <a:ext cx="12007528" cy="5810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2867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B920E9-96A3-62C5-EA99-389BCA8A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D22706-8210-ECD7-9AE8-238B0EB27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495AF3-AE22-D865-C518-AD10577D3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85" y="64154"/>
            <a:ext cx="8989255" cy="675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1527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A0F7A-46FC-893A-4BA3-C40593D1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D0D710-8C74-5F15-15E5-9835661F4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85DAFFA-15C8-ACCA-DA4B-AD257D9F4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2" y="914400"/>
            <a:ext cx="11932556" cy="52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0077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4C799C-E837-3DB2-4A14-C4B083F42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0EF83-FEA7-06D3-2EEB-535DA4759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19B118C-B8CA-B5CE-2A88-7C015E97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26" y="196948"/>
            <a:ext cx="11244893" cy="6447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2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D7B2F3-AA05-96C5-76C7-122089DDF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8925F6-B2B7-788A-285C-A15CE921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550E86-BA30-70B7-9741-56FD8885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93" y="478303"/>
            <a:ext cx="12253184" cy="601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172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EC8975-52F0-51D1-8322-5F44CF28E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pic>
        <p:nvPicPr>
          <p:cNvPr id="2050" name="Picture 2" descr="Botox: Influencer compartilha sua experiência trágica com o procedimento  estético - Vogue | atualidades">
            <a:extLst>
              <a:ext uri="{FF2B5EF4-FFF2-40B4-BE49-F238E27FC236}">
                <a16:creationId xmlns:a16="http://schemas.microsoft.com/office/drawing/2014/main" id="{F36CE656-2527-0C3D-4223-AF11CD1A222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96" y="1825625"/>
            <a:ext cx="6527007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2384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0D64D-AA5A-99A3-9355-FD900AF6F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C5BEA-5EA7-1593-D932-2A9BA3363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131C9BE2-FE1E-C600-D2DC-1A3275168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141" y="1314912"/>
            <a:ext cx="6486798" cy="534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93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FEFD9-6CB5-DB6C-CBCD-969462213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84CAE24-1010-73A1-F3F3-D067ACC40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3495" y="1356072"/>
            <a:ext cx="7704944" cy="535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5503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A6EB7-D826-E728-B0B4-B02ADADD0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14222-6EB7-3BB1-1AF0-2786C481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833B9F0-BED5-D0FC-D1A8-5F5F9BE6C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3023" y="1315678"/>
            <a:ext cx="6205928" cy="540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49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B9CA-AE73-E042-FC84-3B80BF874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06864-6A9D-8877-CBA3-B4E6B790C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4881603-57F0-465A-C8B8-E1DBCFF8E6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939" y="1386314"/>
            <a:ext cx="9099028" cy="531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32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ED41F-23EF-36A8-2E51-1F330F2C9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ULTRASSOM MICRO E MACRO FOCADO 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A3E5C549-8CB5-A650-7FBB-EE17BADBB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141" y="1387544"/>
            <a:ext cx="6625652" cy="5307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1334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1516</Words>
  <Application>Microsoft Office PowerPoint</Application>
  <PresentationFormat>Widescreen</PresentationFormat>
  <Paragraphs>218</Paragraphs>
  <Slides>47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52" baseType="lpstr">
      <vt:lpstr>Arial</vt:lpstr>
      <vt:lpstr>Calibri</vt:lpstr>
      <vt:lpstr>Calibri Light</vt:lpstr>
      <vt:lpstr>Google Sans</vt:lpstr>
      <vt:lpstr>Tema do Office</vt:lpstr>
      <vt:lpstr>ULTRASSOM MICRO E MACROFOCADO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Apresentação do PowerPoint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Apresentação do PowerPoint</vt:lpstr>
      <vt:lpstr>Apresentação do PowerPoint</vt:lpstr>
      <vt:lpstr>ULTRASSOM MICRO E MACRO FOCADO </vt:lpstr>
      <vt:lpstr>Apresentação do PowerPoint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ULTRASSOM MICRO E MACRO FOCADO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ULTRASSOM MICRO E MACRO FOCADO </vt:lpstr>
      <vt:lpstr>ULTRASSOM MICRO E MACRO FOCADO</vt:lpstr>
      <vt:lpstr>ULTRASSOM MICRO E MACRO FOCADO</vt:lpstr>
      <vt:lpstr>ULTRASSOM MICRO E MACRO FOCADO</vt:lpstr>
      <vt:lpstr>ULTRASSOM MICRO E MACRO FOCADO</vt:lpstr>
      <vt:lpstr>ULTRASSOM MICRO E MACRO FOCADO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justi</dc:creator>
  <cp:lastModifiedBy>mariana justi</cp:lastModifiedBy>
  <cp:revision>3</cp:revision>
  <dcterms:created xsi:type="dcterms:W3CDTF">2025-04-17T19:19:12Z</dcterms:created>
  <dcterms:modified xsi:type="dcterms:W3CDTF">2026-04-13T20:05:11Z</dcterms:modified>
</cp:coreProperties>
</file>