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5"/>
  </p:notesMasterIdLst>
  <p:sldIdLst>
    <p:sldId id="256" r:id="rId2"/>
    <p:sldId id="346" r:id="rId3"/>
    <p:sldId id="347" r:id="rId4"/>
    <p:sldId id="385" r:id="rId5"/>
    <p:sldId id="386" r:id="rId6"/>
    <p:sldId id="387" r:id="rId7"/>
    <p:sldId id="388" r:id="rId8"/>
    <p:sldId id="389" r:id="rId9"/>
    <p:sldId id="390" r:id="rId10"/>
    <p:sldId id="384" r:id="rId11"/>
    <p:sldId id="350" r:id="rId12"/>
    <p:sldId id="353" r:id="rId13"/>
    <p:sldId id="359" r:id="rId14"/>
    <p:sldId id="364" r:id="rId15"/>
    <p:sldId id="371" r:id="rId16"/>
    <p:sldId id="316" r:id="rId17"/>
    <p:sldId id="372" r:id="rId18"/>
    <p:sldId id="373" r:id="rId19"/>
    <p:sldId id="374" r:id="rId20"/>
    <p:sldId id="303" r:id="rId21"/>
    <p:sldId id="375" r:id="rId22"/>
    <p:sldId id="391" r:id="rId23"/>
    <p:sldId id="392" r:id="rId24"/>
    <p:sldId id="393" r:id="rId25"/>
    <p:sldId id="404" r:id="rId26"/>
    <p:sldId id="405" r:id="rId27"/>
    <p:sldId id="406" r:id="rId28"/>
    <p:sldId id="394" r:id="rId29"/>
    <p:sldId id="395" r:id="rId30"/>
    <p:sldId id="396" r:id="rId31"/>
    <p:sldId id="397" r:id="rId32"/>
    <p:sldId id="398" r:id="rId33"/>
    <p:sldId id="399" r:id="rId34"/>
    <p:sldId id="420" r:id="rId35"/>
    <p:sldId id="419" r:id="rId36"/>
    <p:sldId id="421" r:id="rId37"/>
    <p:sldId id="422" r:id="rId38"/>
    <p:sldId id="400" r:id="rId39"/>
    <p:sldId id="408" r:id="rId40"/>
    <p:sldId id="401" r:id="rId41"/>
    <p:sldId id="410" r:id="rId42"/>
    <p:sldId id="407" r:id="rId43"/>
    <p:sldId id="402" r:id="rId44"/>
    <p:sldId id="403" r:id="rId45"/>
    <p:sldId id="409" r:id="rId46"/>
    <p:sldId id="411" r:id="rId47"/>
    <p:sldId id="415" r:id="rId48"/>
    <p:sldId id="416" r:id="rId49"/>
    <p:sldId id="418" r:id="rId50"/>
    <p:sldId id="417" r:id="rId51"/>
    <p:sldId id="412" r:id="rId52"/>
    <p:sldId id="413" r:id="rId53"/>
    <p:sldId id="414"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22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AA75CE-3CFD-4E40-9D68-CBFD3F27430B}"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pt-BR"/>
        </a:p>
      </dgm:t>
    </dgm:pt>
    <dgm:pt modelId="{5A9D2663-BAF5-4046-A000-47D7175B4DFD}">
      <dgm:prSet/>
      <dgm:spPr/>
      <dgm:t>
        <a:bodyPr/>
        <a:lstStyle/>
        <a:p>
          <a:r>
            <a:rPr lang="pt-BR" b="0" i="0" dirty="0"/>
            <a:t>CLASSIFICAÇÃO DAS CORRENTES </a:t>
          </a:r>
          <a:endParaRPr lang="pt-BR" dirty="0"/>
        </a:p>
      </dgm:t>
    </dgm:pt>
    <dgm:pt modelId="{09DBD318-904D-4B4F-AC90-E9A7845104FD}" type="parTrans" cxnId="{DF27450C-3C49-445C-AFD4-A166B5559728}">
      <dgm:prSet/>
      <dgm:spPr/>
      <dgm:t>
        <a:bodyPr/>
        <a:lstStyle/>
        <a:p>
          <a:endParaRPr lang="pt-BR"/>
        </a:p>
      </dgm:t>
    </dgm:pt>
    <dgm:pt modelId="{F5C0F108-D960-42FE-9ACD-960E21F93499}" type="sibTrans" cxnId="{DF27450C-3C49-445C-AFD4-A166B5559728}">
      <dgm:prSet/>
      <dgm:spPr/>
      <dgm:t>
        <a:bodyPr/>
        <a:lstStyle/>
        <a:p>
          <a:endParaRPr lang="pt-BR"/>
        </a:p>
      </dgm:t>
    </dgm:pt>
    <dgm:pt modelId="{FCFC2201-D81C-48D7-B5B5-FB9618056DC3}">
      <dgm:prSet/>
      <dgm:spPr/>
      <dgm:t>
        <a:bodyPr/>
        <a:lstStyle/>
        <a:p>
          <a:r>
            <a:rPr lang="pt-BR" dirty="0"/>
            <a:t>1. DOS EFEITOS QUE ELAS PRODUZEM SOBRE O ORGANISMO.</a:t>
          </a:r>
        </a:p>
      </dgm:t>
    </dgm:pt>
    <dgm:pt modelId="{C9400682-2EC9-4E7B-9978-2900BDAA9044}" type="parTrans" cxnId="{FE7BBC10-F1A2-4716-BF0E-209D38F5187E}">
      <dgm:prSet/>
      <dgm:spPr/>
      <dgm:t>
        <a:bodyPr/>
        <a:lstStyle/>
        <a:p>
          <a:endParaRPr lang="pt-BR"/>
        </a:p>
      </dgm:t>
    </dgm:pt>
    <dgm:pt modelId="{24FEAE38-9D3E-44A6-A8F4-164B79A4D4F8}" type="sibTrans" cxnId="{FE7BBC10-F1A2-4716-BF0E-209D38F5187E}">
      <dgm:prSet/>
      <dgm:spPr/>
      <dgm:t>
        <a:bodyPr/>
        <a:lstStyle/>
        <a:p>
          <a:endParaRPr lang="pt-BR"/>
        </a:p>
      </dgm:t>
    </dgm:pt>
    <dgm:pt modelId="{FFBCA732-48FE-475A-8C23-CE386CA3F4CF}">
      <dgm:prSet/>
      <dgm:spPr/>
      <dgm:t>
        <a:bodyPr/>
        <a:lstStyle/>
        <a:p>
          <a:r>
            <a:rPr lang="pt-BR" dirty="0"/>
            <a:t>2.DA FREQUENCIA DE REPETIÇÃO DOS PULSOS ELETRICOS.</a:t>
          </a:r>
        </a:p>
      </dgm:t>
    </dgm:pt>
    <dgm:pt modelId="{9A824C4C-2B41-431A-8942-86D27CC78C19}" type="parTrans" cxnId="{89650D6C-C017-4CF3-B8AA-7EEF3A950DC1}">
      <dgm:prSet/>
      <dgm:spPr/>
      <dgm:t>
        <a:bodyPr/>
        <a:lstStyle/>
        <a:p>
          <a:endParaRPr lang="pt-BR"/>
        </a:p>
      </dgm:t>
    </dgm:pt>
    <dgm:pt modelId="{C857B149-04A1-4A97-B8E3-2429CC61B020}" type="sibTrans" cxnId="{89650D6C-C017-4CF3-B8AA-7EEF3A950DC1}">
      <dgm:prSet/>
      <dgm:spPr/>
      <dgm:t>
        <a:bodyPr/>
        <a:lstStyle/>
        <a:p>
          <a:endParaRPr lang="pt-BR"/>
        </a:p>
      </dgm:t>
    </dgm:pt>
    <dgm:pt modelId="{40FA079F-62D2-4DFD-AE9B-86F342E9EB22}">
      <dgm:prSet/>
      <dgm:spPr/>
      <dgm:t>
        <a:bodyPr/>
        <a:lstStyle/>
        <a:p>
          <a:r>
            <a:rPr lang="pt-BR" dirty="0"/>
            <a:t>3. SEGUNDO AS FORMAS DO PULSO ELETRICO.</a:t>
          </a:r>
        </a:p>
      </dgm:t>
    </dgm:pt>
    <dgm:pt modelId="{773773F8-04A8-4465-9507-EF35162B3D21}" type="parTrans" cxnId="{66299D3C-E659-40D3-BE41-D108AB108E53}">
      <dgm:prSet/>
      <dgm:spPr/>
      <dgm:t>
        <a:bodyPr/>
        <a:lstStyle/>
        <a:p>
          <a:endParaRPr lang="pt-BR"/>
        </a:p>
      </dgm:t>
    </dgm:pt>
    <dgm:pt modelId="{9CA853B2-A6DE-4032-AB7C-6544A97E792C}" type="sibTrans" cxnId="{66299D3C-E659-40D3-BE41-D108AB108E53}">
      <dgm:prSet/>
      <dgm:spPr/>
      <dgm:t>
        <a:bodyPr/>
        <a:lstStyle/>
        <a:p>
          <a:endParaRPr lang="pt-BR"/>
        </a:p>
      </dgm:t>
    </dgm:pt>
    <dgm:pt modelId="{860593B9-3C2C-4C33-9570-12294481DDE3}" type="pres">
      <dgm:prSet presAssocID="{9AAA75CE-3CFD-4E40-9D68-CBFD3F27430B}" presName="linearFlow" presStyleCnt="0">
        <dgm:presLayoutVars>
          <dgm:dir/>
          <dgm:animLvl val="lvl"/>
          <dgm:resizeHandles val="exact"/>
        </dgm:presLayoutVars>
      </dgm:prSet>
      <dgm:spPr/>
    </dgm:pt>
    <dgm:pt modelId="{6E6AB905-9226-46E1-8AF0-02098434624D}" type="pres">
      <dgm:prSet presAssocID="{5A9D2663-BAF5-4046-A000-47D7175B4DFD}" presName="composite" presStyleCnt="0"/>
      <dgm:spPr/>
    </dgm:pt>
    <dgm:pt modelId="{7D5BA953-FEAA-4F35-B7A0-BB6B17F251C1}" type="pres">
      <dgm:prSet presAssocID="{5A9D2663-BAF5-4046-A000-47D7175B4DFD}" presName="parentText" presStyleLbl="alignNode1" presStyleIdx="0" presStyleCnt="1">
        <dgm:presLayoutVars>
          <dgm:chMax val="1"/>
          <dgm:bulletEnabled val="1"/>
        </dgm:presLayoutVars>
      </dgm:prSet>
      <dgm:spPr/>
    </dgm:pt>
    <dgm:pt modelId="{C24723ED-44F2-4D95-A6DB-4D95F86FC720}" type="pres">
      <dgm:prSet presAssocID="{5A9D2663-BAF5-4046-A000-47D7175B4DFD}" presName="descendantText" presStyleLbl="alignAcc1" presStyleIdx="0" presStyleCnt="1" custScaleY="126624">
        <dgm:presLayoutVars>
          <dgm:bulletEnabled val="1"/>
        </dgm:presLayoutVars>
      </dgm:prSet>
      <dgm:spPr/>
    </dgm:pt>
  </dgm:ptLst>
  <dgm:cxnLst>
    <dgm:cxn modelId="{DF27450C-3C49-445C-AFD4-A166B5559728}" srcId="{9AAA75CE-3CFD-4E40-9D68-CBFD3F27430B}" destId="{5A9D2663-BAF5-4046-A000-47D7175B4DFD}" srcOrd="0" destOrd="0" parTransId="{09DBD318-904D-4B4F-AC90-E9A7845104FD}" sibTransId="{F5C0F108-D960-42FE-9ACD-960E21F93499}"/>
    <dgm:cxn modelId="{FE7BBC10-F1A2-4716-BF0E-209D38F5187E}" srcId="{5A9D2663-BAF5-4046-A000-47D7175B4DFD}" destId="{FCFC2201-D81C-48D7-B5B5-FB9618056DC3}" srcOrd="0" destOrd="0" parTransId="{C9400682-2EC9-4E7B-9978-2900BDAA9044}" sibTransId="{24FEAE38-9D3E-44A6-A8F4-164B79A4D4F8}"/>
    <dgm:cxn modelId="{A33C502B-8B8F-4591-8F00-8E573C24AC3B}" type="presOf" srcId="{FFBCA732-48FE-475A-8C23-CE386CA3F4CF}" destId="{C24723ED-44F2-4D95-A6DB-4D95F86FC720}" srcOrd="0" destOrd="1" presId="urn:microsoft.com/office/officeart/2005/8/layout/chevron2"/>
    <dgm:cxn modelId="{66299D3C-E659-40D3-BE41-D108AB108E53}" srcId="{5A9D2663-BAF5-4046-A000-47D7175B4DFD}" destId="{40FA079F-62D2-4DFD-AE9B-86F342E9EB22}" srcOrd="2" destOrd="0" parTransId="{773773F8-04A8-4465-9507-EF35162B3D21}" sibTransId="{9CA853B2-A6DE-4032-AB7C-6544A97E792C}"/>
    <dgm:cxn modelId="{89650D6C-C017-4CF3-B8AA-7EEF3A950DC1}" srcId="{5A9D2663-BAF5-4046-A000-47D7175B4DFD}" destId="{FFBCA732-48FE-475A-8C23-CE386CA3F4CF}" srcOrd="1" destOrd="0" parTransId="{9A824C4C-2B41-431A-8942-86D27CC78C19}" sibTransId="{C857B149-04A1-4A97-B8E3-2429CC61B020}"/>
    <dgm:cxn modelId="{9C994C8D-00E1-435F-9EF2-6CD99AA2CDE2}" type="presOf" srcId="{FCFC2201-D81C-48D7-B5B5-FB9618056DC3}" destId="{C24723ED-44F2-4D95-A6DB-4D95F86FC720}" srcOrd="0" destOrd="0" presId="urn:microsoft.com/office/officeart/2005/8/layout/chevron2"/>
    <dgm:cxn modelId="{B99ADF95-74B9-4019-8ED5-A7C9FDBF6452}" type="presOf" srcId="{5A9D2663-BAF5-4046-A000-47D7175B4DFD}" destId="{7D5BA953-FEAA-4F35-B7A0-BB6B17F251C1}" srcOrd="0" destOrd="0" presId="urn:microsoft.com/office/officeart/2005/8/layout/chevron2"/>
    <dgm:cxn modelId="{5893D1F1-2A4B-4DCD-B65D-A1C862046E23}" type="presOf" srcId="{40FA079F-62D2-4DFD-AE9B-86F342E9EB22}" destId="{C24723ED-44F2-4D95-A6DB-4D95F86FC720}" srcOrd="0" destOrd="2" presId="urn:microsoft.com/office/officeart/2005/8/layout/chevron2"/>
    <dgm:cxn modelId="{E03DE0FD-C932-4CDC-BC2C-03FC72AB357D}" type="presOf" srcId="{9AAA75CE-3CFD-4E40-9D68-CBFD3F27430B}" destId="{860593B9-3C2C-4C33-9570-12294481DDE3}" srcOrd="0" destOrd="0" presId="urn:microsoft.com/office/officeart/2005/8/layout/chevron2"/>
    <dgm:cxn modelId="{23D343C3-9DD2-4D39-8105-4F9F494BBA9D}" type="presParOf" srcId="{860593B9-3C2C-4C33-9570-12294481DDE3}" destId="{6E6AB905-9226-46E1-8AF0-02098434624D}" srcOrd="0" destOrd="0" presId="urn:microsoft.com/office/officeart/2005/8/layout/chevron2"/>
    <dgm:cxn modelId="{172215CA-0FF8-4C69-8458-507410BBCAF0}" type="presParOf" srcId="{6E6AB905-9226-46E1-8AF0-02098434624D}" destId="{7D5BA953-FEAA-4F35-B7A0-BB6B17F251C1}" srcOrd="0" destOrd="0" presId="urn:microsoft.com/office/officeart/2005/8/layout/chevron2"/>
    <dgm:cxn modelId="{1A76BAAB-F4A3-4418-8B25-F686A992DECB}" type="presParOf" srcId="{6E6AB905-9226-46E1-8AF0-02098434624D}" destId="{C24723ED-44F2-4D95-A6DB-4D95F86FC720}"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14BB8E-A32B-4A80-AE51-53E324324F9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pt-BR"/>
        </a:p>
      </dgm:t>
    </dgm:pt>
    <dgm:pt modelId="{EAF992A7-7751-4A47-8DDA-73EDCE3E9A14}">
      <dgm:prSet phldrT="[Texto]"/>
      <dgm:spPr/>
      <dgm:t>
        <a:bodyPr/>
        <a:lstStyle/>
        <a:p>
          <a:r>
            <a:rPr lang="pt-BR" dirty="0"/>
            <a:t>AUSSIE</a:t>
          </a:r>
        </a:p>
      </dgm:t>
    </dgm:pt>
    <dgm:pt modelId="{D71B8A92-308D-40C8-A1EE-5D63C45CF759}" type="parTrans" cxnId="{ED189AE1-5D70-416E-AAC0-9F0A849B1B72}">
      <dgm:prSet/>
      <dgm:spPr/>
      <dgm:t>
        <a:bodyPr/>
        <a:lstStyle/>
        <a:p>
          <a:endParaRPr lang="pt-BR"/>
        </a:p>
      </dgm:t>
    </dgm:pt>
    <dgm:pt modelId="{CA394B30-799E-4F62-837D-230905FD5C5E}" type="sibTrans" cxnId="{ED189AE1-5D70-416E-AAC0-9F0A849B1B72}">
      <dgm:prSet/>
      <dgm:spPr/>
      <dgm:t>
        <a:bodyPr/>
        <a:lstStyle/>
        <a:p>
          <a:endParaRPr lang="pt-BR"/>
        </a:p>
      </dgm:t>
    </dgm:pt>
    <dgm:pt modelId="{C1E8EEE5-D334-4C9F-90BC-452107B8D582}">
      <dgm:prSet phldrT="[Texto]"/>
      <dgm:spPr/>
      <dgm:t>
        <a:bodyPr/>
        <a:lstStyle/>
        <a:p>
          <a:r>
            <a:rPr lang="pt-BR" dirty="0"/>
            <a:t>RUSSA</a:t>
          </a:r>
        </a:p>
      </dgm:t>
    </dgm:pt>
    <dgm:pt modelId="{F9157C80-FB3E-4265-A9BE-D3B8912B93AE}" type="parTrans" cxnId="{3D4253E4-5F82-4836-8440-1F7E54D395BD}">
      <dgm:prSet/>
      <dgm:spPr/>
      <dgm:t>
        <a:bodyPr/>
        <a:lstStyle/>
        <a:p>
          <a:endParaRPr lang="pt-BR"/>
        </a:p>
      </dgm:t>
    </dgm:pt>
    <dgm:pt modelId="{207CDE1A-E55F-4C3F-A1B7-B91A743186C8}" type="sibTrans" cxnId="{3D4253E4-5F82-4836-8440-1F7E54D395BD}">
      <dgm:prSet/>
      <dgm:spPr/>
      <dgm:t>
        <a:bodyPr/>
        <a:lstStyle/>
        <a:p>
          <a:endParaRPr lang="pt-BR"/>
        </a:p>
      </dgm:t>
    </dgm:pt>
    <dgm:pt modelId="{920C4DEB-CBCB-4082-9ACC-77D61A383422}">
      <dgm:prSet phldrT="[Texto]"/>
      <dgm:spPr/>
      <dgm:t>
        <a:bodyPr/>
        <a:lstStyle/>
        <a:p>
          <a:r>
            <a:rPr lang="pt-BR" dirty="0"/>
            <a:t>FES</a:t>
          </a:r>
        </a:p>
      </dgm:t>
    </dgm:pt>
    <dgm:pt modelId="{9BC2306A-0E67-4A5E-ABE8-70BF304994B5}" type="parTrans" cxnId="{C79A037C-7373-48C2-9C90-7DB04E74628C}">
      <dgm:prSet/>
      <dgm:spPr/>
      <dgm:t>
        <a:bodyPr/>
        <a:lstStyle/>
        <a:p>
          <a:endParaRPr lang="pt-BR"/>
        </a:p>
      </dgm:t>
    </dgm:pt>
    <dgm:pt modelId="{AB87A6BA-A56E-4798-AFF1-E095F4337CE0}" type="sibTrans" cxnId="{C79A037C-7373-48C2-9C90-7DB04E74628C}">
      <dgm:prSet/>
      <dgm:spPr/>
      <dgm:t>
        <a:bodyPr/>
        <a:lstStyle/>
        <a:p>
          <a:endParaRPr lang="pt-BR"/>
        </a:p>
      </dgm:t>
    </dgm:pt>
    <dgm:pt modelId="{ACBD1685-81AF-4DE4-8764-3FC40417B6B6}" type="pres">
      <dgm:prSet presAssocID="{D614BB8E-A32B-4A80-AE51-53E324324F9A}" presName="diagram" presStyleCnt="0">
        <dgm:presLayoutVars>
          <dgm:dir/>
          <dgm:resizeHandles val="exact"/>
        </dgm:presLayoutVars>
      </dgm:prSet>
      <dgm:spPr/>
    </dgm:pt>
    <dgm:pt modelId="{F15D102C-899B-495C-A075-A8DDE4952AC6}" type="pres">
      <dgm:prSet presAssocID="{EAF992A7-7751-4A47-8DDA-73EDCE3E9A14}" presName="node" presStyleLbl="node1" presStyleIdx="0" presStyleCnt="3">
        <dgm:presLayoutVars>
          <dgm:bulletEnabled val="1"/>
        </dgm:presLayoutVars>
      </dgm:prSet>
      <dgm:spPr/>
    </dgm:pt>
    <dgm:pt modelId="{965A2D8C-F13E-4447-AAE3-164B430A00A2}" type="pres">
      <dgm:prSet presAssocID="{CA394B30-799E-4F62-837D-230905FD5C5E}" presName="sibTrans" presStyleCnt="0"/>
      <dgm:spPr/>
    </dgm:pt>
    <dgm:pt modelId="{5B1B4678-8469-48E8-B2B6-2C5CBCFF542F}" type="pres">
      <dgm:prSet presAssocID="{C1E8EEE5-D334-4C9F-90BC-452107B8D582}" presName="node" presStyleLbl="node1" presStyleIdx="1" presStyleCnt="3">
        <dgm:presLayoutVars>
          <dgm:bulletEnabled val="1"/>
        </dgm:presLayoutVars>
      </dgm:prSet>
      <dgm:spPr/>
    </dgm:pt>
    <dgm:pt modelId="{9DE7988C-17CF-4792-A783-76EE6ACB23AA}" type="pres">
      <dgm:prSet presAssocID="{207CDE1A-E55F-4C3F-A1B7-B91A743186C8}" presName="sibTrans" presStyleCnt="0"/>
      <dgm:spPr/>
    </dgm:pt>
    <dgm:pt modelId="{25B5115A-DF73-4B33-B3AB-9D3F6838C0C1}" type="pres">
      <dgm:prSet presAssocID="{920C4DEB-CBCB-4082-9ACC-77D61A383422}" presName="node" presStyleLbl="node1" presStyleIdx="2" presStyleCnt="3">
        <dgm:presLayoutVars>
          <dgm:bulletEnabled val="1"/>
        </dgm:presLayoutVars>
      </dgm:prSet>
      <dgm:spPr/>
    </dgm:pt>
  </dgm:ptLst>
  <dgm:cxnLst>
    <dgm:cxn modelId="{6B006026-9231-441C-91DD-0EB9F3CFE4A8}" type="presOf" srcId="{EAF992A7-7751-4A47-8DDA-73EDCE3E9A14}" destId="{F15D102C-899B-495C-A075-A8DDE4952AC6}" srcOrd="0" destOrd="0" presId="urn:microsoft.com/office/officeart/2005/8/layout/default"/>
    <dgm:cxn modelId="{4277F82B-71B3-429A-9B69-0F8D0F7121D8}" type="presOf" srcId="{D614BB8E-A32B-4A80-AE51-53E324324F9A}" destId="{ACBD1685-81AF-4DE4-8764-3FC40417B6B6}" srcOrd="0" destOrd="0" presId="urn:microsoft.com/office/officeart/2005/8/layout/default"/>
    <dgm:cxn modelId="{22C9C82C-76D2-4ECD-9BA5-0FEFA21EB228}" type="presOf" srcId="{C1E8EEE5-D334-4C9F-90BC-452107B8D582}" destId="{5B1B4678-8469-48E8-B2B6-2C5CBCFF542F}" srcOrd="0" destOrd="0" presId="urn:microsoft.com/office/officeart/2005/8/layout/default"/>
    <dgm:cxn modelId="{C79A037C-7373-48C2-9C90-7DB04E74628C}" srcId="{D614BB8E-A32B-4A80-AE51-53E324324F9A}" destId="{920C4DEB-CBCB-4082-9ACC-77D61A383422}" srcOrd="2" destOrd="0" parTransId="{9BC2306A-0E67-4A5E-ABE8-70BF304994B5}" sibTransId="{AB87A6BA-A56E-4798-AFF1-E095F4337CE0}"/>
    <dgm:cxn modelId="{DA4174BE-D19D-4B4D-9F10-AD3DD8C4B7CC}" type="presOf" srcId="{920C4DEB-CBCB-4082-9ACC-77D61A383422}" destId="{25B5115A-DF73-4B33-B3AB-9D3F6838C0C1}" srcOrd="0" destOrd="0" presId="urn:microsoft.com/office/officeart/2005/8/layout/default"/>
    <dgm:cxn modelId="{ED189AE1-5D70-416E-AAC0-9F0A849B1B72}" srcId="{D614BB8E-A32B-4A80-AE51-53E324324F9A}" destId="{EAF992A7-7751-4A47-8DDA-73EDCE3E9A14}" srcOrd="0" destOrd="0" parTransId="{D71B8A92-308D-40C8-A1EE-5D63C45CF759}" sibTransId="{CA394B30-799E-4F62-837D-230905FD5C5E}"/>
    <dgm:cxn modelId="{3D4253E4-5F82-4836-8440-1F7E54D395BD}" srcId="{D614BB8E-A32B-4A80-AE51-53E324324F9A}" destId="{C1E8EEE5-D334-4C9F-90BC-452107B8D582}" srcOrd="1" destOrd="0" parTransId="{F9157C80-FB3E-4265-A9BE-D3B8912B93AE}" sibTransId="{207CDE1A-E55F-4C3F-A1B7-B91A743186C8}"/>
    <dgm:cxn modelId="{7D7127E4-092B-43E7-ADBE-1DE1BF6DECB8}" type="presParOf" srcId="{ACBD1685-81AF-4DE4-8764-3FC40417B6B6}" destId="{F15D102C-899B-495C-A075-A8DDE4952AC6}" srcOrd="0" destOrd="0" presId="urn:microsoft.com/office/officeart/2005/8/layout/default"/>
    <dgm:cxn modelId="{62D32A4A-136F-4ACB-85CA-329B7A1BA568}" type="presParOf" srcId="{ACBD1685-81AF-4DE4-8764-3FC40417B6B6}" destId="{965A2D8C-F13E-4447-AAE3-164B430A00A2}" srcOrd="1" destOrd="0" presId="urn:microsoft.com/office/officeart/2005/8/layout/default"/>
    <dgm:cxn modelId="{F8210AD4-9C87-4EC0-A2E6-B2CD9219C880}" type="presParOf" srcId="{ACBD1685-81AF-4DE4-8764-3FC40417B6B6}" destId="{5B1B4678-8469-48E8-B2B6-2C5CBCFF542F}" srcOrd="2" destOrd="0" presId="urn:microsoft.com/office/officeart/2005/8/layout/default"/>
    <dgm:cxn modelId="{C1B69FCF-5B4F-494C-A1DA-11A6DD7A65EF}" type="presParOf" srcId="{ACBD1685-81AF-4DE4-8764-3FC40417B6B6}" destId="{9DE7988C-17CF-4792-A783-76EE6ACB23AA}" srcOrd="3" destOrd="0" presId="urn:microsoft.com/office/officeart/2005/8/layout/default"/>
    <dgm:cxn modelId="{0F4F4905-FC12-4B8C-962F-B41498C24D15}" type="presParOf" srcId="{ACBD1685-81AF-4DE4-8764-3FC40417B6B6}" destId="{25B5115A-DF73-4B33-B3AB-9D3F6838C0C1}"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C577CC-31E0-4E5B-AB95-3EB671D2D73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pt-BR"/>
        </a:p>
      </dgm:t>
    </dgm:pt>
    <dgm:pt modelId="{C68AAEF4-28E0-4C11-B666-EE408A335D00}">
      <dgm:prSet phldrT="[Texto]"/>
      <dgm:spPr/>
      <dgm:t>
        <a:bodyPr/>
        <a:lstStyle/>
        <a:p>
          <a:r>
            <a:rPr lang="pt-BR" dirty="0"/>
            <a:t>Fibras do tipo 1 – vermelhas</a:t>
          </a:r>
        </a:p>
      </dgm:t>
    </dgm:pt>
    <dgm:pt modelId="{185E9F8F-DAB5-4BC2-95A0-40A175D97CFD}" type="parTrans" cxnId="{89935E10-7DB1-42ED-AF59-D24E057F4A7A}">
      <dgm:prSet/>
      <dgm:spPr/>
      <dgm:t>
        <a:bodyPr/>
        <a:lstStyle/>
        <a:p>
          <a:endParaRPr lang="pt-BR"/>
        </a:p>
      </dgm:t>
    </dgm:pt>
    <dgm:pt modelId="{2D00266A-90C9-450A-BD90-3AEB66D6C5FF}" type="sibTrans" cxnId="{89935E10-7DB1-42ED-AF59-D24E057F4A7A}">
      <dgm:prSet/>
      <dgm:spPr/>
      <dgm:t>
        <a:bodyPr/>
        <a:lstStyle/>
        <a:p>
          <a:endParaRPr lang="pt-BR"/>
        </a:p>
      </dgm:t>
    </dgm:pt>
    <dgm:pt modelId="{7BA9D397-2EBD-4A50-8C0F-E40FA44FE092}">
      <dgm:prSet phldrT="[Texto]"/>
      <dgm:spPr/>
      <dgm:t>
        <a:bodyPr/>
        <a:lstStyle/>
        <a:p>
          <a:r>
            <a:rPr lang="pt-BR" dirty="0"/>
            <a:t>Velocidade de contração lenta</a:t>
          </a:r>
        </a:p>
      </dgm:t>
    </dgm:pt>
    <dgm:pt modelId="{54976D10-EF58-4B8F-9BF6-5AADD39F899C}" type="parTrans" cxnId="{FA8CD8DF-169F-4778-B1BE-1FD609BB49B9}">
      <dgm:prSet/>
      <dgm:spPr/>
      <dgm:t>
        <a:bodyPr/>
        <a:lstStyle/>
        <a:p>
          <a:endParaRPr lang="pt-BR"/>
        </a:p>
      </dgm:t>
    </dgm:pt>
    <dgm:pt modelId="{6103F462-59E5-44C0-8684-94E73715D459}" type="sibTrans" cxnId="{FA8CD8DF-169F-4778-B1BE-1FD609BB49B9}">
      <dgm:prSet/>
      <dgm:spPr/>
      <dgm:t>
        <a:bodyPr/>
        <a:lstStyle/>
        <a:p>
          <a:endParaRPr lang="pt-BR"/>
        </a:p>
      </dgm:t>
    </dgm:pt>
    <dgm:pt modelId="{A8E042D4-B668-4043-BCBB-08D52DAAD47D}">
      <dgm:prSet phldrT="[Texto]"/>
      <dgm:spPr/>
      <dgm:t>
        <a:bodyPr/>
        <a:lstStyle/>
        <a:p>
          <a:r>
            <a:rPr lang="pt-BR" dirty="0"/>
            <a:t>Fibras do tipo 2 - brancas</a:t>
          </a:r>
        </a:p>
      </dgm:t>
    </dgm:pt>
    <dgm:pt modelId="{39B6B29D-964B-4DF6-8442-8E11C3C1BC34}" type="parTrans" cxnId="{8C194CD0-EE04-4720-85F5-BB382E0F83B1}">
      <dgm:prSet/>
      <dgm:spPr/>
      <dgm:t>
        <a:bodyPr/>
        <a:lstStyle/>
        <a:p>
          <a:endParaRPr lang="pt-BR"/>
        </a:p>
      </dgm:t>
    </dgm:pt>
    <dgm:pt modelId="{EE9AE8A1-0552-408B-8580-9B857A5F21FF}" type="sibTrans" cxnId="{8C194CD0-EE04-4720-85F5-BB382E0F83B1}">
      <dgm:prSet/>
      <dgm:spPr/>
      <dgm:t>
        <a:bodyPr/>
        <a:lstStyle/>
        <a:p>
          <a:endParaRPr lang="pt-BR"/>
        </a:p>
      </dgm:t>
    </dgm:pt>
    <dgm:pt modelId="{DD6475CC-5D67-4AB9-BA42-DCBFC9ADF1B7}">
      <dgm:prSet phldrT="[Texto]"/>
      <dgm:spPr/>
      <dgm:t>
        <a:bodyPr/>
        <a:lstStyle/>
        <a:p>
          <a:r>
            <a:rPr lang="pt-BR" dirty="0"/>
            <a:t>Velocidade de contração rápida </a:t>
          </a:r>
        </a:p>
      </dgm:t>
    </dgm:pt>
    <dgm:pt modelId="{A705DC33-B8F5-4250-9057-C8EFBBF6148E}" type="parTrans" cxnId="{D43721D7-E7F1-484B-A37C-24766C06A0D4}">
      <dgm:prSet/>
      <dgm:spPr/>
      <dgm:t>
        <a:bodyPr/>
        <a:lstStyle/>
        <a:p>
          <a:endParaRPr lang="pt-BR"/>
        </a:p>
      </dgm:t>
    </dgm:pt>
    <dgm:pt modelId="{822C7B9A-0127-4BEF-BBD9-474C7202B5B2}" type="sibTrans" cxnId="{D43721D7-E7F1-484B-A37C-24766C06A0D4}">
      <dgm:prSet/>
      <dgm:spPr/>
      <dgm:t>
        <a:bodyPr/>
        <a:lstStyle/>
        <a:p>
          <a:endParaRPr lang="pt-BR"/>
        </a:p>
      </dgm:t>
    </dgm:pt>
    <dgm:pt modelId="{B73C6357-48E6-49E5-97AF-064B50AE4944}">
      <dgm:prSet phldrT="[Texto]"/>
      <dgm:spPr/>
      <dgm:t>
        <a:bodyPr/>
        <a:lstStyle/>
        <a:p>
          <a:r>
            <a:rPr lang="pt-BR" dirty="0"/>
            <a:t>Maior capacidade de metabolismo aeróbico </a:t>
          </a:r>
        </a:p>
      </dgm:t>
    </dgm:pt>
    <dgm:pt modelId="{210EDA12-56A5-4E2C-87A1-1BCEB822614A}" type="parTrans" cxnId="{B31DEE05-B737-414F-8A32-79C9B7924946}">
      <dgm:prSet/>
      <dgm:spPr/>
      <dgm:t>
        <a:bodyPr/>
        <a:lstStyle/>
        <a:p>
          <a:endParaRPr lang="pt-BR"/>
        </a:p>
      </dgm:t>
    </dgm:pt>
    <dgm:pt modelId="{B57719F6-361F-4778-9579-6F37A070797F}" type="sibTrans" cxnId="{B31DEE05-B737-414F-8A32-79C9B7924946}">
      <dgm:prSet/>
      <dgm:spPr/>
      <dgm:t>
        <a:bodyPr/>
        <a:lstStyle/>
        <a:p>
          <a:endParaRPr lang="pt-BR"/>
        </a:p>
      </dgm:t>
    </dgm:pt>
    <dgm:pt modelId="{58980AB7-BB54-4CA5-987B-1A4B2738CDFC}">
      <dgm:prSet phldrT="[Texto]"/>
      <dgm:spPr/>
      <dgm:t>
        <a:bodyPr/>
        <a:lstStyle/>
        <a:p>
          <a:endParaRPr lang="pt-BR" dirty="0"/>
        </a:p>
      </dgm:t>
    </dgm:pt>
    <dgm:pt modelId="{C6BC7B25-A973-4620-8C34-F50D1AE1F5F0}" type="parTrans" cxnId="{D487DAAF-D589-404B-9004-6682EFDDC562}">
      <dgm:prSet/>
      <dgm:spPr/>
      <dgm:t>
        <a:bodyPr/>
        <a:lstStyle/>
        <a:p>
          <a:endParaRPr lang="pt-BR"/>
        </a:p>
      </dgm:t>
    </dgm:pt>
    <dgm:pt modelId="{1AF73F61-072B-4B7C-830D-6FA7F7EEFD7E}" type="sibTrans" cxnId="{D487DAAF-D589-404B-9004-6682EFDDC562}">
      <dgm:prSet/>
      <dgm:spPr/>
      <dgm:t>
        <a:bodyPr/>
        <a:lstStyle/>
        <a:p>
          <a:endParaRPr lang="pt-BR"/>
        </a:p>
      </dgm:t>
    </dgm:pt>
    <dgm:pt modelId="{F809118A-0F68-41D1-9188-5AF9D17BA89E}">
      <dgm:prSet phldrT="[Texto]"/>
      <dgm:spPr/>
      <dgm:t>
        <a:bodyPr/>
        <a:lstStyle/>
        <a:p>
          <a:r>
            <a:rPr lang="pt-BR" dirty="0"/>
            <a:t>Mais mitocôndrias e mioglobinas</a:t>
          </a:r>
        </a:p>
      </dgm:t>
    </dgm:pt>
    <dgm:pt modelId="{69EFE1BC-675B-44B1-9C67-85DFB0C4A888}" type="parTrans" cxnId="{33F4277C-2790-4CE5-B40F-BFD3A3FEC20F}">
      <dgm:prSet/>
      <dgm:spPr/>
      <dgm:t>
        <a:bodyPr/>
        <a:lstStyle/>
        <a:p>
          <a:endParaRPr lang="pt-BR"/>
        </a:p>
      </dgm:t>
    </dgm:pt>
    <dgm:pt modelId="{57D5A14D-9734-41C2-B44C-2F633FD0E542}" type="sibTrans" cxnId="{33F4277C-2790-4CE5-B40F-BFD3A3FEC20F}">
      <dgm:prSet/>
      <dgm:spPr/>
      <dgm:t>
        <a:bodyPr/>
        <a:lstStyle/>
        <a:p>
          <a:endParaRPr lang="pt-BR"/>
        </a:p>
      </dgm:t>
    </dgm:pt>
    <dgm:pt modelId="{949680DB-E974-40ED-A692-5088B15A0064}">
      <dgm:prSet phldrT="[Texto]"/>
      <dgm:spPr/>
      <dgm:t>
        <a:bodyPr/>
        <a:lstStyle/>
        <a:p>
          <a:r>
            <a:rPr lang="pt-BR" dirty="0"/>
            <a:t>Contração estática e postural</a:t>
          </a:r>
        </a:p>
      </dgm:t>
    </dgm:pt>
    <dgm:pt modelId="{B0C87A26-FA47-4993-92B8-FFE0832530D1}" type="parTrans" cxnId="{BFDE0F68-DCF9-4989-BE98-056A5D1F098E}">
      <dgm:prSet/>
      <dgm:spPr/>
      <dgm:t>
        <a:bodyPr/>
        <a:lstStyle/>
        <a:p>
          <a:endParaRPr lang="pt-BR"/>
        </a:p>
      </dgm:t>
    </dgm:pt>
    <dgm:pt modelId="{ABADC1D2-0FD6-492C-90CD-EAAF37A0B504}" type="sibTrans" cxnId="{BFDE0F68-DCF9-4989-BE98-056A5D1F098E}">
      <dgm:prSet/>
      <dgm:spPr/>
      <dgm:t>
        <a:bodyPr/>
        <a:lstStyle/>
        <a:p>
          <a:endParaRPr lang="pt-BR"/>
        </a:p>
      </dgm:t>
    </dgm:pt>
    <dgm:pt modelId="{2C05F820-F2E5-4280-9B76-D3F09556C3A3}">
      <dgm:prSet phldrT="[Texto]"/>
      <dgm:spPr/>
      <dgm:t>
        <a:bodyPr/>
        <a:lstStyle/>
        <a:p>
          <a:r>
            <a:rPr lang="pt-BR" dirty="0"/>
            <a:t>Anaeróbica e pouca resistência a fadiga (fibra pobre em hemoglobina)</a:t>
          </a:r>
        </a:p>
      </dgm:t>
    </dgm:pt>
    <dgm:pt modelId="{81716A23-B3C9-4ABC-B8F7-FDED0D7EA8AC}" type="parTrans" cxnId="{F31F3340-16D8-4BBB-8377-8FE15040D123}">
      <dgm:prSet/>
      <dgm:spPr/>
      <dgm:t>
        <a:bodyPr/>
        <a:lstStyle/>
        <a:p>
          <a:endParaRPr lang="pt-BR"/>
        </a:p>
      </dgm:t>
    </dgm:pt>
    <dgm:pt modelId="{41862A6E-9DCD-4ADC-8CB9-66E983C09AA2}" type="sibTrans" cxnId="{F31F3340-16D8-4BBB-8377-8FE15040D123}">
      <dgm:prSet/>
      <dgm:spPr/>
      <dgm:t>
        <a:bodyPr/>
        <a:lstStyle/>
        <a:p>
          <a:endParaRPr lang="pt-BR"/>
        </a:p>
      </dgm:t>
    </dgm:pt>
    <dgm:pt modelId="{D5C13A87-C562-45DE-8488-35BCCC6F40E1}">
      <dgm:prSet phldrT="[Texto]"/>
      <dgm:spPr/>
      <dgm:t>
        <a:bodyPr/>
        <a:lstStyle/>
        <a:p>
          <a:r>
            <a:rPr lang="pt-BR" dirty="0"/>
            <a:t>Contrações dinâmicas, movimentos breves e pouca força </a:t>
          </a:r>
        </a:p>
      </dgm:t>
    </dgm:pt>
    <dgm:pt modelId="{70BE5658-B8A7-4E41-8A0D-2F858BAB3135}" type="parTrans" cxnId="{C12FCC7E-5844-4878-8908-8EDB1FF9EFDF}">
      <dgm:prSet/>
      <dgm:spPr/>
      <dgm:t>
        <a:bodyPr/>
        <a:lstStyle/>
        <a:p>
          <a:endParaRPr lang="pt-BR"/>
        </a:p>
      </dgm:t>
    </dgm:pt>
    <dgm:pt modelId="{FDA9F1E4-8A97-4452-A3BC-48585ED6999C}" type="sibTrans" cxnId="{C12FCC7E-5844-4878-8908-8EDB1FF9EFDF}">
      <dgm:prSet/>
      <dgm:spPr/>
      <dgm:t>
        <a:bodyPr/>
        <a:lstStyle/>
        <a:p>
          <a:endParaRPr lang="pt-BR"/>
        </a:p>
      </dgm:t>
    </dgm:pt>
    <dgm:pt modelId="{5A68A9B5-78C9-4A21-B7A1-24E8CB2544BE}" type="pres">
      <dgm:prSet presAssocID="{DCC577CC-31E0-4E5B-AB95-3EB671D2D738}" presName="linear" presStyleCnt="0">
        <dgm:presLayoutVars>
          <dgm:animLvl val="lvl"/>
          <dgm:resizeHandles val="exact"/>
        </dgm:presLayoutVars>
      </dgm:prSet>
      <dgm:spPr/>
    </dgm:pt>
    <dgm:pt modelId="{BE5E0052-8E44-4B31-B701-79D9BE011CBB}" type="pres">
      <dgm:prSet presAssocID="{C68AAEF4-28E0-4C11-B666-EE408A335D00}" presName="parentText" presStyleLbl="node1" presStyleIdx="0" presStyleCnt="2">
        <dgm:presLayoutVars>
          <dgm:chMax val="0"/>
          <dgm:bulletEnabled val="1"/>
        </dgm:presLayoutVars>
      </dgm:prSet>
      <dgm:spPr/>
    </dgm:pt>
    <dgm:pt modelId="{AFEF5AE6-6481-404A-920C-7173B949D972}" type="pres">
      <dgm:prSet presAssocID="{C68AAEF4-28E0-4C11-B666-EE408A335D00}" presName="childText" presStyleLbl="revTx" presStyleIdx="0" presStyleCnt="2" custLinFactNeighborX="20391" custLinFactNeighborY="464">
        <dgm:presLayoutVars>
          <dgm:bulletEnabled val="1"/>
        </dgm:presLayoutVars>
      </dgm:prSet>
      <dgm:spPr/>
    </dgm:pt>
    <dgm:pt modelId="{613BE0ED-75F2-45CC-9FC0-12A7C48A1890}" type="pres">
      <dgm:prSet presAssocID="{A8E042D4-B668-4043-BCBB-08D52DAAD47D}" presName="parentText" presStyleLbl="node1" presStyleIdx="1" presStyleCnt="2">
        <dgm:presLayoutVars>
          <dgm:chMax val="0"/>
          <dgm:bulletEnabled val="1"/>
        </dgm:presLayoutVars>
      </dgm:prSet>
      <dgm:spPr/>
    </dgm:pt>
    <dgm:pt modelId="{2A151A40-2C6F-4C19-9F49-1BC43BB9D34D}" type="pres">
      <dgm:prSet presAssocID="{A8E042D4-B668-4043-BCBB-08D52DAAD47D}" presName="childText" presStyleLbl="revTx" presStyleIdx="1" presStyleCnt="2">
        <dgm:presLayoutVars>
          <dgm:bulletEnabled val="1"/>
        </dgm:presLayoutVars>
      </dgm:prSet>
      <dgm:spPr/>
    </dgm:pt>
  </dgm:ptLst>
  <dgm:cxnLst>
    <dgm:cxn modelId="{B31DEE05-B737-414F-8A32-79C9B7924946}" srcId="{C68AAEF4-28E0-4C11-B666-EE408A335D00}" destId="{B73C6357-48E6-49E5-97AF-064B50AE4944}" srcOrd="1" destOrd="0" parTransId="{210EDA12-56A5-4E2C-87A1-1BCEB822614A}" sibTransId="{B57719F6-361F-4778-9579-6F37A070797F}"/>
    <dgm:cxn modelId="{17ACBC07-A07B-47F4-83EC-1029166FF0F3}" type="presOf" srcId="{D5C13A87-C562-45DE-8488-35BCCC6F40E1}" destId="{2A151A40-2C6F-4C19-9F49-1BC43BB9D34D}" srcOrd="0" destOrd="2" presId="urn:microsoft.com/office/officeart/2005/8/layout/vList2"/>
    <dgm:cxn modelId="{89935E10-7DB1-42ED-AF59-D24E057F4A7A}" srcId="{DCC577CC-31E0-4E5B-AB95-3EB671D2D738}" destId="{C68AAEF4-28E0-4C11-B666-EE408A335D00}" srcOrd="0" destOrd="0" parTransId="{185E9F8F-DAB5-4BC2-95A0-40A175D97CFD}" sibTransId="{2D00266A-90C9-450A-BD90-3AEB66D6C5FF}"/>
    <dgm:cxn modelId="{5F0C801A-AAE9-449E-8C82-48215D1124E3}" type="presOf" srcId="{7BA9D397-2EBD-4A50-8C0F-E40FA44FE092}" destId="{AFEF5AE6-6481-404A-920C-7173B949D972}" srcOrd="0" destOrd="0" presId="urn:microsoft.com/office/officeart/2005/8/layout/vList2"/>
    <dgm:cxn modelId="{F38F1C3C-FD55-42A2-B7A8-87F88D236770}" type="presOf" srcId="{C68AAEF4-28E0-4C11-B666-EE408A335D00}" destId="{BE5E0052-8E44-4B31-B701-79D9BE011CBB}" srcOrd="0" destOrd="0" presId="urn:microsoft.com/office/officeart/2005/8/layout/vList2"/>
    <dgm:cxn modelId="{F31F3340-16D8-4BBB-8377-8FE15040D123}" srcId="{A8E042D4-B668-4043-BCBB-08D52DAAD47D}" destId="{2C05F820-F2E5-4280-9B76-D3F09556C3A3}" srcOrd="1" destOrd="0" parTransId="{81716A23-B3C9-4ABC-B8F7-FDED0D7EA8AC}" sibTransId="{41862A6E-9DCD-4ADC-8CB9-66E983C09AA2}"/>
    <dgm:cxn modelId="{BFDE0F68-DCF9-4989-BE98-056A5D1F098E}" srcId="{C68AAEF4-28E0-4C11-B666-EE408A335D00}" destId="{949680DB-E974-40ED-A692-5088B15A0064}" srcOrd="3" destOrd="0" parTransId="{B0C87A26-FA47-4993-92B8-FFE0832530D1}" sibTransId="{ABADC1D2-0FD6-492C-90CD-EAAF37A0B504}"/>
    <dgm:cxn modelId="{90B1BE6E-90AE-4A58-B48F-2962F2FE0BA6}" type="presOf" srcId="{58980AB7-BB54-4CA5-987B-1A4B2738CDFC}" destId="{AFEF5AE6-6481-404A-920C-7173B949D972}" srcOrd="0" destOrd="4" presId="urn:microsoft.com/office/officeart/2005/8/layout/vList2"/>
    <dgm:cxn modelId="{C68AF250-6F64-4F01-A07A-EFDA60114A5A}" type="presOf" srcId="{949680DB-E974-40ED-A692-5088B15A0064}" destId="{AFEF5AE6-6481-404A-920C-7173B949D972}" srcOrd="0" destOrd="3" presId="urn:microsoft.com/office/officeart/2005/8/layout/vList2"/>
    <dgm:cxn modelId="{76F1EB51-6D33-459C-AFB4-CA4269102F13}" type="presOf" srcId="{DD6475CC-5D67-4AB9-BA42-DCBFC9ADF1B7}" destId="{2A151A40-2C6F-4C19-9F49-1BC43BB9D34D}" srcOrd="0" destOrd="0" presId="urn:microsoft.com/office/officeart/2005/8/layout/vList2"/>
    <dgm:cxn modelId="{33F4277C-2790-4CE5-B40F-BFD3A3FEC20F}" srcId="{C68AAEF4-28E0-4C11-B666-EE408A335D00}" destId="{F809118A-0F68-41D1-9188-5AF9D17BA89E}" srcOrd="2" destOrd="0" parTransId="{69EFE1BC-675B-44B1-9C67-85DFB0C4A888}" sibTransId="{57D5A14D-9734-41C2-B44C-2F633FD0E542}"/>
    <dgm:cxn modelId="{C12FCC7E-5844-4878-8908-8EDB1FF9EFDF}" srcId="{A8E042D4-B668-4043-BCBB-08D52DAAD47D}" destId="{D5C13A87-C562-45DE-8488-35BCCC6F40E1}" srcOrd="2" destOrd="0" parTransId="{70BE5658-B8A7-4E41-8A0D-2F858BAB3135}" sibTransId="{FDA9F1E4-8A97-4452-A3BC-48585ED6999C}"/>
    <dgm:cxn modelId="{E869658C-5F41-4A02-8A73-432361D79F64}" type="presOf" srcId="{A8E042D4-B668-4043-BCBB-08D52DAAD47D}" destId="{613BE0ED-75F2-45CC-9FC0-12A7C48A1890}" srcOrd="0" destOrd="0" presId="urn:microsoft.com/office/officeart/2005/8/layout/vList2"/>
    <dgm:cxn modelId="{D487DAAF-D589-404B-9004-6682EFDDC562}" srcId="{C68AAEF4-28E0-4C11-B666-EE408A335D00}" destId="{58980AB7-BB54-4CA5-987B-1A4B2738CDFC}" srcOrd="4" destOrd="0" parTransId="{C6BC7B25-A973-4620-8C34-F50D1AE1F5F0}" sibTransId="{1AF73F61-072B-4B7C-830D-6FA7F7EEFD7E}"/>
    <dgm:cxn modelId="{88EAD3B9-ECBE-4931-8FB9-D996652CCE50}" type="presOf" srcId="{DCC577CC-31E0-4E5B-AB95-3EB671D2D738}" destId="{5A68A9B5-78C9-4A21-B7A1-24E8CB2544BE}" srcOrd="0" destOrd="0" presId="urn:microsoft.com/office/officeart/2005/8/layout/vList2"/>
    <dgm:cxn modelId="{E11058C6-DD3E-4194-960D-C1314A1B0168}" type="presOf" srcId="{2C05F820-F2E5-4280-9B76-D3F09556C3A3}" destId="{2A151A40-2C6F-4C19-9F49-1BC43BB9D34D}" srcOrd="0" destOrd="1" presId="urn:microsoft.com/office/officeart/2005/8/layout/vList2"/>
    <dgm:cxn modelId="{4E00E8C8-EE7B-4789-BA15-D488A2179E3E}" type="presOf" srcId="{B73C6357-48E6-49E5-97AF-064B50AE4944}" destId="{AFEF5AE6-6481-404A-920C-7173B949D972}" srcOrd="0" destOrd="1" presId="urn:microsoft.com/office/officeart/2005/8/layout/vList2"/>
    <dgm:cxn modelId="{CE1F27CC-D1A1-4C30-B95F-8B999F9001B6}" type="presOf" srcId="{F809118A-0F68-41D1-9188-5AF9D17BA89E}" destId="{AFEF5AE6-6481-404A-920C-7173B949D972}" srcOrd="0" destOrd="2" presId="urn:microsoft.com/office/officeart/2005/8/layout/vList2"/>
    <dgm:cxn modelId="{8C194CD0-EE04-4720-85F5-BB382E0F83B1}" srcId="{DCC577CC-31E0-4E5B-AB95-3EB671D2D738}" destId="{A8E042D4-B668-4043-BCBB-08D52DAAD47D}" srcOrd="1" destOrd="0" parTransId="{39B6B29D-964B-4DF6-8442-8E11C3C1BC34}" sibTransId="{EE9AE8A1-0552-408B-8580-9B857A5F21FF}"/>
    <dgm:cxn modelId="{D43721D7-E7F1-484B-A37C-24766C06A0D4}" srcId="{A8E042D4-B668-4043-BCBB-08D52DAAD47D}" destId="{DD6475CC-5D67-4AB9-BA42-DCBFC9ADF1B7}" srcOrd="0" destOrd="0" parTransId="{A705DC33-B8F5-4250-9057-C8EFBBF6148E}" sibTransId="{822C7B9A-0127-4BEF-BBD9-474C7202B5B2}"/>
    <dgm:cxn modelId="{FA8CD8DF-169F-4778-B1BE-1FD609BB49B9}" srcId="{C68AAEF4-28E0-4C11-B666-EE408A335D00}" destId="{7BA9D397-2EBD-4A50-8C0F-E40FA44FE092}" srcOrd="0" destOrd="0" parTransId="{54976D10-EF58-4B8F-9BF6-5AADD39F899C}" sibTransId="{6103F462-59E5-44C0-8684-94E73715D459}"/>
    <dgm:cxn modelId="{77CF26F4-7950-40D6-9CA4-19E41D6C77F7}" type="presParOf" srcId="{5A68A9B5-78C9-4A21-B7A1-24E8CB2544BE}" destId="{BE5E0052-8E44-4B31-B701-79D9BE011CBB}" srcOrd="0" destOrd="0" presId="urn:microsoft.com/office/officeart/2005/8/layout/vList2"/>
    <dgm:cxn modelId="{4B87E247-63D1-4B2E-A70E-00AC5FD2CC56}" type="presParOf" srcId="{5A68A9B5-78C9-4A21-B7A1-24E8CB2544BE}" destId="{AFEF5AE6-6481-404A-920C-7173B949D972}" srcOrd="1" destOrd="0" presId="urn:microsoft.com/office/officeart/2005/8/layout/vList2"/>
    <dgm:cxn modelId="{446ABD43-F7B6-47F9-A3A3-D601CE9A7A60}" type="presParOf" srcId="{5A68A9B5-78C9-4A21-B7A1-24E8CB2544BE}" destId="{613BE0ED-75F2-45CC-9FC0-12A7C48A1890}" srcOrd="2" destOrd="0" presId="urn:microsoft.com/office/officeart/2005/8/layout/vList2"/>
    <dgm:cxn modelId="{9EBC2E3D-F231-45D6-A794-A2ABB6612027}" type="presParOf" srcId="{5A68A9B5-78C9-4A21-B7A1-24E8CB2544BE}" destId="{2A151A40-2C6F-4C19-9F49-1BC43BB9D34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C577CC-31E0-4E5B-AB95-3EB671D2D73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pt-BR"/>
        </a:p>
      </dgm:t>
    </dgm:pt>
    <dgm:pt modelId="{C68AAEF4-28E0-4C11-B666-EE408A335D00}">
      <dgm:prSet phldrT="[Texto]"/>
      <dgm:spPr/>
      <dgm:t>
        <a:bodyPr/>
        <a:lstStyle/>
        <a:p>
          <a:r>
            <a:rPr lang="pt-BR" dirty="0"/>
            <a:t>Fibras do tipo 1 – vermelhas</a:t>
          </a:r>
        </a:p>
      </dgm:t>
    </dgm:pt>
    <dgm:pt modelId="{185E9F8F-DAB5-4BC2-95A0-40A175D97CFD}" type="parTrans" cxnId="{89935E10-7DB1-42ED-AF59-D24E057F4A7A}">
      <dgm:prSet/>
      <dgm:spPr/>
      <dgm:t>
        <a:bodyPr/>
        <a:lstStyle/>
        <a:p>
          <a:endParaRPr lang="pt-BR"/>
        </a:p>
      </dgm:t>
    </dgm:pt>
    <dgm:pt modelId="{2D00266A-90C9-450A-BD90-3AEB66D6C5FF}" type="sibTrans" cxnId="{89935E10-7DB1-42ED-AF59-D24E057F4A7A}">
      <dgm:prSet/>
      <dgm:spPr/>
      <dgm:t>
        <a:bodyPr/>
        <a:lstStyle/>
        <a:p>
          <a:endParaRPr lang="pt-BR"/>
        </a:p>
      </dgm:t>
    </dgm:pt>
    <dgm:pt modelId="{7BA9D397-2EBD-4A50-8C0F-E40FA44FE092}">
      <dgm:prSet phldrT="[Texto]"/>
      <dgm:spPr/>
      <dgm:t>
        <a:bodyPr/>
        <a:lstStyle/>
        <a:p>
          <a:r>
            <a:rPr lang="pt-BR" dirty="0"/>
            <a:t>+ vascularização </a:t>
          </a:r>
        </a:p>
      </dgm:t>
    </dgm:pt>
    <dgm:pt modelId="{54976D10-EF58-4B8F-9BF6-5AADD39F899C}" type="parTrans" cxnId="{FA8CD8DF-169F-4778-B1BE-1FD609BB49B9}">
      <dgm:prSet/>
      <dgm:spPr/>
      <dgm:t>
        <a:bodyPr/>
        <a:lstStyle/>
        <a:p>
          <a:endParaRPr lang="pt-BR"/>
        </a:p>
      </dgm:t>
    </dgm:pt>
    <dgm:pt modelId="{6103F462-59E5-44C0-8684-94E73715D459}" type="sibTrans" cxnId="{FA8CD8DF-169F-4778-B1BE-1FD609BB49B9}">
      <dgm:prSet/>
      <dgm:spPr/>
      <dgm:t>
        <a:bodyPr/>
        <a:lstStyle/>
        <a:p>
          <a:endParaRPr lang="pt-BR"/>
        </a:p>
      </dgm:t>
    </dgm:pt>
    <dgm:pt modelId="{A8E042D4-B668-4043-BCBB-08D52DAAD47D}">
      <dgm:prSet phldrT="[Texto]"/>
      <dgm:spPr/>
      <dgm:t>
        <a:bodyPr/>
        <a:lstStyle/>
        <a:p>
          <a:r>
            <a:rPr lang="pt-BR" dirty="0"/>
            <a:t>Fibras do tipo 2 - brancas</a:t>
          </a:r>
        </a:p>
      </dgm:t>
    </dgm:pt>
    <dgm:pt modelId="{39B6B29D-964B-4DF6-8442-8E11C3C1BC34}" type="parTrans" cxnId="{8C194CD0-EE04-4720-85F5-BB382E0F83B1}">
      <dgm:prSet/>
      <dgm:spPr/>
      <dgm:t>
        <a:bodyPr/>
        <a:lstStyle/>
        <a:p>
          <a:endParaRPr lang="pt-BR"/>
        </a:p>
      </dgm:t>
    </dgm:pt>
    <dgm:pt modelId="{EE9AE8A1-0552-408B-8580-9B857A5F21FF}" type="sibTrans" cxnId="{8C194CD0-EE04-4720-85F5-BB382E0F83B1}">
      <dgm:prSet/>
      <dgm:spPr/>
      <dgm:t>
        <a:bodyPr/>
        <a:lstStyle/>
        <a:p>
          <a:endParaRPr lang="pt-BR"/>
        </a:p>
      </dgm:t>
    </dgm:pt>
    <dgm:pt modelId="{DD6475CC-5D67-4AB9-BA42-DCBFC9ADF1B7}">
      <dgm:prSet phldrT="[Texto]"/>
      <dgm:spPr/>
      <dgm:t>
        <a:bodyPr/>
        <a:lstStyle/>
        <a:p>
          <a:r>
            <a:rPr lang="pt-BR" dirty="0"/>
            <a:t>- Vascularização </a:t>
          </a:r>
        </a:p>
      </dgm:t>
    </dgm:pt>
    <dgm:pt modelId="{A705DC33-B8F5-4250-9057-C8EFBBF6148E}" type="parTrans" cxnId="{D43721D7-E7F1-484B-A37C-24766C06A0D4}">
      <dgm:prSet/>
      <dgm:spPr/>
      <dgm:t>
        <a:bodyPr/>
        <a:lstStyle/>
        <a:p>
          <a:endParaRPr lang="pt-BR"/>
        </a:p>
      </dgm:t>
    </dgm:pt>
    <dgm:pt modelId="{822C7B9A-0127-4BEF-BBD9-474C7202B5B2}" type="sibTrans" cxnId="{D43721D7-E7F1-484B-A37C-24766C06A0D4}">
      <dgm:prSet/>
      <dgm:spPr/>
      <dgm:t>
        <a:bodyPr/>
        <a:lstStyle/>
        <a:p>
          <a:endParaRPr lang="pt-BR"/>
        </a:p>
      </dgm:t>
    </dgm:pt>
    <dgm:pt modelId="{58980AB7-BB54-4CA5-987B-1A4B2738CDFC}">
      <dgm:prSet phldrT="[Texto]"/>
      <dgm:spPr/>
      <dgm:t>
        <a:bodyPr/>
        <a:lstStyle/>
        <a:p>
          <a:endParaRPr lang="pt-BR" dirty="0"/>
        </a:p>
      </dgm:t>
    </dgm:pt>
    <dgm:pt modelId="{C6BC7B25-A973-4620-8C34-F50D1AE1F5F0}" type="parTrans" cxnId="{D487DAAF-D589-404B-9004-6682EFDDC562}">
      <dgm:prSet/>
      <dgm:spPr/>
      <dgm:t>
        <a:bodyPr/>
        <a:lstStyle/>
        <a:p>
          <a:endParaRPr lang="pt-BR"/>
        </a:p>
      </dgm:t>
    </dgm:pt>
    <dgm:pt modelId="{1AF73F61-072B-4B7C-830D-6FA7F7EEFD7E}" type="sibTrans" cxnId="{D487DAAF-D589-404B-9004-6682EFDDC562}">
      <dgm:prSet/>
      <dgm:spPr/>
      <dgm:t>
        <a:bodyPr/>
        <a:lstStyle/>
        <a:p>
          <a:endParaRPr lang="pt-BR"/>
        </a:p>
      </dgm:t>
    </dgm:pt>
    <dgm:pt modelId="{500F1482-A4D8-4FB6-8425-7656D54999A7}">
      <dgm:prSet phldrT="[Texto]"/>
      <dgm:spPr/>
      <dgm:t>
        <a:bodyPr/>
        <a:lstStyle/>
        <a:p>
          <a:r>
            <a:rPr lang="pt-BR" dirty="0"/>
            <a:t>+ oxigênio </a:t>
          </a:r>
        </a:p>
      </dgm:t>
    </dgm:pt>
    <dgm:pt modelId="{05F2109B-C408-4747-885E-835D201F5DE4}" type="parTrans" cxnId="{F1F11C4B-4D54-42B0-B365-72A7139FDBA0}">
      <dgm:prSet/>
      <dgm:spPr/>
      <dgm:t>
        <a:bodyPr/>
        <a:lstStyle/>
        <a:p>
          <a:endParaRPr lang="pt-BR"/>
        </a:p>
      </dgm:t>
    </dgm:pt>
    <dgm:pt modelId="{013D36DE-2C2D-4C64-8C57-EE4178D11D4F}" type="sibTrans" cxnId="{F1F11C4B-4D54-42B0-B365-72A7139FDBA0}">
      <dgm:prSet/>
      <dgm:spPr/>
      <dgm:t>
        <a:bodyPr/>
        <a:lstStyle/>
        <a:p>
          <a:endParaRPr lang="pt-BR"/>
        </a:p>
      </dgm:t>
    </dgm:pt>
    <dgm:pt modelId="{68BA4202-FDC0-43EA-89E6-24DBE16C6BFE}">
      <dgm:prSet phldrT="[Texto]"/>
      <dgm:spPr/>
      <dgm:t>
        <a:bodyPr/>
        <a:lstStyle/>
        <a:p>
          <a:r>
            <a:rPr lang="pt-BR" dirty="0"/>
            <a:t>+ mioglobinas</a:t>
          </a:r>
        </a:p>
      </dgm:t>
    </dgm:pt>
    <dgm:pt modelId="{D07F939A-59E9-4F99-8CEE-6C271AF1D0C4}" type="parTrans" cxnId="{125DE038-3CAD-4E65-BD20-239B2259A866}">
      <dgm:prSet/>
      <dgm:spPr/>
      <dgm:t>
        <a:bodyPr/>
        <a:lstStyle/>
        <a:p>
          <a:endParaRPr lang="pt-BR"/>
        </a:p>
      </dgm:t>
    </dgm:pt>
    <dgm:pt modelId="{EBAA4561-D58F-49C5-B11E-115378FC0A35}" type="sibTrans" cxnId="{125DE038-3CAD-4E65-BD20-239B2259A866}">
      <dgm:prSet/>
      <dgm:spPr/>
      <dgm:t>
        <a:bodyPr/>
        <a:lstStyle/>
        <a:p>
          <a:endParaRPr lang="pt-BR"/>
        </a:p>
      </dgm:t>
    </dgm:pt>
    <dgm:pt modelId="{1001357A-2AF8-42FC-9D3B-CA5DF703956F}">
      <dgm:prSet phldrT="[Texto]"/>
      <dgm:spPr/>
      <dgm:t>
        <a:bodyPr/>
        <a:lstStyle/>
        <a:p>
          <a:r>
            <a:rPr lang="pt-BR" dirty="0"/>
            <a:t>+ atividade e quantidade de mitocôndrias</a:t>
          </a:r>
        </a:p>
      </dgm:t>
    </dgm:pt>
    <dgm:pt modelId="{8BE34A0A-F6F3-4532-8E7A-138529BE0775}" type="parTrans" cxnId="{8032F8B4-D8C3-47F0-90A3-564D34777727}">
      <dgm:prSet/>
      <dgm:spPr/>
      <dgm:t>
        <a:bodyPr/>
        <a:lstStyle/>
        <a:p>
          <a:endParaRPr lang="pt-BR"/>
        </a:p>
      </dgm:t>
    </dgm:pt>
    <dgm:pt modelId="{9BA1FE0E-88CE-4790-871F-EB8000BD73E7}" type="sibTrans" cxnId="{8032F8B4-D8C3-47F0-90A3-564D34777727}">
      <dgm:prSet/>
      <dgm:spPr/>
      <dgm:t>
        <a:bodyPr/>
        <a:lstStyle/>
        <a:p>
          <a:endParaRPr lang="pt-BR"/>
        </a:p>
      </dgm:t>
    </dgm:pt>
    <dgm:pt modelId="{85D4C61B-6E59-49B6-8FC4-7E1018D42399}">
      <dgm:prSet phldrT="[Texto]"/>
      <dgm:spPr/>
      <dgm:t>
        <a:bodyPr/>
        <a:lstStyle/>
        <a:p>
          <a:r>
            <a:rPr lang="pt-BR" dirty="0"/>
            <a:t>- Oxigênio</a:t>
          </a:r>
        </a:p>
      </dgm:t>
    </dgm:pt>
    <dgm:pt modelId="{BD49680B-0EAC-4674-9A27-B18311414DCA}" type="parTrans" cxnId="{D02BF4DF-9AA7-4B91-BFDE-92359582B665}">
      <dgm:prSet/>
      <dgm:spPr/>
      <dgm:t>
        <a:bodyPr/>
        <a:lstStyle/>
        <a:p>
          <a:endParaRPr lang="pt-BR"/>
        </a:p>
      </dgm:t>
    </dgm:pt>
    <dgm:pt modelId="{C17C01B2-9442-4428-8DE9-8F990DBE84BF}" type="sibTrans" cxnId="{D02BF4DF-9AA7-4B91-BFDE-92359582B665}">
      <dgm:prSet/>
      <dgm:spPr/>
      <dgm:t>
        <a:bodyPr/>
        <a:lstStyle/>
        <a:p>
          <a:endParaRPr lang="pt-BR"/>
        </a:p>
      </dgm:t>
    </dgm:pt>
    <dgm:pt modelId="{958A5FC8-057C-44A8-9394-B03F461CEF6B}">
      <dgm:prSet phldrT="[Texto]"/>
      <dgm:spPr/>
      <dgm:t>
        <a:bodyPr/>
        <a:lstStyle/>
        <a:p>
          <a:endParaRPr lang="pt-BR" dirty="0"/>
        </a:p>
      </dgm:t>
    </dgm:pt>
    <dgm:pt modelId="{5CF22DB1-5712-4EE4-BBE4-BA5D4B740E7B}" type="parTrans" cxnId="{E47B671E-5745-4F7E-B75D-8DC338A0DE6C}">
      <dgm:prSet/>
      <dgm:spPr/>
      <dgm:t>
        <a:bodyPr/>
        <a:lstStyle/>
        <a:p>
          <a:endParaRPr lang="pt-BR"/>
        </a:p>
      </dgm:t>
    </dgm:pt>
    <dgm:pt modelId="{46F60175-D0CD-41BC-873E-DCDDF6EC33D2}" type="sibTrans" cxnId="{E47B671E-5745-4F7E-B75D-8DC338A0DE6C}">
      <dgm:prSet/>
      <dgm:spPr/>
      <dgm:t>
        <a:bodyPr/>
        <a:lstStyle/>
        <a:p>
          <a:endParaRPr lang="pt-BR"/>
        </a:p>
      </dgm:t>
    </dgm:pt>
    <dgm:pt modelId="{ABEA0B0D-D901-47AA-9022-B50E051241E5}">
      <dgm:prSet phldrT="[Texto]"/>
      <dgm:spPr/>
      <dgm:t>
        <a:bodyPr/>
        <a:lstStyle/>
        <a:p>
          <a:r>
            <a:rPr lang="pt-BR" dirty="0"/>
            <a:t>+ armazenamento de glicogênio</a:t>
          </a:r>
        </a:p>
      </dgm:t>
    </dgm:pt>
    <dgm:pt modelId="{BC5E06E9-81C1-4F73-AAF9-EC2817F26B49}" type="parTrans" cxnId="{169A5079-2804-4E0F-8F5D-7BA5ACDB987D}">
      <dgm:prSet/>
      <dgm:spPr/>
      <dgm:t>
        <a:bodyPr/>
        <a:lstStyle/>
        <a:p>
          <a:endParaRPr lang="pt-BR"/>
        </a:p>
      </dgm:t>
    </dgm:pt>
    <dgm:pt modelId="{92B393D9-1439-4C0F-B7F2-4C98B906A056}" type="sibTrans" cxnId="{169A5079-2804-4E0F-8F5D-7BA5ACDB987D}">
      <dgm:prSet/>
      <dgm:spPr/>
      <dgm:t>
        <a:bodyPr/>
        <a:lstStyle/>
        <a:p>
          <a:endParaRPr lang="pt-BR"/>
        </a:p>
      </dgm:t>
    </dgm:pt>
    <dgm:pt modelId="{989D2D8B-994B-43C1-8E63-03B072C115DD}">
      <dgm:prSet phldrT="[Texto]"/>
      <dgm:spPr/>
      <dgm:t>
        <a:bodyPr/>
        <a:lstStyle/>
        <a:p>
          <a:r>
            <a:rPr lang="pt-BR" dirty="0"/>
            <a:t>+ velocidade de contração + força </a:t>
          </a:r>
        </a:p>
      </dgm:t>
    </dgm:pt>
    <dgm:pt modelId="{2F513B7D-4D89-463D-8CDC-BEFFECA72AAB}" type="parTrans" cxnId="{DC83778E-F1BE-4ED1-8A8E-16C216A880EB}">
      <dgm:prSet/>
      <dgm:spPr/>
      <dgm:t>
        <a:bodyPr/>
        <a:lstStyle/>
        <a:p>
          <a:endParaRPr lang="pt-BR"/>
        </a:p>
      </dgm:t>
    </dgm:pt>
    <dgm:pt modelId="{5B659C5C-978E-4DBA-8FCC-9B0F1F979B07}" type="sibTrans" cxnId="{DC83778E-F1BE-4ED1-8A8E-16C216A880EB}">
      <dgm:prSet/>
      <dgm:spPr/>
      <dgm:t>
        <a:bodyPr/>
        <a:lstStyle/>
        <a:p>
          <a:endParaRPr lang="pt-BR"/>
        </a:p>
      </dgm:t>
    </dgm:pt>
    <dgm:pt modelId="{B534A412-EB7A-4ACE-8429-EC9FFE9F7794}">
      <dgm:prSet phldrT="[Texto]"/>
      <dgm:spPr/>
      <dgm:t>
        <a:bodyPr/>
        <a:lstStyle/>
        <a:p>
          <a:r>
            <a:rPr lang="pt-BR" dirty="0"/>
            <a:t>- resistência a fadiga  </a:t>
          </a:r>
        </a:p>
      </dgm:t>
    </dgm:pt>
    <dgm:pt modelId="{1C18AB1A-F99A-4C41-BC55-1E837EA718E0}" type="parTrans" cxnId="{E00006C1-803E-4FD0-9801-2FE44EBCAEA5}">
      <dgm:prSet/>
      <dgm:spPr/>
      <dgm:t>
        <a:bodyPr/>
        <a:lstStyle/>
        <a:p>
          <a:endParaRPr lang="pt-BR"/>
        </a:p>
      </dgm:t>
    </dgm:pt>
    <dgm:pt modelId="{98EE8301-EA86-421D-93CA-F648B392769E}" type="sibTrans" cxnId="{E00006C1-803E-4FD0-9801-2FE44EBCAEA5}">
      <dgm:prSet/>
      <dgm:spPr/>
      <dgm:t>
        <a:bodyPr/>
        <a:lstStyle/>
        <a:p>
          <a:endParaRPr lang="pt-BR"/>
        </a:p>
      </dgm:t>
    </dgm:pt>
    <dgm:pt modelId="{59E56A6F-2404-4C46-B49F-FF09A6F5CF97}">
      <dgm:prSet phldrT="[Texto]"/>
      <dgm:spPr/>
      <dgm:t>
        <a:bodyPr/>
        <a:lstStyle/>
        <a:p>
          <a:r>
            <a:rPr lang="pt-BR" dirty="0"/>
            <a:t>Fibras grandes </a:t>
          </a:r>
        </a:p>
      </dgm:t>
    </dgm:pt>
    <dgm:pt modelId="{3D0EACEC-2CA1-417C-96D7-C52C68B04B7A}" type="parTrans" cxnId="{CBCEDBCA-EDDA-4B7A-94CF-A2BA6EEF10A6}">
      <dgm:prSet/>
      <dgm:spPr/>
      <dgm:t>
        <a:bodyPr/>
        <a:lstStyle/>
        <a:p>
          <a:endParaRPr lang="pt-BR"/>
        </a:p>
      </dgm:t>
    </dgm:pt>
    <dgm:pt modelId="{7A429598-90DB-4193-9BC4-9E705C714F74}" type="sibTrans" cxnId="{CBCEDBCA-EDDA-4B7A-94CF-A2BA6EEF10A6}">
      <dgm:prSet/>
      <dgm:spPr/>
      <dgm:t>
        <a:bodyPr/>
        <a:lstStyle/>
        <a:p>
          <a:endParaRPr lang="pt-BR"/>
        </a:p>
      </dgm:t>
    </dgm:pt>
    <dgm:pt modelId="{8C9109F3-368F-4846-83B3-26459B60B15F}">
      <dgm:prSet phldrT="[Texto]"/>
      <dgm:spPr/>
      <dgm:t>
        <a:bodyPr/>
        <a:lstStyle/>
        <a:p>
          <a:r>
            <a:rPr lang="pt-BR" dirty="0"/>
            <a:t>- Força </a:t>
          </a:r>
        </a:p>
      </dgm:t>
    </dgm:pt>
    <dgm:pt modelId="{6AE62BB0-E26C-49A1-AD95-166943AC82EF}" type="parTrans" cxnId="{39A47A23-6A02-4078-9495-6ECAD7F4E3D0}">
      <dgm:prSet/>
      <dgm:spPr/>
      <dgm:t>
        <a:bodyPr/>
        <a:lstStyle/>
        <a:p>
          <a:endParaRPr lang="pt-BR"/>
        </a:p>
      </dgm:t>
    </dgm:pt>
    <dgm:pt modelId="{464CF8CB-BC98-4F28-9C97-210EC6EC172F}" type="sibTrans" cxnId="{39A47A23-6A02-4078-9495-6ECAD7F4E3D0}">
      <dgm:prSet/>
      <dgm:spPr/>
      <dgm:t>
        <a:bodyPr/>
        <a:lstStyle/>
        <a:p>
          <a:endParaRPr lang="pt-BR"/>
        </a:p>
      </dgm:t>
    </dgm:pt>
    <dgm:pt modelId="{A1410E51-4F72-4C2F-ACD5-E313B0F626EC}">
      <dgm:prSet phldrT="[Texto]"/>
      <dgm:spPr/>
      <dgm:t>
        <a:bodyPr/>
        <a:lstStyle/>
        <a:p>
          <a:r>
            <a:rPr lang="pt-BR" dirty="0"/>
            <a:t>+ resistência a fadiga </a:t>
          </a:r>
        </a:p>
      </dgm:t>
    </dgm:pt>
    <dgm:pt modelId="{CB5C460A-7180-49EC-8897-F86A065EEF41}" type="parTrans" cxnId="{91FBF593-C3BB-4AE9-8A9A-941B81F2718F}">
      <dgm:prSet/>
      <dgm:spPr/>
      <dgm:t>
        <a:bodyPr/>
        <a:lstStyle/>
        <a:p>
          <a:endParaRPr lang="pt-BR"/>
        </a:p>
      </dgm:t>
    </dgm:pt>
    <dgm:pt modelId="{9C7296B5-4498-44E5-8E38-DF15BB837932}" type="sibTrans" cxnId="{91FBF593-C3BB-4AE9-8A9A-941B81F2718F}">
      <dgm:prSet/>
      <dgm:spPr/>
      <dgm:t>
        <a:bodyPr/>
        <a:lstStyle/>
        <a:p>
          <a:endParaRPr lang="pt-BR"/>
        </a:p>
      </dgm:t>
    </dgm:pt>
    <dgm:pt modelId="{79F7AF42-115C-482C-A221-02BCDF5EBCDA}">
      <dgm:prSet phldrT="[Texto]"/>
      <dgm:spPr/>
      <dgm:t>
        <a:bodyPr/>
        <a:lstStyle/>
        <a:p>
          <a:r>
            <a:rPr lang="pt-BR" dirty="0"/>
            <a:t>Fibras pequenas </a:t>
          </a:r>
        </a:p>
      </dgm:t>
    </dgm:pt>
    <dgm:pt modelId="{80C1364A-E31A-415B-B2C7-94C00CA2422B}" type="parTrans" cxnId="{04AEA86F-6370-49F8-9C39-B5BD11F1124B}">
      <dgm:prSet/>
      <dgm:spPr/>
      <dgm:t>
        <a:bodyPr/>
        <a:lstStyle/>
        <a:p>
          <a:endParaRPr lang="pt-BR"/>
        </a:p>
      </dgm:t>
    </dgm:pt>
    <dgm:pt modelId="{381C7C4E-3FBA-41B8-83D0-BBF1A7F9BF78}" type="sibTrans" cxnId="{04AEA86F-6370-49F8-9C39-B5BD11F1124B}">
      <dgm:prSet/>
      <dgm:spPr/>
      <dgm:t>
        <a:bodyPr/>
        <a:lstStyle/>
        <a:p>
          <a:endParaRPr lang="pt-BR"/>
        </a:p>
      </dgm:t>
    </dgm:pt>
    <dgm:pt modelId="{5A68A9B5-78C9-4A21-B7A1-24E8CB2544BE}" type="pres">
      <dgm:prSet presAssocID="{DCC577CC-31E0-4E5B-AB95-3EB671D2D738}" presName="linear" presStyleCnt="0">
        <dgm:presLayoutVars>
          <dgm:animLvl val="lvl"/>
          <dgm:resizeHandles val="exact"/>
        </dgm:presLayoutVars>
      </dgm:prSet>
      <dgm:spPr/>
    </dgm:pt>
    <dgm:pt modelId="{BE5E0052-8E44-4B31-B701-79D9BE011CBB}" type="pres">
      <dgm:prSet presAssocID="{C68AAEF4-28E0-4C11-B666-EE408A335D00}" presName="parentText" presStyleLbl="node1" presStyleIdx="0" presStyleCnt="2">
        <dgm:presLayoutVars>
          <dgm:chMax val="0"/>
          <dgm:bulletEnabled val="1"/>
        </dgm:presLayoutVars>
      </dgm:prSet>
      <dgm:spPr/>
    </dgm:pt>
    <dgm:pt modelId="{AFEF5AE6-6481-404A-920C-7173B949D972}" type="pres">
      <dgm:prSet presAssocID="{C68AAEF4-28E0-4C11-B666-EE408A335D00}" presName="childText" presStyleLbl="revTx" presStyleIdx="0" presStyleCnt="2" custLinFactNeighborX="20391" custLinFactNeighborY="464">
        <dgm:presLayoutVars>
          <dgm:bulletEnabled val="1"/>
        </dgm:presLayoutVars>
      </dgm:prSet>
      <dgm:spPr/>
    </dgm:pt>
    <dgm:pt modelId="{613BE0ED-75F2-45CC-9FC0-12A7C48A1890}" type="pres">
      <dgm:prSet presAssocID="{A8E042D4-B668-4043-BCBB-08D52DAAD47D}" presName="parentText" presStyleLbl="node1" presStyleIdx="1" presStyleCnt="2">
        <dgm:presLayoutVars>
          <dgm:chMax val="0"/>
          <dgm:bulletEnabled val="1"/>
        </dgm:presLayoutVars>
      </dgm:prSet>
      <dgm:spPr/>
    </dgm:pt>
    <dgm:pt modelId="{2A151A40-2C6F-4C19-9F49-1BC43BB9D34D}" type="pres">
      <dgm:prSet presAssocID="{A8E042D4-B668-4043-BCBB-08D52DAAD47D}" presName="childText" presStyleLbl="revTx" presStyleIdx="1" presStyleCnt="2">
        <dgm:presLayoutVars>
          <dgm:bulletEnabled val="1"/>
        </dgm:presLayoutVars>
      </dgm:prSet>
      <dgm:spPr/>
    </dgm:pt>
  </dgm:ptLst>
  <dgm:cxnLst>
    <dgm:cxn modelId="{E0532A0E-CFB9-4222-8D9A-751A0AC8F692}" type="presOf" srcId="{958A5FC8-057C-44A8-9394-B03F461CEF6B}" destId="{2A151A40-2C6F-4C19-9F49-1BC43BB9D34D}" srcOrd="0" destOrd="6" presId="urn:microsoft.com/office/officeart/2005/8/layout/vList2"/>
    <dgm:cxn modelId="{89935E10-7DB1-42ED-AF59-D24E057F4A7A}" srcId="{DCC577CC-31E0-4E5B-AB95-3EB671D2D738}" destId="{C68AAEF4-28E0-4C11-B666-EE408A335D00}" srcOrd="0" destOrd="0" parTransId="{185E9F8F-DAB5-4BC2-95A0-40A175D97CFD}" sibTransId="{2D00266A-90C9-450A-BD90-3AEB66D6C5FF}"/>
    <dgm:cxn modelId="{5F0C801A-AAE9-449E-8C82-48215D1124E3}" type="presOf" srcId="{7BA9D397-2EBD-4A50-8C0F-E40FA44FE092}" destId="{AFEF5AE6-6481-404A-920C-7173B949D972}" srcOrd="0" destOrd="0" presId="urn:microsoft.com/office/officeart/2005/8/layout/vList2"/>
    <dgm:cxn modelId="{E47B671E-5745-4F7E-B75D-8DC338A0DE6C}" srcId="{A8E042D4-B668-4043-BCBB-08D52DAAD47D}" destId="{958A5FC8-057C-44A8-9394-B03F461CEF6B}" srcOrd="6" destOrd="0" parTransId="{5CF22DB1-5712-4EE4-BBE4-BA5D4B740E7B}" sibTransId="{46F60175-D0CD-41BC-873E-DCDDF6EC33D2}"/>
    <dgm:cxn modelId="{39A47A23-6A02-4078-9495-6ECAD7F4E3D0}" srcId="{C68AAEF4-28E0-4C11-B666-EE408A335D00}" destId="{8C9109F3-368F-4846-83B3-26459B60B15F}" srcOrd="4" destOrd="0" parTransId="{6AE62BB0-E26C-49A1-AD95-166943AC82EF}" sibTransId="{464CF8CB-BC98-4F28-9C97-210EC6EC172F}"/>
    <dgm:cxn modelId="{4EADF82B-73E0-4026-8E8E-7307130C09FE}" type="presOf" srcId="{85D4C61B-6E59-49B6-8FC4-7E1018D42399}" destId="{2A151A40-2C6F-4C19-9F49-1BC43BB9D34D}" srcOrd="0" destOrd="1" presId="urn:microsoft.com/office/officeart/2005/8/layout/vList2"/>
    <dgm:cxn modelId="{2CEA092C-F53E-40B2-AD7C-372E02324081}" type="presOf" srcId="{1001357A-2AF8-42FC-9D3B-CA5DF703956F}" destId="{AFEF5AE6-6481-404A-920C-7173B949D972}" srcOrd="0" destOrd="3" presId="urn:microsoft.com/office/officeart/2005/8/layout/vList2"/>
    <dgm:cxn modelId="{125DE038-3CAD-4E65-BD20-239B2259A866}" srcId="{C68AAEF4-28E0-4C11-B666-EE408A335D00}" destId="{68BA4202-FDC0-43EA-89E6-24DBE16C6BFE}" srcOrd="2" destOrd="0" parTransId="{D07F939A-59E9-4F99-8CEE-6C271AF1D0C4}" sibTransId="{EBAA4561-D58F-49C5-B11E-115378FC0A35}"/>
    <dgm:cxn modelId="{F38F1C3C-FD55-42A2-B7A8-87F88D236770}" type="presOf" srcId="{C68AAEF4-28E0-4C11-B666-EE408A335D00}" destId="{BE5E0052-8E44-4B31-B701-79D9BE011CBB}" srcOrd="0" destOrd="0" presId="urn:microsoft.com/office/officeart/2005/8/layout/vList2"/>
    <dgm:cxn modelId="{01264840-776B-4011-AF77-F0ECC89DCC11}" type="presOf" srcId="{8C9109F3-368F-4846-83B3-26459B60B15F}" destId="{AFEF5AE6-6481-404A-920C-7173B949D972}" srcOrd="0" destOrd="4" presId="urn:microsoft.com/office/officeart/2005/8/layout/vList2"/>
    <dgm:cxn modelId="{D16F1D62-1B5A-4B99-BF96-3138977F8F3D}" type="presOf" srcId="{68BA4202-FDC0-43EA-89E6-24DBE16C6BFE}" destId="{AFEF5AE6-6481-404A-920C-7173B949D972}" srcOrd="0" destOrd="2" presId="urn:microsoft.com/office/officeart/2005/8/layout/vList2"/>
    <dgm:cxn modelId="{F1F11C4B-4D54-42B0-B365-72A7139FDBA0}" srcId="{C68AAEF4-28E0-4C11-B666-EE408A335D00}" destId="{500F1482-A4D8-4FB6-8425-7656D54999A7}" srcOrd="1" destOrd="0" parTransId="{05F2109B-C408-4747-885E-835D201F5DE4}" sibTransId="{013D36DE-2C2D-4C64-8C57-EE4178D11D4F}"/>
    <dgm:cxn modelId="{2BF2316B-FE9A-424B-96AE-50A6458EDCE4}" type="presOf" srcId="{79F7AF42-115C-482C-A221-02BCDF5EBCDA}" destId="{AFEF5AE6-6481-404A-920C-7173B949D972}" srcOrd="0" destOrd="6" presId="urn:microsoft.com/office/officeart/2005/8/layout/vList2"/>
    <dgm:cxn modelId="{90B1BE6E-90AE-4A58-B48F-2962F2FE0BA6}" type="presOf" srcId="{58980AB7-BB54-4CA5-987B-1A4B2738CDFC}" destId="{AFEF5AE6-6481-404A-920C-7173B949D972}" srcOrd="0" destOrd="7" presId="urn:microsoft.com/office/officeart/2005/8/layout/vList2"/>
    <dgm:cxn modelId="{04AEA86F-6370-49F8-9C39-B5BD11F1124B}" srcId="{C68AAEF4-28E0-4C11-B666-EE408A335D00}" destId="{79F7AF42-115C-482C-A221-02BCDF5EBCDA}" srcOrd="6" destOrd="0" parTransId="{80C1364A-E31A-415B-B2C7-94C00CA2422B}" sibTransId="{381C7C4E-3FBA-41B8-83D0-BBF1A7F9BF78}"/>
    <dgm:cxn modelId="{76F1EB51-6D33-459C-AFB4-CA4269102F13}" type="presOf" srcId="{DD6475CC-5D67-4AB9-BA42-DCBFC9ADF1B7}" destId="{2A151A40-2C6F-4C19-9F49-1BC43BB9D34D}" srcOrd="0" destOrd="0" presId="urn:microsoft.com/office/officeart/2005/8/layout/vList2"/>
    <dgm:cxn modelId="{0B907F55-B056-4E08-950C-38D361A8A23E}" type="presOf" srcId="{A1410E51-4F72-4C2F-ACD5-E313B0F626EC}" destId="{AFEF5AE6-6481-404A-920C-7173B949D972}" srcOrd="0" destOrd="5" presId="urn:microsoft.com/office/officeart/2005/8/layout/vList2"/>
    <dgm:cxn modelId="{169A5079-2804-4E0F-8F5D-7BA5ACDB987D}" srcId="{A8E042D4-B668-4043-BCBB-08D52DAAD47D}" destId="{ABEA0B0D-D901-47AA-9022-B50E051241E5}" srcOrd="2" destOrd="0" parTransId="{BC5E06E9-81C1-4F73-AAF9-EC2817F26B49}" sibTransId="{92B393D9-1439-4C0F-B7F2-4C98B906A056}"/>
    <dgm:cxn modelId="{E869658C-5F41-4A02-8A73-432361D79F64}" type="presOf" srcId="{A8E042D4-B668-4043-BCBB-08D52DAAD47D}" destId="{613BE0ED-75F2-45CC-9FC0-12A7C48A1890}" srcOrd="0" destOrd="0" presId="urn:microsoft.com/office/officeart/2005/8/layout/vList2"/>
    <dgm:cxn modelId="{DC83778E-F1BE-4ED1-8A8E-16C216A880EB}" srcId="{A8E042D4-B668-4043-BCBB-08D52DAAD47D}" destId="{989D2D8B-994B-43C1-8E63-03B072C115DD}" srcOrd="3" destOrd="0" parTransId="{2F513B7D-4D89-463D-8CDC-BEFFECA72AAB}" sibTransId="{5B659C5C-978E-4DBA-8FCC-9B0F1F979B07}"/>
    <dgm:cxn modelId="{91FBF593-C3BB-4AE9-8A9A-941B81F2718F}" srcId="{C68AAEF4-28E0-4C11-B666-EE408A335D00}" destId="{A1410E51-4F72-4C2F-ACD5-E313B0F626EC}" srcOrd="5" destOrd="0" parTransId="{CB5C460A-7180-49EC-8897-F86A065EEF41}" sibTransId="{9C7296B5-4498-44E5-8E38-DF15BB837932}"/>
    <dgm:cxn modelId="{1A0C1D9C-9BD9-410C-A16E-726C9B80E391}" type="presOf" srcId="{59E56A6F-2404-4C46-B49F-FF09A6F5CF97}" destId="{2A151A40-2C6F-4C19-9F49-1BC43BB9D34D}" srcOrd="0" destOrd="5" presId="urn:microsoft.com/office/officeart/2005/8/layout/vList2"/>
    <dgm:cxn modelId="{0FC1C6A4-D69E-4524-BD60-CE23916130B0}" type="presOf" srcId="{500F1482-A4D8-4FB6-8425-7656D54999A7}" destId="{AFEF5AE6-6481-404A-920C-7173B949D972}" srcOrd="0" destOrd="1" presId="urn:microsoft.com/office/officeart/2005/8/layout/vList2"/>
    <dgm:cxn modelId="{532111AD-7C68-44C3-AC30-04C34DF7C17C}" type="presOf" srcId="{989D2D8B-994B-43C1-8E63-03B072C115DD}" destId="{2A151A40-2C6F-4C19-9F49-1BC43BB9D34D}" srcOrd="0" destOrd="3" presId="urn:microsoft.com/office/officeart/2005/8/layout/vList2"/>
    <dgm:cxn modelId="{D487DAAF-D589-404B-9004-6682EFDDC562}" srcId="{C68AAEF4-28E0-4C11-B666-EE408A335D00}" destId="{58980AB7-BB54-4CA5-987B-1A4B2738CDFC}" srcOrd="7" destOrd="0" parTransId="{C6BC7B25-A973-4620-8C34-F50D1AE1F5F0}" sibTransId="{1AF73F61-072B-4B7C-830D-6FA7F7EEFD7E}"/>
    <dgm:cxn modelId="{8032F8B4-D8C3-47F0-90A3-564D34777727}" srcId="{C68AAEF4-28E0-4C11-B666-EE408A335D00}" destId="{1001357A-2AF8-42FC-9D3B-CA5DF703956F}" srcOrd="3" destOrd="0" parTransId="{8BE34A0A-F6F3-4532-8E7A-138529BE0775}" sibTransId="{9BA1FE0E-88CE-4790-871F-EB8000BD73E7}"/>
    <dgm:cxn modelId="{88EAD3B9-ECBE-4931-8FB9-D996652CCE50}" type="presOf" srcId="{DCC577CC-31E0-4E5B-AB95-3EB671D2D738}" destId="{5A68A9B5-78C9-4A21-B7A1-24E8CB2544BE}" srcOrd="0" destOrd="0" presId="urn:microsoft.com/office/officeart/2005/8/layout/vList2"/>
    <dgm:cxn modelId="{579AE2BF-9467-4ABD-994F-9EDE59F86A53}" type="presOf" srcId="{ABEA0B0D-D901-47AA-9022-B50E051241E5}" destId="{2A151A40-2C6F-4C19-9F49-1BC43BB9D34D}" srcOrd="0" destOrd="2" presId="urn:microsoft.com/office/officeart/2005/8/layout/vList2"/>
    <dgm:cxn modelId="{E00006C1-803E-4FD0-9801-2FE44EBCAEA5}" srcId="{A8E042D4-B668-4043-BCBB-08D52DAAD47D}" destId="{B534A412-EB7A-4ACE-8429-EC9FFE9F7794}" srcOrd="4" destOrd="0" parTransId="{1C18AB1A-F99A-4C41-BC55-1E837EA718E0}" sibTransId="{98EE8301-EA86-421D-93CA-F648B392769E}"/>
    <dgm:cxn modelId="{CBCEDBCA-EDDA-4B7A-94CF-A2BA6EEF10A6}" srcId="{A8E042D4-B668-4043-BCBB-08D52DAAD47D}" destId="{59E56A6F-2404-4C46-B49F-FF09A6F5CF97}" srcOrd="5" destOrd="0" parTransId="{3D0EACEC-2CA1-417C-96D7-C52C68B04B7A}" sibTransId="{7A429598-90DB-4193-9BC4-9E705C714F74}"/>
    <dgm:cxn modelId="{8C194CD0-EE04-4720-85F5-BB382E0F83B1}" srcId="{DCC577CC-31E0-4E5B-AB95-3EB671D2D738}" destId="{A8E042D4-B668-4043-BCBB-08D52DAAD47D}" srcOrd="1" destOrd="0" parTransId="{39B6B29D-964B-4DF6-8442-8E11C3C1BC34}" sibTransId="{EE9AE8A1-0552-408B-8580-9B857A5F21FF}"/>
    <dgm:cxn modelId="{A4B946D3-5F39-4D4E-94D3-58207B5DB7BD}" type="presOf" srcId="{B534A412-EB7A-4ACE-8429-EC9FFE9F7794}" destId="{2A151A40-2C6F-4C19-9F49-1BC43BB9D34D}" srcOrd="0" destOrd="4" presId="urn:microsoft.com/office/officeart/2005/8/layout/vList2"/>
    <dgm:cxn modelId="{D43721D7-E7F1-484B-A37C-24766C06A0D4}" srcId="{A8E042D4-B668-4043-BCBB-08D52DAAD47D}" destId="{DD6475CC-5D67-4AB9-BA42-DCBFC9ADF1B7}" srcOrd="0" destOrd="0" parTransId="{A705DC33-B8F5-4250-9057-C8EFBBF6148E}" sibTransId="{822C7B9A-0127-4BEF-BBD9-474C7202B5B2}"/>
    <dgm:cxn modelId="{FA8CD8DF-169F-4778-B1BE-1FD609BB49B9}" srcId="{C68AAEF4-28E0-4C11-B666-EE408A335D00}" destId="{7BA9D397-2EBD-4A50-8C0F-E40FA44FE092}" srcOrd="0" destOrd="0" parTransId="{54976D10-EF58-4B8F-9BF6-5AADD39F899C}" sibTransId="{6103F462-59E5-44C0-8684-94E73715D459}"/>
    <dgm:cxn modelId="{D02BF4DF-9AA7-4B91-BFDE-92359582B665}" srcId="{A8E042D4-B668-4043-BCBB-08D52DAAD47D}" destId="{85D4C61B-6E59-49B6-8FC4-7E1018D42399}" srcOrd="1" destOrd="0" parTransId="{BD49680B-0EAC-4674-9A27-B18311414DCA}" sibTransId="{C17C01B2-9442-4428-8DE9-8F990DBE84BF}"/>
    <dgm:cxn modelId="{77CF26F4-7950-40D6-9CA4-19E41D6C77F7}" type="presParOf" srcId="{5A68A9B5-78C9-4A21-B7A1-24E8CB2544BE}" destId="{BE5E0052-8E44-4B31-B701-79D9BE011CBB}" srcOrd="0" destOrd="0" presId="urn:microsoft.com/office/officeart/2005/8/layout/vList2"/>
    <dgm:cxn modelId="{4B87E247-63D1-4B2E-A70E-00AC5FD2CC56}" type="presParOf" srcId="{5A68A9B5-78C9-4A21-B7A1-24E8CB2544BE}" destId="{AFEF5AE6-6481-404A-920C-7173B949D972}" srcOrd="1" destOrd="0" presId="urn:microsoft.com/office/officeart/2005/8/layout/vList2"/>
    <dgm:cxn modelId="{446ABD43-F7B6-47F9-A3A3-D601CE9A7A60}" type="presParOf" srcId="{5A68A9B5-78C9-4A21-B7A1-24E8CB2544BE}" destId="{613BE0ED-75F2-45CC-9FC0-12A7C48A1890}" srcOrd="2" destOrd="0" presId="urn:microsoft.com/office/officeart/2005/8/layout/vList2"/>
    <dgm:cxn modelId="{9EBC2E3D-F231-45D6-A794-A2ABB6612027}" type="presParOf" srcId="{5A68A9B5-78C9-4A21-B7A1-24E8CB2544BE}" destId="{2A151A40-2C6F-4C19-9F49-1BC43BB9D34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77CB86B-BC69-4579-B254-1E80182E01C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pt-BR"/>
        </a:p>
      </dgm:t>
    </dgm:pt>
    <dgm:pt modelId="{47B04338-719A-4E43-B497-7F4E2993EC87}">
      <dgm:prSet phldrT="[Texto]"/>
      <dgm:spPr/>
      <dgm:t>
        <a:bodyPr/>
        <a:lstStyle/>
        <a:p>
          <a:r>
            <a:rPr lang="pt-BR" dirty="0"/>
            <a:t>Aquecimento muscular</a:t>
          </a:r>
        </a:p>
        <a:p>
          <a:r>
            <a:rPr lang="pt-BR" dirty="0"/>
            <a:t>2 a 10 Hz</a:t>
          </a:r>
        </a:p>
      </dgm:t>
    </dgm:pt>
    <dgm:pt modelId="{4CAE427D-2040-4649-A16C-4AD3BC381CEC}" type="parTrans" cxnId="{B09694EC-979B-421C-A803-8EF9DC583D40}">
      <dgm:prSet/>
      <dgm:spPr/>
      <dgm:t>
        <a:bodyPr/>
        <a:lstStyle/>
        <a:p>
          <a:endParaRPr lang="pt-BR"/>
        </a:p>
      </dgm:t>
    </dgm:pt>
    <dgm:pt modelId="{00743F68-F83E-4F61-B001-3EFCCA914EE8}" type="sibTrans" cxnId="{B09694EC-979B-421C-A803-8EF9DC583D40}">
      <dgm:prSet/>
      <dgm:spPr/>
      <dgm:t>
        <a:bodyPr/>
        <a:lstStyle/>
        <a:p>
          <a:endParaRPr lang="pt-BR"/>
        </a:p>
      </dgm:t>
    </dgm:pt>
    <dgm:pt modelId="{CDFC7B40-BA7A-410A-8B65-2A4DF990ABCF}">
      <dgm:prSet phldrT="[Texto]"/>
      <dgm:spPr/>
      <dgm:t>
        <a:bodyPr/>
        <a:lstStyle/>
        <a:p>
          <a:r>
            <a:rPr lang="pt-BR" dirty="0"/>
            <a:t>Fibras tônicas </a:t>
          </a:r>
        </a:p>
        <a:p>
          <a:r>
            <a:rPr lang="pt-BR" dirty="0"/>
            <a:t>30 a 40 Hz</a:t>
          </a:r>
        </a:p>
      </dgm:t>
    </dgm:pt>
    <dgm:pt modelId="{382D0915-2B95-4972-B094-5CB5E60AF6FF}" type="parTrans" cxnId="{50102D3A-DA1A-4145-83B2-83176210AB36}">
      <dgm:prSet/>
      <dgm:spPr/>
      <dgm:t>
        <a:bodyPr/>
        <a:lstStyle/>
        <a:p>
          <a:endParaRPr lang="pt-BR"/>
        </a:p>
      </dgm:t>
    </dgm:pt>
    <dgm:pt modelId="{FD82B681-DA89-4465-A606-B5C5853644A4}" type="sibTrans" cxnId="{50102D3A-DA1A-4145-83B2-83176210AB36}">
      <dgm:prSet/>
      <dgm:spPr/>
      <dgm:t>
        <a:bodyPr/>
        <a:lstStyle/>
        <a:p>
          <a:endParaRPr lang="pt-BR"/>
        </a:p>
      </dgm:t>
    </dgm:pt>
    <dgm:pt modelId="{ACDAED7D-A3E1-4A4C-B526-D205DA52FAFA}">
      <dgm:prSet phldrT="[Texto]"/>
      <dgm:spPr/>
      <dgm:t>
        <a:bodyPr/>
        <a:lstStyle/>
        <a:p>
          <a:r>
            <a:rPr lang="pt-BR" dirty="0"/>
            <a:t>Fibras fásicas</a:t>
          </a:r>
        </a:p>
        <a:p>
          <a:r>
            <a:rPr lang="pt-BR" dirty="0"/>
            <a:t>80 a 100 Hz </a:t>
          </a:r>
        </a:p>
        <a:p>
          <a:endParaRPr lang="pt-BR" dirty="0"/>
        </a:p>
      </dgm:t>
    </dgm:pt>
    <dgm:pt modelId="{5C02D026-8D13-49EE-8C0B-B53965DFCAC2}" type="parTrans" cxnId="{8A9F40D9-6524-4024-8037-C50D793EFF62}">
      <dgm:prSet/>
      <dgm:spPr/>
      <dgm:t>
        <a:bodyPr/>
        <a:lstStyle/>
        <a:p>
          <a:endParaRPr lang="pt-BR"/>
        </a:p>
      </dgm:t>
    </dgm:pt>
    <dgm:pt modelId="{C97C03E4-C47D-4908-94AB-7B0BED7E6297}" type="sibTrans" cxnId="{8A9F40D9-6524-4024-8037-C50D793EFF62}">
      <dgm:prSet/>
      <dgm:spPr/>
      <dgm:t>
        <a:bodyPr/>
        <a:lstStyle/>
        <a:p>
          <a:endParaRPr lang="pt-BR"/>
        </a:p>
      </dgm:t>
    </dgm:pt>
    <dgm:pt modelId="{9E032D35-FCBC-40AA-842A-0723403FC434}">
      <dgm:prSet phldrT="[Texto]"/>
      <dgm:spPr/>
      <dgm:t>
        <a:bodyPr/>
        <a:lstStyle/>
        <a:p>
          <a:r>
            <a:rPr lang="pt-BR" dirty="0"/>
            <a:t>Potencialização muscular</a:t>
          </a:r>
        </a:p>
        <a:p>
          <a:r>
            <a:rPr lang="pt-BR" dirty="0"/>
            <a:t>110 a 150 Hz</a:t>
          </a:r>
        </a:p>
      </dgm:t>
    </dgm:pt>
    <dgm:pt modelId="{399D84E9-3D4D-4EFE-A452-27AC244FCB8C}" type="sibTrans" cxnId="{3C43B74B-406F-47DE-A7EF-878B90E462F4}">
      <dgm:prSet/>
      <dgm:spPr/>
      <dgm:t>
        <a:bodyPr/>
        <a:lstStyle/>
        <a:p>
          <a:endParaRPr lang="pt-BR"/>
        </a:p>
      </dgm:t>
    </dgm:pt>
    <dgm:pt modelId="{09898E7F-B332-4473-9513-D02198A60345}" type="parTrans" cxnId="{3C43B74B-406F-47DE-A7EF-878B90E462F4}">
      <dgm:prSet/>
      <dgm:spPr/>
      <dgm:t>
        <a:bodyPr/>
        <a:lstStyle/>
        <a:p>
          <a:endParaRPr lang="pt-BR"/>
        </a:p>
      </dgm:t>
    </dgm:pt>
    <dgm:pt modelId="{15865597-BE19-425F-918D-C253C2C6FE1D}" type="pres">
      <dgm:prSet presAssocID="{C77CB86B-BC69-4579-B254-1E80182E01C5}" presName="diagram" presStyleCnt="0">
        <dgm:presLayoutVars>
          <dgm:dir/>
          <dgm:resizeHandles val="exact"/>
        </dgm:presLayoutVars>
      </dgm:prSet>
      <dgm:spPr/>
    </dgm:pt>
    <dgm:pt modelId="{875D8C46-64E4-448C-8C48-707FEDDE9F9E}" type="pres">
      <dgm:prSet presAssocID="{47B04338-719A-4E43-B497-7F4E2993EC87}" presName="node" presStyleLbl="node1" presStyleIdx="0" presStyleCnt="4">
        <dgm:presLayoutVars>
          <dgm:bulletEnabled val="1"/>
        </dgm:presLayoutVars>
      </dgm:prSet>
      <dgm:spPr/>
    </dgm:pt>
    <dgm:pt modelId="{4B1777A9-E574-43D3-92A6-9E24EBA1D8DD}" type="pres">
      <dgm:prSet presAssocID="{00743F68-F83E-4F61-B001-3EFCCA914EE8}" presName="sibTrans" presStyleCnt="0"/>
      <dgm:spPr/>
    </dgm:pt>
    <dgm:pt modelId="{280431C3-1E2C-460E-BC59-2008C0C5FBCC}" type="pres">
      <dgm:prSet presAssocID="{CDFC7B40-BA7A-410A-8B65-2A4DF990ABCF}" presName="node" presStyleLbl="node1" presStyleIdx="1" presStyleCnt="4">
        <dgm:presLayoutVars>
          <dgm:bulletEnabled val="1"/>
        </dgm:presLayoutVars>
      </dgm:prSet>
      <dgm:spPr/>
    </dgm:pt>
    <dgm:pt modelId="{896C9634-0AEE-4F70-8FF3-F183ECA607EA}" type="pres">
      <dgm:prSet presAssocID="{FD82B681-DA89-4465-A606-B5C5853644A4}" presName="sibTrans" presStyleCnt="0"/>
      <dgm:spPr/>
    </dgm:pt>
    <dgm:pt modelId="{12967549-1BAB-4ECF-AAD7-8A1340945D7F}" type="pres">
      <dgm:prSet presAssocID="{ACDAED7D-A3E1-4A4C-B526-D205DA52FAFA}" presName="node" presStyleLbl="node1" presStyleIdx="2" presStyleCnt="4">
        <dgm:presLayoutVars>
          <dgm:bulletEnabled val="1"/>
        </dgm:presLayoutVars>
      </dgm:prSet>
      <dgm:spPr/>
    </dgm:pt>
    <dgm:pt modelId="{43D570AE-5181-42B1-8A11-88097CF93814}" type="pres">
      <dgm:prSet presAssocID="{C97C03E4-C47D-4908-94AB-7B0BED7E6297}" presName="sibTrans" presStyleCnt="0"/>
      <dgm:spPr/>
    </dgm:pt>
    <dgm:pt modelId="{C9127802-8CDB-43BA-91AF-2D8979ED854F}" type="pres">
      <dgm:prSet presAssocID="{9E032D35-FCBC-40AA-842A-0723403FC434}" presName="node" presStyleLbl="node1" presStyleIdx="3" presStyleCnt="4">
        <dgm:presLayoutVars>
          <dgm:bulletEnabled val="1"/>
        </dgm:presLayoutVars>
      </dgm:prSet>
      <dgm:spPr/>
    </dgm:pt>
  </dgm:ptLst>
  <dgm:cxnLst>
    <dgm:cxn modelId="{4E33CE02-5D6C-4CF4-93A4-87035319A775}" type="presOf" srcId="{ACDAED7D-A3E1-4A4C-B526-D205DA52FAFA}" destId="{12967549-1BAB-4ECF-AAD7-8A1340945D7F}" srcOrd="0" destOrd="0" presId="urn:microsoft.com/office/officeart/2005/8/layout/default"/>
    <dgm:cxn modelId="{6FB84F09-D32F-4A2D-B63F-FFA84D51983E}" type="presOf" srcId="{CDFC7B40-BA7A-410A-8B65-2A4DF990ABCF}" destId="{280431C3-1E2C-460E-BC59-2008C0C5FBCC}" srcOrd="0" destOrd="0" presId="urn:microsoft.com/office/officeart/2005/8/layout/default"/>
    <dgm:cxn modelId="{50102D3A-DA1A-4145-83B2-83176210AB36}" srcId="{C77CB86B-BC69-4579-B254-1E80182E01C5}" destId="{CDFC7B40-BA7A-410A-8B65-2A4DF990ABCF}" srcOrd="1" destOrd="0" parTransId="{382D0915-2B95-4972-B094-5CB5E60AF6FF}" sibTransId="{FD82B681-DA89-4465-A606-B5C5853644A4}"/>
    <dgm:cxn modelId="{1D224A3A-A688-4EDC-9F89-A372028219E7}" type="presOf" srcId="{47B04338-719A-4E43-B497-7F4E2993EC87}" destId="{875D8C46-64E4-448C-8C48-707FEDDE9F9E}" srcOrd="0" destOrd="0" presId="urn:microsoft.com/office/officeart/2005/8/layout/default"/>
    <dgm:cxn modelId="{3C43B74B-406F-47DE-A7EF-878B90E462F4}" srcId="{C77CB86B-BC69-4579-B254-1E80182E01C5}" destId="{9E032D35-FCBC-40AA-842A-0723403FC434}" srcOrd="3" destOrd="0" parTransId="{09898E7F-B332-4473-9513-D02198A60345}" sibTransId="{399D84E9-3D4D-4EFE-A452-27AC244FCB8C}"/>
    <dgm:cxn modelId="{B7DC6CA1-9897-48EB-BE9D-51883C5D81E3}" type="presOf" srcId="{9E032D35-FCBC-40AA-842A-0723403FC434}" destId="{C9127802-8CDB-43BA-91AF-2D8979ED854F}" srcOrd="0" destOrd="0" presId="urn:microsoft.com/office/officeart/2005/8/layout/default"/>
    <dgm:cxn modelId="{4C2550D4-6979-422D-A44D-636F1EB99923}" type="presOf" srcId="{C77CB86B-BC69-4579-B254-1E80182E01C5}" destId="{15865597-BE19-425F-918D-C253C2C6FE1D}" srcOrd="0" destOrd="0" presId="urn:microsoft.com/office/officeart/2005/8/layout/default"/>
    <dgm:cxn modelId="{8A9F40D9-6524-4024-8037-C50D793EFF62}" srcId="{C77CB86B-BC69-4579-B254-1E80182E01C5}" destId="{ACDAED7D-A3E1-4A4C-B526-D205DA52FAFA}" srcOrd="2" destOrd="0" parTransId="{5C02D026-8D13-49EE-8C0B-B53965DFCAC2}" sibTransId="{C97C03E4-C47D-4908-94AB-7B0BED7E6297}"/>
    <dgm:cxn modelId="{B09694EC-979B-421C-A803-8EF9DC583D40}" srcId="{C77CB86B-BC69-4579-B254-1E80182E01C5}" destId="{47B04338-719A-4E43-B497-7F4E2993EC87}" srcOrd="0" destOrd="0" parTransId="{4CAE427D-2040-4649-A16C-4AD3BC381CEC}" sibTransId="{00743F68-F83E-4F61-B001-3EFCCA914EE8}"/>
    <dgm:cxn modelId="{CBE9B064-E420-4617-BEAD-A99503F685F4}" type="presParOf" srcId="{15865597-BE19-425F-918D-C253C2C6FE1D}" destId="{875D8C46-64E4-448C-8C48-707FEDDE9F9E}" srcOrd="0" destOrd="0" presId="urn:microsoft.com/office/officeart/2005/8/layout/default"/>
    <dgm:cxn modelId="{30782C0A-4FF4-40F2-8215-CF9F507C9C6D}" type="presParOf" srcId="{15865597-BE19-425F-918D-C253C2C6FE1D}" destId="{4B1777A9-E574-43D3-92A6-9E24EBA1D8DD}" srcOrd="1" destOrd="0" presId="urn:microsoft.com/office/officeart/2005/8/layout/default"/>
    <dgm:cxn modelId="{B44FDD51-591A-4A34-87BF-F945EA1AD958}" type="presParOf" srcId="{15865597-BE19-425F-918D-C253C2C6FE1D}" destId="{280431C3-1E2C-460E-BC59-2008C0C5FBCC}" srcOrd="2" destOrd="0" presId="urn:microsoft.com/office/officeart/2005/8/layout/default"/>
    <dgm:cxn modelId="{70200045-9A16-441C-A328-F9BB654E5E3B}" type="presParOf" srcId="{15865597-BE19-425F-918D-C253C2C6FE1D}" destId="{896C9634-0AEE-4F70-8FF3-F183ECA607EA}" srcOrd="3" destOrd="0" presId="urn:microsoft.com/office/officeart/2005/8/layout/default"/>
    <dgm:cxn modelId="{2BBBDFE5-EC4C-4ACB-84E9-DE2FE9D2F0C8}" type="presParOf" srcId="{15865597-BE19-425F-918D-C253C2C6FE1D}" destId="{12967549-1BAB-4ECF-AAD7-8A1340945D7F}" srcOrd="4" destOrd="0" presId="urn:microsoft.com/office/officeart/2005/8/layout/default"/>
    <dgm:cxn modelId="{3167A7C5-CD81-43E8-AFEC-E1C303F73823}" type="presParOf" srcId="{15865597-BE19-425F-918D-C253C2C6FE1D}" destId="{43D570AE-5181-42B1-8A11-88097CF93814}" srcOrd="5" destOrd="0" presId="urn:microsoft.com/office/officeart/2005/8/layout/default"/>
    <dgm:cxn modelId="{2787906E-A483-4E6D-9416-E1B63A36BB89}" type="presParOf" srcId="{15865597-BE19-425F-918D-C253C2C6FE1D}" destId="{C9127802-8CDB-43BA-91AF-2D8979ED854F}"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5BA953-FEAA-4F35-B7A0-BB6B17F251C1}">
      <dsp:nvSpPr>
        <dsp:cNvPr id="0" name=""/>
        <dsp:cNvSpPr/>
      </dsp:nvSpPr>
      <dsp:spPr>
        <a:xfrm rot="5400000">
          <a:off x="-578927" y="913888"/>
          <a:ext cx="3859514" cy="2701660"/>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pt-BR" sz="2600" b="0" i="0" kern="1200" dirty="0"/>
            <a:t>CLASSIFICAÇÃO DAS CORRENTES </a:t>
          </a:r>
          <a:endParaRPr lang="pt-BR" sz="2600" kern="1200" dirty="0"/>
        </a:p>
      </dsp:txBody>
      <dsp:txXfrm rot="-5400000">
        <a:off x="0" y="1685791"/>
        <a:ext cx="2701660" cy="1157854"/>
      </dsp:txXfrm>
    </dsp:sp>
    <dsp:sp modelId="{C24723ED-44F2-4D95-A6DB-4D95F86FC720}">
      <dsp:nvSpPr>
        <dsp:cNvPr id="0" name=""/>
        <dsp:cNvSpPr/>
      </dsp:nvSpPr>
      <dsp:spPr>
        <a:xfrm rot="5400000">
          <a:off x="3938995" y="-1236330"/>
          <a:ext cx="3176596" cy="5651267"/>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pt-BR" sz="2400" kern="1200" dirty="0"/>
            <a:t>1. DOS EFEITOS QUE ELAS PRODUZEM SOBRE O ORGANISMO.</a:t>
          </a:r>
        </a:p>
        <a:p>
          <a:pPr marL="228600" lvl="1" indent="-228600" algn="l" defTabSz="1066800">
            <a:lnSpc>
              <a:spcPct val="90000"/>
            </a:lnSpc>
            <a:spcBef>
              <a:spcPct val="0"/>
            </a:spcBef>
            <a:spcAft>
              <a:spcPct val="15000"/>
            </a:spcAft>
            <a:buChar char="•"/>
          </a:pPr>
          <a:r>
            <a:rPr lang="pt-BR" sz="2400" kern="1200" dirty="0"/>
            <a:t>2.DA FREQUENCIA DE REPETIÇÃO DOS PULSOS ELETRICOS.</a:t>
          </a:r>
        </a:p>
        <a:p>
          <a:pPr marL="228600" lvl="1" indent="-228600" algn="l" defTabSz="1066800">
            <a:lnSpc>
              <a:spcPct val="90000"/>
            </a:lnSpc>
            <a:spcBef>
              <a:spcPct val="0"/>
            </a:spcBef>
            <a:spcAft>
              <a:spcPct val="15000"/>
            </a:spcAft>
            <a:buChar char="•"/>
          </a:pPr>
          <a:r>
            <a:rPr lang="pt-BR" sz="2400" kern="1200" dirty="0"/>
            <a:t>3. SEGUNDO AS FORMAS DO PULSO ELETRICO.</a:t>
          </a:r>
        </a:p>
      </dsp:txBody>
      <dsp:txXfrm rot="-5400000">
        <a:off x="2701660" y="156074"/>
        <a:ext cx="5496198" cy="28664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5D102C-899B-495C-A075-A8DDE4952AC6}">
      <dsp:nvSpPr>
        <dsp:cNvPr id="0" name=""/>
        <dsp:cNvSpPr/>
      </dsp:nvSpPr>
      <dsp:spPr>
        <a:xfrm>
          <a:off x="819" y="20879"/>
          <a:ext cx="3195386" cy="19172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pt-BR" sz="6500" kern="1200" dirty="0"/>
            <a:t>AUSSIE</a:t>
          </a:r>
        </a:p>
      </dsp:txBody>
      <dsp:txXfrm>
        <a:off x="819" y="20879"/>
        <a:ext cx="3195386" cy="1917231"/>
      </dsp:txXfrm>
    </dsp:sp>
    <dsp:sp modelId="{5B1B4678-8469-48E8-B2B6-2C5CBCFF542F}">
      <dsp:nvSpPr>
        <dsp:cNvPr id="0" name=""/>
        <dsp:cNvSpPr/>
      </dsp:nvSpPr>
      <dsp:spPr>
        <a:xfrm>
          <a:off x="3515744" y="20879"/>
          <a:ext cx="3195386" cy="19172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pt-BR" sz="6500" kern="1200" dirty="0"/>
            <a:t>RUSSA</a:t>
          </a:r>
        </a:p>
      </dsp:txBody>
      <dsp:txXfrm>
        <a:off x="3515744" y="20879"/>
        <a:ext cx="3195386" cy="1917231"/>
      </dsp:txXfrm>
    </dsp:sp>
    <dsp:sp modelId="{25B5115A-DF73-4B33-B3AB-9D3F6838C0C1}">
      <dsp:nvSpPr>
        <dsp:cNvPr id="0" name=""/>
        <dsp:cNvSpPr/>
      </dsp:nvSpPr>
      <dsp:spPr>
        <a:xfrm>
          <a:off x="1758281" y="2257650"/>
          <a:ext cx="3195386" cy="19172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pt-BR" sz="6500" kern="1200" dirty="0"/>
            <a:t>FES</a:t>
          </a:r>
        </a:p>
      </dsp:txBody>
      <dsp:txXfrm>
        <a:off x="1758281" y="2257650"/>
        <a:ext cx="3195386" cy="19172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E0052-8E44-4B31-B701-79D9BE011CBB}">
      <dsp:nvSpPr>
        <dsp:cNvPr id="0" name=""/>
        <dsp:cNvSpPr/>
      </dsp:nvSpPr>
      <dsp:spPr>
        <a:xfrm>
          <a:off x="0" y="96210"/>
          <a:ext cx="7632848" cy="6236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pt-BR" sz="2600" kern="1200" dirty="0"/>
            <a:t>Fibras do tipo 1 – vermelhas</a:t>
          </a:r>
        </a:p>
      </dsp:txBody>
      <dsp:txXfrm>
        <a:off x="30442" y="126652"/>
        <a:ext cx="7571964" cy="562726"/>
      </dsp:txXfrm>
    </dsp:sp>
    <dsp:sp modelId="{AFEF5AE6-6481-404A-920C-7173B949D972}">
      <dsp:nvSpPr>
        <dsp:cNvPr id="0" name=""/>
        <dsp:cNvSpPr/>
      </dsp:nvSpPr>
      <dsp:spPr>
        <a:xfrm>
          <a:off x="0" y="722714"/>
          <a:ext cx="7632848" cy="172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34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pt-BR" sz="2000" kern="1200" dirty="0"/>
            <a:t>Velocidade de contração lenta</a:t>
          </a:r>
        </a:p>
        <a:p>
          <a:pPr marL="228600" lvl="1" indent="-228600" algn="l" defTabSz="889000">
            <a:lnSpc>
              <a:spcPct val="90000"/>
            </a:lnSpc>
            <a:spcBef>
              <a:spcPct val="0"/>
            </a:spcBef>
            <a:spcAft>
              <a:spcPct val="20000"/>
            </a:spcAft>
            <a:buChar char="•"/>
          </a:pPr>
          <a:r>
            <a:rPr lang="pt-BR" sz="2000" kern="1200" dirty="0"/>
            <a:t>Maior capacidade de metabolismo aeróbico </a:t>
          </a:r>
        </a:p>
        <a:p>
          <a:pPr marL="228600" lvl="1" indent="-228600" algn="l" defTabSz="889000">
            <a:lnSpc>
              <a:spcPct val="90000"/>
            </a:lnSpc>
            <a:spcBef>
              <a:spcPct val="0"/>
            </a:spcBef>
            <a:spcAft>
              <a:spcPct val="20000"/>
            </a:spcAft>
            <a:buChar char="•"/>
          </a:pPr>
          <a:r>
            <a:rPr lang="pt-BR" sz="2000" kern="1200" dirty="0"/>
            <a:t>Mais mitocôndrias e mioglobinas</a:t>
          </a:r>
        </a:p>
        <a:p>
          <a:pPr marL="228600" lvl="1" indent="-228600" algn="l" defTabSz="889000">
            <a:lnSpc>
              <a:spcPct val="90000"/>
            </a:lnSpc>
            <a:spcBef>
              <a:spcPct val="0"/>
            </a:spcBef>
            <a:spcAft>
              <a:spcPct val="20000"/>
            </a:spcAft>
            <a:buChar char="•"/>
          </a:pPr>
          <a:r>
            <a:rPr lang="pt-BR" sz="2000" kern="1200" dirty="0"/>
            <a:t>Contração estática e postural</a:t>
          </a:r>
        </a:p>
        <a:p>
          <a:pPr marL="228600" lvl="1" indent="-228600" algn="l" defTabSz="889000">
            <a:lnSpc>
              <a:spcPct val="90000"/>
            </a:lnSpc>
            <a:spcBef>
              <a:spcPct val="0"/>
            </a:spcBef>
            <a:spcAft>
              <a:spcPct val="20000"/>
            </a:spcAft>
            <a:buChar char="•"/>
          </a:pPr>
          <a:endParaRPr lang="pt-BR" sz="2000" kern="1200" dirty="0"/>
        </a:p>
      </dsp:txBody>
      <dsp:txXfrm>
        <a:off x="0" y="722714"/>
        <a:ext cx="7632848" cy="1722240"/>
      </dsp:txXfrm>
    </dsp:sp>
    <dsp:sp modelId="{613BE0ED-75F2-45CC-9FC0-12A7C48A1890}">
      <dsp:nvSpPr>
        <dsp:cNvPr id="0" name=""/>
        <dsp:cNvSpPr/>
      </dsp:nvSpPr>
      <dsp:spPr>
        <a:xfrm>
          <a:off x="0" y="2442061"/>
          <a:ext cx="7632848" cy="6236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pt-BR" sz="2600" kern="1200" dirty="0"/>
            <a:t>Fibras do tipo 2 - brancas</a:t>
          </a:r>
        </a:p>
      </dsp:txBody>
      <dsp:txXfrm>
        <a:off x="30442" y="2472503"/>
        <a:ext cx="7571964" cy="562726"/>
      </dsp:txXfrm>
    </dsp:sp>
    <dsp:sp modelId="{2A151A40-2C6F-4C19-9F49-1BC43BB9D34D}">
      <dsp:nvSpPr>
        <dsp:cNvPr id="0" name=""/>
        <dsp:cNvSpPr/>
      </dsp:nvSpPr>
      <dsp:spPr>
        <a:xfrm>
          <a:off x="0" y="3065671"/>
          <a:ext cx="7632848" cy="161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34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pt-BR" sz="2000" kern="1200" dirty="0"/>
            <a:t>Velocidade de contração rápida </a:t>
          </a:r>
        </a:p>
        <a:p>
          <a:pPr marL="228600" lvl="1" indent="-228600" algn="l" defTabSz="889000">
            <a:lnSpc>
              <a:spcPct val="90000"/>
            </a:lnSpc>
            <a:spcBef>
              <a:spcPct val="0"/>
            </a:spcBef>
            <a:spcAft>
              <a:spcPct val="20000"/>
            </a:spcAft>
            <a:buChar char="•"/>
          </a:pPr>
          <a:r>
            <a:rPr lang="pt-BR" sz="2000" kern="1200" dirty="0"/>
            <a:t>Anaeróbica e pouca resistência a fadiga (fibra pobre em hemoglobina)</a:t>
          </a:r>
        </a:p>
        <a:p>
          <a:pPr marL="228600" lvl="1" indent="-228600" algn="l" defTabSz="889000">
            <a:lnSpc>
              <a:spcPct val="90000"/>
            </a:lnSpc>
            <a:spcBef>
              <a:spcPct val="0"/>
            </a:spcBef>
            <a:spcAft>
              <a:spcPct val="20000"/>
            </a:spcAft>
            <a:buChar char="•"/>
          </a:pPr>
          <a:r>
            <a:rPr lang="pt-BR" sz="2000" kern="1200" dirty="0"/>
            <a:t>Contrações dinâmicas, movimentos breves e pouca força </a:t>
          </a:r>
        </a:p>
      </dsp:txBody>
      <dsp:txXfrm>
        <a:off x="0" y="3065671"/>
        <a:ext cx="7632848" cy="1614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E0052-8E44-4B31-B701-79D9BE011CBB}">
      <dsp:nvSpPr>
        <dsp:cNvPr id="0" name=""/>
        <dsp:cNvSpPr/>
      </dsp:nvSpPr>
      <dsp:spPr>
        <a:xfrm>
          <a:off x="0" y="103723"/>
          <a:ext cx="7632848"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pt-BR" sz="2200" kern="1200" dirty="0"/>
            <a:t>Fibras do tipo 1 – vermelhas</a:t>
          </a:r>
        </a:p>
      </dsp:txBody>
      <dsp:txXfrm>
        <a:off x="25759" y="129482"/>
        <a:ext cx="7581330" cy="476152"/>
      </dsp:txXfrm>
    </dsp:sp>
    <dsp:sp modelId="{AFEF5AE6-6481-404A-920C-7173B949D972}">
      <dsp:nvSpPr>
        <dsp:cNvPr id="0" name=""/>
        <dsp:cNvSpPr/>
      </dsp:nvSpPr>
      <dsp:spPr>
        <a:xfrm>
          <a:off x="0" y="633841"/>
          <a:ext cx="7632848" cy="236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343"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pt-BR" sz="1700" kern="1200" dirty="0"/>
            <a:t>+ vascularização </a:t>
          </a:r>
        </a:p>
        <a:p>
          <a:pPr marL="171450" lvl="1" indent="-171450" algn="l" defTabSz="755650">
            <a:lnSpc>
              <a:spcPct val="90000"/>
            </a:lnSpc>
            <a:spcBef>
              <a:spcPct val="0"/>
            </a:spcBef>
            <a:spcAft>
              <a:spcPct val="20000"/>
            </a:spcAft>
            <a:buChar char="•"/>
          </a:pPr>
          <a:r>
            <a:rPr lang="pt-BR" sz="1700" kern="1200" dirty="0"/>
            <a:t>+ oxigênio </a:t>
          </a:r>
        </a:p>
        <a:p>
          <a:pPr marL="171450" lvl="1" indent="-171450" algn="l" defTabSz="755650">
            <a:lnSpc>
              <a:spcPct val="90000"/>
            </a:lnSpc>
            <a:spcBef>
              <a:spcPct val="0"/>
            </a:spcBef>
            <a:spcAft>
              <a:spcPct val="20000"/>
            </a:spcAft>
            <a:buChar char="•"/>
          </a:pPr>
          <a:r>
            <a:rPr lang="pt-BR" sz="1700" kern="1200" dirty="0"/>
            <a:t>+ mioglobinas</a:t>
          </a:r>
        </a:p>
        <a:p>
          <a:pPr marL="171450" lvl="1" indent="-171450" algn="l" defTabSz="755650">
            <a:lnSpc>
              <a:spcPct val="90000"/>
            </a:lnSpc>
            <a:spcBef>
              <a:spcPct val="0"/>
            </a:spcBef>
            <a:spcAft>
              <a:spcPct val="20000"/>
            </a:spcAft>
            <a:buChar char="•"/>
          </a:pPr>
          <a:r>
            <a:rPr lang="pt-BR" sz="1700" kern="1200" dirty="0"/>
            <a:t>+ atividade e quantidade de mitocôndrias</a:t>
          </a:r>
        </a:p>
        <a:p>
          <a:pPr marL="171450" lvl="1" indent="-171450" algn="l" defTabSz="755650">
            <a:lnSpc>
              <a:spcPct val="90000"/>
            </a:lnSpc>
            <a:spcBef>
              <a:spcPct val="0"/>
            </a:spcBef>
            <a:spcAft>
              <a:spcPct val="20000"/>
            </a:spcAft>
            <a:buChar char="•"/>
          </a:pPr>
          <a:r>
            <a:rPr lang="pt-BR" sz="1700" kern="1200" dirty="0"/>
            <a:t>- Força </a:t>
          </a:r>
        </a:p>
        <a:p>
          <a:pPr marL="171450" lvl="1" indent="-171450" algn="l" defTabSz="755650">
            <a:lnSpc>
              <a:spcPct val="90000"/>
            </a:lnSpc>
            <a:spcBef>
              <a:spcPct val="0"/>
            </a:spcBef>
            <a:spcAft>
              <a:spcPct val="20000"/>
            </a:spcAft>
            <a:buChar char="•"/>
          </a:pPr>
          <a:r>
            <a:rPr lang="pt-BR" sz="1700" kern="1200" dirty="0"/>
            <a:t>+ resistência a fadiga </a:t>
          </a:r>
        </a:p>
        <a:p>
          <a:pPr marL="171450" lvl="1" indent="-171450" algn="l" defTabSz="755650">
            <a:lnSpc>
              <a:spcPct val="90000"/>
            </a:lnSpc>
            <a:spcBef>
              <a:spcPct val="0"/>
            </a:spcBef>
            <a:spcAft>
              <a:spcPct val="20000"/>
            </a:spcAft>
            <a:buChar char="•"/>
          </a:pPr>
          <a:r>
            <a:rPr lang="pt-BR" sz="1700" kern="1200" dirty="0"/>
            <a:t>Fibras pequenas </a:t>
          </a:r>
        </a:p>
        <a:p>
          <a:pPr marL="171450" lvl="1" indent="-171450" algn="l" defTabSz="755650">
            <a:lnSpc>
              <a:spcPct val="90000"/>
            </a:lnSpc>
            <a:spcBef>
              <a:spcPct val="0"/>
            </a:spcBef>
            <a:spcAft>
              <a:spcPct val="20000"/>
            </a:spcAft>
            <a:buChar char="•"/>
          </a:pPr>
          <a:endParaRPr lang="pt-BR" sz="1700" kern="1200" dirty="0"/>
        </a:p>
      </dsp:txBody>
      <dsp:txXfrm>
        <a:off x="0" y="633841"/>
        <a:ext cx="7632848" cy="2368080"/>
      </dsp:txXfrm>
    </dsp:sp>
    <dsp:sp modelId="{613BE0ED-75F2-45CC-9FC0-12A7C48A1890}">
      <dsp:nvSpPr>
        <dsp:cNvPr id="0" name=""/>
        <dsp:cNvSpPr/>
      </dsp:nvSpPr>
      <dsp:spPr>
        <a:xfrm>
          <a:off x="0" y="2999473"/>
          <a:ext cx="7632848"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pt-BR" sz="2200" kern="1200" dirty="0"/>
            <a:t>Fibras do tipo 2 - brancas</a:t>
          </a:r>
        </a:p>
      </dsp:txBody>
      <dsp:txXfrm>
        <a:off x="25759" y="3025232"/>
        <a:ext cx="7581330" cy="476152"/>
      </dsp:txXfrm>
    </dsp:sp>
    <dsp:sp modelId="{2A151A40-2C6F-4C19-9F49-1BC43BB9D34D}">
      <dsp:nvSpPr>
        <dsp:cNvPr id="0" name=""/>
        <dsp:cNvSpPr/>
      </dsp:nvSpPr>
      <dsp:spPr>
        <a:xfrm>
          <a:off x="0" y="3527143"/>
          <a:ext cx="7632848" cy="2049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343"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pt-BR" sz="1700" kern="1200" dirty="0"/>
            <a:t>- Vascularização </a:t>
          </a:r>
        </a:p>
        <a:p>
          <a:pPr marL="171450" lvl="1" indent="-171450" algn="l" defTabSz="755650">
            <a:lnSpc>
              <a:spcPct val="90000"/>
            </a:lnSpc>
            <a:spcBef>
              <a:spcPct val="0"/>
            </a:spcBef>
            <a:spcAft>
              <a:spcPct val="20000"/>
            </a:spcAft>
            <a:buChar char="•"/>
          </a:pPr>
          <a:r>
            <a:rPr lang="pt-BR" sz="1700" kern="1200" dirty="0"/>
            <a:t>- Oxigênio</a:t>
          </a:r>
        </a:p>
        <a:p>
          <a:pPr marL="171450" lvl="1" indent="-171450" algn="l" defTabSz="755650">
            <a:lnSpc>
              <a:spcPct val="90000"/>
            </a:lnSpc>
            <a:spcBef>
              <a:spcPct val="0"/>
            </a:spcBef>
            <a:spcAft>
              <a:spcPct val="20000"/>
            </a:spcAft>
            <a:buChar char="•"/>
          </a:pPr>
          <a:r>
            <a:rPr lang="pt-BR" sz="1700" kern="1200" dirty="0"/>
            <a:t>+ armazenamento de glicogênio</a:t>
          </a:r>
        </a:p>
        <a:p>
          <a:pPr marL="171450" lvl="1" indent="-171450" algn="l" defTabSz="755650">
            <a:lnSpc>
              <a:spcPct val="90000"/>
            </a:lnSpc>
            <a:spcBef>
              <a:spcPct val="0"/>
            </a:spcBef>
            <a:spcAft>
              <a:spcPct val="20000"/>
            </a:spcAft>
            <a:buChar char="•"/>
          </a:pPr>
          <a:r>
            <a:rPr lang="pt-BR" sz="1700" kern="1200" dirty="0"/>
            <a:t>+ velocidade de contração + força </a:t>
          </a:r>
        </a:p>
        <a:p>
          <a:pPr marL="171450" lvl="1" indent="-171450" algn="l" defTabSz="755650">
            <a:lnSpc>
              <a:spcPct val="90000"/>
            </a:lnSpc>
            <a:spcBef>
              <a:spcPct val="0"/>
            </a:spcBef>
            <a:spcAft>
              <a:spcPct val="20000"/>
            </a:spcAft>
            <a:buChar char="•"/>
          </a:pPr>
          <a:r>
            <a:rPr lang="pt-BR" sz="1700" kern="1200" dirty="0"/>
            <a:t>- resistência a fadiga  </a:t>
          </a:r>
        </a:p>
        <a:p>
          <a:pPr marL="171450" lvl="1" indent="-171450" algn="l" defTabSz="755650">
            <a:lnSpc>
              <a:spcPct val="90000"/>
            </a:lnSpc>
            <a:spcBef>
              <a:spcPct val="0"/>
            </a:spcBef>
            <a:spcAft>
              <a:spcPct val="20000"/>
            </a:spcAft>
            <a:buChar char="•"/>
          </a:pPr>
          <a:r>
            <a:rPr lang="pt-BR" sz="1700" kern="1200" dirty="0"/>
            <a:t>Fibras grandes </a:t>
          </a:r>
        </a:p>
        <a:p>
          <a:pPr marL="171450" lvl="1" indent="-171450" algn="l" defTabSz="755650">
            <a:lnSpc>
              <a:spcPct val="90000"/>
            </a:lnSpc>
            <a:spcBef>
              <a:spcPct val="0"/>
            </a:spcBef>
            <a:spcAft>
              <a:spcPct val="20000"/>
            </a:spcAft>
            <a:buChar char="•"/>
          </a:pPr>
          <a:endParaRPr lang="pt-BR" sz="1700" kern="1200" dirty="0"/>
        </a:p>
      </dsp:txBody>
      <dsp:txXfrm>
        <a:off x="0" y="3527143"/>
        <a:ext cx="7632848" cy="2049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5D8C46-64E4-448C-8C48-707FEDDE9F9E}">
      <dsp:nvSpPr>
        <dsp:cNvPr id="0" name=""/>
        <dsp:cNvSpPr/>
      </dsp:nvSpPr>
      <dsp:spPr>
        <a:xfrm>
          <a:off x="819" y="20879"/>
          <a:ext cx="3195386" cy="19172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t-BR" sz="2900" kern="1200" dirty="0"/>
            <a:t>Aquecimento muscular</a:t>
          </a:r>
        </a:p>
        <a:p>
          <a:pPr marL="0" lvl="0" indent="0" algn="ctr" defTabSz="1289050">
            <a:lnSpc>
              <a:spcPct val="90000"/>
            </a:lnSpc>
            <a:spcBef>
              <a:spcPct val="0"/>
            </a:spcBef>
            <a:spcAft>
              <a:spcPct val="35000"/>
            </a:spcAft>
            <a:buNone/>
          </a:pPr>
          <a:r>
            <a:rPr lang="pt-BR" sz="2900" kern="1200" dirty="0"/>
            <a:t>2 a 10 Hz</a:t>
          </a:r>
        </a:p>
      </dsp:txBody>
      <dsp:txXfrm>
        <a:off x="819" y="20879"/>
        <a:ext cx="3195386" cy="1917231"/>
      </dsp:txXfrm>
    </dsp:sp>
    <dsp:sp modelId="{280431C3-1E2C-460E-BC59-2008C0C5FBCC}">
      <dsp:nvSpPr>
        <dsp:cNvPr id="0" name=""/>
        <dsp:cNvSpPr/>
      </dsp:nvSpPr>
      <dsp:spPr>
        <a:xfrm>
          <a:off x="3515744" y="20879"/>
          <a:ext cx="3195386" cy="19172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t-BR" sz="2900" kern="1200" dirty="0"/>
            <a:t>Fibras tônicas </a:t>
          </a:r>
        </a:p>
        <a:p>
          <a:pPr marL="0" lvl="0" indent="0" algn="ctr" defTabSz="1289050">
            <a:lnSpc>
              <a:spcPct val="90000"/>
            </a:lnSpc>
            <a:spcBef>
              <a:spcPct val="0"/>
            </a:spcBef>
            <a:spcAft>
              <a:spcPct val="35000"/>
            </a:spcAft>
            <a:buNone/>
          </a:pPr>
          <a:r>
            <a:rPr lang="pt-BR" sz="2900" kern="1200" dirty="0"/>
            <a:t>30 a 40 Hz</a:t>
          </a:r>
        </a:p>
      </dsp:txBody>
      <dsp:txXfrm>
        <a:off x="3515744" y="20879"/>
        <a:ext cx="3195386" cy="1917231"/>
      </dsp:txXfrm>
    </dsp:sp>
    <dsp:sp modelId="{12967549-1BAB-4ECF-AAD7-8A1340945D7F}">
      <dsp:nvSpPr>
        <dsp:cNvPr id="0" name=""/>
        <dsp:cNvSpPr/>
      </dsp:nvSpPr>
      <dsp:spPr>
        <a:xfrm>
          <a:off x="819" y="2257650"/>
          <a:ext cx="3195386" cy="19172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t-BR" sz="2900" kern="1200" dirty="0"/>
            <a:t>Fibras fásicas</a:t>
          </a:r>
        </a:p>
        <a:p>
          <a:pPr marL="0" lvl="0" indent="0" algn="ctr" defTabSz="1289050">
            <a:lnSpc>
              <a:spcPct val="90000"/>
            </a:lnSpc>
            <a:spcBef>
              <a:spcPct val="0"/>
            </a:spcBef>
            <a:spcAft>
              <a:spcPct val="35000"/>
            </a:spcAft>
            <a:buNone/>
          </a:pPr>
          <a:r>
            <a:rPr lang="pt-BR" sz="2900" kern="1200" dirty="0"/>
            <a:t>80 a 100 Hz </a:t>
          </a:r>
        </a:p>
        <a:p>
          <a:pPr marL="0" lvl="0" indent="0" algn="ctr" defTabSz="1289050">
            <a:lnSpc>
              <a:spcPct val="90000"/>
            </a:lnSpc>
            <a:spcBef>
              <a:spcPct val="0"/>
            </a:spcBef>
            <a:spcAft>
              <a:spcPct val="35000"/>
            </a:spcAft>
            <a:buNone/>
          </a:pPr>
          <a:endParaRPr lang="pt-BR" sz="2900" kern="1200" dirty="0"/>
        </a:p>
      </dsp:txBody>
      <dsp:txXfrm>
        <a:off x="819" y="2257650"/>
        <a:ext cx="3195386" cy="1917231"/>
      </dsp:txXfrm>
    </dsp:sp>
    <dsp:sp modelId="{C9127802-8CDB-43BA-91AF-2D8979ED854F}">
      <dsp:nvSpPr>
        <dsp:cNvPr id="0" name=""/>
        <dsp:cNvSpPr/>
      </dsp:nvSpPr>
      <dsp:spPr>
        <a:xfrm>
          <a:off x="3515744" y="2257650"/>
          <a:ext cx="3195386" cy="19172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t-BR" sz="2900" kern="1200" dirty="0"/>
            <a:t>Potencialização muscular</a:t>
          </a:r>
        </a:p>
        <a:p>
          <a:pPr marL="0" lvl="0" indent="0" algn="ctr" defTabSz="1289050">
            <a:lnSpc>
              <a:spcPct val="90000"/>
            </a:lnSpc>
            <a:spcBef>
              <a:spcPct val="0"/>
            </a:spcBef>
            <a:spcAft>
              <a:spcPct val="35000"/>
            </a:spcAft>
            <a:buNone/>
          </a:pPr>
          <a:r>
            <a:rPr lang="pt-BR" sz="2900" kern="1200" dirty="0"/>
            <a:t>110 a 150 Hz</a:t>
          </a:r>
        </a:p>
      </dsp:txBody>
      <dsp:txXfrm>
        <a:off x="3515744" y="2257650"/>
        <a:ext cx="3195386" cy="1917231"/>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B7F883-4770-4B5D-8D08-C0A80D0449EA}" type="datetimeFigureOut">
              <a:rPr lang="pt-BR" smtClean="0"/>
              <a:pPr/>
              <a:t>03/08/2025</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D70D56-4D8D-4053-B8F4-1A6DCA056756}"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pt-BR"/>
              <a:t>Clique para editar o título Mestre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365205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2154059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1666919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2769345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3385456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3"/>
          <p:cNvSpPr>
            <a:spLocks noGrp="1"/>
          </p:cNvSpPr>
          <p:nvPr>
            <p:ph type="ftr" sz="quarter" idx="11"/>
          </p:nvPr>
        </p:nvSpPr>
        <p:spPr/>
        <p:txBody>
          <a:bodyPr/>
          <a:lstStyle/>
          <a:p>
            <a:endParaRPr lang="pt-BR"/>
          </a:p>
        </p:txBody>
      </p:sp>
      <p:sp>
        <p:nvSpPr>
          <p:cNvPr id="6" name="Slide Number Placeholder 4"/>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839141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2"/>
          <p:cNvSpPr>
            <a:spLocks noGrp="1"/>
          </p:cNvSpPr>
          <p:nvPr>
            <p:ph type="ftr" sz="quarter" idx="11"/>
          </p:nvPr>
        </p:nvSpPr>
        <p:spPr/>
        <p:txBody>
          <a:bodyPr/>
          <a:lstStyle/>
          <a:p>
            <a:endParaRPr lang="pt-BR"/>
          </a:p>
        </p:txBody>
      </p:sp>
      <p:sp>
        <p:nvSpPr>
          <p:cNvPr id="6" name="Slide Number Placeholder 3"/>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367509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pt-BR"/>
              <a:t>Clique para editar o título Mestre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7" name="Date Placeholder 4"/>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5"/>
          <p:cNvSpPr>
            <a:spLocks noGrp="1"/>
          </p:cNvSpPr>
          <p:nvPr>
            <p:ph type="ftr" sz="quarter" idx="11"/>
          </p:nvPr>
        </p:nvSpPr>
        <p:spPr/>
        <p:txBody>
          <a:bodyPr/>
          <a:lstStyle/>
          <a:p>
            <a:endParaRPr lang="pt-BR"/>
          </a:p>
        </p:txBody>
      </p:sp>
      <p:sp>
        <p:nvSpPr>
          <p:cNvPr id="6" name="Slide Number Placeholder 6"/>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1305641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1379377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1804153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pt-BR"/>
              <a:t>Clique para editar o título Mestre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4288444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pt-BR"/>
              <a:t>Clique para editar o título Mestre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pt-BR"/>
              <a:t>Clique para editar os estilos de texto Mestres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5879165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3919743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t-BR"/>
              <a:t>Clique para editar o título Mestre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4"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2216460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pt-BR"/>
              <a:t>Clique para editar o título Mestre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4"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2031425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27002196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615E5A8-1381-4440-92D4-AA3CC5E4AA7C}" type="datetimeFigureOut">
              <a:rPr lang="pt-BR" smtClean="0"/>
              <a:pPr/>
              <a:t>03/08/2025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1E70C8F-0F17-4880-AFD5-AD81F1B7A1F1}" type="slidenum">
              <a:rPr lang="pt-BR" smtClean="0"/>
              <a:pPr/>
              <a:t>‹nº›</a:t>
            </a:fld>
            <a:endParaRPr lang="pt-BR"/>
          </a:p>
        </p:txBody>
      </p:sp>
    </p:spTree>
    <p:extLst>
      <p:ext uri="{BB962C8B-B14F-4D97-AF65-F5344CB8AC3E}">
        <p14:creationId xmlns:p14="http://schemas.microsoft.com/office/powerpoint/2010/main" val="50687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615E5A8-1381-4440-92D4-AA3CC5E4AA7C}" type="datetimeFigureOut">
              <a:rPr lang="pt-BR" smtClean="0"/>
              <a:pPr/>
              <a:t>03/08/2025</a:t>
            </a:fld>
            <a:endParaRPr lang="pt-B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pt-B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81E70C8F-0F17-4880-AFD5-AD81F1B7A1F1}" type="slidenum">
              <a:rPr lang="pt-BR" smtClean="0"/>
              <a:pPr/>
              <a:t>‹nº›</a:t>
            </a:fld>
            <a:endParaRPr lang="pt-BR"/>
          </a:p>
        </p:txBody>
      </p:sp>
    </p:spTree>
    <p:extLst>
      <p:ext uri="{BB962C8B-B14F-4D97-AF65-F5344CB8AC3E}">
        <p14:creationId xmlns:p14="http://schemas.microsoft.com/office/powerpoint/2010/main" val="1342721919"/>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
            <a:extLst>
              <a:ext uri="{FF2B5EF4-FFF2-40B4-BE49-F238E27FC236}">
                <a16:creationId xmlns:a16="http://schemas.microsoft.com/office/drawing/2014/main" id="{C13E6576-0408-4ABE-9FBC-2FAF95A73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2" name="Título 1"/>
          <p:cNvSpPr>
            <a:spLocks noGrp="1"/>
          </p:cNvSpPr>
          <p:nvPr>
            <p:ph type="ctrTitle"/>
          </p:nvPr>
        </p:nvSpPr>
        <p:spPr>
          <a:xfrm>
            <a:off x="755576" y="2348880"/>
            <a:ext cx="7920880" cy="1981199"/>
          </a:xfrm>
        </p:spPr>
        <p:txBody>
          <a:bodyPr/>
          <a:lstStyle/>
          <a:p>
            <a:r>
              <a:rPr lang="pt-BR" sz="3600" b="1" dirty="0">
                <a:solidFill>
                  <a:schemeClr val="accent5">
                    <a:lumMod val="50000"/>
                  </a:schemeClr>
                </a:solidFill>
                <a:latin typeface="Arial" panose="020B0604020202020204" pitchFamily="34" charset="0"/>
                <a:cs typeface="Arial" panose="020B0604020202020204" pitchFamily="34" charset="0"/>
              </a:rPr>
              <a:t>CORRENTES EXCITOMOTORAS</a:t>
            </a:r>
            <a:br>
              <a:rPr lang="pt-BR" sz="4400" b="1" dirty="0">
                <a:solidFill>
                  <a:schemeClr val="accent5">
                    <a:lumMod val="50000"/>
                  </a:schemeClr>
                </a:solidFill>
                <a:latin typeface="Arial" panose="020B0604020202020204" pitchFamily="34" charset="0"/>
                <a:cs typeface="Arial" panose="020B0604020202020204" pitchFamily="34" charset="0"/>
              </a:rPr>
            </a:br>
            <a:endParaRPr lang="pt-BR" sz="2800" b="1" dirty="0">
              <a:solidFill>
                <a:schemeClr val="accent5">
                  <a:lumMod val="50000"/>
                </a:schemeClr>
              </a:solidFill>
              <a:latin typeface="Arial" panose="020B0604020202020204" pitchFamily="34" charset="0"/>
              <a:cs typeface="Arial" panose="020B0604020202020204" pitchFamily="34" charset="0"/>
            </a:endParaRPr>
          </a:p>
        </p:txBody>
      </p:sp>
      <p:sp>
        <p:nvSpPr>
          <p:cNvPr id="3" name="Subtítulo 2"/>
          <p:cNvSpPr>
            <a:spLocks noGrp="1"/>
          </p:cNvSpPr>
          <p:nvPr>
            <p:ph type="subTitle" idx="1"/>
          </p:nvPr>
        </p:nvSpPr>
        <p:spPr>
          <a:xfrm>
            <a:off x="3707904" y="5633864"/>
            <a:ext cx="5256584" cy="1224136"/>
          </a:xfrm>
        </p:spPr>
        <p:txBody>
          <a:bodyPr>
            <a:normAutofit/>
          </a:bodyPr>
          <a:lstStyle/>
          <a:p>
            <a:pPr marL="0" indent="0" algn="r">
              <a:buNone/>
            </a:pPr>
            <a:r>
              <a:rPr lang="pt-BR" sz="2000" b="1" dirty="0">
                <a:solidFill>
                  <a:schemeClr val="tx1">
                    <a:lumMod val="50000"/>
                  </a:schemeClr>
                </a:solidFill>
              </a:rPr>
              <a:t>Disciplina: Eletroterapia</a:t>
            </a:r>
          </a:p>
          <a:p>
            <a:pPr marL="0" indent="0" algn="r">
              <a:buNone/>
            </a:pPr>
            <a:r>
              <a:rPr lang="pt-BR" sz="2000" b="1" dirty="0" err="1">
                <a:solidFill>
                  <a:schemeClr val="tx1">
                    <a:lumMod val="50000"/>
                  </a:schemeClr>
                </a:solidFill>
              </a:rPr>
              <a:t>Prof</a:t>
            </a:r>
            <a:r>
              <a:rPr lang="pt-BR" sz="2000" b="1" dirty="0">
                <a:solidFill>
                  <a:schemeClr val="tx1">
                    <a:lumMod val="50000"/>
                  </a:schemeClr>
                </a:solidFill>
              </a:rPr>
              <a:t> Esp. </a:t>
            </a:r>
            <a:r>
              <a:rPr lang="pt-BR" b="1" dirty="0">
                <a:solidFill>
                  <a:schemeClr val="tx1">
                    <a:lumMod val="50000"/>
                  </a:schemeClr>
                </a:solidFill>
              </a:rPr>
              <a:t>Mariana Macedo Justi</a:t>
            </a:r>
            <a:endParaRPr lang="pt-BR" sz="2000" b="1" dirty="0">
              <a:solidFill>
                <a:schemeClr val="tx1">
                  <a:lumMod val="50000"/>
                </a:schemeClr>
              </a:solidFill>
            </a:endParaRPr>
          </a:p>
          <a:p>
            <a:pPr marL="0" indent="0" algn="r">
              <a:buNone/>
            </a:pPr>
            <a:endParaRPr lang="pt-BR" sz="2000" dirty="0">
              <a:solidFill>
                <a:schemeClr val="tx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84710" y="452718"/>
            <a:ext cx="8119738" cy="1400530"/>
          </a:xfrm>
        </p:spPr>
        <p:txBody>
          <a:bodyPr/>
          <a:lstStyle/>
          <a:p>
            <a:r>
              <a:rPr lang="pt-BR" dirty="0"/>
              <a:t>CORRENTES EXCITOMOTORAS</a:t>
            </a:r>
            <a:br>
              <a:rPr lang="pt-BR" dirty="0"/>
            </a:br>
            <a:endParaRPr lang="pt-BR" dirty="0"/>
          </a:p>
        </p:txBody>
      </p:sp>
      <p:sp>
        <p:nvSpPr>
          <p:cNvPr id="3" name="Espaço Reservado para Conteúdo 2"/>
          <p:cNvSpPr>
            <a:spLocks noGrp="1"/>
          </p:cNvSpPr>
          <p:nvPr>
            <p:ph idx="1"/>
          </p:nvPr>
        </p:nvSpPr>
        <p:spPr>
          <a:xfrm>
            <a:off x="484710" y="2052925"/>
            <a:ext cx="8119738" cy="4195481"/>
          </a:xfrm>
        </p:spPr>
        <p:txBody>
          <a:bodyPr>
            <a:normAutofit/>
          </a:bodyPr>
          <a:lstStyle/>
          <a:p>
            <a:pPr marL="0" indent="0" algn="just">
              <a:buNone/>
            </a:pPr>
            <a:r>
              <a:rPr lang="pt-BR" sz="2400" dirty="0">
                <a:latin typeface="Arial" panose="020B0604020202020204" pitchFamily="34" charset="0"/>
                <a:cs typeface="Arial" panose="020B0604020202020204" pitchFamily="34" charset="0"/>
              </a:rPr>
              <a:t>TRATA –SE DE UM MECANISMO QUE SIMULA A PASAGEM DO PULSO ELETRICO NERVOSO, LEVANDO O MUSCULO A CONTRAIR SEM A NECESSIDADE DE UM PULSO ORIGINADO PELO PROPRIO SISTEMA NERVOSO. </a:t>
            </a:r>
          </a:p>
          <a:p>
            <a:pPr marL="0" indent="0" algn="just">
              <a:buNone/>
            </a:pPr>
            <a:r>
              <a:rPr lang="pt-BR" sz="2400" dirty="0">
                <a:latin typeface="Arial" panose="020B0604020202020204" pitchFamily="34" charset="0"/>
                <a:cs typeface="Arial" panose="020B0604020202020204" pitchFamily="34" charset="0"/>
              </a:rPr>
              <a:t>CORRENTES DE BAIXA INTENSIDADE BUSCAM ESTIMULOS DE CONTRAÇÃO MUSCULAR, ANALGESIA, MELHORIA DE FUNÇOES FISIOLOGICAS E METABOLICAS, COM MELHORA ENDOCRINA, VASCULAR E TEGUMENTAR.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1200F-BA48-435C-8AE0-92DDCF95497C}"/>
              </a:ext>
            </a:extLst>
          </p:cNvPr>
          <p:cNvSpPr>
            <a:spLocks noGrp="1"/>
          </p:cNvSpPr>
          <p:nvPr>
            <p:ph type="title"/>
          </p:nvPr>
        </p:nvSpPr>
        <p:spPr>
          <a:xfrm>
            <a:off x="484710" y="452718"/>
            <a:ext cx="8119738" cy="1400530"/>
          </a:xfrm>
        </p:spPr>
        <p:txBody>
          <a:bodyPr/>
          <a:lstStyle/>
          <a:p>
            <a:r>
              <a:rPr lang="pt-BR" dirty="0"/>
              <a:t>CORRENTES EXCITOMOTORAS</a:t>
            </a:r>
            <a:br>
              <a:rPr lang="pt-BR" dirty="0"/>
            </a:br>
            <a:r>
              <a:rPr lang="pt-BR" dirty="0"/>
              <a:t> </a:t>
            </a:r>
          </a:p>
        </p:txBody>
      </p:sp>
      <p:sp>
        <p:nvSpPr>
          <p:cNvPr id="3" name="Espaço Reservado para Conteúdo 2">
            <a:extLst>
              <a:ext uri="{FF2B5EF4-FFF2-40B4-BE49-F238E27FC236}">
                <a16:creationId xmlns:a16="http://schemas.microsoft.com/office/drawing/2014/main" id="{278F1575-C3A2-49FB-B2C5-18A203C1E914}"/>
              </a:ext>
            </a:extLst>
          </p:cNvPr>
          <p:cNvSpPr>
            <a:spLocks noGrp="1"/>
          </p:cNvSpPr>
          <p:nvPr>
            <p:ph idx="1"/>
          </p:nvPr>
        </p:nvSpPr>
        <p:spPr>
          <a:xfrm>
            <a:off x="971600" y="1988840"/>
            <a:ext cx="7632848" cy="4195481"/>
          </a:xfrm>
        </p:spPr>
        <p:txBody>
          <a:bodyPr>
            <a:normAutofit/>
          </a:bodyPr>
          <a:lstStyle/>
          <a:p>
            <a:pPr marL="0" indent="0" algn="just">
              <a:buNone/>
            </a:pPr>
            <a:r>
              <a:rPr lang="pt-BR" sz="2400" dirty="0">
                <a:latin typeface="Arial" panose="020B0604020202020204" pitchFamily="34" charset="0"/>
                <a:cs typeface="Arial" panose="020B0604020202020204" pitchFamily="34" charset="0"/>
              </a:rPr>
              <a:t>As Correntes </a:t>
            </a:r>
            <a:r>
              <a:rPr lang="pt-BR" sz="2400" dirty="0" err="1">
                <a:latin typeface="Arial" panose="020B0604020202020204" pitchFamily="34" charset="0"/>
                <a:cs typeface="Arial" panose="020B0604020202020204" pitchFamily="34" charset="0"/>
              </a:rPr>
              <a:t>Excitomotoras</a:t>
            </a:r>
            <a:r>
              <a:rPr lang="pt-BR" sz="2400" dirty="0">
                <a:latin typeface="Arial" panose="020B0604020202020204" pitchFamily="34" charset="0"/>
                <a:cs typeface="Arial" panose="020B0604020202020204" pitchFamily="34" charset="0"/>
              </a:rPr>
              <a:t> inclui uma variedade de tipos de estimulações e os mais comuns são: </a:t>
            </a:r>
          </a:p>
          <a:p>
            <a:pPr algn="just"/>
            <a:r>
              <a:rPr lang="pt-BR" sz="2400" dirty="0">
                <a:latin typeface="Arial" panose="020B0604020202020204" pitchFamily="34" charset="0"/>
                <a:cs typeface="Arial" panose="020B0604020202020204" pitchFamily="34" charset="0"/>
              </a:rPr>
              <a:t>Eletroestimulação neuromuscular para reabilitação/pós operatório ou sequelas de UTI;</a:t>
            </a:r>
          </a:p>
          <a:p>
            <a:pPr algn="just"/>
            <a:r>
              <a:rPr lang="pt-BR" sz="2400" dirty="0">
                <a:latin typeface="Arial" panose="020B0604020202020204" pitchFamily="34" charset="0"/>
                <a:cs typeface="Arial" panose="020B0604020202020204" pitchFamily="34" charset="0"/>
              </a:rPr>
              <a:t>TENS para terapia contra dor, analgesia;</a:t>
            </a:r>
          </a:p>
          <a:p>
            <a:pPr algn="just"/>
            <a:r>
              <a:rPr lang="pt-BR" sz="2400" dirty="0">
                <a:latin typeface="Arial" panose="020B0604020202020204" pitchFamily="34" charset="0"/>
                <a:cs typeface="Arial" panose="020B0604020202020204" pitchFamily="34" charset="0"/>
              </a:rPr>
              <a:t>Corrente Russa e FES estímulo muscular;</a:t>
            </a:r>
          </a:p>
          <a:p>
            <a:pPr algn="just"/>
            <a:r>
              <a:rPr lang="pt-BR" sz="2400" dirty="0" err="1">
                <a:latin typeface="Arial" panose="020B0604020202020204" pitchFamily="34" charset="0"/>
                <a:cs typeface="Arial" panose="020B0604020202020204" pitchFamily="34" charset="0"/>
              </a:rPr>
              <a:t>Microcorrentes</a:t>
            </a:r>
            <a:r>
              <a:rPr lang="pt-BR" sz="2400" dirty="0">
                <a:latin typeface="Arial" panose="020B0604020202020204" pitchFamily="34" charset="0"/>
                <a:cs typeface="Arial" panose="020B0604020202020204" pitchFamily="34" charset="0"/>
              </a:rPr>
              <a:t> para estética;</a:t>
            </a:r>
          </a:p>
          <a:p>
            <a:pPr algn="just"/>
            <a:r>
              <a:rPr lang="pt-BR" sz="2400" dirty="0">
                <a:latin typeface="Arial" panose="020B0604020202020204" pitchFamily="34" charset="0"/>
                <a:cs typeface="Arial" panose="020B0604020202020204" pitchFamily="34" charset="0"/>
              </a:rPr>
              <a:t>Corrente galvânica para iontoforese (introdução de químicos nos tecidos através de campo elétrico). </a:t>
            </a:r>
          </a:p>
        </p:txBody>
      </p:sp>
    </p:spTree>
    <p:extLst>
      <p:ext uri="{BB962C8B-B14F-4D97-AF65-F5344CB8AC3E}">
        <p14:creationId xmlns:p14="http://schemas.microsoft.com/office/powerpoint/2010/main" val="2107242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A0ABA9-7A0B-A4EF-BDD3-E4034907DAE5}"/>
              </a:ext>
            </a:extLst>
          </p:cNvPr>
          <p:cNvSpPr>
            <a:spLocks noGrp="1"/>
          </p:cNvSpPr>
          <p:nvPr>
            <p:ph type="title"/>
          </p:nvPr>
        </p:nvSpPr>
        <p:spPr>
          <a:xfrm>
            <a:off x="484710" y="452718"/>
            <a:ext cx="7975722" cy="1400530"/>
          </a:xfrm>
        </p:spPr>
        <p:txBody>
          <a:bodyPr/>
          <a:lstStyle/>
          <a:p>
            <a:r>
              <a:rPr lang="pt-BR" dirty="0"/>
              <a:t>CORRENTES EXCITOMOTORAS</a:t>
            </a:r>
            <a:br>
              <a:rPr lang="pt-BR" dirty="0"/>
            </a:br>
            <a:endParaRPr lang="pt-BR" dirty="0"/>
          </a:p>
        </p:txBody>
      </p:sp>
      <p:graphicFrame>
        <p:nvGraphicFramePr>
          <p:cNvPr id="5" name="Espaço Reservado para Conteúdo 4">
            <a:extLst>
              <a:ext uri="{FF2B5EF4-FFF2-40B4-BE49-F238E27FC236}">
                <a16:creationId xmlns:a16="http://schemas.microsoft.com/office/drawing/2014/main" id="{82F481D8-7029-B94C-4132-9FC0E52D7D44}"/>
              </a:ext>
            </a:extLst>
          </p:cNvPr>
          <p:cNvGraphicFramePr>
            <a:graphicFrameLocks noGrp="1"/>
          </p:cNvGraphicFramePr>
          <p:nvPr>
            <p:ph idx="1"/>
            <p:extLst>
              <p:ext uri="{D42A27DB-BD31-4B8C-83A1-F6EECF244321}">
                <p14:modId xmlns:p14="http://schemas.microsoft.com/office/powerpoint/2010/main" val="1579483936"/>
              </p:ext>
            </p:extLst>
          </p:nvPr>
        </p:nvGraphicFramePr>
        <p:xfrm>
          <a:off x="323528" y="2052925"/>
          <a:ext cx="8352928" cy="4195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9558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CE2104-CCA3-239F-637B-CEF482081E26}"/>
              </a:ext>
            </a:extLst>
          </p:cNvPr>
          <p:cNvSpPr>
            <a:spLocks noGrp="1"/>
          </p:cNvSpPr>
          <p:nvPr>
            <p:ph type="title"/>
          </p:nvPr>
        </p:nvSpPr>
        <p:spPr>
          <a:xfrm>
            <a:off x="484710" y="452718"/>
            <a:ext cx="8047730" cy="1400530"/>
          </a:xfrm>
        </p:spPr>
        <p:txBody>
          <a:bodyPr/>
          <a:lstStyle/>
          <a:p>
            <a:r>
              <a:rPr lang="pt-BR" dirty="0"/>
              <a:t>CORRENTES EXCITOMOTORAS</a:t>
            </a:r>
            <a:br>
              <a:rPr lang="pt-BR" dirty="0"/>
            </a:br>
            <a:endParaRPr lang="pt-BR" dirty="0"/>
          </a:p>
        </p:txBody>
      </p:sp>
      <p:sp>
        <p:nvSpPr>
          <p:cNvPr id="3" name="Espaço Reservado para Conteúdo 2">
            <a:extLst>
              <a:ext uri="{FF2B5EF4-FFF2-40B4-BE49-F238E27FC236}">
                <a16:creationId xmlns:a16="http://schemas.microsoft.com/office/drawing/2014/main" id="{F21905C7-EFAE-ACF2-DF02-9A4F1E7512C8}"/>
              </a:ext>
            </a:extLst>
          </p:cNvPr>
          <p:cNvSpPr>
            <a:spLocks noGrp="1"/>
          </p:cNvSpPr>
          <p:nvPr>
            <p:ph idx="1"/>
          </p:nvPr>
        </p:nvSpPr>
        <p:spPr/>
        <p:txBody>
          <a:bodyPr/>
          <a:lstStyle/>
          <a:p>
            <a:pPr algn="just"/>
            <a:r>
              <a:rPr lang="pt-BR" dirty="0"/>
              <a:t>AS CORRENTES POSSUEM PULSO ELETRICO, LARGURA DE PULSO E FREQUENCIA EM Hz QUE SÃO ENVIADAS AOS TECIDOS. </a:t>
            </a:r>
          </a:p>
          <a:p>
            <a:pPr algn="just"/>
            <a:r>
              <a:rPr lang="pt-BR" dirty="0"/>
              <a:t>A FREQUENCIA DOS PULSOS É DETERMINADA PELA RELAÇÃO DE QUANTOS ESTIMULOS SERÃO GERADOS DURANTE UM DETERMINADO TEMPO. </a:t>
            </a:r>
          </a:p>
        </p:txBody>
      </p:sp>
    </p:spTree>
    <p:extLst>
      <p:ext uri="{BB962C8B-B14F-4D97-AF65-F5344CB8AC3E}">
        <p14:creationId xmlns:p14="http://schemas.microsoft.com/office/powerpoint/2010/main" val="3289015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0B4580-A508-771C-1A40-E775CCC2926F}"/>
              </a:ext>
            </a:extLst>
          </p:cNvPr>
          <p:cNvSpPr>
            <a:spLocks noGrp="1"/>
          </p:cNvSpPr>
          <p:nvPr>
            <p:ph type="title"/>
          </p:nvPr>
        </p:nvSpPr>
        <p:spPr>
          <a:xfrm>
            <a:off x="484710" y="452718"/>
            <a:ext cx="8191746" cy="1400530"/>
          </a:xfrm>
        </p:spPr>
        <p:txBody>
          <a:bodyPr/>
          <a:lstStyle/>
          <a:p>
            <a:r>
              <a:rPr lang="pt-BR" dirty="0"/>
              <a:t>CORRENTES EXCITOMOTORAS</a:t>
            </a:r>
            <a:br>
              <a:rPr lang="pt-BR" dirty="0"/>
            </a:br>
            <a:endParaRPr lang="pt-BR" dirty="0"/>
          </a:p>
        </p:txBody>
      </p:sp>
      <p:sp>
        <p:nvSpPr>
          <p:cNvPr id="3" name="Espaço Reservado para Conteúdo 2">
            <a:extLst>
              <a:ext uri="{FF2B5EF4-FFF2-40B4-BE49-F238E27FC236}">
                <a16:creationId xmlns:a16="http://schemas.microsoft.com/office/drawing/2014/main" id="{0C08E580-DE51-39EA-E77F-BDF137A8DA86}"/>
              </a:ext>
            </a:extLst>
          </p:cNvPr>
          <p:cNvSpPr>
            <a:spLocks noGrp="1"/>
          </p:cNvSpPr>
          <p:nvPr>
            <p:ph idx="1"/>
          </p:nvPr>
        </p:nvSpPr>
        <p:spPr/>
        <p:txBody>
          <a:bodyPr/>
          <a:lstStyle/>
          <a:p>
            <a:r>
              <a:rPr lang="pt-BR" dirty="0"/>
              <a:t>FATORES QUE INTERFEREM NA IMPEDANCIA CUTANEA:</a:t>
            </a:r>
          </a:p>
          <a:p>
            <a:r>
              <a:rPr lang="pt-BR" dirty="0"/>
              <a:t>Tipos de eletrodos</a:t>
            </a:r>
          </a:p>
          <a:p>
            <a:r>
              <a:rPr lang="pt-BR" dirty="0"/>
              <a:t>Temperatura do ambiente </a:t>
            </a:r>
          </a:p>
          <a:p>
            <a:r>
              <a:rPr lang="pt-BR" dirty="0"/>
              <a:t>Condições da pele </a:t>
            </a:r>
          </a:p>
          <a:p>
            <a:r>
              <a:rPr lang="pt-BR" dirty="0"/>
              <a:t>Excesso de gordura</a:t>
            </a:r>
          </a:p>
          <a:p>
            <a:r>
              <a:rPr lang="pt-BR" dirty="0"/>
              <a:t>Pelos </a:t>
            </a:r>
          </a:p>
        </p:txBody>
      </p:sp>
    </p:spTree>
    <p:extLst>
      <p:ext uri="{BB962C8B-B14F-4D97-AF65-F5344CB8AC3E}">
        <p14:creationId xmlns:p14="http://schemas.microsoft.com/office/powerpoint/2010/main" val="2485284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707A42-8E38-D082-1F04-9222D66E5797}"/>
              </a:ext>
            </a:extLst>
          </p:cNvPr>
          <p:cNvSpPr>
            <a:spLocks noGrp="1"/>
          </p:cNvSpPr>
          <p:nvPr>
            <p:ph type="title"/>
          </p:nvPr>
        </p:nvSpPr>
        <p:spPr>
          <a:xfrm>
            <a:off x="484710" y="452718"/>
            <a:ext cx="7831706" cy="1400530"/>
          </a:xfrm>
        </p:spPr>
        <p:txBody>
          <a:bodyPr/>
          <a:lstStyle/>
          <a:p>
            <a:r>
              <a:rPr lang="pt-BR" dirty="0"/>
              <a:t>CORRENTES EXCITOMOTORAS</a:t>
            </a:r>
            <a:br>
              <a:rPr lang="pt-BR" dirty="0"/>
            </a:br>
            <a:endParaRPr lang="pt-BR" dirty="0"/>
          </a:p>
        </p:txBody>
      </p:sp>
      <p:sp>
        <p:nvSpPr>
          <p:cNvPr id="3" name="Espaço Reservado para Conteúdo 2">
            <a:extLst>
              <a:ext uri="{FF2B5EF4-FFF2-40B4-BE49-F238E27FC236}">
                <a16:creationId xmlns:a16="http://schemas.microsoft.com/office/drawing/2014/main" id="{A2151515-5B3A-30B9-72D8-045C69FE96E8}"/>
              </a:ext>
            </a:extLst>
          </p:cNvPr>
          <p:cNvSpPr>
            <a:spLocks noGrp="1"/>
          </p:cNvSpPr>
          <p:nvPr>
            <p:ph idx="1"/>
          </p:nvPr>
        </p:nvSpPr>
        <p:spPr/>
        <p:txBody>
          <a:bodyPr/>
          <a:lstStyle/>
          <a:p>
            <a:r>
              <a:rPr lang="pt-BR" dirty="0"/>
              <a:t>TIPOS DE ELETRODOS:</a:t>
            </a:r>
            <a:br>
              <a:rPr lang="pt-BR" dirty="0"/>
            </a:br>
            <a:endParaRPr lang="pt-BR" dirty="0"/>
          </a:p>
          <a:p>
            <a:r>
              <a:rPr lang="pt-BR" dirty="0"/>
              <a:t>Metálicos revestidos com esponja vegetal</a:t>
            </a:r>
          </a:p>
          <a:p>
            <a:r>
              <a:rPr lang="pt-BR" dirty="0"/>
              <a:t>Carbono ou silicone </a:t>
            </a:r>
          </a:p>
          <a:p>
            <a:r>
              <a:rPr lang="pt-BR" dirty="0"/>
              <a:t>Auto adesivos – práticos, caros, higiênicos, anatômicos, não se usa gel, não necessita faixas, não descolam com movimento, diferentes tamanhos, de uso individual. Inconveniente: pouca durabilidade, não podem ser limpos, não pode usar sobre pelos. </a:t>
            </a:r>
          </a:p>
        </p:txBody>
      </p:sp>
    </p:spTree>
    <p:extLst>
      <p:ext uri="{BB962C8B-B14F-4D97-AF65-F5344CB8AC3E}">
        <p14:creationId xmlns:p14="http://schemas.microsoft.com/office/powerpoint/2010/main" val="2953392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B6A006-4E5E-F1B1-0B6B-A499351BC065}"/>
              </a:ext>
            </a:extLst>
          </p:cNvPr>
          <p:cNvSpPr>
            <a:spLocks noGrp="1"/>
          </p:cNvSpPr>
          <p:nvPr>
            <p:ph type="title"/>
          </p:nvPr>
        </p:nvSpPr>
        <p:spPr>
          <a:xfrm>
            <a:off x="484710" y="452718"/>
            <a:ext cx="8551786" cy="1400530"/>
          </a:xfrm>
        </p:spPr>
        <p:txBody>
          <a:bodyPr/>
          <a:lstStyle/>
          <a:p>
            <a:r>
              <a:rPr lang="pt-BR" dirty="0"/>
              <a:t>CORRENTES EXCITOMOTORAS</a:t>
            </a:r>
            <a:br>
              <a:rPr lang="pt-BR" dirty="0"/>
            </a:br>
            <a:endParaRPr lang="pt-BR" dirty="0"/>
          </a:p>
        </p:txBody>
      </p:sp>
      <p:sp>
        <p:nvSpPr>
          <p:cNvPr id="3" name="Espaço Reservado para Conteúdo 2">
            <a:extLst>
              <a:ext uri="{FF2B5EF4-FFF2-40B4-BE49-F238E27FC236}">
                <a16:creationId xmlns:a16="http://schemas.microsoft.com/office/drawing/2014/main" id="{D3AF1CE5-FF5D-357B-5331-E858938E4F29}"/>
              </a:ext>
            </a:extLst>
          </p:cNvPr>
          <p:cNvSpPr>
            <a:spLocks noGrp="1"/>
          </p:cNvSpPr>
          <p:nvPr>
            <p:ph idx="1"/>
          </p:nvPr>
        </p:nvSpPr>
        <p:spPr/>
        <p:txBody>
          <a:bodyPr/>
          <a:lstStyle/>
          <a:p>
            <a:r>
              <a:rPr lang="pt-BR" dirty="0"/>
              <a:t>TEMPERATURA</a:t>
            </a:r>
          </a:p>
          <a:p>
            <a:r>
              <a:rPr lang="pt-BR" dirty="0"/>
              <a:t> A pele no frio arrepia e evita a perda de calor, bem como fica mais espessa, aumentando a resistência a corrente aplicada. </a:t>
            </a:r>
          </a:p>
          <a:p>
            <a:r>
              <a:rPr lang="pt-BR" dirty="0"/>
              <a:t>GORDURA </a:t>
            </a:r>
          </a:p>
          <a:p>
            <a:r>
              <a:rPr lang="pt-BR" dirty="0"/>
              <a:t>Outro fator o qual aumenta a resistência de absorção da corrente aplicada. </a:t>
            </a:r>
          </a:p>
          <a:p>
            <a:r>
              <a:rPr lang="pt-BR" dirty="0"/>
              <a:t>PELOS</a:t>
            </a:r>
          </a:p>
          <a:p>
            <a:r>
              <a:rPr lang="pt-BR" dirty="0"/>
              <a:t>Devem ser removidos, pois atrapalham a passagem da corrente elétrica. </a:t>
            </a:r>
          </a:p>
        </p:txBody>
      </p:sp>
    </p:spTree>
    <p:extLst>
      <p:ext uri="{BB962C8B-B14F-4D97-AF65-F5344CB8AC3E}">
        <p14:creationId xmlns:p14="http://schemas.microsoft.com/office/powerpoint/2010/main" val="2730677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5EC4F3-C452-FD71-2C5F-0F43D20CD7F6}"/>
              </a:ext>
            </a:extLst>
          </p:cNvPr>
          <p:cNvSpPr>
            <a:spLocks noGrp="1"/>
          </p:cNvSpPr>
          <p:nvPr>
            <p:ph type="title"/>
          </p:nvPr>
        </p:nvSpPr>
        <p:spPr>
          <a:xfrm>
            <a:off x="484710" y="452718"/>
            <a:ext cx="7975722" cy="1400530"/>
          </a:xfrm>
        </p:spPr>
        <p:txBody>
          <a:bodyPr/>
          <a:lstStyle/>
          <a:p>
            <a:r>
              <a:rPr lang="pt-BR" dirty="0"/>
              <a:t>CORRENTES EXCITOMOTORAS</a:t>
            </a:r>
            <a:br>
              <a:rPr lang="pt-BR" dirty="0"/>
            </a:br>
            <a:endParaRPr lang="pt-BR" dirty="0"/>
          </a:p>
        </p:txBody>
      </p:sp>
      <p:sp>
        <p:nvSpPr>
          <p:cNvPr id="3" name="Espaço Reservado para Conteúdo 2">
            <a:extLst>
              <a:ext uri="{FF2B5EF4-FFF2-40B4-BE49-F238E27FC236}">
                <a16:creationId xmlns:a16="http://schemas.microsoft.com/office/drawing/2014/main" id="{1F4282AB-C3D5-A4C3-A54F-9AF5C761F5C6}"/>
              </a:ext>
            </a:extLst>
          </p:cNvPr>
          <p:cNvSpPr>
            <a:spLocks noGrp="1"/>
          </p:cNvSpPr>
          <p:nvPr>
            <p:ph idx="1"/>
          </p:nvPr>
        </p:nvSpPr>
        <p:spPr/>
        <p:txBody>
          <a:bodyPr/>
          <a:lstStyle/>
          <a:p>
            <a:r>
              <a:rPr lang="pt-BR" dirty="0"/>
              <a:t>MODELO DE CORRENTES </a:t>
            </a:r>
          </a:p>
          <a:p>
            <a:r>
              <a:rPr lang="pt-BR" dirty="0"/>
              <a:t>UNIDIRECIONAL OU MONOFASICA </a:t>
            </a:r>
          </a:p>
          <a:p>
            <a:r>
              <a:rPr lang="pt-BR" dirty="0"/>
              <a:t>BIDIRECIONAL, BIFASICA OU  ALTERNADA</a:t>
            </a:r>
          </a:p>
          <a:p>
            <a:pPr marL="0" indent="0">
              <a:buNone/>
            </a:pPr>
            <a:endParaRPr lang="pt-BR" dirty="0"/>
          </a:p>
        </p:txBody>
      </p:sp>
      <p:graphicFrame>
        <p:nvGraphicFramePr>
          <p:cNvPr id="4" name="Tabela 3">
            <a:extLst>
              <a:ext uri="{FF2B5EF4-FFF2-40B4-BE49-F238E27FC236}">
                <a16:creationId xmlns:a16="http://schemas.microsoft.com/office/drawing/2014/main" id="{F13A6C2A-D296-FDE5-CAE1-EB9133A01C42}"/>
              </a:ext>
            </a:extLst>
          </p:cNvPr>
          <p:cNvGraphicFramePr>
            <a:graphicFrameLocks noGrp="1"/>
          </p:cNvGraphicFramePr>
          <p:nvPr>
            <p:extLst>
              <p:ext uri="{D42A27DB-BD31-4B8C-83A1-F6EECF244321}">
                <p14:modId xmlns:p14="http://schemas.microsoft.com/office/powerpoint/2010/main" val="2166069057"/>
              </p:ext>
            </p:extLst>
          </p:nvPr>
        </p:nvGraphicFramePr>
        <p:xfrm>
          <a:off x="827700" y="3573016"/>
          <a:ext cx="7632732" cy="2103120"/>
        </p:xfrm>
        <a:graphic>
          <a:graphicData uri="http://schemas.openxmlformats.org/drawingml/2006/table">
            <a:tbl>
              <a:tblPr firstRow="1" bandRow="1">
                <a:tableStyleId>{5C22544A-7EE6-4342-B048-85BDC9FD1C3A}</a:tableStyleId>
              </a:tblPr>
              <a:tblGrid>
                <a:gridCol w="2544244">
                  <a:extLst>
                    <a:ext uri="{9D8B030D-6E8A-4147-A177-3AD203B41FA5}">
                      <a16:colId xmlns:a16="http://schemas.microsoft.com/office/drawing/2014/main" val="1846441346"/>
                    </a:ext>
                  </a:extLst>
                </a:gridCol>
                <a:gridCol w="2544244">
                  <a:extLst>
                    <a:ext uri="{9D8B030D-6E8A-4147-A177-3AD203B41FA5}">
                      <a16:colId xmlns:a16="http://schemas.microsoft.com/office/drawing/2014/main" val="3506195256"/>
                    </a:ext>
                  </a:extLst>
                </a:gridCol>
                <a:gridCol w="2544244">
                  <a:extLst>
                    <a:ext uri="{9D8B030D-6E8A-4147-A177-3AD203B41FA5}">
                      <a16:colId xmlns:a16="http://schemas.microsoft.com/office/drawing/2014/main" val="3346122476"/>
                    </a:ext>
                  </a:extLst>
                </a:gridCol>
              </a:tblGrid>
              <a:tr h="370840">
                <a:tc>
                  <a:txBody>
                    <a:bodyPr/>
                    <a:lstStyle/>
                    <a:p>
                      <a:endParaRPr lang="pt-BR" sz="2400" dirty="0"/>
                    </a:p>
                  </a:txBody>
                  <a:tcPr/>
                </a:tc>
                <a:tc>
                  <a:txBody>
                    <a:bodyPr/>
                    <a:lstStyle/>
                    <a:p>
                      <a:r>
                        <a:rPr lang="pt-BR" sz="2400" dirty="0"/>
                        <a:t>FREQUENCIA </a:t>
                      </a:r>
                    </a:p>
                  </a:txBody>
                  <a:tcPr/>
                </a:tc>
                <a:tc>
                  <a:txBody>
                    <a:bodyPr/>
                    <a:lstStyle/>
                    <a:p>
                      <a:endParaRPr lang="pt-BR" sz="2400" dirty="0"/>
                    </a:p>
                  </a:txBody>
                  <a:tcPr/>
                </a:tc>
                <a:extLst>
                  <a:ext uri="{0D108BD9-81ED-4DB2-BD59-A6C34878D82A}">
                    <a16:rowId xmlns:a16="http://schemas.microsoft.com/office/drawing/2014/main" val="2634207376"/>
                  </a:ext>
                </a:extLst>
              </a:tr>
              <a:tr h="370840">
                <a:tc>
                  <a:txBody>
                    <a:bodyPr/>
                    <a:lstStyle/>
                    <a:p>
                      <a:r>
                        <a:rPr lang="pt-BR" sz="2400" dirty="0"/>
                        <a:t>BAIXA</a:t>
                      </a:r>
                    </a:p>
                  </a:txBody>
                  <a:tcPr/>
                </a:tc>
                <a:tc>
                  <a:txBody>
                    <a:bodyPr/>
                    <a:lstStyle/>
                    <a:p>
                      <a:r>
                        <a:rPr lang="pt-BR" sz="2400" dirty="0"/>
                        <a:t>ATE 150 Hz </a:t>
                      </a:r>
                    </a:p>
                  </a:txBody>
                  <a:tcPr/>
                </a:tc>
                <a:tc>
                  <a:txBody>
                    <a:bodyPr/>
                    <a:lstStyle/>
                    <a:p>
                      <a:r>
                        <a:rPr lang="pt-BR" sz="2400" dirty="0"/>
                        <a:t>TENS – FES - MENS</a:t>
                      </a:r>
                    </a:p>
                  </a:txBody>
                  <a:tcPr/>
                </a:tc>
                <a:extLst>
                  <a:ext uri="{0D108BD9-81ED-4DB2-BD59-A6C34878D82A}">
                    <a16:rowId xmlns:a16="http://schemas.microsoft.com/office/drawing/2014/main" val="3395366426"/>
                  </a:ext>
                </a:extLst>
              </a:tr>
              <a:tr h="370840">
                <a:tc>
                  <a:txBody>
                    <a:bodyPr/>
                    <a:lstStyle/>
                    <a:p>
                      <a:r>
                        <a:rPr lang="pt-BR" sz="2400" dirty="0"/>
                        <a:t>MEDIA </a:t>
                      </a:r>
                    </a:p>
                  </a:txBody>
                  <a:tcPr/>
                </a:tc>
                <a:tc>
                  <a:txBody>
                    <a:bodyPr/>
                    <a:lstStyle/>
                    <a:p>
                      <a:r>
                        <a:rPr lang="pt-BR" sz="2400" dirty="0"/>
                        <a:t>De 1000 a 10000 Hz </a:t>
                      </a:r>
                    </a:p>
                  </a:txBody>
                  <a:tcPr/>
                </a:tc>
                <a:tc>
                  <a:txBody>
                    <a:bodyPr/>
                    <a:lstStyle/>
                    <a:p>
                      <a:r>
                        <a:rPr lang="pt-BR" sz="2400" dirty="0"/>
                        <a:t>RUSSA – AUSSIE </a:t>
                      </a:r>
                    </a:p>
                  </a:txBody>
                  <a:tcPr/>
                </a:tc>
                <a:extLst>
                  <a:ext uri="{0D108BD9-81ED-4DB2-BD59-A6C34878D82A}">
                    <a16:rowId xmlns:a16="http://schemas.microsoft.com/office/drawing/2014/main" val="3742700116"/>
                  </a:ext>
                </a:extLst>
              </a:tr>
            </a:tbl>
          </a:graphicData>
        </a:graphic>
      </p:graphicFrame>
    </p:spTree>
    <p:extLst>
      <p:ext uri="{BB962C8B-B14F-4D97-AF65-F5344CB8AC3E}">
        <p14:creationId xmlns:p14="http://schemas.microsoft.com/office/powerpoint/2010/main" val="2430430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6EC9FB-1029-F418-C246-41172D7153B3}"/>
              </a:ext>
            </a:extLst>
          </p:cNvPr>
          <p:cNvSpPr>
            <a:spLocks noGrp="1"/>
          </p:cNvSpPr>
          <p:nvPr>
            <p:ph type="title"/>
          </p:nvPr>
        </p:nvSpPr>
        <p:spPr/>
        <p:txBody>
          <a:bodyPr/>
          <a:lstStyle/>
          <a:p>
            <a:pPr algn="ctr"/>
            <a:r>
              <a:rPr lang="pt-BR" b="1" dirty="0"/>
              <a:t>ELETROESTIMULAÇÃO</a:t>
            </a:r>
          </a:p>
        </p:txBody>
      </p:sp>
      <p:sp>
        <p:nvSpPr>
          <p:cNvPr id="3" name="Espaço Reservado para Conteúdo 2">
            <a:extLst>
              <a:ext uri="{FF2B5EF4-FFF2-40B4-BE49-F238E27FC236}">
                <a16:creationId xmlns:a16="http://schemas.microsoft.com/office/drawing/2014/main" id="{5E09DFAB-5980-B0E4-3FB4-956805326008}"/>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205B8CB1-AE2F-C2A8-5805-B61F0189FBEF}"/>
              </a:ext>
            </a:extLst>
          </p:cNvPr>
          <p:cNvPicPr>
            <a:picLocks noChangeAspect="1"/>
          </p:cNvPicPr>
          <p:nvPr/>
        </p:nvPicPr>
        <p:blipFill>
          <a:blip r:embed="rId2"/>
          <a:stretch>
            <a:fillRect/>
          </a:stretch>
        </p:blipFill>
        <p:spPr>
          <a:xfrm>
            <a:off x="827700" y="1684112"/>
            <a:ext cx="7399658" cy="4933105"/>
          </a:xfrm>
          <a:prstGeom prst="rect">
            <a:avLst/>
          </a:prstGeom>
        </p:spPr>
      </p:pic>
    </p:spTree>
    <p:extLst>
      <p:ext uri="{BB962C8B-B14F-4D97-AF65-F5344CB8AC3E}">
        <p14:creationId xmlns:p14="http://schemas.microsoft.com/office/powerpoint/2010/main" val="2210458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74315629-CC49-444F-8425-E4A64CDCABE2}"/>
              </a:ext>
            </a:extLst>
          </p:cNvPr>
          <p:cNvSpPr>
            <a:spLocks noGrp="1"/>
          </p:cNvSpPr>
          <p:nvPr>
            <p:ph idx="1"/>
          </p:nvPr>
        </p:nvSpPr>
        <p:spPr>
          <a:xfrm>
            <a:off x="107504" y="188640"/>
            <a:ext cx="8856984" cy="4195481"/>
          </a:xfrm>
        </p:spPr>
        <p:txBody>
          <a:bodyPr>
            <a:noAutofit/>
          </a:bodyPr>
          <a:lstStyle/>
          <a:p>
            <a:pPr algn="just"/>
            <a:r>
              <a:rPr lang="pt-BR" sz="2400" b="0" i="0" dirty="0">
                <a:effectLst/>
                <a:latin typeface="Arial" panose="020B0604020202020204" pitchFamily="34" charset="0"/>
                <a:cs typeface="Arial" panose="020B0604020202020204" pitchFamily="34" charset="0"/>
              </a:rPr>
              <a:t>TENS é um método não farmacológico de controle da </a:t>
            </a:r>
            <a:r>
              <a:rPr lang="pt-BR" sz="2400" i="0" dirty="0">
                <a:effectLst/>
                <a:latin typeface="Arial" panose="020B0604020202020204" pitchFamily="34" charset="0"/>
                <a:cs typeface="Arial" panose="020B0604020202020204" pitchFamily="34" charset="0"/>
              </a:rPr>
              <a:t>dor,</a:t>
            </a:r>
            <a:r>
              <a:rPr lang="pt-BR" sz="2400" b="0" i="0" dirty="0">
                <a:effectLst/>
                <a:latin typeface="Arial" panose="020B0604020202020204" pitchFamily="34" charset="0"/>
                <a:cs typeface="Arial" panose="020B0604020202020204" pitchFamily="34" charset="0"/>
              </a:rPr>
              <a:t> fornecendo uma pequena corrente elétrica através de eletrodos na pele com efeitos analgésicos.</a:t>
            </a:r>
          </a:p>
          <a:p>
            <a:pPr algn="just"/>
            <a:r>
              <a:rPr lang="pt-BR" sz="2400" b="0" i="0" dirty="0">
                <a:effectLst/>
                <a:latin typeface="Arial" panose="020B0604020202020204" pitchFamily="34" charset="0"/>
                <a:cs typeface="Arial" panose="020B0604020202020204" pitchFamily="34" charset="0"/>
              </a:rPr>
              <a:t>É uma técnica muito difundida na fisioterapia e com princípios científicos sólidos. Com o estímulo das fibras nervosas, o TENS visa a neutralização dos sinais dolorosos, fazendo com que eles não atinjam o cérebro e, com isso, o paciente não tenha a sensação ou sequer a percepção desse incômodo.</a:t>
            </a:r>
            <a:endParaRPr lang="pt-BR" sz="2400" dirty="0">
              <a:latin typeface="Arial" panose="020B0604020202020204" pitchFamily="34" charset="0"/>
              <a:cs typeface="Arial" panose="020B0604020202020204" pitchFamily="34" charset="0"/>
            </a:endParaRPr>
          </a:p>
        </p:txBody>
      </p:sp>
      <p:pic>
        <p:nvPicPr>
          <p:cNvPr id="5" name="Imagem 4">
            <a:extLst>
              <a:ext uri="{FF2B5EF4-FFF2-40B4-BE49-F238E27FC236}">
                <a16:creationId xmlns:a16="http://schemas.microsoft.com/office/drawing/2014/main" id="{C4E2268E-D8F1-5FE8-2B4F-6BE9777012AA}"/>
              </a:ext>
            </a:extLst>
          </p:cNvPr>
          <p:cNvPicPr>
            <a:picLocks noChangeAspect="1"/>
          </p:cNvPicPr>
          <p:nvPr/>
        </p:nvPicPr>
        <p:blipFill>
          <a:blip r:embed="rId2"/>
          <a:stretch>
            <a:fillRect/>
          </a:stretch>
        </p:blipFill>
        <p:spPr>
          <a:xfrm>
            <a:off x="5724128" y="4149080"/>
            <a:ext cx="3419872" cy="2726630"/>
          </a:xfrm>
          <a:prstGeom prst="rect">
            <a:avLst/>
          </a:prstGeom>
        </p:spPr>
      </p:pic>
      <p:pic>
        <p:nvPicPr>
          <p:cNvPr id="6" name="Imagem 5">
            <a:extLst>
              <a:ext uri="{FF2B5EF4-FFF2-40B4-BE49-F238E27FC236}">
                <a16:creationId xmlns:a16="http://schemas.microsoft.com/office/drawing/2014/main" id="{CDC0ADBB-D2DB-FB90-3DB6-ED9719F6690C}"/>
              </a:ext>
            </a:extLst>
          </p:cNvPr>
          <p:cNvPicPr>
            <a:picLocks noChangeAspect="1"/>
          </p:cNvPicPr>
          <p:nvPr/>
        </p:nvPicPr>
        <p:blipFill>
          <a:blip r:embed="rId3"/>
          <a:stretch>
            <a:fillRect/>
          </a:stretch>
        </p:blipFill>
        <p:spPr>
          <a:xfrm>
            <a:off x="382339" y="3854583"/>
            <a:ext cx="5004048" cy="2814777"/>
          </a:xfrm>
          <a:prstGeom prst="rect">
            <a:avLst/>
          </a:prstGeom>
        </p:spPr>
      </p:pic>
    </p:spTree>
    <p:extLst>
      <p:ext uri="{BB962C8B-B14F-4D97-AF65-F5344CB8AC3E}">
        <p14:creationId xmlns:p14="http://schemas.microsoft.com/office/powerpoint/2010/main" val="365878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7D30DBA-9130-4354-B850-3F65853F16CF}"/>
              </a:ext>
            </a:extLst>
          </p:cNvPr>
          <p:cNvSpPr>
            <a:spLocks noGrp="1"/>
          </p:cNvSpPr>
          <p:nvPr>
            <p:ph idx="1"/>
          </p:nvPr>
        </p:nvSpPr>
        <p:spPr>
          <a:xfrm>
            <a:off x="179512" y="260648"/>
            <a:ext cx="8208912" cy="4475590"/>
          </a:xfrm>
        </p:spPr>
        <p:txBody>
          <a:bodyPr>
            <a:normAutofit/>
          </a:bodyPr>
          <a:lstStyle/>
          <a:p>
            <a:pPr marL="0" indent="0" algn="just">
              <a:buNone/>
            </a:pPr>
            <a:r>
              <a:rPr lang="pt-BR" dirty="0">
                <a:latin typeface="Arial" panose="020B0604020202020204" pitchFamily="34" charset="0"/>
                <a:cs typeface="Arial" panose="020B0604020202020204" pitchFamily="34" charset="0"/>
              </a:rPr>
              <a:t>A Corrente Russa é uma técnica indolor, para reabilitação das regiões musculares, gorduras localizadas, flacidez e até estímulo de massagens.</a:t>
            </a:r>
          </a:p>
          <a:p>
            <a:pPr marL="0" indent="0" algn="just">
              <a:buNone/>
            </a:pPr>
            <a:r>
              <a:rPr lang="pt-BR" dirty="0">
                <a:latin typeface="Arial" panose="020B0604020202020204" pitchFamily="34" charset="0"/>
                <a:cs typeface="Arial" panose="020B0604020202020204" pitchFamily="34" charset="0"/>
              </a:rPr>
              <a:t>Estas correntes auxiliam os impulsos fisiológicos, são utilizados para diversos tratamentos na estética. Age em todo o corpo, até nos músculos ou depósitos de gorduras, com muita eficácia. </a:t>
            </a:r>
          </a:p>
          <a:p>
            <a:pPr marL="0" indent="0" algn="just">
              <a:buNone/>
            </a:pPr>
            <a:r>
              <a:rPr lang="pt-BR" dirty="0">
                <a:latin typeface="Arial" panose="020B0604020202020204" pitchFamily="34" charset="0"/>
                <a:cs typeface="Arial" panose="020B0604020202020204" pitchFamily="34" charset="0"/>
              </a:rPr>
              <a:t>Pode ser comparada, mas </a:t>
            </a:r>
            <a:r>
              <a:rPr lang="pt-BR" b="1" dirty="0">
                <a:latin typeface="Arial" panose="020B0604020202020204" pitchFamily="34" charset="0"/>
                <a:cs typeface="Arial" panose="020B0604020202020204" pitchFamily="34" charset="0"/>
              </a:rPr>
              <a:t>não substituída com a ginástica física, </a:t>
            </a:r>
            <a:r>
              <a:rPr lang="pt-BR" dirty="0">
                <a:latin typeface="Arial" panose="020B0604020202020204" pitchFamily="34" charset="0"/>
                <a:cs typeface="Arial" panose="020B0604020202020204" pitchFamily="34" charset="0"/>
              </a:rPr>
              <a:t>pois meia hora de utilização da mesma corresponde a 04 horas de ginástica. </a:t>
            </a:r>
          </a:p>
        </p:txBody>
      </p:sp>
      <p:pic>
        <p:nvPicPr>
          <p:cNvPr id="2" name="Imagem 1">
            <a:extLst>
              <a:ext uri="{FF2B5EF4-FFF2-40B4-BE49-F238E27FC236}">
                <a16:creationId xmlns:a16="http://schemas.microsoft.com/office/drawing/2014/main" id="{D278ADF3-9BC4-7192-C47B-7CDCD748870B}"/>
              </a:ext>
            </a:extLst>
          </p:cNvPr>
          <p:cNvPicPr>
            <a:picLocks noChangeAspect="1"/>
          </p:cNvPicPr>
          <p:nvPr/>
        </p:nvPicPr>
        <p:blipFill>
          <a:blip r:embed="rId2"/>
          <a:stretch>
            <a:fillRect/>
          </a:stretch>
        </p:blipFill>
        <p:spPr>
          <a:xfrm>
            <a:off x="5292080" y="3967284"/>
            <a:ext cx="3861643" cy="2890716"/>
          </a:xfrm>
          <a:prstGeom prst="rect">
            <a:avLst/>
          </a:prstGeom>
        </p:spPr>
      </p:pic>
      <p:pic>
        <p:nvPicPr>
          <p:cNvPr id="4" name="Imagem 3">
            <a:extLst>
              <a:ext uri="{FF2B5EF4-FFF2-40B4-BE49-F238E27FC236}">
                <a16:creationId xmlns:a16="http://schemas.microsoft.com/office/drawing/2014/main" id="{7C0FE9D7-92B0-FFCA-EAF3-0C50826298DD}"/>
              </a:ext>
            </a:extLst>
          </p:cNvPr>
          <p:cNvPicPr>
            <a:picLocks noChangeAspect="1"/>
          </p:cNvPicPr>
          <p:nvPr/>
        </p:nvPicPr>
        <p:blipFill>
          <a:blip r:embed="rId3"/>
          <a:stretch>
            <a:fillRect/>
          </a:stretch>
        </p:blipFill>
        <p:spPr>
          <a:xfrm>
            <a:off x="467544" y="3704900"/>
            <a:ext cx="4248472" cy="2890715"/>
          </a:xfrm>
          <a:prstGeom prst="rect">
            <a:avLst/>
          </a:prstGeom>
        </p:spPr>
      </p:pic>
    </p:spTree>
    <p:extLst>
      <p:ext uri="{BB962C8B-B14F-4D97-AF65-F5344CB8AC3E}">
        <p14:creationId xmlns:p14="http://schemas.microsoft.com/office/powerpoint/2010/main" val="178108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4B53D872-717A-443F-A284-410D7E529D1E}"/>
              </a:ext>
            </a:extLst>
          </p:cNvPr>
          <p:cNvSpPr>
            <a:spLocks noGrp="1"/>
          </p:cNvSpPr>
          <p:nvPr>
            <p:ph idx="1"/>
          </p:nvPr>
        </p:nvSpPr>
        <p:spPr>
          <a:xfrm>
            <a:off x="-5705" y="260648"/>
            <a:ext cx="8568952" cy="4187558"/>
          </a:xfrm>
        </p:spPr>
        <p:txBody>
          <a:bodyPr/>
          <a:lstStyle/>
          <a:p>
            <a:pPr algn="just"/>
            <a:r>
              <a:rPr lang="pt-BR" b="0" i="0" dirty="0">
                <a:effectLst/>
                <a:latin typeface="Arial" panose="020B0604020202020204" pitchFamily="34" charset="0"/>
                <a:cs typeface="Arial" panose="020B0604020202020204" pitchFamily="34" charset="0"/>
              </a:rPr>
              <a:t>Micro corrente é um dos tipos de tratamento de eletroestimulação que utiliza correntes de baixa intensidade e baixa frequência, podendo ser contínua ou alternada.</a:t>
            </a:r>
          </a:p>
          <a:p>
            <a:pPr algn="just"/>
            <a:r>
              <a:rPr lang="pt-BR" dirty="0">
                <a:latin typeface="Arial" panose="020B0604020202020204" pitchFamily="34" charset="0"/>
                <a:cs typeface="Arial" panose="020B0604020202020204" pitchFamily="34" charset="0"/>
              </a:rPr>
              <a:t>O</a:t>
            </a:r>
            <a:r>
              <a:rPr lang="pt-BR" b="0" i="0" dirty="0">
                <a:effectLst/>
                <a:latin typeface="Arial" panose="020B0604020202020204" pitchFamily="34" charset="0"/>
                <a:cs typeface="Arial" panose="020B0604020202020204" pitchFamily="34" charset="0"/>
              </a:rPr>
              <a:t> modo normal de aplicação dos aparelhos de micro correntes ocorre em níveis que não se consegue ativar as fibras nervosas sensoriais subcutâneas e, como resultado, os pacientes não têm nenhuma percepção da sensação do formigamento tão comumente associada com procedimentos eletro terapêuticos.</a:t>
            </a:r>
            <a:endParaRPr lang="pt-BR" dirty="0">
              <a:latin typeface="Arial" panose="020B0604020202020204" pitchFamily="34" charset="0"/>
              <a:cs typeface="Arial" panose="020B0604020202020204" pitchFamily="34" charset="0"/>
            </a:endParaRPr>
          </a:p>
        </p:txBody>
      </p:sp>
      <p:pic>
        <p:nvPicPr>
          <p:cNvPr id="4" name="Imagem 3">
            <a:extLst>
              <a:ext uri="{FF2B5EF4-FFF2-40B4-BE49-F238E27FC236}">
                <a16:creationId xmlns:a16="http://schemas.microsoft.com/office/drawing/2014/main" id="{4F630C60-D746-B216-6FF6-80348C2752DD}"/>
              </a:ext>
            </a:extLst>
          </p:cNvPr>
          <p:cNvPicPr>
            <a:picLocks noChangeAspect="1"/>
          </p:cNvPicPr>
          <p:nvPr/>
        </p:nvPicPr>
        <p:blipFill>
          <a:blip r:embed="rId2"/>
          <a:stretch>
            <a:fillRect/>
          </a:stretch>
        </p:blipFill>
        <p:spPr>
          <a:xfrm>
            <a:off x="5075028" y="4034323"/>
            <a:ext cx="4068972" cy="2823677"/>
          </a:xfrm>
          <a:prstGeom prst="rect">
            <a:avLst/>
          </a:prstGeom>
        </p:spPr>
      </p:pic>
      <p:pic>
        <p:nvPicPr>
          <p:cNvPr id="5" name="Imagem 4">
            <a:extLst>
              <a:ext uri="{FF2B5EF4-FFF2-40B4-BE49-F238E27FC236}">
                <a16:creationId xmlns:a16="http://schemas.microsoft.com/office/drawing/2014/main" id="{21E09643-F24D-877F-2313-422F568A7F0E}"/>
              </a:ext>
            </a:extLst>
          </p:cNvPr>
          <p:cNvPicPr>
            <a:picLocks noChangeAspect="1"/>
          </p:cNvPicPr>
          <p:nvPr/>
        </p:nvPicPr>
        <p:blipFill>
          <a:blip r:embed="rId3"/>
          <a:stretch>
            <a:fillRect/>
          </a:stretch>
        </p:blipFill>
        <p:spPr>
          <a:xfrm>
            <a:off x="269622" y="3068960"/>
            <a:ext cx="4530080" cy="3386235"/>
          </a:xfrm>
          <a:prstGeom prst="rect">
            <a:avLst/>
          </a:prstGeom>
        </p:spPr>
      </p:pic>
    </p:spTree>
    <p:extLst>
      <p:ext uri="{BB962C8B-B14F-4D97-AF65-F5344CB8AC3E}">
        <p14:creationId xmlns:p14="http://schemas.microsoft.com/office/powerpoint/2010/main" val="3055897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89FF620D-D46F-4F93-B35A-79D40DF3FCC3}"/>
              </a:ext>
            </a:extLst>
          </p:cNvPr>
          <p:cNvSpPr>
            <a:spLocks noGrp="1"/>
          </p:cNvSpPr>
          <p:nvPr>
            <p:ph idx="1"/>
          </p:nvPr>
        </p:nvSpPr>
        <p:spPr>
          <a:xfrm>
            <a:off x="179512" y="260648"/>
            <a:ext cx="8424936" cy="4691614"/>
          </a:xfrm>
        </p:spPr>
        <p:txBody>
          <a:bodyPr/>
          <a:lstStyle/>
          <a:p>
            <a:endParaRPr lang="pt-BR" b="0" i="0" dirty="0">
              <a:solidFill>
                <a:srgbClr val="222222"/>
              </a:solidFill>
              <a:effectLst/>
              <a:latin typeface="arial" panose="020B0604020202020204" pitchFamily="34" charset="0"/>
            </a:endParaRPr>
          </a:p>
          <a:p>
            <a:pPr algn="just"/>
            <a:r>
              <a:rPr lang="pt-BR" dirty="0">
                <a:latin typeface="Arial" panose="020B0604020202020204" pitchFamily="34" charset="0"/>
                <a:cs typeface="Arial" panose="020B0604020202020204" pitchFamily="34" charset="0"/>
              </a:rPr>
              <a:t>A Corrente Galvânica ou também conhecida como </a:t>
            </a:r>
            <a:r>
              <a:rPr lang="pt-BR" dirty="0" err="1">
                <a:latin typeface="Arial" panose="020B0604020202020204" pitchFamily="34" charset="0"/>
                <a:cs typeface="Arial" panose="020B0604020202020204" pitchFamily="34" charset="0"/>
              </a:rPr>
              <a:t>Microgalvanopuntura</a:t>
            </a:r>
            <a:r>
              <a:rPr lang="pt-BR" dirty="0">
                <a:latin typeface="Arial" panose="020B0604020202020204" pitchFamily="34" charset="0"/>
                <a:cs typeface="Arial" panose="020B0604020202020204" pitchFamily="34" charset="0"/>
              </a:rPr>
              <a:t>, uma micro corrente</a:t>
            </a:r>
            <a:r>
              <a:rPr lang="pt-BR" i="0" dirty="0">
                <a:effectLst/>
                <a:latin typeface="Arial" panose="020B0604020202020204" pitchFamily="34" charset="0"/>
                <a:cs typeface="Arial" panose="020B0604020202020204" pitchFamily="34" charset="0"/>
              </a:rPr>
              <a:t> </a:t>
            </a:r>
            <a:r>
              <a:rPr lang="pt-BR" b="0" i="0" dirty="0">
                <a:effectLst/>
                <a:latin typeface="Arial" panose="020B0604020202020204" pitchFamily="34" charset="0"/>
                <a:cs typeface="Arial" panose="020B0604020202020204" pitchFamily="34" charset="0"/>
              </a:rPr>
              <a:t>com fluxo </a:t>
            </a:r>
            <a:r>
              <a:rPr lang="pt-BR" b="1" i="0" dirty="0">
                <a:effectLst/>
                <a:latin typeface="Arial" panose="020B0604020202020204" pitchFamily="34" charset="0"/>
                <a:cs typeface="Arial" panose="020B0604020202020204" pitchFamily="34" charset="0"/>
              </a:rPr>
              <a:t>constante</a:t>
            </a:r>
            <a:r>
              <a:rPr lang="pt-BR" b="0" i="0" dirty="0">
                <a:effectLst/>
                <a:latin typeface="Arial" panose="020B0604020202020204" pitchFamily="34" charset="0"/>
                <a:cs typeface="Arial" panose="020B0604020202020204" pitchFamily="34" charset="0"/>
              </a:rPr>
              <a:t> de elétrons em uma só direção. </a:t>
            </a:r>
          </a:p>
          <a:p>
            <a:pPr algn="just"/>
            <a:r>
              <a:rPr lang="pt-BR" b="0" i="0" dirty="0">
                <a:effectLst/>
                <a:latin typeface="Arial" panose="020B0604020202020204" pitchFamily="34" charset="0"/>
                <a:cs typeface="Arial" panose="020B0604020202020204" pitchFamily="34" charset="0"/>
              </a:rPr>
              <a:t>O fluxo da </a:t>
            </a:r>
            <a:r>
              <a:rPr lang="pt-BR" i="0" dirty="0">
                <a:effectLst/>
                <a:latin typeface="Arial" panose="020B0604020202020204" pitchFamily="34" charset="0"/>
                <a:cs typeface="Arial" panose="020B0604020202020204" pitchFamily="34" charset="0"/>
              </a:rPr>
              <a:t>corrente </a:t>
            </a:r>
            <a:r>
              <a:rPr lang="pt-BR" b="1" i="0" dirty="0">
                <a:effectLst/>
                <a:latin typeface="Arial" panose="020B0604020202020204" pitchFamily="34" charset="0"/>
                <a:cs typeface="Arial" panose="020B0604020202020204" pitchFamily="34" charset="0"/>
              </a:rPr>
              <a:t>não sofre interrupçã</a:t>
            </a:r>
            <a:r>
              <a:rPr lang="pt-BR" b="0" i="0" dirty="0">
                <a:effectLst/>
                <a:latin typeface="Arial" panose="020B0604020202020204" pitchFamily="34" charset="0"/>
                <a:cs typeface="Arial" panose="020B0604020202020204" pitchFamily="34" charset="0"/>
              </a:rPr>
              <a:t>o nem varia sua intensidade na unidade de tempo.</a:t>
            </a:r>
          </a:p>
          <a:p>
            <a:pPr algn="just"/>
            <a:r>
              <a:rPr lang="pt-BR" dirty="0">
                <a:latin typeface="Arial" panose="020B0604020202020204" pitchFamily="34" charset="0"/>
                <a:cs typeface="Arial" panose="020B0604020202020204" pitchFamily="34" charset="0"/>
              </a:rPr>
              <a:t>Destinado a tratamentos que precisem </a:t>
            </a:r>
            <a:r>
              <a:rPr lang="pt-BR" b="1" dirty="0">
                <a:latin typeface="Arial" panose="020B0604020202020204" pitchFamily="34" charset="0"/>
                <a:cs typeface="Arial" panose="020B0604020202020204" pitchFamily="34" charset="0"/>
              </a:rPr>
              <a:t>induzir processos inflamatórios controlados. </a:t>
            </a:r>
            <a:r>
              <a:rPr lang="pt-BR" b="1" i="0" dirty="0">
                <a:effectLst/>
                <a:latin typeface="Arial" panose="020B0604020202020204" pitchFamily="34" charset="0"/>
                <a:cs typeface="Arial" panose="020B0604020202020204" pitchFamily="34" charset="0"/>
              </a:rPr>
              <a:t>  </a:t>
            </a:r>
            <a:endParaRPr lang="pt-BR" b="1" dirty="0">
              <a:latin typeface="Arial" panose="020B0604020202020204" pitchFamily="34" charset="0"/>
              <a:cs typeface="Arial" panose="020B0604020202020204" pitchFamily="34" charset="0"/>
            </a:endParaRPr>
          </a:p>
        </p:txBody>
      </p:sp>
      <p:pic>
        <p:nvPicPr>
          <p:cNvPr id="4" name="Imagem 3">
            <a:extLst>
              <a:ext uri="{FF2B5EF4-FFF2-40B4-BE49-F238E27FC236}">
                <a16:creationId xmlns:a16="http://schemas.microsoft.com/office/drawing/2014/main" id="{887373DC-C774-5D9F-B750-B9254C0342A7}"/>
              </a:ext>
            </a:extLst>
          </p:cNvPr>
          <p:cNvPicPr>
            <a:picLocks noChangeAspect="1"/>
          </p:cNvPicPr>
          <p:nvPr/>
        </p:nvPicPr>
        <p:blipFill rotWithShape="1">
          <a:blip r:embed="rId2"/>
          <a:srcRect t="13792" b="13792"/>
          <a:stretch/>
        </p:blipFill>
        <p:spPr>
          <a:xfrm>
            <a:off x="4059669" y="3659589"/>
            <a:ext cx="5084331" cy="3163535"/>
          </a:xfrm>
          <a:prstGeom prst="rect">
            <a:avLst/>
          </a:prstGeom>
        </p:spPr>
      </p:pic>
      <p:pic>
        <p:nvPicPr>
          <p:cNvPr id="5" name="Imagem 4">
            <a:extLst>
              <a:ext uri="{FF2B5EF4-FFF2-40B4-BE49-F238E27FC236}">
                <a16:creationId xmlns:a16="http://schemas.microsoft.com/office/drawing/2014/main" id="{63D613A5-06D3-7B15-E117-AB2E1D6AD2B7}"/>
              </a:ext>
            </a:extLst>
          </p:cNvPr>
          <p:cNvPicPr>
            <a:picLocks noChangeAspect="1"/>
          </p:cNvPicPr>
          <p:nvPr/>
        </p:nvPicPr>
        <p:blipFill>
          <a:blip r:embed="rId3"/>
          <a:stretch>
            <a:fillRect/>
          </a:stretch>
        </p:blipFill>
        <p:spPr>
          <a:xfrm>
            <a:off x="449289" y="3429000"/>
            <a:ext cx="3340604" cy="3024336"/>
          </a:xfrm>
          <a:prstGeom prst="rect">
            <a:avLst/>
          </a:prstGeom>
        </p:spPr>
      </p:pic>
    </p:spTree>
    <p:extLst>
      <p:ext uri="{BB962C8B-B14F-4D97-AF65-F5344CB8AC3E}">
        <p14:creationId xmlns:p14="http://schemas.microsoft.com/office/powerpoint/2010/main" val="2973227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911D35-5E01-7724-88DE-036839B5EC5A}"/>
              </a:ext>
            </a:extLst>
          </p:cNvPr>
          <p:cNvSpPr>
            <a:spLocks noGrp="1"/>
          </p:cNvSpPr>
          <p:nvPr>
            <p:ph type="title"/>
          </p:nvPr>
        </p:nvSpPr>
        <p:spPr/>
        <p:txBody>
          <a:bodyPr/>
          <a:lstStyle/>
          <a:p>
            <a:pPr algn="ctr"/>
            <a:r>
              <a:rPr lang="pt-BR" b="1" dirty="0"/>
              <a:t>STRIAT</a:t>
            </a:r>
          </a:p>
        </p:txBody>
      </p:sp>
      <p:sp>
        <p:nvSpPr>
          <p:cNvPr id="3" name="Espaço Reservado para Conteúdo 2">
            <a:extLst>
              <a:ext uri="{FF2B5EF4-FFF2-40B4-BE49-F238E27FC236}">
                <a16:creationId xmlns:a16="http://schemas.microsoft.com/office/drawing/2014/main" id="{2E5C0E27-2CEC-93EF-B196-310E82846226}"/>
              </a:ext>
            </a:extLst>
          </p:cNvPr>
          <p:cNvSpPr>
            <a:spLocks noGrp="1"/>
          </p:cNvSpPr>
          <p:nvPr>
            <p:ph idx="1"/>
          </p:nvPr>
        </p:nvSpPr>
        <p:spPr/>
        <p:txBody>
          <a:bodyPr/>
          <a:lstStyle/>
          <a:p>
            <a:endParaRPr lang="pt-BR" dirty="0"/>
          </a:p>
        </p:txBody>
      </p:sp>
      <p:pic>
        <p:nvPicPr>
          <p:cNvPr id="5" name="Imagem 4">
            <a:extLst>
              <a:ext uri="{FF2B5EF4-FFF2-40B4-BE49-F238E27FC236}">
                <a16:creationId xmlns:a16="http://schemas.microsoft.com/office/drawing/2014/main" id="{D1F28A20-19AC-79DD-EFDD-8F750DF31A15}"/>
              </a:ext>
            </a:extLst>
          </p:cNvPr>
          <p:cNvPicPr>
            <a:picLocks noChangeAspect="1"/>
          </p:cNvPicPr>
          <p:nvPr/>
        </p:nvPicPr>
        <p:blipFill>
          <a:blip r:embed="rId2"/>
          <a:stretch>
            <a:fillRect/>
          </a:stretch>
        </p:blipFill>
        <p:spPr>
          <a:xfrm>
            <a:off x="611560" y="1769415"/>
            <a:ext cx="7344816" cy="4762500"/>
          </a:xfrm>
          <a:prstGeom prst="rect">
            <a:avLst/>
          </a:prstGeom>
        </p:spPr>
      </p:pic>
    </p:spTree>
    <p:extLst>
      <p:ext uri="{BB962C8B-B14F-4D97-AF65-F5344CB8AC3E}">
        <p14:creationId xmlns:p14="http://schemas.microsoft.com/office/powerpoint/2010/main" val="2133761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79512" y="260648"/>
            <a:ext cx="7776864" cy="4195481"/>
          </a:xfrm>
        </p:spPr>
        <p:txBody>
          <a:bodyPr/>
          <a:lstStyle/>
          <a:p>
            <a:pPr algn="just"/>
            <a:r>
              <a:rPr lang="pt-BR" dirty="0">
                <a:latin typeface="Arial" panose="020B0604020202020204" pitchFamily="34" charset="0"/>
                <a:cs typeface="Arial" panose="020B0604020202020204" pitchFamily="34" charset="0"/>
              </a:rPr>
              <a:t>É um tratamento que objetiva a regeneração da pele afetada pelas estrias através de </a:t>
            </a:r>
            <a:r>
              <a:rPr lang="pt-BR" dirty="0" err="1">
                <a:latin typeface="Arial" panose="020B0604020202020204" pitchFamily="34" charset="0"/>
                <a:cs typeface="Arial" panose="020B0604020202020204" pitchFamily="34" charset="0"/>
              </a:rPr>
              <a:t>eletroestimulação</a:t>
            </a:r>
            <a:r>
              <a:rPr lang="pt-BR" dirty="0">
                <a:latin typeface="Arial" panose="020B0604020202020204" pitchFamily="34" charset="0"/>
                <a:cs typeface="Arial" panose="020B0604020202020204" pitchFamily="34" charset="0"/>
              </a:rPr>
              <a:t> que se faz por meio de corrente contínua.</a:t>
            </a:r>
          </a:p>
          <a:p>
            <a:pPr algn="just"/>
            <a:r>
              <a:rPr lang="pt-BR" dirty="0">
                <a:latin typeface="Arial" panose="020B0604020202020204" pitchFamily="34" charset="0"/>
                <a:cs typeface="Arial" panose="020B0604020202020204" pitchFamily="34" charset="0"/>
              </a:rPr>
              <a:t>Esse processo inflama a pele onde se encontra a estria que ao se regenerar, produz colágeno e diminui a extensão da estria tornando-a menos visível.</a:t>
            </a:r>
          </a:p>
        </p:txBody>
      </p:sp>
      <p:pic>
        <p:nvPicPr>
          <p:cNvPr id="4" name="Imagem 3">
            <a:extLst>
              <a:ext uri="{FF2B5EF4-FFF2-40B4-BE49-F238E27FC236}">
                <a16:creationId xmlns:a16="http://schemas.microsoft.com/office/drawing/2014/main" id="{B5314A7C-7F2D-F720-24C8-5C760335BEB6}"/>
              </a:ext>
            </a:extLst>
          </p:cNvPr>
          <p:cNvPicPr>
            <a:picLocks noChangeAspect="1"/>
          </p:cNvPicPr>
          <p:nvPr/>
        </p:nvPicPr>
        <p:blipFill>
          <a:blip r:embed="rId2"/>
          <a:stretch>
            <a:fillRect/>
          </a:stretch>
        </p:blipFill>
        <p:spPr>
          <a:xfrm>
            <a:off x="898841" y="2607692"/>
            <a:ext cx="7346317" cy="39896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2FE180-C557-BB61-FCEE-0F37A24068D2}"/>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B57F6AC8-0159-83DC-EE9E-25208AD2D891}"/>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8FF6AE3A-6F5E-132A-8645-7FA1BEC838A8}"/>
              </a:ext>
            </a:extLst>
          </p:cNvPr>
          <p:cNvPicPr>
            <a:picLocks noChangeAspect="1"/>
          </p:cNvPicPr>
          <p:nvPr/>
        </p:nvPicPr>
        <p:blipFill>
          <a:blip r:embed="rId2"/>
          <a:stretch>
            <a:fillRect/>
          </a:stretch>
        </p:blipFill>
        <p:spPr>
          <a:xfrm>
            <a:off x="0" y="854475"/>
            <a:ext cx="9144000" cy="5149049"/>
          </a:xfrm>
          <a:prstGeom prst="rect">
            <a:avLst/>
          </a:prstGeom>
        </p:spPr>
      </p:pic>
    </p:spTree>
    <p:extLst>
      <p:ext uri="{BB962C8B-B14F-4D97-AF65-F5344CB8AC3E}">
        <p14:creationId xmlns:p14="http://schemas.microsoft.com/office/powerpoint/2010/main" val="255621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57A66B-5FDC-B013-52A3-F31148194726}"/>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1196982C-D5B8-E307-AD96-14BE7524AC67}"/>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9A9CD9EB-B1A5-E795-D068-5054396A7B1C}"/>
              </a:ext>
            </a:extLst>
          </p:cNvPr>
          <p:cNvPicPr>
            <a:picLocks noChangeAspect="1"/>
          </p:cNvPicPr>
          <p:nvPr/>
        </p:nvPicPr>
        <p:blipFill>
          <a:blip r:embed="rId2"/>
          <a:stretch>
            <a:fillRect/>
          </a:stretch>
        </p:blipFill>
        <p:spPr>
          <a:xfrm>
            <a:off x="107505" y="452718"/>
            <a:ext cx="8911548" cy="6215658"/>
          </a:xfrm>
          <a:prstGeom prst="rect">
            <a:avLst/>
          </a:prstGeom>
        </p:spPr>
      </p:pic>
    </p:spTree>
    <p:extLst>
      <p:ext uri="{BB962C8B-B14F-4D97-AF65-F5344CB8AC3E}">
        <p14:creationId xmlns:p14="http://schemas.microsoft.com/office/powerpoint/2010/main" val="2824223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3FE5F-5AF1-5B4E-6714-E88E71B86DCE}"/>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9DBD24FD-5CD4-357B-23B3-34F09A6BC95F}"/>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E20AD546-D02D-268E-1654-2344D57E73E4}"/>
              </a:ext>
            </a:extLst>
          </p:cNvPr>
          <p:cNvPicPr>
            <a:picLocks noChangeAspect="1"/>
          </p:cNvPicPr>
          <p:nvPr/>
        </p:nvPicPr>
        <p:blipFill>
          <a:blip r:embed="rId2"/>
          <a:stretch>
            <a:fillRect/>
          </a:stretch>
        </p:blipFill>
        <p:spPr>
          <a:xfrm>
            <a:off x="0" y="816428"/>
            <a:ext cx="9144000" cy="5225143"/>
          </a:xfrm>
          <a:prstGeom prst="rect">
            <a:avLst/>
          </a:prstGeom>
        </p:spPr>
      </p:pic>
    </p:spTree>
    <p:extLst>
      <p:ext uri="{BB962C8B-B14F-4D97-AF65-F5344CB8AC3E}">
        <p14:creationId xmlns:p14="http://schemas.microsoft.com/office/powerpoint/2010/main" val="4164693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79512" y="332656"/>
            <a:ext cx="8496944" cy="4195481"/>
          </a:xfrm>
        </p:spPr>
        <p:txBody>
          <a:bodyPr>
            <a:normAutofit/>
          </a:bodyPr>
          <a:lstStyle/>
          <a:p>
            <a:pPr algn="just"/>
            <a:r>
              <a:rPr lang="pt-BR" sz="2400" dirty="0">
                <a:latin typeface="Arial" panose="020B0604020202020204" pitchFamily="34" charset="0"/>
                <a:cs typeface="Arial" panose="020B0604020202020204" pitchFamily="34" charset="0"/>
              </a:rPr>
              <a:t>A Eletrolipólise funciona através do uso de micro corrente específica de baixa frequência que age diretamente nas células de gordura atacando os triglicérides e favorecendo sua rápida eliminação pelo sistema linfático na forma de ácidos graxos livres.</a:t>
            </a:r>
          </a:p>
          <a:p>
            <a:pPr algn="just"/>
            <a:r>
              <a:rPr lang="pt-BR" sz="2400" dirty="0">
                <a:latin typeface="Arial" panose="020B0604020202020204" pitchFamily="34" charset="0"/>
                <a:cs typeface="Arial" panose="020B0604020202020204" pitchFamily="34" charset="0"/>
              </a:rPr>
              <a:t>É uma técnica que atua na pele e na musculatura, sendo destinada ao tratamento de gorduras localizadas e à diminuição da celulite. </a:t>
            </a:r>
          </a:p>
          <a:p>
            <a:endParaRPr lang="pt-BR" dirty="0"/>
          </a:p>
        </p:txBody>
      </p:sp>
      <p:pic>
        <p:nvPicPr>
          <p:cNvPr id="4" name="Imagem 3">
            <a:extLst>
              <a:ext uri="{FF2B5EF4-FFF2-40B4-BE49-F238E27FC236}">
                <a16:creationId xmlns:a16="http://schemas.microsoft.com/office/drawing/2014/main" id="{38F84002-A12B-4EA7-559E-4A625EAE9E47}"/>
              </a:ext>
            </a:extLst>
          </p:cNvPr>
          <p:cNvPicPr>
            <a:picLocks noChangeAspect="1"/>
          </p:cNvPicPr>
          <p:nvPr/>
        </p:nvPicPr>
        <p:blipFill>
          <a:blip r:embed="rId2"/>
          <a:stretch>
            <a:fillRect/>
          </a:stretch>
        </p:blipFill>
        <p:spPr>
          <a:xfrm>
            <a:off x="3131840" y="3861048"/>
            <a:ext cx="4248472" cy="288626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CB93A6-5745-0125-B02B-6A03478A8DC0}"/>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0B796F10-E070-C4D3-3E4F-BDE03380E9D4}"/>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4B02EA31-BF8B-0D06-A1C0-1171F605EDA1}"/>
              </a:ext>
            </a:extLst>
          </p:cNvPr>
          <p:cNvPicPr>
            <a:picLocks noChangeAspect="1"/>
          </p:cNvPicPr>
          <p:nvPr/>
        </p:nvPicPr>
        <p:blipFill>
          <a:blip r:embed="rId2"/>
          <a:stretch>
            <a:fillRect/>
          </a:stretch>
        </p:blipFill>
        <p:spPr>
          <a:xfrm>
            <a:off x="484710" y="1395412"/>
            <a:ext cx="8174580" cy="4852994"/>
          </a:xfrm>
          <a:prstGeom prst="rect">
            <a:avLst/>
          </a:prstGeom>
        </p:spPr>
      </p:pic>
    </p:spTree>
    <p:extLst>
      <p:ext uri="{BB962C8B-B14F-4D97-AF65-F5344CB8AC3E}">
        <p14:creationId xmlns:p14="http://schemas.microsoft.com/office/powerpoint/2010/main" val="3232104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2F6EDD-3242-D846-AF4B-73C85B2F0A65}"/>
              </a:ext>
            </a:extLst>
          </p:cNvPr>
          <p:cNvSpPr>
            <a:spLocks noGrp="1"/>
          </p:cNvSpPr>
          <p:nvPr>
            <p:ph type="title"/>
          </p:nvPr>
        </p:nvSpPr>
        <p:spPr>
          <a:xfrm>
            <a:off x="484710" y="452718"/>
            <a:ext cx="7975722" cy="1400530"/>
          </a:xfrm>
        </p:spPr>
        <p:txBody>
          <a:bodyPr/>
          <a:lstStyle/>
          <a:p>
            <a:r>
              <a:rPr lang="pt-BR" dirty="0"/>
              <a:t>CORRENTES EXCITOMOTORAS</a:t>
            </a:r>
            <a:br>
              <a:rPr lang="pt-BR" dirty="0"/>
            </a:br>
            <a:endParaRPr lang="pt-BR" dirty="0"/>
          </a:p>
        </p:txBody>
      </p:sp>
      <p:sp>
        <p:nvSpPr>
          <p:cNvPr id="3" name="Espaço Reservado para Conteúdo 2">
            <a:extLst>
              <a:ext uri="{FF2B5EF4-FFF2-40B4-BE49-F238E27FC236}">
                <a16:creationId xmlns:a16="http://schemas.microsoft.com/office/drawing/2014/main" id="{1DECC1FD-DC48-64EA-0B54-C6DD27F725B1}"/>
              </a:ext>
            </a:extLst>
          </p:cNvPr>
          <p:cNvSpPr>
            <a:spLocks noGrp="1"/>
          </p:cNvSpPr>
          <p:nvPr>
            <p:ph idx="1"/>
          </p:nvPr>
        </p:nvSpPr>
        <p:spPr/>
        <p:txBody>
          <a:bodyPr/>
          <a:lstStyle/>
          <a:p>
            <a:r>
              <a:rPr lang="pt-BR" dirty="0"/>
              <a:t>POLARIDADE DE ACORDO COM AS CORES</a:t>
            </a:r>
          </a:p>
          <a:p>
            <a:r>
              <a:rPr lang="pt-BR" dirty="0"/>
              <a:t>PRETO – NEGATIVO </a:t>
            </a:r>
          </a:p>
          <a:p>
            <a:r>
              <a:rPr lang="pt-BR" dirty="0"/>
              <a:t>VERMELHO – POSITIVO </a:t>
            </a:r>
          </a:p>
        </p:txBody>
      </p:sp>
      <p:pic>
        <p:nvPicPr>
          <p:cNvPr id="1030" name="Picture 6" descr="Como Identificar Fios Positivos e Negativos: 10 Passos">
            <a:extLst>
              <a:ext uri="{FF2B5EF4-FFF2-40B4-BE49-F238E27FC236}">
                <a16:creationId xmlns:a16="http://schemas.microsoft.com/office/drawing/2014/main" id="{5DF575BA-0A89-DCE1-EDE5-57C63A4B6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7764" y="3265830"/>
            <a:ext cx="4248472" cy="3182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784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C313A-8FDC-AFA2-0BD8-7BE5883C6A14}"/>
              </a:ext>
            </a:extLst>
          </p:cNvPr>
          <p:cNvSpPr>
            <a:spLocks noGrp="1"/>
          </p:cNvSpPr>
          <p:nvPr>
            <p:ph type="title"/>
          </p:nvPr>
        </p:nvSpPr>
        <p:spPr>
          <a:xfrm>
            <a:off x="484710" y="452718"/>
            <a:ext cx="7903714" cy="1400530"/>
          </a:xfrm>
        </p:spPr>
        <p:txBody>
          <a:bodyPr/>
          <a:lstStyle/>
          <a:p>
            <a:r>
              <a:rPr lang="pt-BR" dirty="0"/>
              <a:t>MICROCORRENTES </a:t>
            </a:r>
          </a:p>
        </p:txBody>
      </p:sp>
      <p:sp>
        <p:nvSpPr>
          <p:cNvPr id="3" name="Espaço Reservado para Conteúdo 2">
            <a:extLst>
              <a:ext uri="{FF2B5EF4-FFF2-40B4-BE49-F238E27FC236}">
                <a16:creationId xmlns:a16="http://schemas.microsoft.com/office/drawing/2014/main" id="{2E9BD57D-51AD-9CC2-ECEB-6F33D472E3FF}"/>
              </a:ext>
            </a:extLst>
          </p:cNvPr>
          <p:cNvSpPr>
            <a:spLocks noGrp="1"/>
          </p:cNvSpPr>
          <p:nvPr>
            <p:ph idx="1"/>
          </p:nvPr>
        </p:nvSpPr>
        <p:spPr/>
        <p:txBody>
          <a:bodyPr/>
          <a:lstStyle/>
          <a:p>
            <a:pPr algn="just"/>
            <a:r>
              <a:rPr lang="pt-BR" dirty="0"/>
              <a:t>POSSUI A CAPACIDADE DE INTERAGIR DE FORMA NATURAL COM OS COMPONENTES CELULARES, REESTABELECENDO A CAPACIDADE ENERGETICA, FAVORECENDO CAPACIDADE CELULAR, A FISIOLOGIA CELULAR. É UMA CORRENTE DESPOLARIZADA. </a:t>
            </a:r>
          </a:p>
          <a:p>
            <a:pPr algn="just"/>
            <a:r>
              <a:rPr lang="pt-BR" dirty="0"/>
              <a:t>Normaliza a atividade celular no interior das células após terem sofrido lesão. A adição externa das micro correntes ira aumentar a produção de ATP de 300 a 500%, melhorando a síntese de proteínas, oxigenação, absorção de nutrientes, eliminação de </a:t>
            </a:r>
            <a:r>
              <a:rPr lang="pt-BR" dirty="0" err="1"/>
              <a:t>catabólitos</a:t>
            </a:r>
            <a:r>
              <a:rPr lang="pt-BR" dirty="0"/>
              <a:t>, baixa processos inflamatórios.   </a:t>
            </a:r>
          </a:p>
        </p:txBody>
      </p:sp>
    </p:spTree>
    <p:extLst>
      <p:ext uri="{BB962C8B-B14F-4D97-AF65-F5344CB8AC3E}">
        <p14:creationId xmlns:p14="http://schemas.microsoft.com/office/powerpoint/2010/main" val="385939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DC2BC2-0C72-0B1E-405F-1749B3C8CF8B}"/>
              </a:ext>
            </a:extLst>
          </p:cNvPr>
          <p:cNvSpPr>
            <a:spLocks noGrp="1"/>
          </p:cNvSpPr>
          <p:nvPr>
            <p:ph type="title"/>
          </p:nvPr>
        </p:nvSpPr>
        <p:spPr/>
        <p:txBody>
          <a:bodyPr/>
          <a:lstStyle/>
          <a:p>
            <a:r>
              <a:rPr lang="pt-BR" dirty="0"/>
              <a:t>MICROCORRENTES </a:t>
            </a:r>
          </a:p>
        </p:txBody>
      </p:sp>
      <p:sp>
        <p:nvSpPr>
          <p:cNvPr id="3" name="Espaço Reservado para Conteúdo 2">
            <a:extLst>
              <a:ext uri="{FF2B5EF4-FFF2-40B4-BE49-F238E27FC236}">
                <a16:creationId xmlns:a16="http://schemas.microsoft.com/office/drawing/2014/main" id="{A5BB4F2C-442C-93FF-6507-8D43D8DB13D9}"/>
              </a:ext>
            </a:extLst>
          </p:cNvPr>
          <p:cNvSpPr>
            <a:spLocks noGrp="1"/>
          </p:cNvSpPr>
          <p:nvPr>
            <p:ph idx="1"/>
          </p:nvPr>
        </p:nvSpPr>
        <p:spPr>
          <a:xfrm>
            <a:off x="484710" y="1556792"/>
            <a:ext cx="8174580" cy="5112567"/>
          </a:xfrm>
        </p:spPr>
        <p:txBody>
          <a:bodyPr>
            <a:normAutofit/>
          </a:bodyPr>
          <a:lstStyle/>
          <a:p>
            <a:pPr algn="just"/>
            <a:r>
              <a:rPr lang="pt-BR" sz="2400" b="1" dirty="0"/>
              <a:t>Cheng et al 1982, estudaram os efeitos das correntes elétricas com intensidades diferentes para cicatrização , obtendo aumento de ATP próximo a 500%, bem como o transporte de </a:t>
            </a:r>
            <a:r>
              <a:rPr lang="pt-BR" sz="2400" b="1" dirty="0" err="1"/>
              <a:t>a.a</a:t>
            </a:r>
            <a:r>
              <a:rPr lang="pt-BR" sz="2400" b="1" dirty="0"/>
              <a:t> aumentou 30 a 40% acima dos níveis de controle utilizando intensidade de 100 a 500 </a:t>
            </a:r>
            <a:r>
              <a:rPr lang="pt-BR" sz="2400" b="1" dirty="0" err="1"/>
              <a:t>uA</a:t>
            </a:r>
            <a:r>
              <a:rPr lang="pt-BR" sz="2400" b="1" dirty="0"/>
              <a:t>. Quando as correntes foram aumentadas para valores de </a:t>
            </a:r>
            <a:r>
              <a:rPr lang="pt-BR" sz="2400" b="1" dirty="0" err="1"/>
              <a:t>mA</a:t>
            </a:r>
            <a:r>
              <a:rPr lang="pt-BR" sz="2400" b="1" dirty="0"/>
              <a:t>, a geração de ATP foi esgotada, a captação de </a:t>
            </a:r>
            <a:r>
              <a:rPr lang="pt-BR" sz="2400" b="1" dirty="0" err="1"/>
              <a:t>a.a</a:t>
            </a:r>
            <a:r>
              <a:rPr lang="pt-BR" sz="2400" b="1" dirty="0"/>
              <a:t> foi reduzida em 20 a 73% e a síntese de proteínas foi inibida em 50%. Correntes mais elevadas inibem a cura e correntes inferiores </a:t>
            </a:r>
            <a:r>
              <a:rPr lang="pt-BR" sz="2400" b="1" dirty="0" err="1"/>
              <a:t>uA</a:t>
            </a:r>
            <a:r>
              <a:rPr lang="pt-BR" sz="2400" b="1" dirty="0"/>
              <a:t> estimulam a cicatrização, com frequências entre 0,5 a 1 Hz.  </a:t>
            </a:r>
          </a:p>
        </p:txBody>
      </p:sp>
    </p:spTree>
    <p:extLst>
      <p:ext uri="{BB962C8B-B14F-4D97-AF65-F5344CB8AC3E}">
        <p14:creationId xmlns:p14="http://schemas.microsoft.com/office/powerpoint/2010/main" val="1898998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DBDF32-4C3C-0BB3-8454-AF6BA835D547}"/>
              </a:ext>
            </a:extLst>
          </p:cNvPr>
          <p:cNvSpPr>
            <a:spLocks noGrp="1"/>
          </p:cNvSpPr>
          <p:nvPr>
            <p:ph type="title"/>
          </p:nvPr>
        </p:nvSpPr>
        <p:spPr/>
        <p:txBody>
          <a:bodyPr/>
          <a:lstStyle/>
          <a:p>
            <a:r>
              <a:rPr lang="pt-BR" dirty="0"/>
              <a:t>MICROCORRENTES</a:t>
            </a:r>
          </a:p>
        </p:txBody>
      </p:sp>
      <p:graphicFrame>
        <p:nvGraphicFramePr>
          <p:cNvPr id="4" name="Espaço Reservado para Conteúdo 3">
            <a:extLst>
              <a:ext uri="{FF2B5EF4-FFF2-40B4-BE49-F238E27FC236}">
                <a16:creationId xmlns:a16="http://schemas.microsoft.com/office/drawing/2014/main" id="{642FD869-C0B7-638E-B11A-8FA12A5936A6}"/>
              </a:ext>
            </a:extLst>
          </p:cNvPr>
          <p:cNvGraphicFramePr>
            <a:graphicFrameLocks noGrp="1"/>
          </p:cNvGraphicFramePr>
          <p:nvPr>
            <p:ph idx="1"/>
            <p:extLst>
              <p:ext uri="{D42A27DB-BD31-4B8C-83A1-F6EECF244321}">
                <p14:modId xmlns:p14="http://schemas.microsoft.com/office/powerpoint/2010/main" val="3160576065"/>
              </p:ext>
            </p:extLst>
          </p:nvPr>
        </p:nvGraphicFramePr>
        <p:xfrm>
          <a:off x="484710" y="2052638"/>
          <a:ext cx="8263755" cy="3261360"/>
        </p:xfrm>
        <a:graphic>
          <a:graphicData uri="http://schemas.openxmlformats.org/drawingml/2006/table">
            <a:tbl>
              <a:tblPr firstRow="1" bandRow="1">
                <a:tableStyleId>{5C22544A-7EE6-4342-B048-85BDC9FD1C3A}</a:tableStyleId>
              </a:tblPr>
              <a:tblGrid>
                <a:gridCol w="3151186">
                  <a:extLst>
                    <a:ext uri="{9D8B030D-6E8A-4147-A177-3AD203B41FA5}">
                      <a16:colId xmlns:a16="http://schemas.microsoft.com/office/drawing/2014/main" val="16511476"/>
                    </a:ext>
                  </a:extLst>
                </a:gridCol>
                <a:gridCol w="2520280">
                  <a:extLst>
                    <a:ext uri="{9D8B030D-6E8A-4147-A177-3AD203B41FA5}">
                      <a16:colId xmlns:a16="http://schemas.microsoft.com/office/drawing/2014/main" val="3672577755"/>
                    </a:ext>
                  </a:extLst>
                </a:gridCol>
                <a:gridCol w="2592289">
                  <a:extLst>
                    <a:ext uri="{9D8B030D-6E8A-4147-A177-3AD203B41FA5}">
                      <a16:colId xmlns:a16="http://schemas.microsoft.com/office/drawing/2014/main" val="3206567220"/>
                    </a:ext>
                  </a:extLst>
                </a:gridCol>
              </a:tblGrid>
              <a:tr h="370840">
                <a:tc>
                  <a:txBody>
                    <a:bodyPr/>
                    <a:lstStyle/>
                    <a:p>
                      <a:r>
                        <a:rPr lang="pt-BR" sz="2800" dirty="0"/>
                        <a:t>MICRO</a:t>
                      </a:r>
                    </a:p>
                    <a:p>
                      <a:r>
                        <a:rPr lang="pt-BR" sz="2800" dirty="0"/>
                        <a:t>CORRENTES </a:t>
                      </a:r>
                    </a:p>
                  </a:txBody>
                  <a:tcPr/>
                </a:tc>
                <a:tc>
                  <a:txBody>
                    <a:bodyPr/>
                    <a:lstStyle/>
                    <a:p>
                      <a:r>
                        <a:rPr lang="pt-BR" sz="2800" dirty="0"/>
                        <a:t>FREQUENCIA EM Hz</a:t>
                      </a:r>
                    </a:p>
                  </a:txBody>
                  <a:tcPr/>
                </a:tc>
                <a:tc>
                  <a:txBody>
                    <a:bodyPr/>
                    <a:lstStyle/>
                    <a:p>
                      <a:r>
                        <a:rPr lang="pt-BR" sz="2800" dirty="0"/>
                        <a:t>MODULAÇÃO CORRENTE</a:t>
                      </a:r>
                    </a:p>
                    <a:p>
                      <a:r>
                        <a:rPr lang="pt-BR" sz="2800" dirty="0"/>
                        <a:t>INTENSIDADE </a:t>
                      </a:r>
                    </a:p>
                  </a:txBody>
                  <a:tcPr/>
                </a:tc>
                <a:extLst>
                  <a:ext uri="{0D108BD9-81ED-4DB2-BD59-A6C34878D82A}">
                    <a16:rowId xmlns:a16="http://schemas.microsoft.com/office/drawing/2014/main" val="1604612493"/>
                  </a:ext>
                </a:extLst>
              </a:tr>
              <a:tr h="370840">
                <a:tc>
                  <a:txBody>
                    <a:bodyPr/>
                    <a:lstStyle/>
                    <a:p>
                      <a:r>
                        <a:rPr lang="pt-BR" sz="2800" dirty="0"/>
                        <a:t>BAIXA DE PROCESSO INFLAMATORIO </a:t>
                      </a:r>
                    </a:p>
                  </a:txBody>
                  <a:tcPr/>
                </a:tc>
                <a:tc>
                  <a:txBody>
                    <a:bodyPr/>
                    <a:lstStyle/>
                    <a:p>
                      <a:r>
                        <a:rPr lang="pt-BR" sz="2800" dirty="0"/>
                        <a:t>0,1 ATE 0,5</a:t>
                      </a:r>
                    </a:p>
                    <a:p>
                      <a:r>
                        <a:rPr lang="pt-BR" sz="2800" dirty="0"/>
                        <a:t>Hz</a:t>
                      </a:r>
                    </a:p>
                  </a:txBody>
                  <a:tcPr/>
                </a:tc>
                <a:tc>
                  <a:txBody>
                    <a:bodyPr/>
                    <a:lstStyle/>
                    <a:p>
                      <a:r>
                        <a:rPr lang="pt-BR" sz="2800" dirty="0"/>
                        <a:t>150 </a:t>
                      </a:r>
                      <a:r>
                        <a:rPr lang="pt-BR" sz="2800" dirty="0" err="1"/>
                        <a:t>uA</a:t>
                      </a:r>
                      <a:endParaRPr lang="pt-BR" sz="2800" dirty="0"/>
                    </a:p>
                  </a:txBody>
                  <a:tcPr/>
                </a:tc>
                <a:extLst>
                  <a:ext uri="{0D108BD9-81ED-4DB2-BD59-A6C34878D82A}">
                    <a16:rowId xmlns:a16="http://schemas.microsoft.com/office/drawing/2014/main" val="1996692317"/>
                  </a:ext>
                </a:extLst>
              </a:tr>
              <a:tr h="370840">
                <a:tc>
                  <a:txBody>
                    <a:bodyPr/>
                    <a:lstStyle/>
                    <a:p>
                      <a:r>
                        <a:rPr lang="pt-BR" sz="2800" dirty="0"/>
                        <a:t>LIPOLISE </a:t>
                      </a:r>
                    </a:p>
                  </a:txBody>
                  <a:tcPr/>
                </a:tc>
                <a:tc>
                  <a:txBody>
                    <a:bodyPr/>
                    <a:lstStyle/>
                    <a:p>
                      <a:r>
                        <a:rPr lang="pt-BR" sz="2800" dirty="0"/>
                        <a:t>10 Hz</a:t>
                      </a:r>
                    </a:p>
                  </a:txBody>
                  <a:tcPr/>
                </a:tc>
                <a:tc>
                  <a:txBody>
                    <a:bodyPr/>
                    <a:lstStyle/>
                    <a:p>
                      <a:r>
                        <a:rPr lang="pt-BR" sz="2800" dirty="0"/>
                        <a:t>700 </a:t>
                      </a:r>
                      <a:r>
                        <a:rPr lang="pt-BR" sz="2800" dirty="0" err="1"/>
                        <a:t>uA</a:t>
                      </a:r>
                      <a:endParaRPr lang="pt-BR" sz="2800" dirty="0"/>
                    </a:p>
                  </a:txBody>
                  <a:tcPr/>
                </a:tc>
                <a:extLst>
                  <a:ext uri="{0D108BD9-81ED-4DB2-BD59-A6C34878D82A}">
                    <a16:rowId xmlns:a16="http://schemas.microsoft.com/office/drawing/2014/main" val="3393706505"/>
                  </a:ext>
                </a:extLst>
              </a:tr>
            </a:tbl>
          </a:graphicData>
        </a:graphic>
      </p:graphicFrame>
    </p:spTree>
    <p:extLst>
      <p:ext uri="{BB962C8B-B14F-4D97-AF65-F5344CB8AC3E}">
        <p14:creationId xmlns:p14="http://schemas.microsoft.com/office/powerpoint/2010/main" val="3721411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813D6-3A50-1E75-CB83-8AF1BDE01FBB}"/>
              </a:ext>
            </a:extLst>
          </p:cNvPr>
          <p:cNvSpPr>
            <a:spLocks noGrp="1"/>
          </p:cNvSpPr>
          <p:nvPr>
            <p:ph type="title"/>
          </p:nvPr>
        </p:nvSpPr>
        <p:spPr/>
        <p:txBody>
          <a:bodyPr/>
          <a:lstStyle/>
          <a:p>
            <a:r>
              <a:rPr lang="pt-BR" dirty="0"/>
              <a:t>MICROCORRENTES </a:t>
            </a:r>
          </a:p>
        </p:txBody>
      </p:sp>
      <p:graphicFrame>
        <p:nvGraphicFramePr>
          <p:cNvPr id="5" name="Espaço Reservado para Conteúdo 4">
            <a:extLst>
              <a:ext uri="{FF2B5EF4-FFF2-40B4-BE49-F238E27FC236}">
                <a16:creationId xmlns:a16="http://schemas.microsoft.com/office/drawing/2014/main" id="{791E536B-45BF-90B6-86A7-AB7A1468080F}"/>
              </a:ext>
            </a:extLst>
          </p:cNvPr>
          <p:cNvGraphicFramePr>
            <a:graphicFrameLocks noGrp="1"/>
          </p:cNvGraphicFramePr>
          <p:nvPr>
            <p:ph idx="1"/>
            <p:extLst>
              <p:ext uri="{D42A27DB-BD31-4B8C-83A1-F6EECF244321}">
                <p14:modId xmlns:p14="http://schemas.microsoft.com/office/powerpoint/2010/main" val="1825501214"/>
              </p:ext>
            </p:extLst>
          </p:nvPr>
        </p:nvGraphicFramePr>
        <p:xfrm>
          <a:off x="827088" y="2052638"/>
          <a:ext cx="6711950" cy="3566160"/>
        </p:xfrm>
        <a:graphic>
          <a:graphicData uri="http://schemas.openxmlformats.org/drawingml/2006/table">
            <a:tbl>
              <a:tblPr firstRow="1" bandRow="1">
                <a:tableStyleId>{5C22544A-7EE6-4342-B048-85BDC9FD1C3A}</a:tableStyleId>
              </a:tblPr>
              <a:tblGrid>
                <a:gridCol w="3355975">
                  <a:extLst>
                    <a:ext uri="{9D8B030D-6E8A-4147-A177-3AD203B41FA5}">
                      <a16:colId xmlns:a16="http://schemas.microsoft.com/office/drawing/2014/main" val="1554922744"/>
                    </a:ext>
                  </a:extLst>
                </a:gridCol>
                <a:gridCol w="3355975">
                  <a:extLst>
                    <a:ext uri="{9D8B030D-6E8A-4147-A177-3AD203B41FA5}">
                      <a16:colId xmlns:a16="http://schemas.microsoft.com/office/drawing/2014/main" val="3088989557"/>
                    </a:ext>
                  </a:extLst>
                </a:gridCol>
              </a:tblGrid>
              <a:tr h="370840">
                <a:tc>
                  <a:txBody>
                    <a:bodyPr/>
                    <a:lstStyle/>
                    <a:p>
                      <a:r>
                        <a:rPr lang="pt-BR" sz="2400" dirty="0"/>
                        <a:t>PROFUNDIDADE DA CORRENTE ELETRICA </a:t>
                      </a:r>
                    </a:p>
                  </a:txBody>
                  <a:tcPr/>
                </a:tc>
                <a:tc>
                  <a:txBody>
                    <a:bodyPr/>
                    <a:lstStyle/>
                    <a:p>
                      <a:r>
                        <a:rPr lang="pt-BR" sz="2400" dirty="0"/>
                        <a:t>FREQUENCIA Hz</a:t>
                      </a:r>
                    </a:p>
                  </a:txBody>
                  <a:tcPr/>
                </a:tc>
                <a:extLst>
                  <a:ext uri="{0D108BD9-81ED-4DB2-BD59-A6C34878D82A}">
                    <a16:rowId xmlns:a16="http://schemas.microsoft.com/office/drawing/2014/main" val="1688718285"/>
                  </a:ext>
                </a:extLst>
              </a:tr>
              <a:tr h="370840">
                <a:tc>
                  <a:txBody>
                    <a:bodyPr/>
                    <a:lstStyle/>
                    <a:p>
                      <a:r>
                        <a:rPr lang="pt-BR" sz="2400" dirty="0"/>
                        <a:t>OSSO</a:t>
                      </a:r>
                    </a:p>
                  </a:txBody>
                  <a:tcPr/>
                </a:tc>
                <a:tc>
                  <a:txBody>
                    <a:bodyPr/>
                    <a:lstStyle/>
                    <a:p>
                      <a:r>
                        <a:rPr lang="pt-BR" sz="2400" dirty="0"/>
                        <a:t>0,1</a:t>
                      </a:r>
                    </a:p>
                  </a:txBody>
                  <a:tcPr/>
                </a:tc>
                <a:extLst>
                  <a:ext uri="{0D108BD9-81ED-4DB2-BD59-A6C34878D82A}">
                    <a16:rowId xmlns:a16="http://schemas.microsoft.com/office/drawing/2014/main" val="4278684536"/>
                  </a:ext>
                </a:extLst>
              </a:tr>
              <a:tr h="370840">
                <a:tc>
                  <a:txBody>
                    <a:bodyPr/>
                    <a:lstStyle/>
                    <a:p>
                      <a:r>
                        <a:rPr lang="pt-BR" sz="2400" dirty="0"/>
                        <a:t>MUSCULO</a:t>
                      </a:r>
                    </a:p>
                  </a:txBody>
                  <a:tcPr/>
                </a:tc>
                <a:tc>
                  <a:txBody>
                    <a:bodyPr/>
                    <a:lstStyle/>
                    <a:p>
                      <a:r>
                        <a:rPr lang="pt-BR" sz="2400" dirty="0"/>
                        <a:t>0,5 A 50</a:t>
                      </a:r>
                    </a:p>
                  </a:txBody>
                  <a:tcPr/>
                </a:tc>
                <a:extLst>
                  <a:ext uri="{0D108BD9-81ED-4DB2-BD59-A6C34878D82A}">
                    <a16:rowId xmlns:a16="http://schemas.microsoft.com/office/drawing/2014/main" val="2379777449"/>
                  </a:ext>
                </a:extLst>
              </a:tr>
              <a:tr h="370840">
                <a:tc>
                  <a:txBody>
                    <a:bodyPr/>
                    <a:lstStyle/>
                    <a:p>
                      <a:r>
                        <a:rPr lang="pt-BR" sz="2400" dirty="0"/>
                        <a:t>SUBCUTANEO </a:t>
                      </a:r>
                    </a:p>
                  </a:txBody>
                  <a:tcPr/>
                </a:tc>
                <a:tc>
                  <a:txBody>
                    <a:bodyPr/>
                    <a:lstStyle/>
                    <a:p>
                      <a:r>
                        <a:rPr lang="pt-BR" sz="2400" dirty="0"/>
                        <a:t>100 A 150</a:t>
                      </a:r>
                    </a:p>
                  </a:txBody>
                  <a:tcPr/>
                </a:tc>
                <a:extLst>
                  <a:ext uri="{0D108BD9-81ED-4DB2-BD59-A6C34878D82A}">
                    <a16:rowId xmlns:a16="http://schemas.microsoft.com/office/drawing/2014/main" val="3832037566"/>
                  </a:ext>
                </a:extLst>
              </a:tr>
              <a:tr h="370840">
                <a:tc>
                  <a:txBody>
                    <a:bodyPr/>
                    <a:lstStyle/>
                    <a:p>
                      <a:r>
                        <a:rPr lang="pt-BR" sz="2400" dirty="0"/>
                        <a:t>DERME PROFUNDA</a:t>
                      </a:r>
                    </a:p>
                  </a:txBody>
                  <a:tcPr/>
                </a:tc>
                <a:tc>
                  <a:txBody>
                    <a:bodyPr/>
                    <a:lstStyle/>
                    <a:p>
                      <a:r>
                        <a:rPr lang="pt-BR" sz="2400" dirty="0"/>
                        <a:t>200 A 250</a:t>
                      </a:r>
                    </a:p>
                  </a:txBody>
                  <a:tcPr/>
                </a:tc>
                <a:extLst>
                  <a:ext uri="{0D108BD9-81ED-4DB2-BD59-A6C34878D82A}">
                    <a16:rowId xmlns:a16="http://schemas.microsoft.com/office/drawing/2014/main" val="1880508310"/>
                  </a:ext>
                </a:extLst>
              </a:tr>
              <a:tr h="370840">
                <a:tc>
                  <a:txBody>
                    <a:bodyPr/>
                    <a:lstStyle/>
                    <a:p>
                      <a:r>
                        <a:rPr lang="pt-BR" sz="2400" dirty="0"/>
                        <a:t>DERME SUPERFICIAL</a:t>
                      </a:r>
                    </a:p>
                  </a:txBody>
                  <a:tcPr/>
                </a:tc>
                <a:tc>
                  <a:txBody>
                    <a:bodyPr/>
                    <a:lstStyle/>
                    <a:p>
                      <a:r>
                        <a:rPr lang="pt-BR" sz="2400" dirty="0"/>
                        <a:t>300</a:t>
                      </a:r>
                    </a:p>
                  </a:txBody>
                  <a:tcPr/>
                </a:tc>
                <a:extLst>
                  <a:ext uri="{0D108BD9-81ED-4DB2-BD59-A6C34878D82A}">
                    <a16:rowId xmlns:a16="http://schemas.microsoft.com/office/drawing/2014/main" val="3684109735"/>
                  </a:ext>
                </a:extLst>
              </a:tr>
              <a:tr h="370840">
                <a:tc>
                  <a:txBody>
                    <a:bodyPr/>
                    <a:lstStyle/>
                    <a:p>
                      <a:r>
                        <a:rPr lang="pt-BR" sz="2400" dirty="0"/>
                        <a:t>EPIDERME</a:t>
                      </a:r>
                    </a:p>
                  </a:txBody>
                  <a:tcPr/>
                </a:tc>
                <a:tc>
                  <a:txBody>
                    <a:bodyPr/>
                    <a:lstStyle/>
                    <a:p>
                      <a:r>
                        <a:rPr lang="pt-BR" sz="2400" dirty="0"/>
                        <a:t>500</a:t>
                      </a:r>
                    </a:p>
                  </a:txBody>
                  <a:tcPr/>
                </a:tc>
                <a:extLst>
                  <a:ext uri="{0D108BD9-81ED-4DB2-BD59-A6C34878D82A}">
                    <a16:rowId xmlns:a16="http://schemas.microsoft.com/office/drawing/2014/main" val="2943620154"/>
                  </a:ext>
                </a:extLst>
              </a:tr>
            </a:tbl>
          </a:graphicData>
        </a:graphic>
      </p:graphicFrame>
    </p:spTree>
    <p:extLst>
      <p:ext uri="{BB962C8B-B14F-4D97-AF65-F5344CB8AC3E}">
        <p14:creationId xmlns:p14="http://schemas.microsoft.com/office/powerpoint/2010/main" val="1647738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FB3E8F-1B34-FE6A-DED0-585AFDAFE2A1}"/>
              </a:ext>
            </a:extLst>
          </p:cNvPr>
          <p:cNvSpPr>
            <a:spLocks noGrp="1"/>
          </p:cNvSpPr>
          <p:nvPr>
            <p:ph type="title"/>
          </p:nvPr>
        </p:nvSpPr>
        <p:spPr/>
        <p:txBody>
          <a:bodyPr/>
          <a:lstStyle/>
          <a:p>
            <a:r>
              <a:rPr lang="pt-BR" dirty="0"/>
              <a:t>MICROCORRENTES </a:t>
            </a:r>
          </a:p>
        </p:txBody>
      </p:sp>
      <p:graphicFrame>
        <p:nvGraphicFramePr>
          <p:cNvPr id="4" name="Espaço Reservado para Conteúdo 3">
            <a:extLst>
              <a:ext uri="{FF2B5EF4-FFF2-40B4-BE49-F238E27FC236}">
                <a16:creationId xmlns:a16="http://schemas.microsoft.com/office/drawing/2014/main" id="{4A389A9F-15A1-2C1A-7BE7-20A55FEED65E}"/>
              </a:ext>
            </a:extLst>
          </p:cNvPr>
          <p:cNvGraphicFramePr>
            <a:graphicFrameLocks noGrp="1"/>
          </p:cNvGraphicFramePr>
          <p:nvPr>
            <p:ph idx="1"/>
            <p:extLst>
              <p:ext uri="{D42A27DB-BD31-4B8C-83A1-F6EECF244321}">
                <p14:modId xmlns:p14="http://schemas.microsoft.com/office/powerpoint/2010/main" val="1700009834"/>
              </p:ext>
            </p:extLst>
          </p:nvPr>
        </p:nvGraphicFramePr>
        <p:xfrm>
          <a:off x="827088" y="2052638"/>
          <a:ext cx="6711950" cy="2590800"/>
        </p:xfrm>
        <a:graphic>
          <a:graphicData uri="http://schemas.openxmlformats.org/drawingml/2006/table">
            <a:tbl>
              <a:tblPr firstRow="1" bandRow="1">
                <a:tableStyleId>{5C22544A-7EE6-4342-B048-85BDC9FD1C3A}</a:tableStyleId>
              </a:tblPr>
              <a:tblGrid>
                <a:gridCol w="3355975">
                  <a:extLst>
                    <a:ext uri="{9D8B030D-6E8A-4147-A177-3AD203B41FA5}">
                      <a16:colId xmlns:a16="http://schemas.microsoft.com/office/drawing/2014/main" val="7749312"/>
                    </a:ext>
                  </a:extLst>
                </a:gridCol>
                <a:gridCol w="3355975">
                  <a:extLst>
                    <a:ext uri="{9D8B030D-6E8A-4147-A177-3AD203B41FA5}">
                      <a16:colId xmlns:a16="http://schemas.microsoft.com/office/drawing/2014/main" val="845878586"/>
                    </a:ext>
                  </a:extLst>
                </a:gridCol>
              </a:tblGrid>
              <a:tr h="370840">
                <a:tc>
                  <a:txBody>
                    <a:bodyPr/>
                    <a:lstStyle/>
                    <a:p>
                      <a:r>
                        <a:rPr lang="pt-BR" sz="2800" dirty="0"/>
                        <a:t>USO</a:t>
                      </a:r>
                    </a:p>
                  </a:txBody>
                  <a:tcPr/>
                </a:tc>
                <a:tc>
                  <a:txBody>
                    <a:bodyPr/>
                    <a:lstStyle/>
                    <a:p>
                      <a:r>
                        <a:rPr lang="pt-BR" sz="2800" dirty="0"/>
                        <a:t>INTENSIDADE </a:t>
                      </a:r>
                      <a:r>
                        <a:rPr lang="pt-BR" sz="2800" dirty="0" err="1"/>
                        <a:t>uA</a:t>
                      </a:r>
                      <a:endParaRPr lang="pt-BR" sz="2800" dirty="0"/>
                    </a:p>
                  </a:txBody>
                  <a:tcPr/>
                </a:tc>
                <a:extLst>
                  <a:ext uri="{0D108BD9-81ED-4DB2-BD59-A6C34878D82A}">
                    <a16:rowId xmlns:a16="http://schemas.microsoft.com/office/drawing/2014/main" val="3081327405"/>
                  </a:ext>
                </a:extLst>
              </a:tr>
              <a:tr h="370840">
                <a:tc>
                  <a:txBody>
                    <a:bodyPr/>
                    <a:lstStyle/>
                    <a:p>
                      <a:r>
                        <a:rPr lang="pt-BR" sz="2800" dirty="0"/>
                        <a:t>BIOESTIMULO</a:t>
                      </a:r>
                    </a:p>
                  </a:txBody>
                  <a:tcPr/>
                </a:tc>
                <a:tc>
                  <a:txBody>
                    <a:bodyPr/>
                    <a:lstStyle/>
                    <a:p>
                      <a:r>
                        <a:rPr lang="pt-BR" sz="2800" dirty="0"/>
                        <a:t>20 A 150</a:t>
                      </a:r>
                    </a:p>
                  </a:txBody>
                  <a:tcPr/>
                </a:tc>
                <a:extLst>
                  <a:ext uri="{0D108BD9-81ED-4DB2-BD59-A6C34878D82A}">
                    <a16:rowId xmlns:a16="http://schemas.microsoft.com/office/drawing/2014/main" val="1743235925"/>
                  </a:ext>
                </a:extLst>
              </a:tr>
              <a:tr h="370840">
                <a:tc>
                  <a:txBody>
                    <a:bodyPr/>
                    <a:lstStyle/>
                    <a:p>
                      <a:r>
                        <a:rPr lang="pt-BR" sz="2800" dirty="0"/>
                        <a:t>NUTRIÇÃO </a:t>
                      </a:r>
                    </a:p>
                  </a:txBody>
                  <a:tcPr/>
                </a:tc>
                <a:tc>
                  <a:txBody>
                    <a:bodyPr/>
                    <a:lstStyle/>
                    <a:p>
                      <a:r>
                        <a:rPr lang="pt-BR" sz="2800" dirty="0"/>
                        <a:t>300</a:t>
                      </a:r>
                    </a:p>
                  </a:txBody>
                  <a:tcPr/>
                </a:tc>
                <a:extLst>
                  <a:ext uri="{0D108BD9-81ED-4DB2-BD59-A6C34878D82A}">
                    <a16:rowId xmlns:a16="http://schemas.microsoft.com/office/drawing/2014/main" val="3813548979"/>
                  </a:ext>
                </a:extLst>
              </a:tr>
              <a:tr h="370840">
                <a:tc>
                  <a:txBody>
                    <a:bodyPr/>
                    <a:lstStyle/>
                    <a:p>
                      <a:r>
                        <a:rPr lang="pt-BR" sz="2800" dirty="0"/>
                        <a:t>NORMALIZAÇÃO </a:t>
                      </a:r>
                    </a:p>
                  </a:txBody>
                  <a:tcPr/>
                </a:tc>
                <a:tc>
                  <a:txBody>
                    <a:bodyPr/>
                    <a:lstStyle/>
                    <a:p>
                      <a:r>
                        <a:rPr lang="pt-BR" sz="2800" dirty="0"/>
                        <a:t>500</a:t>
                      </a:r>
                    </a:p>
                  </a:txBody>
                  <a:tcPr/>
                </a:tc>
                <a:extLst>
                  <a:ext uri="{0D108BD9-81ED-4DB2-BD59-A6C34878D82A}">
                    <a16:rowId xmlns:a16="http://schemas.microsoft.com/office/drawing/2014/main" val="3870077768"/>
                  </a:ext>
                </a:extLst>
              </a:tr>
              <a:tr h="370840">
                <a:tc>
                  <a:txBody>
                    <a:bodyPr/>
                    <a:lstStyle/>
                    <a:p>
                      <a:r>
                        <a:rPr lang="pt-BR" sz="2800" dirty="0"/>
                        <a:t>BIOINIBIÇÃO </a:t>
                      </a:r>
                    </a:p>
                  </a:txBody>
                  <a:tcPr/>
                </a:tc>
                <a:tc>
                  <a:txBody>
                    <a:bodyPr/>
                    <a:lstStyle/>
                    <a:p>
                      <a:r>
                        <a:rPr lang="pt-BR" sz="2800" dirty="0"/>
                        <a:t>750 A 990</a:t>
                      </a:r>
                    </a:p>
                  </a:txBody>
                  <a:tcPr/>
                </a:tc>
                <a:extLst>
                  <a:ext uri="{0D108BD9-81ED-4DB2-BD59-A6C34878D82A}">
                    <a16:rowId xmlns:a16="http://schemas.microsoft.com/office/drawing/2014/main" val="3179256754"/>
                  </a:ext>
                </a:extLst>
              </a:tr>
            </a:tbl>
          </a:graphicData>
        </a:graphic>
      </p:graphicFrame>
    </p:spTree>
    <p:extLst>
      <p:ext uri="{BB962C8B-B14F-4D97-AF65-F5344CB8AC3E}">
        <p14:creationId xmlns:p14="http://schemas.microsoft.com/office/powerpoint/2010/main" val="1076280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34FEBA-BBEC-7F7A-B4A1-6F9EA48E158D}"/>
              </a:ext>
            </a:extLst>
          </p:cNvPr>
          <p:cNvSpPr>
            <a:spLocks noGrp="1"/>
          </p:cNvSpPr>
          <p:nvPr>
            <p:ph type="title"/>
          </p:nvPr>
        </p:nvSpPr>
        <p:spPr/>
        <p:txBody>
          <a:bodyPr/>
          <a:lstStyle/>
          <a:p>
            <a:r>
              <a:rPr lang="pt-BR" dirty="0"/>
              <a:t>MICROCORRENTES </a:t>
            </a:r>
          </a:p>
        </p:txBody>
      </p:sp>
      <p:sp>
        <p:nvSpPr>
          <p:cNvPr id="3" name="Espaço Reservado para Conteúdo 2">
            <a:extLst>
              <a:ext uri="{FF2B5EF4-FFF2-40B4-BE49-F238E27FC236}">
                <a16:creationId xmlns:a16="http://schemas.microsoft.com/office/drawing/2014/main" id="{7F4F76CD-D054-2157-4986-AC8BBA5F7DDF}"/>
              </a:ext>
            </a:extLst>
          </p:cNvPr>
          <p:cNvSpPr>
            <a:spLocks noGrp="1"/>
          </p:cNvSpPr>
          <p:nvPr>
            <p:ph idx="1"/>
          </p:nvPr>
        </p:nvSpPr>
        <p:spPr/>
        <p:txBody>
          <a:bodyPr/>
          <a:lstStyle/>
          <a:p>
            <a:r>
              <a:rPr lang="pt-BR" dirty="0"/>
              <a:t>CONTRA INDICAÇÕES: </a:t>
            </a:r>
          </a:p>
          <a:p>
            <a:r>
              <a:rPr lang="pt-BR" dirty="0"/>
              <a:t>Uso de marca passo </a:t>
            </a:r>
          </a:p>
          <a:p>
            <a:r>
              <a:rPr lang="pt-BR" dirty="0"/>
              <a:t>Câncer ativo</a:t>
            </a:r>
          </a:p>
          <a:p>
            <a:r>
              <a:rPr lang="pt-BR" dirty="0"/>
              <a:t>Gravidez </a:t>
            </a:r>
          </a:p>
          <a:p>
            <a:r>
              <a:rPr lang="pt-BR" dirty="0"/>
              <a:t>Problemas cardíacos </a:t>
            </a:r>
          </a:p>
          <a:p>
            <a:r>
              <a:rPr lang="pt-BR" dirty="0"/>
              <a:t>Epilepsia </a:t>
            </a:r>
          </a:p>
          <a:p>
            <a:pPr marL="0" indent="0">
              <a:buNone/>
            </a:pPr>
            <a:endParaRPr lang="pt-BR" dirty="0"/>
          </a:p>
        </p:txBody>
      </p:sp>
    </p:spTree>
    <p:extLst>
      <p:ext uri="{BB962C8B-B14F-4D97-AF65-F5344CB8AC3E}">
        <p14:creationId xmlns:p14="http://schemas.microsoft.com/office/powerpoint/2010/main" val="642741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266E76-C9D7-08F6-2895-F7C535368B21}"/>
              </a:ext>
            </a:extLst>
          </p:cNvPr>
          <p:cNvSpPr>
            <a:spLocks noGrp="1"/>
          </p:cNvSpPr>
          <p:nvPr>
            <p:ph type="title"/>
          </p:nvPr>
        </p:nvSpPr>
        <p:spPr/>
        <p:txBody>
          <a:bodyPr/>
          <a:lstStyle/>
          <a:p>
            <a:r>
              <a:rPr lang="pt-BR" dirty="0"/>
              <a:t>CORRENTE GALVANICA</a:t>
            </a:r>
          </a:p>
        </p:txBody>
      </p:sp>
      <p:sp>
        <p:nvSpPr>
          <p:cNvPr id="3" name="Espaço Reservado para Conteúdo 2">
            <a:extLst>
              <a:ext uri="{FF2B5EF4-FFF2-40B4-BE49-F238E27FC236}">
                <a16:creationId xmlns:a16="http://schemas.microsoft.com/office/drawing/2014/main" id="{CACBAF58-509D-53F6-EE22-710016152882}"/>
              </a:ext>
            </a:extLst>
          </p:cNvPr>
          <p:cNvSpPr>
            <a:spLocks noGrp="1"/>
          </p:cNvSpPr>
          <p:nvPr>
            <p:ph idx="1"/>
          </p:nvPr>
        </p:nvSpPr>
        <p:spPr/>
        <p:txBody>
          <a:bodyPr/>
          <a:lstStyle/>
          <a:p>
            <a:pPr algn="just"/>
            <a:r>
              <a:rPr lang="pt-BR" dirty="0"/>
              <a:t>É UMA CORRENTE POLARIZADA UTILIZADA PARA TRATAMENTO DE ESTRIAS, SENDO O NOME DA TECNICA MICRO GALVANO PUNTURA, CORRENTE DE BAIXA INTENSIDADE JUNTO A PERFURAÇÃO CUTANEA, UTILIZANDO UM ELETRODO GRANDE NEGATIVO (PRETO), E UMA CANETA COM AGULHA POSITIVA (VERMELHO). </a:t>
            </a:r>
          </a:p>
          <a:p>
            <a:pPr algn="just"/>
            <a:r>
              <a:rPr lang="pt-BR" dirty="0"/>
              <a:t>A AGULHA UTILIZADA É APROPRIADA PARA A TECNICA. </a:t>
            </a:r>
          </a:p>
          <a:p>
            <a:pPr algn="just"/>
            <a:r>
              <a:rPr lang="pt-BR" dirty="0"/>
              <a:t>O INTERVALO ENTRE UMA TECNICA E OUTRA É DE 21 DIAS. </a:t>
            </a:r>
          </a:p>
        </p:txBody>
      </p:sp>
    </p:spTree>
    <p:extLst>
      <p:ext uri="{BB962C8B-B14F-4D97-AF65-F5344CB8AC3E}">
        <p14:creationId xmlns:p14="http://schemas.microsoft.com/office/powerpoint/2010/main" val="1211076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861162-4A22-2FE6-D092-1D219699D55D}"/>
              </a:ext>
            </a:extLst>
          </p:cNvPr>
          <p:cNvSpPr>
            <a:spLocks noGrp="1"/>
          </p:cNvSpPr>
          <p:nvPr>
            <p:ph type="title"/>
          </p:nvPr>
        </p:nvSpPr>
        <p:spPr/>
        <p:txBody>
          <a:bodyPr/>
          <a:lstStyle/>
          <a:p>
            <a:r>
              <a:rPr lang="pt-BR" dirty="0"/>
              <a:t>CORRENTE GALVANICA </a:t>
            </a:r>
          </a:p>
        </p:txBody>
      </p:sp>
      <p:sp>
        <p:nvSpPr>
          <p:cNvPr id="3" name="Espaço Reservado para Conteúdo 2">
            <a:extLst>
              <a:ext uri="{FF2B5EF4-FFF2-40B4-BE49-F238E27FC236}">
                <a16:creationId xmlns:a16="http://schemas.microsoft.com/office/drawing/2014/main" id="{E206B1AA-270E-1C8F-575B-A97DE1011931}"/>
              </a:ext>
            </a:extLst>
          </p:cNvPr>
          <p:cNvSpPr>
            <a:spLocks noGrp="1"/>
          </p:cNvSpPr>
          <p:nvPr>
            <p:ph idx="1"/>
          </p:nvPr>
        </p:nvSpPr>
        <p:spPr>
          <a:xfrm>
            <a:off x="830551" y="1818416"/>
            <a:ext cx="6711654" cy="4586866"/>
          </a:xfrm>
        </p:spPr>
        <p:txBody>
          <a:bodyPr>
            <a:normAutofit/>
          </a:bodyPr>
          <a:lstStyle/>
          <a:p>
            <a:r>
              <a:rPr lang="pt-BR" dirty="0"/>
              <a:t>ESTIMULO FISICO DA AGULHA + CORRENTE</a:t>
            </a:r>
          </a:p>
          <a:p>
            <a:r>
              <a:rPr lang="pt-BR" dirty="0"/>
              <a:t>INFLAMAÇÃO LOCAL</a:t>
            </a:r>
          </a:p>
          <a:p>
            <a:r>
              <a:rPr lang="pt-BR" dirty="0"/>
              <a:t>VASODILATAÇÃO E AUMENTO DE PERMEABILIDADE DOS VASOS</a:t>
            </a:r>
          </a:p>
          <a:p>
            <a:r>
              <a:rPr lang="pt-BR" dirty="0"/>
              <a:t>NEOVASCULARIZAÇÃO</a:t>
            </a:r>
          </a:p>
          <a:p>
            <a:r>
              <a:rPr lang="pt-BR" dirty="0"/>
              <a:t>EDEMA</a:t>
            </a:r>
          </a:p>
          <a:p>
            <a:r>
              <a:rPr lang="pt-BR" dirty="0"/>
              <a:t>ACUMULO DE FIBROBLASTOS</a:t>
            </a:r>
          </a:p>
          <a:p>
            <a:r>
              <a:rPr lang="pt-BR" dirty="0"/>
              <a:t>EPITELIZAÇÃO </a:t>
            </a:r>
          </a:p>
          <a:p>
            <a:r>
              <a:rPr lang="pt-BR" dirty="0"/>
              <a:t>RECUPERAÇÃO DA PELE</a:t>
            </a:r>
          </a:p>
          <a:p>
            <a:r>
              <a:rPr lang="pt-BR" dirty="0"/>
              <a:t>MIGRAÇÃO DE CELULAS EPIDERMICAS PARA AS FENDAS FORMADAS PELA AGULHA – LESÃO. </a:t>
            </a:r>
          </a:p>
        </p:txBody>
      </p:sp>
    </p:spTree>
    <p:extLst>
      <p:ext uri="{BB962C8B-B14F-4D97-AF65-F5344CB8AC3E}">
        <p14:creationId xmlns:p14="http://schemas.microsoft.com/office/powerpoint/2010/main" val="2738512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201BC7-8D78-3E53-0580-A1EDF809F831}"/>
              </a:ext>
            </a:extLst>
          </p:cNvPr>
          <p:cNvSpPr>
            <a:spLocks noGrp="1"/>
          </p:cNvSpPr>
          <p:nvPr>
            <p:ph type="title"/>
          </p:nvPr>
        </p:nvSpPr>
        <p:spPr/>
        <p:txBody>
          <a:bodyPr/>
          <a:lstStyle/>
          <a:p>
            <a:r>
              <a:rPr lang="pt-BR" dirty="0"/>
              <a:t>CORRENTE GALVANICA </a:t>
            </a:r>
          </a:p>
        </p:txBody>
      </p:sp>
      <p:sp>
        <p:nvSpPr>
          <p:cNvPr id="3" name="Espaço Reservado para Conteúdo 2">
            <a:extLst>
              <a:ext uri="{FF2B5EF4-FFF2-40B4-BE49-F238E27FC236}">
                <a16:creationId xmlns:a16="http://schemas.microsoft.com/office/drawing/2014/main" id="{290427E9-C885-DA43-8301-DC844662BE0E}"/>
              </a:ext>
            </a:extLst>
          </p:cNvPr>
          <p:cNvSpPr>
            <a:spLocks noGrp="1"/>
          </p:cNvSpPr>
          <p:nvPr>
            <p:ph idx="1"/>
          </p:nvPr>
        </p:nvSpPr>
        <p:spPr/>
        <p:txBody>
          <a:bodyPr>
            <a:normAutofit/>
          </a:bodyPr>
          <a:lstStyle/>
          <a:p>
            <a:pPr algn="just"/>
            <a:r>
              <a:rPr lang="pt-BR" sz="4000" dirty="0"/>
              <a:t>A INTENSIDADE DA CORRENTE VARIA DE 300 A 400 </a:t>
            </a:r>
            <a:r>
              <a:rPr lang="pt-BR" sz="4000" dirty="0" err="1"/>
              <a:t>uA</a:t>
            </a:r>
            <a:endParaRPr lang="pt-BR" sz="4000" dirty="0"/>
          </a:p>
        </p:txBody>
      </p:sp>
    </p:spTree>
    <p:extLst>
      <p:ext uri="{BB962C8B-B14F-4D97-AF65-F5344CB8AC3E}">
        <p14:creationId xmlns:p14="http://schemas.microsoft.com/office/powerpoint/2010/main" val="4058604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372CC1-CF6D-7074-4375-718B7E27618E}"/>
              </a:ext>
            </a:extLst>
          </p:cNvPr>
          <p:cNvSpPr>
            <a:spLocks noGrp="1"/>
          </p:cNvSpPr>
          <p:nvPr>
            <p:ph type="title"/>
          </p:nvPr>
        </p:nvSpPr>
        <p:spPr/>
        <p:txBody>
          <a:bodyPr/>
          <a:lstStyle/>
          <a:p>
            <a:r>
              <a:rPr lang="pt-BR" dirty="0"/>
              <a:t>CORRENTE GALVANICA </a:t>
            </a:r>
          </a:p>
        </p:txBody>
      </p:sp>
      <p:sp>
        <p:nvSpPr>
          <p:cNvPr id="3" name="Espaço Reservado para Conteúdo 2">
            <a:extLst>
              <a:ext uri="{FF2B5EF4-FFF2-40B4-BE49-F238E27FC236}">
                <a16:creationId xmlns:a16="http://schemas.microsoft.com/office/drawing/2014/main" id="{543B5CF0-A72B-D928-960E-1C8139102FA4}"/>
              </a:ext>
            </a:extLst>
          </p:cNvPr>
          <p:cNvSpPr>
            <a:spLocks noGrp="1"/>
          </p:cNvSpPr>
          <p:nvPr>
            <p:ph idx="1"/>
          </p:nvPr>
        </p:nvSpPr>
        <p:spPr>
          <a:xfrm>
            <a:off x="827700" y="2052925"/>
            <a:ext cx="7488716" cy="4195481"/>
          </a:xfrm>
        </p:spPr>
        <p:txBody>
          <a:bodyPr>
            <a:normAutofit lnSpcReduction="10000"/>
          </a:bodyPr>
          <a:lstStyle/>
          <a:p>
            <a:r>
              <a:rPr lang="pt-BR" dirty="0"/>
              <a:t>Corrente e bactericida, usar corrente mais agulha.</a:t>
            </a:r>
          </a:p>
          <a:p>
            <a:r>
              <a:rPr lang="pt-BR" dirty="0"/>
              <a:t>Evitar exposição ao sol</a:t>
            </a:r>
          </a:p>
          <a:p>
            <a:r>
              <a:rPr lang="pt-BR" dirty="0"/>
              <a:t>Não fazer a técnica com uso de corticoides, anti-inflamatórios, antibióticos, </a:t>
            </a:r>
            <a:r>
              <a:rPr lang="pt-BR" dirty="0" err="1"/>
              <a:t>roacutan</a:t>
            </a:r>
            <a:endParaRPr lang="pt-BR" dirty="0"/>
          </a:p>
          <a:p>
            <a:r>
              <a:rPr lang="pt-BR" dirty="0"/>
              <a:t>Não associar ácidos, ou outros processos abrasivos </a:t>
            </a:r>
            <a:r>
              <a:rPr lang="pt-BR" dirty="0" err="1"/>
              <a:t>pos</a:t>
            </a:r>
            <a:r>
              <a:rPr lang="pt-BR" dirty="0"/>
              <a:t> procedimento. </a:t>
            </a:r>
          </a:p>
          <a:p>
            <a:r>
              <a:rPr lang="pt-BR" dirty="0"/>
              <a:t>Não realizar em quem tem fototipo acima de III, para não gerar manchas. Fototipos altos se usa a </a:t>
            </a:r>
            <a:r>
              <a:rPr lang="pt-BR" dirty="0" err="1"/>
              <a:t>carboxiterpia</a:t>
            </a:r>
            <a:r>
              <a:rPr lang="pt-BR" dirty="0"/>
              <a:t>. </a:t>
            </a:r>
          </a:p>
          <a:p>
            <a:r>
              <a:rPr lang="pt-BR" dirty="0"/>
              <a:t>O uso de cosméticos adequados potencializam efeitos. Regeneradores dérmicos, fatores de crescimento, hidratantes, </a:t>
            </a:r>
            <a:r>
              <a:rPr lang="pt-BR" dirty="0" err="1"/>
              <a:t>hyaxel</a:t>
            </a:r>
            <a:r>
              <a:rPr lang="pt-BR" dirty="0"/>
              <a:t>, </a:t>
            </a:r>
            <a:r>
              <a:rPr lang="pt-BR" dirty="0" err="1"/>
              <a:t>raffermine</a:t>
            </a:r>
            <a:r>
              <a:rPr lang="pt-BR" dirty="0"/>
              <a:t>...</a:t>
            </a:r>
          </a:p>
        </p:txBody>
      </p:sp>
    </p:spTree>
    <p:extLst>
      <p:ext uri="{BB962C8B-B14F-4D97-AF65-F5344CB8AC3E}">
        <p14:creationId xmlns:p14="http://schemas.microsoft.com/office/powerpoint/2010/main" val="1949163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95C01C-A645-5C17-06C8-0AAF519E404A}"/>
              </a:ext>
            </a:extLst>
          </p:cNvPr>
          <p:cNvSpPr>
            <a:spLocks noGrp="1"/>
          </p:cNvSpPr>
          <p:nvPr>
            <p:ph type="title"/>
          </p:nvPr>
        </p:nvSpPr>
        <p:spPr>
          <a:xfrm>
            <a:off x="484710" y="452718"/>
            <a:ext cx="8263754" cy="1400530"/>
          </a:xfrm>
        </p:spPr>
        <p:txBody>
          <a:bodyPr/>
          <a:lstStyle/>
          <a:p>
            <a:r>
              <a:rPr lang="pt-BR" dirty="0"/>
              <a:t>FORTALECIMENTO MUSCULAR</a:t>
            </a:r>
          </a:p>
        </p:txBody>
      </p:sp>
      <p:graphicFrame>
        <p:nvGraphicFramePr>
          <p:cNvPr id="5" name="Espaço Reservado para Conteúdo 4">
            <a:extLst>
              <a:ext uri="{FF2B5EF4-FFF2-40B4-BE49-F238E27FC236}">
                <a16:creationId xmlns:a16="http://schemas.microsoft.com/office/drawing/2014/main" id="{3B2F71EA-C3DC-F3C7-921B-6A13D35FB355}"/>
              </a:ext>
            </a:extLst>
          </p:cNvPr>
          <p:cNvGraphicFramePr>
            <a:graphicFrameLocks noGrp="1"/>
          </p:cNvGraphicFramePr>
          <p:nvPr>
            <p:ph idx="1"/>
            <p:extLst>
              <p:ext uri="{D42A27DB-BD31-4B8C-83A1-F6EECF244321}">
                <p14:modId xmlns:p14="http://schemas.microsoft.com/office/powerpoint/2010/main" val="701389700"/>
              </p:ext>
            </p:extLst>
          </p:nvPr>
        </p:nvGraphicFramePr>
        <p:xfrm>
          <a:off x="827088" y="2052638"/>
          <a:ext cx="67119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2846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9ADB02-AFD9-A33E-8C60-85B9A280C205}"/>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7D70F6A5-7BFC-843A-E6A7-0E897BF138D5}"/>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2458E5F9-EE9C-BCD3-7468-C1E535C71DAA}"/>
              </a:ext>
            </a:extLst>
          </p:cNvPr>
          <p:cNvPicPr>
            <a:picLocks noChangeAspect="1"/>
          </p:cNvPicPr>
          <p:nvPr/>
        </p:nvPicPr>
        <p:blipFill>
          <a:blip r:embed="rId2"/>
          <a:stretch>
            <a:fillRect/>
          </a:stretch>
        </p:blipFill>
        <p:spPr>
          <a:xfrm>
            <a:off x="0" y="1015794"/>
            <a:ext cx="9144000" cy="4826412"/>
          </a:xfrm>
          <a:prstGeom prst="rect">
            <a:avLst/>
          </a:prstGeom>
        </p:spPr>
      </p:pic>
    </p:spTree>
    <p:extLst>
      <p:ext uri="{BB962C8B-B14F-4D97-AF65-F5344CB8AC3E}">
        <p14:creationId xmlns:p14="http://schemas.microsoft.com/office/powerpoint/2010/main" val="9997430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44562A-963D-804C-8C0C-8BEB30DB2BF6}"/>
              </a:ext>
            </a:extLst>
          </p:cNvPr>
          <p:cNvSpPr>
            <a:spLocks noGrp="1"/>
          </p:cNvSpPr>
          <p:nvPr>
            <p:ph type="title"/>
          </p:nvPr>
        </p:nvSpPr>
        <p:spPr/>
        <p:txBody>
          <a:bodyPr/>
          <a:lstStyle/>
          <a:p>
            <a:endParaRPr lang="pt-BR" dirty="0"/>
          </a:p>
        </p:txBody>
      </p:sp>
      <p:sp>
        <p:nvSpPr>
          <p:cNvPr id="3" name="Espaço Reservado para Conteúdo 2">
            <a:extLst>
              <a:ext uri="{FF2B5EF4-FFF2-40B4-BE49-F238E27FC236}">
                <a16:creationId xmlns:a16="http://schemas.microsoft.com/office/drawing/2014/main" id="{F10EFF3B-C81B-11A4-B2FA-2427365BC14F}"/>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B0CF69CC-21A4-2D7C-29FA-18F748A2C364}"/>
              </a:ext>
            </a:extLst>
          </p:cNvPr>
          <p:cNvPicPr>
            <a:picLocks noChangeAspect="1"/>
          </p:cNvPicPr>
          <p:nvPr/>
        </p:nvPicPr>
        <p:blipFill>
          <a:blip r:embed="rId2"/>
          <a:stretch>
            <a:fillRect/>
          </a:stretch>
        </p:blipFill>
        <p:spPr>
          <a:xfrm>
            <a:off x="0" y="1849398"/>
            <a:ext cx="9144000" cy="3159204"/>
          </a:xfrm>
          <a:prstGeom prst="rect">
            <a:avLst/>
          </a:prstGeom>
        </p:spPr>
      </p:pic>
    </p:spTree>
    <p:extLst>
      <p:ext uri="{BB962C8B-B14F-4D97-AF65-F5344CB8AC3E}">
        <p14:creationId xmlns:p14="http://schemas.microsoft.com/office/powerpoint/2010/main" val="2642495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C9ED36-6D34-4E9C-3745-6A8BAE0D58CB}"/>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06F15C79-DADC-8E6F-0388-7EBDED4E1FC4}"/>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CB695AF1-810A-F8DC-893F-38DD569A600D}"/>
              </a:ext>
            </a:extLst>
          </p:cNvPr>
          <p:cNvPicPr>
            <a:picLocks noChangeAspect="1"/>
          </p:cNvPicPr>
          <p:nvPr/>
        </p:nvPicPr>
        <p:blipFill>
          <a:blip r:embed="rId2"/>
          <a:stretch>
            <a:fillRect/>
          </a:stretch>
        </p:blipFill>
        <p:spPr>
          <a:xfrm>
            <a:off x="0" y="2133894"/>
            <a:ext cx="9144000" cy="2590211"/>
          </a:xfrm>
          <a:prstGeom prst="rect">
            <a:avLst/>
          </a:prstGeom>
        </p:spPr>
      </p:pic>
    </p:spTree>
    <p:extLst>
      <p:ext uri="{BB962C8B-B14F-4D97-AF65-F5344CB8AC3E}">
        <p14:creationId xmlns:p14="http://schemas.microsoft.com/office/powerpoint/2010/main" val="42741162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AD17C7-B260-1E5F-CFB7-D63C3A8A5527}"/>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EFD4F44C-0B4B-F261-1306-F4E453EF25DF}"/>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813120AB-ABCB-071B-56AE-904D21609C73}"/>
              </a:ext>
            </a:extLst>
          </p:cNvPr>
          <p:cNvPicPr>
            <a:picLocks noChangeAspect="1"/>
          </p:cNvPicPr>
          <p:nvPr/>
        </p:nvPicPr>
        <p:blipFill>
          <a:blip r:embed="rId2"/>
          <a:stretch>
            <a:fillRect/>
          </a:stretch>
        </p:blipFill>
        <p:spPr>
          <a:xfrm>
            <a:off x="166831" y="0"/>
            <a:ext cx="8810338" cy="6858000"/>
          </a:xfrm>
          <a:prstGeom prst="rect">
            <a:avLst/>
          </a:prstGeom>
        </p:spPr>
      </p:pic>
    </p:spTree>
    <p:extLst>
      <p:ext uri="{BB962C8B-B14F-4D97-AF65-F5344CB8AC3E}">
        <p14:creationId xmlns:p14="http://schemas.microsoft.com/office/powerpoint/2010/main" val="11926852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056062-5495-F4ED-C3EA-1797B10CF540}"/>
              </a:ext>
            </a:extLst>
          </p:cNvPr>
          <p:cNvSpPr>
            <a:spLocks noGrp="1"/>
          </p:cNvSpPr>
          <p:nvPr>
            <p:ph type="title"/>
          </p:nvPr>
        </p:nvSpPr>
        <p:spPr>
          <a:xfrm>
            <a:off x="484710" y="452718"/>
            <a:ext cx="8191746" cy="1400530"/>
          </a:xfrm>
        </p:spPr>
        <p:txBody>
          <a:bodyPr/>
          <a:lstStyle/>
          <a:p>
            <a:r>
              <a:rPr lang="pt-BR" dirty="0"/>
              <a:t>FORTALECIMENTO MUSCULAR</a:t>
            </a:r>
          </a:p>
        </p:txBody>
      </p:sp>
      <p:sp>
        <p:nvSpPr>
          <p:cNvPr id="3" name="Espaço Reservado para Conteúdo 2">
            <a:extLst>
              <a:ext uri="{FF2B5EF4-FFF2-40B4-BE49-F238E27FC236}">
                <a16:creationId xmlns:a16="http://schemas.microsoft.com/office/drawing/2014/main" id="{E3069921-2348-D8AC-AA1A-E9324D4437C5}"/>
              </a:ext>
            </a:extLst>
          </p:cNvPr>
          <p:cNvSpPr>
            <a:spLocks noGrp="1"/>
          </p:cNvSpPr>
          <p:nvPr>
            <p:ph idx="1"/>
          </p:nvPr>
        </p:nvSpPr>
        <p:spPr/>
        <p:txBody>
          <a:bodyPr/>
          <a:lstStyle/>
          <a:p>
            <a:pPr algn="just"/>
            <a:r>
              <a:rPr lang="pt-BR" dirty="0"/>
              <a:t>A ELETROESTIMULAÇÃO MUSCULAR É UMA TECNOLOGIA QUE AJUDA NA MELHORA DA CONDIÇÃO MUSCULAR EM DIFERENTES AREAS COMO NEUROLOGIA, ORTOPEDIA, ESTETICA E HOSPITALAR. </a:t>
            </a:r>
          </a:p>
          <a:p>
            <a:pPr algn="just"/>
            <a:r>
              <a:rPr lang="pt-BR" dirty="0"/>
              <a:t>A ESCOLHA DA CORENTE ELETRICA A SER APLICADA NESTE CASO DEPENDE MUITO DA AVALIAÇÃO E DA CONDIÇÃO FISICA DO PACIENTE, POIS SE TEM 2 TIPOS DE FIBRAS MUSCULARES. NÃO EXISTE UM MUSCULO CONSTITUIDO APENAS POR SOMENTE UM TIPO DE FIBRA MUSCULAR. </a:t>
            </a:r>
          </a:p>
        </p:txBody>
      </p:sp>
    </p:spTree>
    <p:extLst>
      <p:ext uri="{BB962C8B-B14F-4D97-AF65-F5344CB8AC3E}">
        <p14:creationId xmlns:p14="http://schemas.microsoft.com/office/powerpoint/2010/main" val="2969909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547407-6F34-176E-02B4-136B8C276AA6}"/>
              </a:ext>
            </a:extLst>
          </p:cNvPr>
          <p:cNvSpPr>
            <a:spLocks noGrp="1"/>
          </p:cNvSpPr>
          <p:nvPr>
            <p:ph type="title"/>
          </p:nvPr>
        </p:nvSpPr>
        <p:spPr>
          <a:xfrm>
            <a:off x="484710" y="452718"/>
            <a:ext cx="8191746" cy="1400530"/>
          </a:xfrm>
        </p:spPr>
        <p:txBody>
          <a:bodyPr/>
          <a:lstStyle/>
          <a:p>
            <a:r>
              <a:rPr lang="pt-BR" dirty="0"/>
              <a:t>FORTALECIMENTO MUSCULAR</a:t>
            </a:r>
          </a:p>
        </p:txBody>
      </p:sp>
      <p:sp>
        <p:nvSpPr>
          <p:cNvPr id="3" name="Espaço Reservado para Conteúdo 2">
            <a:extLst>
              <a:ext uri="{FF2B5EF4-FFF2-40B4-BE49-F238E27FC236}">
                <a16:creationId xmlns:a16="http://schemas.microsoft.com/office/drawing/2014/main" id="{5CC4ABF0-718F-1E3D-9F22-068F24C1CB8C}"/>
              </a:ext>
            </a:extLst>
          </p:cNvPr>
          <p:cNvSpPr>
            <a:spLocks noGrp="1"/>
          </p:cNvSpPr>
          <p:nvPr>
            <p:ph idx="1"/>
          </p:nvPr>
        </p:nvSpPr>
        <p:spPr/>
        <p:txBody>
          <a:bodyPr>
            <a:normAutofit/>
          </a:bodyPr>
          <a:lstStyle/>
          <a:p>
            <a:r>
              <a:rPr lang="pt-BR" sz="2400" dirty="0"/>
              <a:t>FIBRAS TONICAS</a:t>
            </a:r>
          </a:p>
          <a:p>
            <a:r>
              <a:rPr lang="pt-BR" sz="2400" dirty="0"/>
              <a:t>Fibras que controlam o equilíbrio, de ação reflexiva e inconsciente. </a:t>
            </a:r>
          </a:p>
          <a:p>
            <a:r>
              <a:rPr lang="pt-BR" sz="2400" dirty="0"/>
              <a:t>FIBRAS FASICAS</a:t>
            </a:r>
          </a:p>
          <a:p>
            <a:r>
              <a:rPr lang="pt-BR" sz="2400" dirty="0"/>
              <a:t>São as fibras do movimento, de ação voluntaria e consciente. </a:t>
            </a:r>
          </a:p>
        </p:txBody>
      </p:sp>
    </p:spTree>
    <p:extLst>
      <p:ext uri="{BB962C8B-B14F-4D97-AF65-F5344CB8AC3E}">
        <p14:creationId xmlns:p14="http://schemas.microsoft.com/office/powerpoint/2010/main" val="34383068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B75AE1-5DFE-A63E-80BA-7943D61159F0}"/>
              </a:ext>
            </a:extLst>
          </p:cNvPr>
          <p:cNvSpPr>
            <a:spLocks noGrp="1"/>
          </p:cNvSpPr>
          <p:nvPr>
            <p:ph type="title"/>
          </p:nvPr>
        </p:nvSpPr>
        <p:spPr>
          <a:xfrm>
            <a:off x="484710" y="452718"/>
            <a:ext cx="8119738" cy="1400530"/>
          </a:xfrm>
        </p:spPr>
        <p:txBody>
          <a:bodyPr/>
          <a:lstStyle/>
          <a:p>
            <a:r>
              <a:rPr lang="pt-BR" dirty="0"/>
              <a:t>FORTALECIMENTO MUSCULAR</a:t>
            </a:r>
          </a:p>
        </p:txBody>
      </p:sp>
      <p:graphicFrame>
        <p:nvGraphicFramePr>
          <p:cNvPr id="4" name="Espaço Reservado para Conteúdo 3">
            <a:extLst>
              <a:ext uri="{FF2B5EF4-FFF2-40B4-BE49-F238E27FC236}">
                <a16:creationId xmlns:a16="http://schemas.microsoft.com/office/drawing/2014/main" id="{7E3B97C7-934F-1E8F-B148-F72EAA65705E}"/>
              </a:ext>
            </a:extLst>
          </p:cNvPr>
          <p:cNvGraphicFramePr>
            <a:graphicFrameLocks noGrp="1"/>
          </p:cNvGraphicFramePr>
          <p:nvPr>
            <p:ph idx="1"/>
            <p:extLst>
              <p:ext uri="{D42A27DB-BD31-4B8C-83A1-F6EECF244321}">
                <p14:modId xmlns:p14="http://schemas.microsoft.com/office/powerpoint/2010/main" val="955093756"/>
              </p:ext>
            </p:extLst>
          </p:nvPr>
        </p:nvGraphicFramePr>
        <p:xfrm>
          <a:off x="755576" y="1628800"/>
          <a:ext cx="7632848" cy="4776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9170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877B6-95B4-B052-271E-893281D043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DBB962-3C90-41F9-9DA7-CA6A105758AA}"/>
              </a:ext>
            </a:extLst>
          </p:cNvPr>
          <p:cNvSpPr>
            <a:spLocks noGrp="1"/>
          </p:cNvSpPr>
          <p:nvPr>
            <p:ph type="title"/>
          </p:nvPr>
        </p:nvSpPr>
        <p:spPr>
          <a:xfrm>
            <a:off x="484710" y="452718"/>
            <a:ext cx="8119738" cy="1400530"/>
          </a:xfrm>
        </p:spPr>
        <p:txBody>
          <a:bodyPr/>
          <a:lstStyle/>
          <a:p>
            <a:r>
              <a:rPr lang="pt-BR" dirty="0"/>
              <a:t>FORTALECIMENTO MUSCULAR</a:t>
            </a:r>
          </a:p>
        </p:txBody>
      </p:sp>
      <p:graphicFrame>
        <p:nvGraphicFramePr>
          <p:cNvPr id="4" name="Espaço Reservado para Conteúdo 3">
            <a:extLst>
              <a:ext uri="{FF2B5EF4-FFF2-40B4-BE49-F238E27FC236}">
                <a16:creationId xmlns:a16="http://schemas.microsoft.com/office/drawing/2014/main" id="{3366754C-07F1-F1D1-B93C-75DECCA66585}"/>
              </a:ext>
            </a:extLst>
          </p:cNvPr>
          <p:cNvGraphicFramePr>
            <a:graphicFrameLocks noGrp="1"/>
          </p:cNvGraphicFramePr>
          <p:nvPr>
            <p:ph idx="1"/>
            <p:extLst>
              <p:ext uri="{D42A27DB-BD31-4B8C-83A1-F6EECF244321}">
                <p14:modId xmlns:p14="http://schemas.microsoft.com/office/powerpoint/2010/main" val="136714007"/>
              </p:ext>
            </p:extLst>
          </p:nvPr>
        </p:nvGraphicFramePr>
        <p:xfrm>
          <a:off x="728155" y="1177834"/>
          <a:ext cx="7632848" cy="56801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8688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962504-257B-1FB6-B5B4-AA3502CF4C93}"/>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AE566857-213B-C09C-4C68-9F2A820BA5C1}"/>
              </a:ext>
            </a:extLst>
          </p:cNvPr>
          <p:cNvSpPr>
            <a:spLocks noGrp="1"/>
          </p:cNvSpPr>
          <p:nvPr>
            <p:ph idx="1"/>
          </p:nvPr>
        </p:nvSpPr>
        <p:spPr/>
        <p:txBody>
          <a:bodyPr/>
          <a:lstStyle/>
          <a:p>
            <a:endParaRPr lang="pt-BR"/>
          </a:p>
        </p:txBody>
      </p:sp>
      <p:pic>
        <p:nvPicPr>
          <p:cNvPr id="3074" name="Picture 2" descr="G-SE - MUSCULATURA TÓNICA Y FASICA:⁣ ⁣ La catalogación por musculatura  tónica y fasica se debe a las características de cada tipo de músculos:  tónicos mantienen un trabajo de baja intensidad pero">
            <a:extLst>
              <a:ext uri="{FF2B5EF4-FFF2-40B4-BE49-F238E27FC236}">
                <a16:creationId xmlns:a16="http://schemas.microsoft.com/office/drawing/2014/main" id="{65928040-8F75-139E-33A9-78CFECE38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16632"/>
            <a:ext cx="6552728" cy="655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4199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DC3A1D-D41C-D6AD-0E30-9F1F9164FE77}"/>
              </a:ext>
            </a:extLst>
          </p:cNvPr>
          <p:cNvSpPr>
            <a:spLocks noGrp="1"/>
          </p:cNvSpPr>
          <p:nvPr>
            <p:ph type="title"/>
          </p:nvPr>
        </p:nvSpPr>
        <p:spPr>
          <a:xfrm>
            <a:off x="484710" y="452718"/>
            <a:ext cx="8047730" cy="1400530"/>
          </a:xfrm>
        </p:spPr>
        <p:txBody>
          <a:bodyPr/>
          <a:lstStyle/>
          <a:p>
            <a:r>
              <a:rPr lang="pt-BR" dirty="0"/>
              <a:t>FORTALECIMENTO MUSCULAR</a:t>
            </a:r>
          </a:p>
        </p:txBody>
      </p:sp>
      <p:sp>
        <p:nvSpPr>
          <p:cNvPr id="3" name="Espaço Reservado para Conteúdo 2">
            <a:extLst>
              <a:ext uri="{FF2B5EF4-FFF2-40B4-BE49-F238E27FC236}">
                <a16:creationId xmlns:a16="http://schemas.microsoft.com/office/drawing/2014/main" id="{95544302-02D3-6D4D-8BD4-16B0A3F80921}"/>
              </a:ext>
            </a:extLst>
          </p:cNvPr>
          <p:cNvSpPr>
            <a:spLocks noGrp="1"/>
          </p:cNvSpPr>
          <p:nvPr>
            <p:ph idx="1"/>
          </p:nvPr>
        </p:nvSpPr>
        <p:spPr/>
        <p:txBody>
          <a:bodyPr/>
          <a:lstStyle/>
          <a:p>
            <a:r>
              <a:rPr lang="pt-BR" dirty="0"/>
              <a:t>OBJETIVOS DA ELETRO ESTIMULAÇÃO </a:t>
            </a:r>
          </a:p>
          <a:p>
            <a:r>
              <a:rPr lang="pt-BR" dirty="0"/>
              <a:t>Recuperação funcional </a:t>
            </a:r>
          </a:p>
          <a:p>
            <a:r>
              <a:rPr lang="pt-BR" dirty="0"/>
              <a:t>Aumento de volume e forma </a:t>
            </a:r>
          </a:p>
          <a:p>
            <a:r>
              <a:rPr lang="pt-BR" dirty="0"/>
              <a:t>Melhora da qualidade de proteínas das fibras e massa muscular</a:t>
            </a:r>
          </a:p>
          <a:p>
            <a:r>
              <a:rPr lang="pt-BR" dirty="0"/>
              <a:t>Melhora de desempenho </a:t>
            </a:r>
          </a:p>
          <a:p>
            <a:r>
              <a:rPr lang="pt-BR" dirty="0"/>
              <a:t>Pós operatório e pós trauma </a:t>
            </a:r>
          </a:p>
          <a:p>
            <a:r>
              <a:rPr lang="pt-BR" dirty="0"/>
              <a:t>Melhora da estabilidade e fortalecimento de articulações </a:t>
            </a:r>
          </a:p>
          <a:p>
            <a:r>
              <a:rPr lang="pt-BR" dirty="0"/>
              <a:t>Reduzir os níveis de gordura via eletro lipólise </a:t>
            </a:r>
          </a:p>
          <a:p>
            <a:pPr marL="0" indent="0">
              <a:buNone/>
            </a:pPr>
            <a:endParaRPr lang="pt-BR" dirty="0"/>
          </a:p>
          <a:p>
            <a:endParaRPr lang="pt-BR" dirty="0"/>
          </a:p>
        </p:txBody>
      </p:sp>
    </p:spTree>
    <p:extLst>
      <p:ext uri="{BB962C8B-B14F-4D97-AF65-F5344CB8AC3E}">
        <p14:creationId xmlns:p14="http://schemas.microsoft.com/office/powerpoint/2010/main" val="1860048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58ADA6-40D3-91A1-160C-91023F73233E}"/>
              </a:ext>
            </a:extLst>
          </p:cNvPr>
          <p:cNvSpPr>
            <a:spLocks noGrp="1"/>
          </p:cNvSpPr>
          <p:nvPr>
            <p:ph type="title"/>
          </p:nvPr>
        </p:nvSpPr>
        <p:spPr>
          <a:xfrm>
            <a:off x="484710" y="452718"/>
            <a:ext cx="8047730" cy="1400530"/>
          </a:xfrm>
        </p:spPr>
        <p:txBody>
          <a:bodyPr/>
          <a:lstStyle/>
          <a:p>
            <a:r>
              <a:rPr lang="pt-BR" dirty="0"/>
              <a:t>FORTALECIMENTO MUSCULAR</a:t>
            </a:r>
          </a:p>
        </p:txBody>
      </p:sp>
      <p:graphicFrame>
        <p:nvGraphicFramePr>
          <p:cNvPr id="4" name="Espaço Reservado para Conteúdo 3">
            <a:extLst>
              <a:ext uri="{FF2B5EF4-FFF2-40B4-BE49-F238E27FC236}">
                <a16:creationId xmlns:a16="http://schemas.microsoft.com/office/drawing/2014/main" id="{F0B34976-4BF8-2C0A-CD68-22EE50AC31EA}"/>
              </a:ext>
            </a:extLst>
          </p:cNvPr>
          <p:cNvGraphicFramePr>
            <a:graphicFrameLocks noGrp="1"/>
          </p:cNvGraphicFramePr>
          <p:nvPr>
            <p:ph idx="1"/>
            <p:extLst>
              <p:ext uri="{D42A27DB-BD31-4B8C-83A1-F6EECF244321}">
                <p14:modId xmlns:p14="http://schemas.microsoft.com/office/powerpoint/2010/main" val="1267016344"/>
              </p:ext>
            </p:extLst>
          </p:nvPr>
        </p:nvGraphicFramePr>
        <p:xfrm>
          <a:off x="827088" y="2052638"/>
          <a:ext cx="67119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39365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EEB18D-4D24-F299-7F78-7DC9DCC54630}"/>
              </a:ext>
            </a:extLst>
          </p:cNvPr>
          <p:cNvSpPr>
            <a:spLocks noGrp="1"/>
          </p:cNvSpPr>
          <p:nvPr>
            <p:ph type="title"/>
          </p:nvPr>
        </p:nvSpPr>
        <p:spPr>
          <a:xfrm>
            <a:off x="484710" y="452718"/>
            <a:ext cx="8047730" cy="1400530"/>
          </a:xfrm>
        </p:spPr>
        <p:txBody>
          <a:bodyPr/>
          <a:lstStyle/>
          <a:p>
            <a:r>
              <a:rPr lang="pt-BR" dirty="0"/>
              <a:t>FORTALECIMENTO MUSCULAR</a:t>
            </a:r>
          </a:p>
        </p:txBody>
      </p:sp>
      <p:graphicFrame>
        <p:nvGraphicFramePr>
          <p:cNvPr id="4" name="Espaço Reservado para Conteúdo 3">
            <a:extLst>
              <a:ext uri="{FF2B5EF4-FFF2-40B4-BE49-F238E27FC236}">
                <a16:creationId xmlns:a16="http://schemas.microsoft.com/office/drawing/2014/main" id="{D8C70D00-DD80-42E5-91AB-2360E7A14FD3}"/>
              </a:ext>
            </a:extLst>
          </p:cNvPr>
          <p:cNvGraphicFramePr>
            <a:graphicFrameLocks noGrp="1"/>
          </p:cNvGraphicFramePr>
          <p:nvPr>
            <p:ph idx="1"/>
            <p:extLst>
              <p:ext uri="{D42A27DB-BD31-4B8C-83A1-F6EECF244321}">
                <p14:modId xmlns:p14="http://schemas.microsoft.com/office/powerpoint/2010/main" val="64426069"/>
              </p:ext>
            </p:extLst>
          </p:nvPr>
        </p:nvGraphicFramePr>
        <p:xfrm>
          <a:off x="827088" y="2052638"/>
          <a:ext cx="6711950" cy="4328160"/>
        </p:xfrm>
        <a:graphic>
          <a:graphicData uri="http://schemas.openxmlformats.org/drawingml/2006/table">
            <a:tbl>
              <a:tblPr firstRow="1" bandRow="1">
                <a:tableStyleId>{5C22544A-7EE6-4342-B048-85BDC9FD1C3A}</a:tableStyleId>
              </a:tblPr>
              <a:tblGrid>
                <a:gridCol w="3355975">
                  <a:extLst>
                    <a:ext uri="{9D8B030D-6E8A-4147-A177-3AD203B41FA5}">
                      <a16:colId xmlns:a16="http://schemas.microsoft.com/office/drawing/2014/main" val="1991352869"/>
                    </a:ext>
                  </a:extLst>
                </a:gridCol>
                <a:gridCol w="3355975">
                  <a:extLst>
                    <a:ext uri="{9D8B030D-6E8A-4147-A177-3AD203B41FA5}">
                      <a16:colId xmlns:a16="http://schemas.microsoft.com/office/drawing/2014/main" val="2895653148"/>
                    </a:ext>
                  </a:extLst>
                </a:gridCol>
              </a:tblGrid>
              <a:tr h="370840">
                <a:tc>
                  <a:txBody>
                    <a:bodyPr/>
                    <a:lstStyle/>
                    <a:p>
                      <a:r>
                        <a:rPr lang="pt-BR" dirty="0"/>
                        <a:t>FINALIDADE</a:t>
                      </a:r>
                    </a:p>
                  </a:txBody>
                  <a:tcPr/>
                </a:tc>
                <a:tc>
                  <a:txBody>
                    <a:bodyPr/>
                    <a:lstStyle/>
                    <a:p>
                      <a:r>
                        <a:rPr lang="pt-BR" dirty="0"/>
                        <a:t>FREQUENCIA EM Hz</a:t>
                      </a:r>
                    </a:p>
                  </a:txBody>
                  <a:tcPr/>
                </a:tc>
                <a:extLst>
                  <a:ext uri="{0D108BD9-81ED-4DB2-BD59-A6C34878D82A}">
                    <a16:rowId xmlns:a16="http://schemas.microsoft.com/office/drawing/2014/main" val="1692023502"/>
                  </a:ext>
                </a:extLst>
              </a:tr>
              <a:tr h="370840">
                <a:tc>
                  <a:txBody>
                    <a:bodyPr/>
                    <a:lstStyle/>
                    <a:p>
                      <a:r>
                        <a:rPr lang="pt-BR" dirty="0"/>
                        <a:t>CONTRATURA</a:t>
                      </a:r>
                    </a:p>
                  </a:txBody>
                  <a:tcPr/>
                </a:tc>
                <a:tc>
                  <a:txBody>
                    <a:bodyPr/>
                    <a:lstStyle/>
                    <a:p>
                      <a:r>
                        <a:rPr lang="pt-BR" dirty="0"/>
                        <a:t>1 A 3</a:t>
                      </a:r>
                    </a:p>
                  </a:txBody>
                  <a:tcPr/>
                </a:tc>
                <a:extLst>
                  <a:ext uri="{0D108BD9-81ED-4DB2-BD59-A6C34878D82A}">
                    <a16:rowId xmlns:a16="http://schemas.microsoft.com/office/drawing/2014/main" val="2083093715"/>
                  </a:ext>
                </a:extLst>
              </a:tr>
              <a:tr h="370840">
                <a:tc>
                  <a:txBody>
                    <a:bodyPr/>
                    <a:lstStyle/>
                    <a:p>
                      <a:r>
                        <a:rPr lang="pt-BR" dirty="0"/>
                        <a:t>RECUPERAÇÃO ATIVA</a:t>
                      </a:r>
                    </a:p>
                  </a:txBody>
                  <a:tcPr/>
                </a:tc>
                <a:tc>
                  <a:txBody>
                    <a:bodyPr/>
                    <a:lstStyle/>
                    <a:p>
                      <a:r>
                        <a:rPr lang="pt-BR" dirty="0"/>
                        <a:t>4 A 8</a:t>
                      </a:r>
                    </a:p>
                  </a:txBody>
                  <a:tcPr/>
                </a:tc>
                <a:extLst>
                  <a:ext uri="{0D108BD9-81ED-4DB2-BD59-A6C34878D82A}">
                    <a16:rowId xmlns:a16="http://schemas.microsoft.com/office/drawing/2014/main" val="3109068781"/>
                  </a:ext>
                </a:extLst>
              </a:tr>
              <a:tr h="370840">
                <a:tc>
                  <a:txBody>
                    <a:bodyPr/>
                    <a:lstStyle/>
                    <a:p>
                      <a:r>
                        <a:rPr lang="pt-BR" dirty="0"/>
                        <a:t>CAPILARIZAÇÃO </a:t>
                      </a:r>
                    </a:p>
                  </a:txBody>
                  <a:tcPr/>
                </a:tc>
                <a:tc>
                  <a:txBody>
                    <a:bodyPr/>
                    <a:lstStyle/>
                    <a:p>
                      <a:r>
                        <a:rPr lang="pt-BR" dirty="0"/>
                        <a:t>8 A 10</a:t>
                      </a:r>
                    </a:p>
                  </a:txBody>
                  <a:tcPr/>
                </a:tc>
                <a:extLst>
                  <a:ext uri="{0D108BD9-81ED-4DB2-BD59-A6C34878D82A}">
                    <a16:rowId xmlns:a16="http://schemas.microsoft.com/office/drawing/2014/main" val="988352222"/>
                  </a:ext>
                </a:extLst>
              </a:tr>
              <a:tr h="370840">
                <a:tc>
                  <a:txBody>
                    <a:bodyPr/>
                    <a:lstStyle/>
                    <a:p>
                      <a:r>
                        <a:rPr lang="pt-BR" dirty="0"/>
                        <a:t>RESISTENCIA AEROBICA </a:t>
                      </a:r>
                    </a:p>
                    <a:p>
                      <a:r>
                        <a:rPr lang="pt-BR" dirty="0"/>
                        <a:t>INICIAÇÃO MUSCULAR</a:t>
                      </a:r>
                    </a:p>
                    <a:p>
                      <a:r>
                        <a:rPr lang="pt-BR" dirty="0"/>
                        <a:t>TONIFICAÇÃO </a:t>
                      </a:r>
                    </a:p>
                    <a:p>
                      <a:r>
                        <a:rPr lang="pt-BR" dirty="0"/>
                        <a:t>FIRMEZA MUSCULAR</a:t>
                      </a:r>
                    </a:p>
                  </a:txBody>
                  <a:tcPr/>
                </a:tc>
                <a:tc>
                  <a:txBody>
                    <a:bodyPr/>
                    <a:lstStyle/>
                    <a:p>
                      <a:r>
                        <a:rPr lang="pt-BR" dirty="0"/>
                        <a:t>30 A 40</a:t>
                      </a:r>
                    </a:p>
                  </a:txBody>
                  <a:tcPr/>
                </a:tc>
                <a:extLst>
                  <a:ext uri="{0D108BD9-81ED-4DB2-BD59-A6C34878D82A}">
                    <a16:rowId xmlns:a16="http://schemas.microsoft.com/office/drawing/2014/main" val="3023051744"/>
                  </a:ext>
                </a:extLst>
              </a:tr>
              <a:tr h="370840">
                <a:tc>
                  <a:txBody>
                    <a:bodyPr/>
                    <a:lstStyle/>
                    <a:p>
                      <a:r>
                        <a:rPr lang="pt-BR" dirty="0"/>
                        <a:t>FORÇA E RESISTENCIA </a:t>
                      </a:r>
                    </a:p>
                    <a:p>
                      <a:r>
                        <a:rPr lang="pt-BR" dirty="0"/>
                        <a:t>MUSCULAÇÃO ANAEROBICA </a:t>
                      </a:r>
                    </a:p>
                  </a:txBody>
                  <a:tcPr/>
                </a:tc>
                <a:tc>
                  <a:txBody>
                    <a:bodyPr/>
                    <a:lstStyle/>
                    <a:p>
                      <a:r>
                        <a:rPr lang="pt-BR" dirty="0"/>
                        <a:t>35 A 50 </a:t>
                      </a:r>
                    </a:p>
                  </a:txBody>
                  <a:tcPr/>
                </a:tc>
                <a:extLst>
                  <a:ext uri="{0D108BD9-81ED-4DB2-BD59-A6C34878D82A}">
                    <a16:rowId xmlns:a16="http://schemas.microsoft.com/office/drawing/2014/main" val="1297020816"/>
                  </a:ext>
                </a:extLst>
              </a:tr>
              <a:tr h="370840">
                <a:tc>
                  <a:txBody>
                    <a:bodyPr/>
                    <a:lstStyle/>
                    <a:p>
                      <a:r>
                        <a:rPr lang="pt-BR" dirty="0"/>
                        <a:t>HIPERTROFIA</a:t>
                      </a:r>
                    </a:p>
                  </a:txBody>
                  <a:tcPr/>
                </a:tc>
                <a:tc>
                  <a:txBody>
                    <a:bodyPr/>
                    <a:lstStyle/>
                    <a:p>
                      <a:r>
                        <a:rPr lang="pt-BR" dirty="0"/>
                        <a:t>60 A 80</a:t>
                      </a:r>
                    </a:p>
                  </a:txBody>
                  <a:tcPr/>
                </a:tc>
                <a:extLst>
                  <a:ext uri="{0D108BD9-81ED-4DB2-BD59-A6C34878D82A}">
                    <a16:rowId xmlns:a16="http://schemas.microsoft.com/office/drawing/2014/main" val="3321657519"/>
                  </a:ext>
                </a:extLst>
              </a:tr>
              <a:tr h="370840">
                <a:tc>
                  <a:txBody>
                    <a:bodyPr/>
                    <a:lstStyle/>
                    <a:p>
                      <a:r>
                        <a:rPr lang="pt-BR" dirty="0"/>
                        <a:t>FORÇA EXPLOSIVA </a:t>
                      </a:r>
                    </a:p>
                  </a:txBody>
                  <a:tcPr/>
                </a:tc>
                <a:tc>
                  <a:txBody>
                    <a:bodyPr/>
                    <a:lstStyle/>
                    <a:p>
                      <a:r>
                        <a:rPr lang="pt-BR" dirty="0"/>
                        <a:t>100 A 150</a:t>
                      </a:r>
                    </a:p>
                  </a:txBody>
                  <a:tcPr/>
                </a:tc>
                <a:extLst>
                  <a:ext uri="{0D108BD9-81ED-4DB2-BD59-A6C34878D82A}">
                    <a16:rowId xmlns:a16="http://schemas.microsoft.com/office/drawing/2014/main" val="3610675641"/>
                  </a:ext>
                </a:extLst>
              </a:tr>
            </a:tbl>
          </a:graphicData>
        </a:graphic>
      </p:graphicFrame>
    </p:spTree>
    <p:extLst>
      <p:ext uri="{BB962C8B-B14F-4D97-AF65-F5344CB8AC3E}">
        <p14:creationId xmlns:p14="http://schemas.microsoft.com/office/powerpoint/2010/main" val="36973797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359079-CD79-248D-46A4-0A7F85217B65}"/>
              </a:ext>
            </a:extLst>
          </p:cNvPr>
          <p:cNvSpPr>
            <a:spLocks noGrp="1"/>
          </p:cNvSpPr>
          <p:nvPr>
            <p:ph type="title"/>
          </p:nvPr>
        </p:nvSpPr>
        <p:spPr>
          <a:xfrm>
            <a:off x="484710" y="452718"/>
            <a:ext cx="8119738" cy="1400530"/>
          </a:xfrm>
        </p:spPr>
        <p:txBody>
          <a:bodyPr/>
          <a:lstStyle/>
          <a:p>
            <a:r>
              <a:rPr lang="pt-BR" dirty="0"/>
              <a:t>FORTALECIMENTO MUSCULAR</a:t>
            </a:r>
          </a:p>
        </p:txBody>
      </p:sp>
      <p:sp>
        <p:nvSpPr>
          <p:cNvPr id="3" name="Espaço Reservado para Conteúdo 2">
            <a:extLst>
              <a:ext uri="{FF2B5EF4-FFF2-40B4-BE49-F238E27FC236}">
                <a16:creationId xmlns:a16="http://schemas.microsoft.com/office/drawing/2014/main" id="{E9776292-7D90-6F43-FC53-BF5BE2C422F1}"/>
              </a:ext>
            </a:extLst>
          </p:cNvPr>
          <p:cNvSpPr>
            <a:spLocks noGrp="1"/>
          </p:cNvSpPr>
          <p:nvPr>
            <p:ph idx="1"/>
          </p:nvPr>
        </p:nvSpPr>
        <p:spPr/>
        <p:txBody>
          <a:bodyPr>
            <a:normAutofit/>
          </a:bodyPr>
          <a:lstStyle/>
          <a:p>
            <a:pPr algn="just"/>
            <a:r>
              <a:rPr lang="pt-BR" sz="3200" dirty="0"/>
              <a:t>A inatividade muscular leva ao aparecimento de gordura e a flacidez cutânea, vários tratamentos podem ser associados com a eletroestimulação. </a:t>
            </a:r>
          </a:p>
        </p:txBody>
      </p:sp>
    </p:spTree>
    <p:extLst>
      <p:ext uri="{BB962C8B-B14F-4D97-AF65-F5344CB8AC3E}">
        <p14:creationId xmlns:p14="http://schemas.microsoft.com/office/powerpoint/2010/main" val="899497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403C83-CE72-7AA7-1594-5A6AB11B350F}"/>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7DE8CA1E-F0D2-9A1F-20BF-FC3FD5842E98}"/>
              </a:ext>
            </a:extLst>
          </p:cNvPr>
          <p:cNvSpPr>
            <a:spLocks noGrp="1"/>
          </p:cNvSpPr>
          <p:nvPr>
            <p:ph idx="1"/>
          </p:nvPr>
        </p:nvSpPr>
        <p:spPr/>
        <p:txBody>
          <a:bodyPr/>
          <a:lstStyle/>
          <a:p>
            <a:endParaRPr lang="pt-BR"/>
          </a:p>
        </p:txBody>
      </p:sp>
      <p:pic>
        <p:nvPicPr>
          <p:cNvPr id="5122" name="Picture 2" descr="Grátis: Corrente Russa 1 - Material Claro e Objetivo em PDF para Estudo  Rápido">
            <a:extLst>
              <a:ext uri="{FF2B5EF4-FFF2-40B4-BE49-F238E27FC236}">
                <a16:creationId xmlns:a16="http://schemas.microsoft.com/office/drawing/2014/main" id="{113720C5-FB34-EA31-638C-0569A1665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 y="0"/>
            <a:ext cx="895508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8050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EDE75-AE8D-591F-78E8-25A58FE793A5}"/>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0FD17312-B38F-7607-3360-2A451C8A8DA8}"/>
              </a:ext>
            </a:extLst>
          </p:cNvPr>
          <p:cNvSpPr>
            <a:spLocks noGrp="1"/>
          </p:cNvSpPr>
          <p:nvPr>
            <p:ph idx="1"/>
          </p:nvPr>
        </p:nvSpPr>
        <p:spPr/>
        <p:txBody>
          <a:bodyPr/>
          <a:lstStyle/>
          <a:p>
            <a:endParaRPr lang="pt-BR"/>
          </a:p>
        </p:txBody>
      </p:sp>
      <p:pic>
        <p:nvPicPr>
          <p:cNvPr id="6146" name="Picture 2" descr="Grátis: Aplicações Correta da Corrente Russa - Material Claro e Objetivo em  PDF para Estudo Rápido">
            <a:extLst>
              <a:ext uri="{FF2B5EF4-FFF2-40B4-BE49-F238E27FC236}">
                <a16:creationId xmlns:a16="http://schemas.microsoft.com/office/drawing/2014/main" id="{FB9DDBF6-CC0B-E486-E0E3-CA8F89B907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2367"/>
            <a:ext cx="3073679" cy="6713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6790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0ECB9D-01C9-BA21-3F77-72BE1B5A842E}"/>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B61E16EA-7F05-4B4F-8B8A-B597A67E31DF}"/>
              </a:ext>
            </a:extLst>
          </p:cNvPr>
          <p:cNvSpPr>
            <a:spLocks noGrp="1"/>
          </p:cNvSpPr>
          <p:nvPr>
            <p:ph idx="1"/>
          </p:nvPr>
        </p:nvSpPr>
        <p:spPr/>
        <p:txBody>
          <a:bodyPr/>
          <a:lstStyle/>
          <a:p>
            <a:endParaRPr lang="pt-BR"/>
          </a:p>
        </p:txBody>
      </p:sp>
      <p:pic>
        <p:nvPicPr>
          <p:cNvPr id="8196" name="Picture 4" descr="Ilustração do corpo humano com o nome dos músculos.">
            <a:extLst>
              <a:ext uri="{FF2B5EF4-FFF2-40B4-BE49-F238E27FC236}">
                <a16:creationId xmlns:a16="http://schemas.microsoft.com/office/drawing/2014/main" id="{E8E5D29C-8DE6-F5CE-BFDA-C5CDFBE83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959" y="452718"/>
            <a:ext cx="9946519" cy="6034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4398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536A5F-98C3-D276-572F-414A4303F5C1}"/>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8F8B02F4-5650-96E1-B8C2-A87AC2ED40CF}"/>
              </a:ext>
            </a:extLst>
          </p:cNvPr>
          <p:cNvSpPr>
            <a:spLocks noGrp="1"/>
          </p:cNvSpPr>
          <p:nvPr>
            <p:ph idx="1"/>
          </p:nvPr>
        </p:nvSpPr>
        <p:spPr/>
        <p:txBody>
          <a:bodyPr/>
          <a:lstStyle/>
          <a:p>
            <a:endParaRPr lang="pt-BR"/>
          </a:p>
        </p:txBody>
      </p:sp>
      <p:pic>
        <p:nvPicPr>
          <p:cNvPr id="7170" name="Picture 2" descr="Grátis: Apostila Corrente Russa - Material Claro e Objetivo em PDF para  Estudo Rápido">
            <a:extLst>
              <a:ext uri="{FF2B5EF4-FFF2-40B4-BE49-F238E27FC236}">
                <a16:creationId xmlns:a16="http://schemas.microsoft.com/office/drawing/2014/main" id="{F3B01034-03F8-3271-6532-F20EB40ABF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87424"/>
            <a:ext cx="5976664" cy="8443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3434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EF632A-998B-E1B1-FF39-418D0DDBBD1D}"/>
              </a:ext>
            </a:extLst>
          </p:cNvPr>
          <p:cNvSpPr>
            <a:spLocks noGrp="1"/>
          </p:cNvSpPr>
          <p:nvPr>
            <p:ph type="title"/>
          </p:nvPr>
        </p:nvSpPr>
        <p:spPr>
          <a:xfrm>
            <a:off x="484710" y="452718"/>
            <a:ext cx="8047730" cy="1400530"/>
          </a:xfrm>
        </p:spPr>
        <p:txBody>
          <a:bodyPr/>
          <a:lstStyle/>
          <a:p>
            <a:r>
              <a:rPr lang="pt-BR" dirty="0"/>
              <a:t>ELETROLIPOLISE</a:t>
            </a:r>
          </a:p>
        </p:txBody>
      </p:sp>
      <p:sp>
        <p:nvSpPr>
          <p:cNvPr id="3" name="Espaço Reservado para Conteúdo 2">
            <a:extLst>
              <a:ext uri="{FF2B5EF4-FFF2-40B4-BE49-F238E27FC236}">
                <a16:creationId xmlns:a16="http://schemas.microsoft.com/office/drawing/2014/main" id="{DF41CB68-8D80-DA63-2A86-9D5FDF091A7C}"/>
              </a:ext>
            </a:extLst>
          </p:cNvPr>
          <p:cNvSpPr>
            <a:spLocks noGrp="1"/>
          </p:cNvSpPr>
          <p:nvPr>
            <p:ph idx="1"/>
          </p:nvPr>
        </p:nvSpPr>
        <p:spPr/>
        <p:txBody>
          <a:bodyPr>
            <a:normAutofit/>
          </a:bodyPr>
          <a:lstStyle/>
          <a:p>
            <a:pPr algn="just"/>
            <a:r>
              <a:rPr lang="pt-BR" sz="2800" dirty="0"/>
              <a:t>TECNICA UTILIZADA A PARTIR DE CORRENTES POLARIZADAS, GALVANICAS OU DESPOLARIZADAS MENS. CONSISTE EM DUAS TECNICAS, A TRASNCUTANEA E A INTRACUTANEA (COM AGULHAS DE ACUPUNTURA). </a:t>
            </a:r>
          </a:p>
        </p:txBody>
      </p:sp>
    </p:spTree>
    <p:extLst>
      <p:ext uri="{BB962C8B-B14F-4D97-AF65-F5344CB8AC3E}">
        <p14:creationId xmlns:p14="http://schemas.microsoft.com/office/powerpoint/2010/main" val="2819237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73A04-6E89-EF89-79CB-5DD81D315686}"/>
              </a:ext>
            </a:extLst>
          </p:cNvPr>
          <p:cNvSpPr>
            <a:spLocks noGrp="1"/>
          </p:cNvSpPr>
          <p:nvPr>
            <p:ph type="title"/>
          </p:nvPr>
        </p:nvSpPr>
        <p:spPr/>
        <p:txBody>
          <a:bodyPr/>
          <a:lstStyle/>
          <a:p>
            <a:r>
              <a:rPr lang="pt-BR" dirty="0"/>
              <a:t>ELETROLIPOLISE </a:t>
            </a:r>
          </a:p>
        </p:txBody>
      </p:sp>
      <p:pic>
        <p:nvPicPr>
          <p:cNvPr id="4098" name="Picture 2" descr="Eletrólipólise: Uma abordagem para a gordura localizada. | FisioEstética">
            <a:extLst>
              <a:ext uri="{FF2B5EF4-FFF2-40B4-BE49-F238E27FC236}">
                <a16:creationId xmlns:a16="http://schemas.microsoft.com/office/drawing/2014/main" id="{EFBF4D8F-6AFA-C3F5-781B-95FA949DEF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4544" y="1556792"/>
            <a:ext cx="10415105" cy="4694570"/>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BB16D01E-A74F-4AE0-24C0-1A5426E1AFE1}"/>
              </a:ext>
            </a:extLst>
          </p:cNvPr>
          <p:cNvSpPr txBox="1"/>
          <p:nvPr/>
        </p:nvSpPr>
        <p:spPr>
          <a:xfrm>
            <a:off x="6084168" y="4005064"/>
            <a:ext cx="3480507" cy="646331"/>
          </a:xfrm>
          <a:prstGeom prst="rect">
            <a:avLst/>
          </a:prstGeom>
          <a:noFill/>
        </p:spPr>
        <p:txBody>
          <a:bodyPr wrap="square" rtlCol="0">
            <a:spAutoFit/>
          </a:bodyPr>
          <a:lstStyle/>
          <a:p>
            <a:r>
              <a:rPr lang="pt-BR" dirty="0">
                <a:solidFill>
                  <a:schemeClr val="bg1"/>
                </a:solidFill>
              </a:rPr>
              <a:t>ADRENALINA E NORADRENALINA </a:t>
            </a:r>
          </a:p>
        </p:txBody>
      </p:sp>
      <p:sp>
        <p:nvSpPr>
          <p:cNvPr id="5" name="CaixaDeTexto 4">
            <a:extLst>
              <a:ext uri="{FF2B5EF4-FFF2-40B4-BE49-F238E27FC236}">
                <a16:creationId xmlns:a16="http://schemas.microsoft.com/office/drawing/2014/main" id="{79D76037-8364-2034-73EB-FD52F1B12555}"/>
              </a:ext>
            </a:extLst>
          </p:cNvPr>
          <p:cNvSpPr txBox="1"/>
          <p:nvPr/>
        </p:nvSpPr>
        <p:spPr>
          <a:xfrm>
            <a:off x="6444208" y="4853862"/>
            <a:ext cx="2699792" cy="1477328"/>
          </a:xfrm>
          <a:prstGeom prst="rect">
            <a:avLst/>
          </a:prstGeom>
          <a:noFill/>
        </p:spPr>
        <p:txBody>
          <a:bodyPr wrap="square" rtlCol="0">
            <a:spAutoFit/>
          </a:bodyPr>
          <a:lstStyle/>
          <a:p>
            <a:r>
              <a:rPr lang="pt-BR" dirty="0">
                <a:solidFill>
                  <a:schemeClr val="bg1"/>
                </a:solidFill>
              </a:rPr>
              <a:t>POTENCIALIZA A QUEBRA DOS TRIGLICERIDEOS EM GLICEROL E ACIDOS GRAXOS </a:t>
            </a:r>
          </a:p>
        </p:txBody>
      </p:sp>
    </p:spTree>
    <p:extLst>
      <p:ext uri="{BB962C8B-B14F-4D97-AF65-F5344CB8AC3E}">
        <p14:creationId xmlns:p14="http://schemas.microsoft.com/office/powerpoint/2010/main" val="24365161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4316CF-EDBC-98C4-C4CB-458DEA470503}"/>
              </a:ext>
            </a:extLst>
          </p:cNvPr>
          <p:cNvSpPr>
            <a:spLocks noGrp="1"/>
          </p:cNvSpPr>
          <p:nvPr>
            <p:ph type="title"/>
          </p:nvPr>
        </p:nvSpPr>
        <p:spPr/>
        <p:txBody>
          <a:bodyPr/>
          <a:lstStyle/>
          <a:p>
            <a:r>
              <a:rPr lang="pt-BR" dirty="0"/>
              <a:t>ELETROLIPOLISE </a:t>
            </a:r>
          </a:p>
        </p:txBody>
      </p:sp>
      <p:sp>
        <p:nvSpPr>
          <p:cNvPr id="3" name="Espaço Reservado para Conteúdo 2">
            <a:extLst>
              <a:ext uri="{FF2B5EF4-FFF2-40B4-BE49-F238E27FC236}">
                <a16:creationId xmlns:a16="http://schemas.microsoft.com/office/drawing/2014/main" id="{507A0A0F-0200-9E24-1ED1-51D21F9C5410}"/>
              </a:ext>
            </a:extLst>
          </p:cNvPr>
          <p:cNvSpPr>
            <a:spLocks noGrp="1"/>
          </p:cNvSpPr>
          <p:nvPr>
            <p:ph idx="1"/>
          </p:nvPr>
        </p:nvSpPr>
        <p:spPr/>
        <p:txBody>
          <a:bodyPr>
            <a:normAutofit/>
          </a:bodyPr>
          <a:lstStyle/>
          <a:p>
            <a:pPr algn="just"/>
            <a:r>
              <a:rPr lang="pt-BR" sz="2400" b="1" i="1" u="sng" dirty="0"/>
              <a:t>ELETRODOS METALICOS – AGULHAS, NÃO EXISTE RESISTENCIA DA PELE, LOGO, A INTENSIDADE DEVE SER A MAIS BAIXA POSSIVEL, NÃO HAVENDO A NECESSIDADE DO PACIENTE MANIFESTAR SENSAÇÃO DE FORMIGAMENTO, INTENSIDADES PROXIMAS A 300uA SÃO SUFICIENTES ( AGNES, 2018). </a:t>
            </a:r>
          </a:p>
        </p:txBody>
      </p:sp>
    </p:spTree>
    <p:extLst>
      <p:ext uri="{BB962C8B-B14F-4D97-AF65-F5344CB8AC3E}">
        <p14:creationId xmlns:p14="http://schemas.microsoft.com/office/powerpoint/2010/main" val="42230723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Í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25338</TotalTime>
  <Words>1731</Words>
  <Application>Microsoft Office PowerPoint</Application>
  <PresentationFormat>Apresentação na tela (4:3)</PresentationFormat>
  <Paragraphs>232</Paragraphs>
  <Slides>53</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53</vt:i4>
      </vt:variant>
    </vt:vector>
  </HeadingPairs>
  <TitlesOfParts>
    <vt:vector size="59" baseType="lpstr">
      <vt:lpstr>Arial</vt:lpstr>
      <vt:lpstr>Arial</vt:lpstr>
      <vt:lpstr>Calibri</vt:lpstr>
      <vt:lpstr>Century Gothic</vt:lpstr>
      <vt:lpstr>Wingdings 3</vt:lpstr>
      <vt:lpstr>Íon</vt:lpstr>
      <vt:lpstr>CORRENTES EXCITOMOTORAS </vt:lpstr>
      <vt:lpstr>CORRENTES EXCITOMOTORAS </vt:lpstr>
      <vt:lpstr>CORRENTES EXCITOMOTORAS  </vt:lpstr>
      <vt:lpstr>CORRENTES EXCITOMOTORAS </vt:lpstr>
      <vt:lpstr>CORRENTES EXCITOMOTORAS </vt:lpstr>
      <vt:lpstr>CORRENTES EXCITOMOTORAS </vt:lpstr>
      <vt:lpstr>CORRENTES EXCITOMOTORAS </vt:lpstr>
      <vt:lpstr>CORRENTES EXCITOMOTORAS </vt:lpstr>
      <vt:lpstr>CORRENTES EXCITOMOTORAS </vt:lpstr>
      <vt:lpstr>ELETROESTIMULAÇÃO</vt:lpstr>
      <vt:lpstr>Apresentação do PowerPoint</vt:lpstr>
      <vt:lpstr>Apresentação do PowerPoint</vt:lpstr>
      <vt:lpstr>Apresentação do PowerPoint</vt:lpstr>
      <vt:lpstr>Apresentação do PowerPoint</vt:lpstr>
      <vt:lpstr>STRIAT</vt:lpstr>
      <vt:lpstr>Apresentação do PowerPoint</vt:lpstr>
      <vt:lpstr>Apresentação do PowerPoint</vt:lpstr>
      <vt:lpstr>Apresentação do PowerPoint</vt:lpstr>
      <vt:lpstr>Apresentação do PowerPoint</vt:lpstr>
      <vt:lpstr>Apresentação do PowerPoint</vt:lpstr>
      <vt:lpstr>Apresentação do PowerPoint</vt:lpstr>
      <vt:lpstr>CORRENTES EXCITOMOTORAS </vt:lpstr>
      <vt:lpstr>MICROCORRENTES </vt:lpstr>
      <vt:lpstr>MICROCORRENTES </vt:lpstr>
      <vt:lpstr>MICROCORRENTES</vt:lpstr>
      <vt:lpstr>MICROCORRENTES </vt:lpstr>
      <vt:lpstr>MICROCORRENTES </vt:lpstr>
      <vt:lpstr>MICROCORRENTES </vt:lpstr>
      <vt:lpstr>CORRENTE GALVANICA</vt:lpstr>
      <vt:lpstr>CORRENTE GALVANICA </vt:lpstr>
      <vt:lpstr>CORRENTE GALVANICA </vt:lpstr>
      <vt:lpstr>CORRENTE GALVANICA </vt:lpstr>
      <vt:lpstr>FORTALECIMENTO MUSCULAR</vt:lpstr>
      <vt:lpstr>Apresentação do PowerPoint</vt:lpstr>
      <vt:lpstr>Apresentação do PowerPoint</vt:lpstr>
      <vt:lpstr>Apresentação do PowerPoint</vt:lpstr>
      <vt:lpstr>Apresentação do PowerPoint</vt:lpstr>
      <vt:lpstr>FORTALECIMENTO MUSCULAR</vt:lpstr>
      <vt:lpstr>FORTALECIMENTO MUSCULAR</vt:lpstr>
      <vt:lpstr>FORTALECIMENTO MUSCULAR</vt:lpstr>
      <vt:lpstr>FORTALECIMENTO MUSCULAR</vt:lpstr>
      <vt:lpstr>Apresentação do PowerPoint</vt:lpstr>
      <vt:lpstr>FORTALECIMENTO MUSCULAR</vt:lpstr>
      <vt:lpstr>FORTALECIMENTO MUSCULAR</vt:lpstr>
      <vt:lpstr>FORTALECIMENTO MUSCULAR</vt:lpstr>
      <vt:lpstr>FORTALECIMENTO MUSCULAR</vt:lpstr>
      <vt:lpstr>Apresentação do PowerPoint</vt:lpstr>
      <vt:lpstr>Apresentação do PowerPoint</vt:lpstr>
      <vt:lpstr>Apresentação do PowerPoint</vt:lpstr>
      <vt:lpstr>Apresentação do PowerPoint</vt:lpstr>
      <vt:lpstr>ELETROLIPOLISE</vt:lpstr>
      <vt:lpstr>ELETROLIPOLISE </vt:lpstr>
      <vt:lpstr>ELETROLIPOLISE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ELETROTERAPIA</dc:title>
  <dc:creator>Karine</dc:creator>
  <cp:lastModifiedBy>mariana justi</cp:lastModifiedBy>
  <cp:revision>248</cp:revision>
  <dcterms:created xsi:type="dcterms:W3CDTF">2016-08-07T17:01:39Z</dcterms:created>
  <dcterms:modified xsi:type="dcterms:W3CDTF">2025-08-06T19:04:44Z</dcterms:modified>
</cp:coreProperties>
</file>