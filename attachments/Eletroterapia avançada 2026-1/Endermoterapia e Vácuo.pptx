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37" r:id="rId1"/>
  </p:sldMasterIdLst>
  <p:sldIdLst>
    <p:sldId id="256" r:id="rId2"/>
    <p:sldId id="327" r:id="rId3"/>
    <p:sldId id="328" r:id="rId4"/>
    <p:sldId id="329" r:id="rId5"/>
    <p:sldId id="257" r:id="rId6"/>
    <p:sldId id="258" r:id="rId7"/>
    <p:sldId id="260" r:id="rId8"/>
    <p:sldId id="261" r:id="rId9"/>
    <p:sldId id="262" r:id="rId10"/>
    <p:sldId id="263" r:id="rId11"/>
    <p:sldId id="266" r:id="rId12"/>
    <p:sldId id="272" r:id="rId13"/>
    <p:sldId id="267" r:id="rId14"/>
    <p:sldId id="268" r:id="rId15"/>
    <p:sldId id="330" r:id="rId16"/>
    <p:sldId id="331" r:id="rId17"/>
    <p:sldId id="332" r:id="rId18"/>
    <p:sldId id="273" r:id="rId19"/>
    <p:sldId id="276" r:id="rId20"/>
    <p:sldId id="280" r:id="rId21"/>
    <p:sldId id="282" r:id="rId22"/>
    <p:sldId id="283" r:id="rId23"/>
    <p:sldId id="284" r:id="rId24"/>
    <p:sldId id="326" r:id="rId25"/>
    <p:sldId id="287" r:id="rId26"/>
    <p:sldId id="289" r:id="rId27"/>
    <p:sldId id="293" r:id="rId28"/>
    <p:sldId id="303" r:id="rId29"/>
    <p:sldId id="304" r:id="rId30"/>
    <p:sldId id="307" r:id="rId31"/>
    <p:sldId id="308" r:id="rId32"/>
    <p:sldId id="314" r:id="rId33"/>
    <p:sldId id="315" r:id="rId34"/>
    <p:sldId id="325" r:id="rId35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2B0C5-B6C9-C74D-3D5F-A42C766A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E38A47-F5FB-68E2-0415-86989DB50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443E1E-47C7-D6D1-D58C-73CE7BE7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9F34A0-D774-9B93-3673-7109F2D7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00943E-3053-3551-ECD1-08E63594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35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90DF0-46A1-80C0-B6D1-DAACC2C4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023220-F7E2-6ABC-5058-DC16A9C8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1610D0-7B15-E486-62E0-CD80FB64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04B4E2-D6FA-1069-808F-CDC25077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D2CC72-F065-34C5-8023-B14E0ABC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546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DB0D8-D2BD-0A70-B383-B8D1093A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D1B690-A6B5-9658-1A74-787D96B3B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392009-50DF-845F-4D65-0FF18C4B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5425DF-27C0-7CE6-2D03-2C2DA745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5A5725-2B12-5EB4-59E3-10D6D8CB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76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76EBF-F061-4DE9-C4C9-D3FB5012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72ED3F-09D2-D107-330F-CAD7FA3E8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63836B-41E2-E30D-F732-8FF28E4F5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4764CC-748F-F630-E7EE-E65935C6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3EC7AD-6487-8740-148B-2A9072DA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A9EBDE-E32E-04A8-EC5A-7FAC8E953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82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5E9AB-36B1-8D2E-ED1F-A17D7385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7DE9FA-E6FB-6661-6C9B-071BC2CDB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2B2EEC-0D31-8BAB-E92D-87390F43D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18E01D-01EF-8F66-26F9-10E5ED320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627C81-6B48-A584-7DC2-8E7872485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C2E874-369D-C92E-2500-13FD1BC5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BC2BBC-16B7-C58A-684E-82FD08CE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3B69E2-21AB-865E-97C9-D9CFE9BB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29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19F57-4F98-7EB4-F7F2-A0782E16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0A5C46-84D2-1BE8-A1B2-92AFFBCA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86019C-0038-1E5D-F07E-719A6BC1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CD9733-6788-1875-EB17-9EA62205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5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AA8BD5-697F-0B45-A509-54232370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797CA3-AE71-C9BA-C371-25B2B939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5FE958-3463-5241-4AC4-D64D7C4C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3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C29F3-8637-EC5D-02C1-999C3828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84F108-5C73-B913-44B4-9C514CE0B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A6E950-5943-90D6-B61C-0B5AC501D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4D8F6B-EB24-2014-1A62-541B8802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B044DB-80CD-6B8C-CDD0-FA55B9A1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EF1E85-3F05-EFA3-E537-B743FED4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10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1EFD3-6380-57C1-6207-066C2F44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7FBB0F-64E9-810B-D03F-CF6AA17E8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DE009A-99F6-7623-100C-CEF36E410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FADB9C-4D02-8624-3FF3-89B0B506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2054F9-8401-56AA-DFBF-46C3A2E6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9810E9-4955-A8AF-6EBF-048DEC7C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70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8DE51-6E12-8088-2955-4C468499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4D0B91-6204-77D1-CE4D-D6CE27E3B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5D6B8E-C2E7-7ADC-E8F4-0E66090B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87CD1-796D-B9F5-86B5-47A2C226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B3AA95-A6D5-8203-6216-C47A43A7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39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684B6E-150A-E274-82C0-E6D058A68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48C3DF-A3F7-B578-444C-650BEA871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1CCDA6-8944-B813-3C48-CFD1397A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AD6ED5-4470-CD95-4682-47D3BE49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98B4C-B0DA-CE3C-EB8E-1EC777E4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663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9123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67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BCA7156-7998-658B-4BCB-3E17B115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C9BF8B-6710-7BE1-FFAE-C84E95FC0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7F91A3-FE62-A95F-C53F-BAF219263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EC0FA4-485C-9B66-27F8-29F9AECFE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6496A0-547C-FB84-29A4-5528381C0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01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A84A9A0-CF34-4696-B366-C2ACA062D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748584-D730-4B2F-B25F-F6E87848A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DBB9697-6E40-258A-C341-BDEA94AFB2C0}"/>
              </a:ext>
            </a:extLst>
          </p:cNvPr>
          <p:cNvSpPr txBox="1"/>
          <p:nvPr/>
        </p:nvSpPr>
        <p:spPr>
          <a:xfrm>
            <a:off x="232117" y="3167389"/>
            <a:ext cx="891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ENDERMOTERAPIA- VACUOTERAPIA- ELETROSUCÇÃO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A76EC36-0579-657F-B083-53AE9CE87B1B}"/>
              </a:ext>
            </a:extLst>
          </p:cNvPr>
          <p:cNvSpPr txBox="1"/>
          <p:nvPr/>
        </p:nvSpPr>
        <p:spPr>
          <a:xfrm>
            <a:off x="4572000" y="5334000"/>
            <a:ext cx="419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Disciplina: Eletroterapia</a:t>
            </a:r>
          </a:p>
          <a:p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Profª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Esp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: Mariana Macedo Justi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dermoterapia o que é? Onde fazer em Bauru?">
            <a:extLst>
              <a:ext uri="{FF2B5EF4-FFF2-40B4-BE49-F238E27FC236}">
                <a16:creationId xmlns:a16="http://schemas.microsoft.com/office/drawing/2014/main" id="{09341A6E-AE0D-B9F1-2AC9-1C541C5DD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4" y="990600"/>
            <a:ext cx="8697686" cy="487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49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ga adeus às estrias! | HS Med | Aparelhos de Estética, Fisioterapia e  Saúde">
            <a:extLst>
              <a:ext uri="{FF2B5EF4-FFF2-40B4-BE49-F238E27FC236}">
                <a16:creationId xmlns:a16="http://schemas.microsoft.com/office/drawing/2014/main" id="{FC7E9617-3495-9AAF-69FB-53AA87F87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"/>
            <a:ext cx="66294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302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parelho de peeling: 3 equipamentos para conhecer antes de comprar">
            <a:extLst>
              <a:ext uri="{FF2B5EF4-FFF2-40B4-BE49-F238E27FC236}">
                <a16:creationId xmlns:a16="http://schemas.microsoft.com/office/drawing/2014/main" id="{79F04ED0-9A71-C610-54E7-EDE2DE4A4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77" y="1066799"/>
            <a:ext cx="8841523" cy="47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90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00" y="643001"/>
            <a:ext cx="8329930" cy="5643880"/>
          </a:xfrm>
          <a:custGeom>
            <a:avLst/>
            <a:gdLst/>
            <a:ahLst/>
            <a:cxnLst/>
            <a:rect l="l" t="t" r="r" b="b"/>
            <a:pathLst>
              <a:path w="8329930" h="5643880">
                <a:moveTo>
                  <a:pt x="0" y="5643499"/>
                </a:moveTo>
                <a:lnTo>
                  <a:pt x="8329676" y="5643499"/>
                </a:lnTo>
                <a:lnTo>
                  <a:pt x="8329676" y="0"/>
                </a:lnTo>
                <a:lnTo>
                  <a:pt x="0" y="0"/>
                </a:lnTo>
                <a:lnTo>
                  <a:pt x="0" y="5643499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417" y="1034478"/>
            <a:ext cx="8028940" cy="3659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indent="-411480" algn="just">
              <a:lnSpc>
                <a:spcPts val="2730"/>
              </a:lnSpc>
              <a:spcBef>
                <a:spcPts val="100"/>
              </a:spcBef>
              <a:buClr>
                <a:srgbClr val="F8F8F8"/>
              </a:buClr>
              <a:buSzPct val="64583"/>
              <a:buChar char="-"/>
              <a:tabLst>
                <a:tab pos="423545" algn="l"/>
                <a:tab pos="424180" algn="l"/>
              </a:tabLst>
            </a:pPr>
            <a:r>
              <a:rPr sz="2400" dirty="0">
                <a:latin typeface="Arial"/>
                <a:cs typeface="Arial"/>
              </a:rPr>
              <a:t>Técnica não </a:t>
            </a:r>
            <a:r>
              <a:rPr sz="2400" spc="-5" dirty="0">
                <a:latin typeface="Arial"/>
                <a:cs typeface="Arial"/>
              </a:rPr>
              <a:t>invasiva, </a:t>
            </a:r>
            <a:r>
              <a:rPr sz="2400" dirty="0">
                <a:latin typeface="Arial"/>
                <a:cs typeface="Arial"/>
              </a:rPr>
              <a:t>que utiliza-se de aparelhos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</a:p>
          <a:p>
            <a:pPr marL="424180" algn="just">
              <a:lnSpc>
                <a:spcPts val="2730"/>
              </a:lnSpc>
            </a:pPr>
            <a:r>
              <a:rPr sz="2400" spc="-5" dirty="0">
                <a:latin typeface="Arial"/>
                <a:cs typeface="Arial"/>
              </a:rPr>
              <a:t>vácuo provocando uma </a:t>
            </a:r>
            <a:r>
              <a:rPr sz="2400" dirty="0">
                <a:latin typeface="Arial"/>
                <a:cs typeface="Arial"/>
              </a:rPr>
              <a:t>pressão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 err="1">
                <a:latin typeface="Arial"/>
                <a:cs typeface="Arial"/>
              </a:rPr>
              <a:t>negativa</a:t>
            </a:r>
            <a:r>
              <a:rPr sz="2400" spc="-5" dirty="0">
                <a:latin typeface="Arial"/>
                <a:cs typeface="Arial"/>
              </a:rPr>
              <a:t>.</a:t>
            </a:r>
            <a:endParaRPr lang="pt-BR" sz="2400" spc="-5" dirty="0">
              <a:latin typeface="Arial"/>
              <a:cs typeface="Arial"/>
            </a:endParaRPr>
          </a:p>
          <a:p>
            <a:pPr marL="424180" algn="just">
              <a:lnSpc>
                <a:spcPts val="2730"/>
              </a:lnSpc>
            </a:pPr>
            <a:r>
              <a:rPr sz="2400" dirty="0">
                <a:latin typeface="Arial"/>
                <a:cs typeface="Arial"/>
              </a:rPr>
              <a:t>A massagem produz estimulação mecânica dos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tecidos,  por aplicação </a:t>
            </a:r>
            <a:r>
              <a:rPr sz="2400" spc="-5" dirty="0">
                <a:latin typeface="Arial"/>
                <a:cs typeface="Arial"/>
              </a:rPr>
              <a:t>rítmica </a:t>
            </a:r>
            <a:r>
              <a:rPr sz="2400" dirty="0">
                <a:latin typeface="Arial"/>
                <a:cs typeface="Arial"/>
              </a:rPr>
              <a:t>de pressão e estiramento,  estimulando </a:t>
            </a:r>
            <a:r>
              <a:rPr sz="2400" spc="-5" dirty="0">
                <a:latin typeface="Arial"/>
                <a:cs typeface="Arial"/>
              </a:rPr>
              <a:t>as </a:t>
            </a:r>
            <a:r>
              <a:rPr sz="2400" dirty="0">
                <a:latin typeface="Arial"/>
                <a:cs typeface="Arial"/>
              </a:rPr>
              <a:t>redes </a:t>
            </a:r>
            <a:r>
              <a:rPr sz="2400" spc="-5" dirty="0">
                <a:latin typeface="Arial"/>
                <a:cs typeface="Arial"/>
              </a:rPr>
              <a:t>de </a:t>
            </a:r>
            <a:r>
              <a:rPr sz="2400" dirty="0">
                <a:latin typeface="Arial"/>
                <a:cs typeface="Arial"/>
              </a:rPr>
              <a:t>receptores </a:t>
            </a:r>
            <a:r>
              <a:rPr sz="2400" spc="-5" dirty="0">
                <a:latin typeface="Arial"/>
                <a:cs typeface="Arial"/>
              </a:rPr>
              <a:t>nervosos </a:t>
            </a:r>
            <a:r>
              <a:rPr sz="2400" dirty="0">
                <a:latin typeface="Arial"/>
                <a:cs typeface="Arial"/>
              </a:rPr>
              <a:t>fazendo  com que haja </a:t>
            </a:r>
            <a:r>
              <a:rPr sz="2400" spc="-5" dirty="0">
                <a:latin typeface="Arial"/>
                <a:cs typeface="Arial"/>
              </a:rPr>
              <a:t>várias </a:t>
            </a:r>
            <a:r>
              <a:rPr sz="2400" dirty="0">
                <a:latin typeface="Arial"/>
                <a:cs typeface="Arial"/>
              </a:rPr>
              <a:t>respostas (mecânicas e químicas)  como:</a:t>
            </a:r>
          </a:p>
          <a:p>
            <a:pPr marL="424180" indent="-411480" algn="just">
              <a:lnSpc>
                <a:spcPct val="100000"/>
              </a:lnSpc>
              <a:spcBef>
                <a:spcPts val="284"/>
              </a:spcBef>
              <a:buClr>
                <a:srgbClr val="F8F8F8"/>
              </a:buClr>
              <a:buSzPct val="64583"/>
              <a:buChar char="-"/>
              <a:tabLst>
                <a:tab pos="423545" algn="l"/>
                <a:tab pos="424180" algn="l"/>
              </a:tabLst>
            </a:pPr>
            <a:r>
              <a:rPr sz="2400" dirty="0">
                <a:latin typeface="Arial"/>
                <a:cs typeface="Arial"/>
              </a:rPr>
              <a:t>- aumento </a:t>
            </a:r>
            <a:r>
              <a:rPr sz="2400" spc="-5" dirty="0">
                <a:latin typeface="Arial"/>
                <a:cs typeface="Arial"/>
              </a:rPr>
              <a:t>da </a:t>
            </a:r>
            <a:r>
              <a:rPr sz="2400" dirty="0">
                <a:latin typeface="Arial"/>
                <a:cs typeface="Arial"/>
              </a:rPr>
              <a:t>perfusão </a:t>
            </a:r>
            <a:r>
              <a:rPr sz="2400" spc="-5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metabolismo dos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tecidos,</a:t>
            </a:r>
          </a:p>
          <a:p>
            <a:pPr marL="424180" indent="-411480" algn="just">
              <a:lnSpc>
                <a:spcPct val="100000"/>
              </a:lnSpc>
              <a:spcBef>
                <a:spcPts val="300"/>
              </a:spcBef>
              <a:buClr>
                <a:srgbClr val="F8F8F8"/>
              </a:buClr>
              <a:buSzPct val="64583"/>
              <a:buChar char="-"/>
              <a:tabLst>
                <a:tab pos="423545" algn="l"/>
                <a:tab pos="424180" algn="l"/>
              </a:tabLst>
            </a:pPr>
            <a:r>
              <a:rPr sz="2400" dirty="0">
                <a:latin typeface="Arial"/>
                <a:cs typeface="Arial"/>
              </a:rPr>
              <a:t>- </a:t>
            </a:r>
            <a:r>
              <a:rPr sz="2400" spc="-5" dirty="0">
                <a:latin typeface="Arial"/>
                <a:cs typeface="Arial"/>
              </a:rPr>
              <a:t>auxílio da </a:t>
            </a:r>
            <a:r>
              <a:rPr sz="2400" dirty="0">
                <a:latin typeface="Arial"/>
                <a:cs typeface="Arial"/>
              </a:rPr>
              <a:t>reabsorção dos restos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metabólicos,</a:t>
            </a:r>
          </a:p>
          <a:p>
            <a:pPr marL="424180" indent="-411480" algn="just">
              <a:lnSpc>
                <a:spcPct val="100000"/>
              </a:lnSpc>
              <a:spcBef>
                <a:spcPts val="280"/>
              </a:spcBef>
              <a:buClr>
                <a:srgbClr val="F8F8F8"/>
              </a:buClr>
              <a:buSzPct val="64583"/>
              <a:buChar char="-"/>
              <a:tabLst>
                <a:tab pos="423545" algn="l"/>
                <a:tab pos="424180" algn="l"/>
              </a:tabLst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vasodilatação.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6712" y="231838"/>
            <a:ext cx="8301355" cy="6240780"/>
            <a:chOff x="366712" y="231838"/>
            <a:chExt cx="8301355" cy="6240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287" y="260286"/>
              <a:ext cx="8243824" cy="61833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1000" y="246125"/>
              <a:ext cx="8272780" cy="6212205"/>
            </a:xfrm>
            <a:custGeom>
              <a:avLst/>
              <a:gdLst/>
              <a:ahLst/>
              <a:cxnLst/>
              <a:rect l="l" t="t" r="r" b="b"/>
              <a:pathLst>
                <a:path w="8272780" h="6212205">
                  <a:moveTo>
                    <a:pt x="0" y="6211824"/>
                  </a:moveTo>
                  <a:lnTo>
                    <a:pt x="8272399" y="6211824"/>
                  </a:lnTo>
                  <a:lnTo>
                    <a:pt x="8272399" y="0"/>
                  </a:lnTo>
                  <a:lnTo>
                    <a:pt x="0" y="0"/>
                  </a:lnTo>
                  <a:lnTo>
                    <a:pt x="0" y="6211824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71512" y="173736"/>
            <a:ext cx="7800975" cy="965835"/>
            <a:chOff x="671512" y="173736"/>
            <a:chExt cx="7800975" cy="965835"/>
          </a:xfrm>
        </p:grpSpPr>
        <p:sp>
          <p:nvSpPr>
            <p:cNvPr id="4" name="object 4"/>
            <p:cNvSpPr/>
            <p:nvPr/>
          </p:nvSpPr>
          <p:spPr>
            <a:xfrm>
              <a:off x="685800" y="188887"/>
              <a:ext cx="7772400" cy="935990"/>
            </a:xfrm>
            <a:custGeom>
              <a:avLst/>
              <a:gdLst/>
              <a:ahLst/>
              <a:cxnLst/>
              <a:rect l="l" t="t" r="r" b="b"/>
              <a:pathLst>
                <a:path w="7772400" h="935990">
                  <a:moveTo>
                    <a:pt x="0" y="935824"/>
                  </a:moveTo>
                  <a:lnTo>
                    <a:pt x="7772400" y="93582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935824"/>
                  </a:lnTo>
                  <a:close/>
                </a:path>
              </a:pathLst>
            </a:custGeom>
            <a:ln w="285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119" y="173736"/>
              <a:ext cx="5079491" cy="8000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1268475"/>
            <a:ext cx="9144000" cy="5589905"/>
          </a:xfrm>
          <a:custGeom>
            <a:avLst/>
            <a:gdLst/>
            <a:ahLst/>
            <a:cxnLst/>
            <a:rect l="l" t="t" r="r" b="b"/>
            <a:pathLst>
              <a:path w="9144000" h="5589905">
                <a:moveTo>
                  <a:pt x="0" y="5589524"/>
                </a:moveTo>
                <a:lnTo>
                  <a:pt x="9144000" y="5589524"/>
                </a:lnTo>
                <a:lnTo>
                  <a:pt x="9144000" y="0"/>
                </a:lnTo>
                <a:lnTo>
                  <a:pt x="0" y="0"/>
                </a:lnTo>
                <a:lnTo>
                  <a:pt x="0" y="5589524"/>
                </a:lnTo>
                <a:close/>
              </a:path>
            </a:pathLst>
          </a:custGeom>
          <a:ln w="2857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5900" y="1220723"/>
            <a:ext cx="8829040" cy="55143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24180" marR="414020" indent="-412115">
              <a:lnSpc>
                <a:spcPct val="79900"/>
              </a:lnSpc>
              <a:spcBef>
                <a:spcPts val="675"/>
              </a:spcBef>
              <a:buClr>
                <a:srgbClr val="F8F8F8"/>
              </a:buClr>
              <a:buSzPct val="64583"/>
              <a:buFont typeface="Wingdings"/>
              <a:buChar char=""/>
              <a:tabLst>
                <a:tab pos="424180" algn="l"/>
                <a:tab pos="424815" algn="l"/>
              </a:tabLst>
            </a:pPr>
            <a:r>
              <a:rPr sz="2400" b="1" spc="-5" dirty="0">
                <a:latin typeface="Arial"/>
                <a:cs typeface="Arial"/>
              </a:rPr>
              <a:t>Hipervascularização: </a:t>
            </a:r>
            <a:r>
              <a:rPr sz="2400" dirty="0">
                <a:latin typeface="Arial"/>
                <a:cs typeface="Arial"/>
              </a:rPr>
              <a:t>incremento </a:t>
            </a:r>
            <a:r>
              <a:rPr sz="2400" spc="-5" dirty="0">
                <a:latin typeface="Arial"/>
                <a:cs typeface="Arial"/>
              </a:rPr>
              <a:t>da </a:t>
            </a:r>
            <a:r>
              <a:rPr sz="2400" dirty="0">
                <a:latin typeface="Arial"/>
                <a:cs typeface="Arial"/>
              </a:rPr>
              <a:t>circulação superficial  pela ação </a:t>
            </a:r>
            <a:r>
              <a:rPr sz="2400" spc="-5" dirty="0">
                <a:latin typeface="Arial"/>
                <a:cs typeface="Arial"/>
              </a:rPr>
              <a:t>do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vácuo.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8F8F8"/>
              </a:buClr>
              <a:buFont typeface="Wingdings"/>
              <a:buChar char=""/>
            </a:pPr>
            <a:endParaRPr sz="2500">
              <a:latin typeface="Arial"/>
              <a:cs typeface="Arial"/>
            </a:endParaRPr>
          </a:p>
          <a:p>
            <a:pPr marL="424180" indent="-412115">
              <a:lnSpc>
                <a:spcPts val="2590"/>
              </a:lnSpc>
              <a:buClr>
                <a:srgbClr val="F8F8F8"/>
              </a:buClr>
              <a:buSzPct val="64583"/>
              <a:buFont typeface="Wingdings"/>
              <a:buChar char=""/>
              <a:tabLst>
                <a:tab pos="424180" algn="l"/>
                <a:tab pos="424815" algn="l"/>
              </a:tabLst>
            </a:pPr>
            <a:r>
              <a:rPr sz="2400" b="1" spc="-5" dirty="0">
                <a:latin typeface="Symbol"/>
                <a:cs typeface="Symbol"/>
              </a:rPr>
              <a:t>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Arial"/>
                <a:cs typeface="Arial"/>
              </a:rPr>
              <a:t>da </a:t>
            </a:r>
            <a:r>
              <a:rPr sz="2400" b="1" spc="-10" dirty="0">
                <a:latin typeface="Arial"/>
                <a:cs typeface="Arial"/>
              </a:rPr>
              <a:t>atividade </a:t>
            </a:r>
            <a:r>
              <a:rPr sz="2400" b="1" spc="-5" dirty="0">
                <a:latin typeface="Arial"/>
                <a:cs typeface="Arial"/>
              </a:rPr>
              <a:t>linfática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desde </a:t>
            </a:r>
            <a:r>
              <a:rPr sz="2400" spc="-5" dirty="0">
                <a:latin typeface="Arial"/>
                <a:cs typeface="Arial"/>
              </a:rPr>
              <a:t>que </a:t>
            </a:r>
            <a:r>
              <a:rPr sz="2400" dirty="0">
                <a:latin typeface="Arial"/>
                <a:cs typeface="Arial"/>
              </a:rPr>
              <a:t>respeitando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fisiologia</a:t>
            </a:r>
            <a:endParaRPr sz="2400">
              <a:latin typeface="Arial"/>
              <a:cs typeface="Arial"/>
            </a:endParaRPr>
          </a:p>
          <a:p>
            <a:pPr marL="424180">
              <a:lnSpc>
                <a:spcPts val="2590"/>
              </a:lnSpc>
            </a:pPr>
            <a:r>
              <a:rPr sz="2400" dirty="0">
                <a:latin typeface="Arial"/>
                <a:cs typeface="Arial"/>
              </a:rPr>
              <a:t>do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424180" indent="-412115">
              <a:lnSpc>
                <a:spcPts val="2600"/>
              </a:lnSpc>
              <a:spcBef>
                <a:spcPts val="5"/>
              </a:spcBef>
              <a:buClr>
                <a:srgbClr val="F8F8F8"/>
              </a:buClr>
              <a:buSzPct val="64583"/>
              <a:buFont typeface="Wingdings"/>
              <a:buChar char=""/>
              <a:tabLst>
                <a:tab pos="424180" algn="l"/>
                <a:tab pos="424815" algn="l"/>
              </a:tabLst>
            </a:pPr>
            <a:r>
              <a:rPr sz="2400" b="1" spc="-5" dirty="0">
                <a:latin typeface="Arial"/>
                <a:cs typeface="Arial"/>
              </a:rPr>
              <a:t>Melhora </a:t>
            </a:r>
            <a:r>
              <a:rPr sz="2400" b="1" dirty="0">
                <a:latin typeface="Arial"/>
                <a:cs typeface="Arial"/>
              </a:rPr>
              <a:t>do sistema </a:t>
            </a:r>
            <a:r>
              <a:rPr sz="2400" b="1" spc="-5" dirty="0">
                <a:latin typeface="Arial"/>
                <a:cs typeface="Arial"/>
              </a:rPr>
              <a:t>imunológico: </a:t>
            </a:r>
            <a:r>
              <a:rPr sz="2400" dirty="0">
                <a:latin typeface="Arial"/>
                <a:cs typeface="Arial"/>
              </a:rPr>
              <a:t>pela maior ação </a:t>
            </a:r>
            <a:r>
              <a:rPr sz="2400" spc="-5" dirty="0">
                <a:latin typeface="Arial"/>
                <a:cs typeface="Arial"/>
              </a:rPr>
              <a:t>do </a:t>
            </a:r>
            <a:r>
              <a:rPr sz="2400" spc="-10" dirty="0">
                <a:latin typeface="Arial"/>
                <a:cs typeface="Arial"/>
              </a:rPr>
              <a:t>SL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 marL="424180">
              <a:lnSpc>
                <a:spcPts val="2600"/>
              </a:lnSpc>
            </a:pPr>
            <a:r>
              <a:rPr sz="2400" dirty="0">
                <a:latin typeface="Arial"/>
                <a:cs typeface="Arial"/>
              </a:rPr>
              <a:t>estimulação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linfonodos.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424180" indent="-412115">
              <a:lnSpc>
                <a:spcPts val="2590"/>
              </a:lnSpc>
              <a:buClr>
                <a:srgbClr val="F8F8F8"/>
              </a:buClr>
              <a:buSzPct val="64583"/>
              <a:buFont typeface="Wingdings"/>
              <a:buChar char=""/>
              <a:tabLst>
                <a:tab pos="424180" algn="l"/>
                <a:tab pos="424815" algn="l"/>
              </a:tabLst>
            </a:pPr>
            <a:r>
              <a:rPr sz="2400" b="1" dirty="0">
                <a:latin typeface="Arial"/>
                <a:cs typeface="Arial"/>
              </a:rPr>
              <a:t>Relaxamento</a:t>
            </a:r>
            <a:r>
              <a:rPr sz="2400" dirty="0">
                <a:latin typeface="Arial"/>
                <a:cs typeface="Arial"/>
              </a:rPr>
              <a:t>: pela ação da massagem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proporcionando</a:t>
            </a:r>
            <a:endParaRPr sz="2400">
              <a:latin typeface="Arial"/>
              <a:cs typeface="Arial"/>
            </a:endParaRPr>
          </a:p>
          <a:p>
            <a:pPr marL="424180">
              <a:lnSpc>
                <a:spcPts val="2590"/>
              </a:lnSpc>
            </a:pPr>
            <a:r>
              <a:rPr sz="2400" dirty="0">
                <a:latin typeface="Arial"/>
                <a:cs typeface="Arial"/>
              </a:rPr>
              <a:t>sensação </a:t>
            </a:r>
            <a:r>
              <a:rPr sz="2400" spc="-5" dirty="0">
                <a:latin typeface="Arial"/>
                <a:cs typeface="Arial"/>
              </a:rPr>
              <a:t>de </a:t>
            </a:r>
            <a:r>
              <a:rPr sz="2400" dirty="0">
                <a:latin typeface="Arial"/>
                <a:cs typeface="Arial"/>
              </a:rPr>
              <a:t>bem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estar.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424180" indent="-412115">
              <a:lnSpc>
                <a:spcPct val="100000"/>
              </a:lnSpc>
              <a:spcBef>
                <a:spcPts val="5"/>
              </a:spcBef>
              <a:buClr>
                <a:srgbClr val="F8F8F8"/>
              </a:buClr>
              <a:buSzPct val="64583"/>
              <a:buFont typeface="Wingdings"/>
              <a:buChar char=""/>
              <a:tabLst>
                <a:tab pos="424180" algn="l"/>
                <a:tab pos="424815" algn="l"/>
              </a:tabLst>
            </a:pPr>
            <a:r>
              <a:rPr sz="2400" b="1" spc="-5" dirty="0">
                <a:latin typeface="Arial"/>
                <a:cs typeface="Arial"/>
              </a:rPr>
              <a:t>Redução de edemas </a:t>
            </a:r>
            <a:r>
              <a:rPr sz="2400" b="1" dirty="0">
                <a:latin typeface="Arial"/>
                <a:cs typeface="Arial"/>
              </a:rPr>
              <a:t>e hematomas</a:t>
            </a:r>
            <a:r>
              <a:rPr sz="2400" dirty="0">
                <a:latin typeface="Arial"/>
                <a:cs typeface="Arial"/>
              </a:rPr>
              <a:t>: por ação no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8F8F8"/>
              </a:buClr>
              <a:buFont typeface="Wingdings"/>
              <a:buChar char=""/>
            </a:pPr>
            <a:endParaRPr sz="2500">
              <a:latin typeface="Arial"/>
              <a:cs typeface="Arial"/>
            </a:endParaRPr>
          </a:p>
          <a:p>
            <a:pPr marL="424180" indent="-412115">
              <a:lnSpc>
                <a:spcPts val="2590"/>
              </a:lnSpc>
              <a:buClr>
                <a:srgbClr val="F8F8F8"/>
              </a:buClr>
              <a:buSzPct val="64583"/>
              <a:buFont typeface="Wingdings"/>
              <a:buChar char=""/>
              <a:tabLst>
                <a:tab pos="424180" algn="l"/>
                <a:tab pos="424815" algn="l"/>
              </a:tabLst>
            </a:pPr>
            <a:r>
              <a:rPr sz="2400" b="1" dirty="0">
                <a:latin typeface="Symbol"/>
                <a:cs typeface="Symbol"/>
              </a:rPr>
              <a:t>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Arial"/>
                <a:cs typeface="Arial"/>
              </a:rPr>
              <a:t>do trofismo </a:t>
            </a:r>
            <a:r>
              <a:rPr sz="2400" b="1" dirty="0">
                <a:latin typeface="Arial"/>
                <a:cs typeface="Arial"/>
              </a:rPr>
              <a:t>e </a:t>
            </a:r>
            <a:r>
              <a:rPr sz="2400" b="1" spc="-5" dirty="0">
                <a:latin typeface="Arial"/>
                <a:cs typeface="Arial"/>
              </a:rPr>
              <a:t>tonificação tissular </a:t>
            </a:r>
            <a:r>
              <a:rPr sz="2400" dirty="0"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através </a:t>
            </a:r>
            <a:r>
              <a:rPr sz="2400" dirty="0">
                <a:latin typeface="Arial"/>
                <a:cs typeface="Arial"/>
              </a:rPr>
              <a:t>do </a:t>
            </a:r>
            <a:r>
              <a:rPr sz="2400" spc="-5" dirty="0">
                <a:latin typeface="Arial"/>
                <a:cs typeface="Arial"/>
              </a:rPr>
              <a:t>estímulo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  <a:p>
            <a:pPr marL="424180">
              <a:lnSpc>
                <a:spcPts val="2590"/>
              </a:lnSpc>
            </a:pPr>
            <a:r>
              <a:rPr sz="2400" dirty="0">
                <a:latin typeface="Arial"/>
                <a:cs typeface="Arial"/>
              </a:rPr>
              <a:t>fibras elásticas 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colágenas.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2912" y="260413"/>
            <a:ext cx="8258175" cy="1171575"/>
            <a:chOff x="442912" y="260413"/>
            <a:chExt cx="8258175" cy="1171575"/>
          </a:xfrm>
        </p:grpSpPr>
        <p:sp>
          <p:nvSpPr>
            <p:cNvPr id="4" name="object 4"/>
            <p:cNvSpPr/>
            <p:nvPr/>
          </p:nvSpPr>
          <p:spPr>
            <a:xfrm>
              <a:off x="457200" y="274700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285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7167" y="466343"/>
              <a:ext cx="4274820" cy="63093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57212" y="2824162"/>
            <a:ext cx="3898900" cy="2602230"/>
            <a:chOff x="557212" y="2824162"/>
            <a:chExt cx="3898900" cy="26022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787" y="2852675"/>
              <a:ext cx="3831525" cy="25446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1500" y="2838450"/>
              <a:ext cx="3870325" cy="2573655"/>
            </a:xfrm>
            <a:custGeom>
              <a:avLst/>
              <a:gdLst/>
              <a:ahLst/>
              <a:cxnLst/>
              <a:rect l="l" t="t" r="r" b="b"/>
              <a:pathLst>
                <a:path w="3870325" h="2573654">
                  <a:moveTo>
                    <a:pt x="0" y="2573274"/>
                  </a:moveTo>
                  <a:lnTo>
                    <a:pt x="3870325" y="2573274"/>
                  </a:lnTo>
                  <a:lnTo>
                    <a:pt x="3870325" y="0"/>
                  </a:lnTo>
                  <a:lnTo>
                    <a:pt x="0" y="0"/>
                  </a:lnTo>
                  <a:lnTo>
                    <a:pt x="0" y="2573274"/>
                  </a:lnTo>
                  <a:close/>
                </a:path>
              </a:pathLst>
            </a:custGeom>
            <a:ln w="285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759261" y="2824162"/>
            <a:ext cx="3756025" cy="2599055"/>
            <a:chOff x="4759261" y="2824162"/>
            <a:chExt cx="3756025" cy="259905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7899" y="2852700"/>
              <a:ext cx="3688985" cy="254147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73548" y="2838450"/>
              <a:ext cx="3727450" cy="2570480"/>
            </a:xfrm>
            <a:custGeom>
              <a:avLst/>
              <a:gdLst/>
              <a:ahLst/>
              <a:cxnLst/>
              <a:rect l="l" t="t" r="r" b="b"/>
              <a:pathLst>
                <a:path w="3727450" h="2570479">
                  <a:moveTo>
                    <a:pt x="0" y="2570099"/>
                  </a:moveTo>
                  <a:lnTo>
                    <a:pt x="3727450" y="2570099"/>
                  </a:lnTo>
                  <a:lnTo>
                    <a:pt x="3727450" y="0"/>
                  </a:lnTo>
                  <a:lnTo>
                    <a:pt x="0" y="0"/>
                  </a:lnTo>
                  <a:lnTo>
                    <a:pt x="0" y="2570099"/>
                  </a:lnTo>
                  <a:close/>
                </a:path>
              </a:pathLst>
            </a:custGeom>
            <a:ln w="285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357501" y="0"/>
            <a:ext cx="4358005" cy="6858000"/>
            <a:chOff x="2357501" y="0"/>
            <a:chExt cx="435800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0632" y="0"/>
              <a:ext cx="3410712" cy="8458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7501" y="84199"/>
              <a:ext cx="4357624" cy="6773797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187" y="4357596"/>
            <a:ext cx="1698960" cy="22225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86625" y="4267200"/>
            <a:ext cx="1584325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468" y="333756"/>
            <a:ext cx="8750808" cy="9646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5750" y="1857375"/>
            <a:ext cx="8501380" cy="3516629"/>
          </a:xfrm>
          <a:custGeom>
            <a:avLst/>
            <a:gdLst/>
            <a:ahLst/>
            <a:cxnLst/>
            <a:rect l="l" t="t" r="r" b="b"/>
            <a:pathLst>
              <a:path w="8501380" h="3516629">
                <a:moveTo>
                  <a:pt x="0" y="3516376"/>
                </a:moveTo>
                <a:lnTo>
                  <a:pt x="8501126" y="3516376"/>
                </a:lnTo>
                <a:lnTo>
                  <a:pt x="8501126" y="0"/>
                </a:lnTo>
                <a:lnTo>
                  <a:pt x="0" y="0"/>
                </a:lnTo>
                <a:lnTo>
                  <a:pt x="0" y="3516376"/>
                </a:lnTo>
                <a:close/>
              </a:path>
            </a:pathLst>
          </a:custGeom>
          <a:ln w="28574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1837753"/>
            <a:ext cx="8035925" cy="331342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12420" marR="332740" indent="-312420" algn="just">
              <a:lnSpc>
                <a:spcPct val="90200"/>
              </a:lnSpc>
              <a:spcBef>
                <a:spcPts val="430"/>
              </a:spcBef>
              <a:buChar char="•"/>
              <a:tabLst>
                <a:tab pos="312420" algn="l"/>
              </a:tabLst>
            </a:pPr>
            <a:r>
              <a:rPr sz="2800" dirty="0">
                <a:latin typeface="Arial"/>
                <a:cs typeface="Arial"/>
              </a:rPr>
              <a:t>Aplica-se em praticamente todas as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patologias  estéticas, </a:t>
            </a:r>
            <a:r>
              <a:rPr sz="2800" spc="-5" dirty="0">
                <a:latin typeface="Arial"/>
                <a:cs typeface="Arial"/>
              </a:rPr>
              <a:t>pois a </a:t>
            </a:r>
            <a:r>
              <a:rPr sz="2800" dirty="0">
                <a:latin typeface="Arial"/>
                <a:cs typeface="Arial"/>
              </a:rPr>
              <a:t>maioria </a:t>
            </a:r>
            <a:r>
              <a:rPr sz="2800" spc="-5" dirty="0">
                <a:latin typeface="Arial"/>
                <a:cs typeface="Arial"/>
              </a:rPr>
              <a:t>são </a:t>
            </a:r>
            <a:r>
              <a:rPr sz="2800" dirty="0">
                <a:latin typeface="Arial"/>
                <a:cs typeface="Arial"/>
              </a:rPr>
              <a:t>decorrentes </a:t>
            </a:r>
            <a:r>
              <a:rPr sz="2800" spc="-5" dirty="0">
                <a:latin typeface="Arial"/>
                <a:cs typeface="Arial"/>
              </a:rPr>
              <a:t>de  </a:t>
            </a:r>
            <a:r>
              <a:rPr sz="2800" dirty="0">
                <a:latin typeface="Arial"/>
                <a:cs typeface="Arial"/>
              </a:rPr>
              <a:t>distúrbios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circulatórios:</a:t>
            </a:r>
          </a:p>
          <a:p>
            <a:pPr marL="328295" marR="5080" indent="-328295" algn="just">
              <a:lnSpc>
                <a:spcPts val="3020"/>
              </a:lnSpc>
              <a:spcBef>
                <a:spcPts val="725"/>
              </a:spcBef>
              <a:buChar char="-"/>
              <a:tabLst>
                <a:tab pos="328295" algn="l"/>
              </a:tabLst>
            </a:pPr>
            <a:r>
              <a:rPr sz="2800" dirty="0">
                <a:latin typeface="Arial"/>
                <a:cs typeface="Arial"/>
              </a:rPr>
              <a:t>Envelhecimento </a:t>
            </a:r>
            <a:r>
              <a:rPr sz="2800" spc="-5" dirty="0">
                <a:latin typeface="Arial"/>
                <a:cs typeface="Arial"/>
              </a:rPr>
              <a:t>da </a:t>
            </a:r>
            <a:r>
              <a:rPr sz="2800" dirty="0">
                <a:latin typeface="Arial"/>
                <a:cs typeface="Arial"/>
              </a:rPr>
              <a:t>pele- diminuição </a:t>
            </a:r>
            <a:r>
              <a:rPr sz="2800" spc="-5" dirty="0">
                <a:latin typeface="Arial"/>
                <a:cs typeface="Arial"/>
              </a:rPr>
              <a:t>da </a:t>
            </a:r>
            <a:r>
              <a:rPr sz="2800" dirty="0">
                <a:latin typeface="Arial"/>
                <a:cs typeface="Arial"/>
              </a:rPr>
              <a:t>rede  </a:t>
            </a:r>
            <a:r>
              <a:rPr sz="2800" spc="-15" dirty="0">
                <a:latin typeface="Arial"/>
                <a:cs typeface="Arial"/>
              </a:rPr>
              <a:t>vascular, </a:t>
            </a:r>
            <a:r>
              <a:rPr sz="2800" dirty="0">
                <a:latin typeface="Arial"/>
                <a:cs typeface="Arial"/>
              </a:rPr>
              <a:t>elasticidade dos vasos 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metabolismo.</a:t>
            </a:r>
          </a:p>
          <a:p>
            <a:pPr marL="328295" marR="478790" indent="-328295" algn="just">
              <a:lnSpc>
                <a:spcPct val="89900"/>
              </a:lnSpc>
              <a:spcBef>
                <a:spcPts val="640"/>
              </a:spcBef>
              <a:buChar char="-"/>
              <a:tabLst>
                <a:tab pos="328295" algn="l"/>
              </a:tabLst>
            </a:pPr>
            <a:r>
              <a:rPr sz="2800" spc="-5" dirty="0">
                <a:latin typeface="Arial"/>
                <a:cs typeface="Arial"/>
              </a:rPr>
              <a:t>Hipotonia </a:t>
            </a:r>
            <a:r>
              <a:rPr sz="2800" dirty="0">
                <a:latin typeface="Arial"/>
                <a:cs typeface="Arial"/>
              </a:rPr>
              <a:t>Dérmica e a “celulite” , </a:t>
            </a:r>
            <a:r>
              <a:rPr sz="2800" spc="-5" dirty="0">
                <a:latin typeface="Arial"/>
                <a:cs typeface="Arial"/>
              </a:rPr>
              <a:t>apresentam  </a:t>
            </a:r>
            <a:r>
              <a:rPr sz="2800" dirty="0">
                <a:latin typeface="Arial"/>
                <a:cs typeface="Arial"/>
              </a:rPr>
              <a:t>componentes vasculares em menor ou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maior  grau </a:t>
            </a:r>
            <a:r>
              <a:rPr sz="2800" spc="-5" dirty="0">
                <a:latin typeface="Arial"/>
                <a:cs typeface="Arial"/>
              </a:rPr>
              <a:t>de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comprometimento.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78472" y="2231644"/>
            <a:ext cx="8187055" cy="3002280"/>
          </a:xfrm>
          <a:custGeom>
            <a:avLst/>
            <a:gdLst/>
            <a:ahLst/>
            <a:cxnLst/>
            <a:rect l="l" t="t" r="r" b="b"/>
            <a:pathLst>
              <a:path w="8187055" h="3002279">
                <a:moveTo>
                  <a:pt x="0" y="3001899"/>
                </a:moveTo>
                <a:lnTo>
                  <a:pt x="8186801" y="3001899"/>
                </a:lnTo>
                <a:lnTo>
                  <a:pt x="8186801" y="0"/>
                </a:lnTo>
                <a:lnTo>
                  <a:pt x="0" y="0"/>
                </a:lnTo>
                <a:lnTo>
                  <a:pt x="0" y="3001899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5967" y="1367409"/>
            <a:ext cx="7396480" cy="3529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366395" indent="-195580">
              <a:lnSpc>
                <a:spcPct val="100000"/>
              </a:lnSpc>
              <a:spcBef>
                <a:spcPts val="100"/>
              </a:spcBef>
              <a:buChar char="-"/>
              <a:tabLst>
                <a:tab pos="195580" algn="l"/>
              </a:tabLst>
            </a:pPr>
            <a:endParaRPr lang="pt-BR" sz="2400" spc="-15" dirty="0">
              <a:latin typeface="Arial"/>
              <a:cs typeface="Arial"/>
            </a:endParaRPr>
          </a:p>
          <a:p>
            <a:pPr marL="195580" marR="366395" indent="-195580">
              <a:lnSpc>
                <a:spcPct val="100000"/>
              </a:lnSpc>
              <a:spcBef>
                <a:spcPts val="100"/>
              </a:spcBef>
              <a:buChar char="-"/>
              <a:tabLst>
                <a:tab pos="195580" algn="l"/>
              </a:tabLst>
            </a:pPr>
            <a:endParaRPr lang="pt-BR" sz="2400" spc="-15" dirty="0">
              <a:latin typeface="Arial"/>
              <a:cs typeface="Arial"/>
            </a:endParaRPr>
          </a:p>
          <a:p>
            <a:pPr marL="195580" marR="366395" indent="-195580">
              <a:lnSpc>
                <a:spcPct val="100000"/>
              </a:lnSpc>
              <a:spcBef>
                <a:spcPts val="100"/>
              </a:spcBef>
              <a:buChar char="-"/>
              <a:tabLst>
                <a:tab pos="195580" algn="l"/>
              </a:tabLst>
            </a:pPr>
            <a:endParaRPr lang="pt-BR" sz="2400" spc="-15" dirty="0">
              <a:latin typeface="Arial"/>
              <a:cs typeface="Arial"/>
            </a:endParaRPr>
          </a:p>
          <a:p>
            <a:pPr marL="195580" marR="366395" indent="-195580">
              <a:lnSpc>
                <a:spcPct val="100000"/>
              </a:lnSpc>
              <a:spcBef>
                <a:spcPts val="100"/>
              </a:spcBef>
              <a:buChar char="-"/>
              <a:tabLst>
                <a:tab pos="195580" algn="l"/>
              </a:tabLst>
            </a:pPr>
            <a:r>
              <a:rPr sz="2400" spc="-15" dirty="0" err="1">
                <a:latin typeface="Arial"/>
                <a:cs typeface="Arial"/>
              </a:rPr>
              <a:t>Vasodilatação</a:t>
            </a:r>
            <a:r>
              <a:rPr sz="2400" spc="-15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promovendo uma </a:t>
            </a:r>
            <a:r>
              <a:rPr sz="2400" dirty="0">
                <a:latin typeface="Arial"/>
                <a:cs typeface="Arial"/>
              </a:rPr>
              <a:t>gisnástica para </a:t>
            </a:r>
            <a:r>
              <a:rPr sz="2400" spc="-5" dirty="0">
                <a:latin typeface="Arial"/>
                <a:cs typeface="Arial"/>
              </a:rPr>
              <a:t>o  </a:t>
            </a:r>
            <a:r>
              <a:rPr sz="2400" dirty="0">
                <a:latin typeface="Arial"/>
                <a:cs typeface="Arial"/>
              </a:rPr>
              <a:t>tecido </a:t>
            </a:r>
            <a:r>
              <a:rPr sz="2400" spc="-20" dirty="0">
                <a:latin typeface="Arial"/>
                <a:cs typeface="Arial"/>
              </a:rPr>
              <a:t>vascular, </a:t>
            </a:r>
            <a:r>
              <a:rPr sz="2400" dirty="0">
                <a:latin typeface="Arial"/>
                <a:cs typeface="Arial"/>
              </a:rPr>
              <a:t>aumentando </a:t>
            </a:r>
            <a:r>
              <a:rPr sz="2400" spc="-5" dirty="0">
                <a:latin typeface="Arial"/>
                <a:cs typeface="Arial"/>
              </a:rPr>
              <a:t>sua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elasticidade.</a:t>
            </a:r>
          </a:p>
          <a:p>
            <a:pPr marL="195580" marR="5080" indent="-195580">
              <a:lnSpc>
                <a:spcPct val="100000"/>
              </a:lnSpc>
              <a:spcBef>
                <a:spcPts val="580"/>
              </a:spcBef>
              <a:buChar char="-"/>
              <a:tabLst>
                <a:tab pos="195580" algn="l"/>
              </a:tabLst>
            </a:pPr>
            <a:r>
              <a:rPr sz="2400" dirty="0">
                <a:latin typeface="Arial"/>
                <a:cs typeface="Arial"/>
              </a:rPr>
              <a:t>Mobiliza líquidos </a:t>
            </a:r>
            <a:r>
              <a:rPr sz="2400" spc="-5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gazes estagnados, facilitando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sua  </a:t>
            </a:r>
            <a:r>
              <a:rPr sz="2400" dirty="0">
                <a:latin typeface="Arial"/>
                <a:cs typeface="Arial"/>
              </a:rPr>
              <a:t>reabsorção.</a:t>
            </a:r>
          </a:p>
          <a:p>
            <a:pPr marL="279400" marR="647065" indent="-279400">
              <a:lnSpc>
                <a:spcPct val="100000"/>
              </a:lnSpc>
              <a:spcBef>
                <a:spcPts val="565"/>
              </a:spcBef>
              <a:buChar char="-"/>
              <a:tabLst>
                <a:tab pos="279400" algn="l"/>
              </a:tabLst>
            </a:pPr>
            <a:r>
              <a:rPr sz="2400" spc="-5" dirty="0">
                <a:latin typeface="Arial"/>
                <a:cs typeface="Arial"/>
              </a:rPr>
              <a:t>Promove </a:t>
            </a:r>
            <a:r>
              <a:rPr sz="2400" dirty="0">
                <a:latin typeface="Arial"/>
                <a:cs typeface="Arial"/>
              </a:rPr>
              <a:t>hidratação, </a:t>
            </a:r>
            <a:r>
              <a:rPr sz="2400" spc="-5" dirty="0">
                <a:latin typeface="Arial"/>
                <a:cs typeface="Arial"/>
              </a:rPr>
              <a:t>oxigenação </a:t>
            </a:r>
            <a:r>
              <a:rPr sz="2400" dirty="0">
                <a:latin typeface="Arial"/>
                <a:cs typeface="Arial"/>
              </a:rPr>
              <a:t>e </a:t>
            </a:r>
            <a:r>
              <a:rPr sz="2400" spc="-5" dirty="0">
                <a:latin typeface="Arial"/>
                <a:cs typeface="Arial"/>
              </a:rPr>
              <a:t>“drenagem”,  favorecendo 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metabolismo.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CAEEDBFB-9632-3010-1B26-7FA1F8FDF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" y="274067"/>
            <a:ext cx="8750808" cy="9646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00" y="1981200"/>
            <a:ext cx="8115300" cy="2971800"/>
          </a:xfrm>
          <a:custGeom>
            <a:avLst/>
            <a:gdLst/>
            <a:ahLst/>
            <a:cxnLst/>
            <a:rect l="l" t="t" r="r" b="b"/>
            <a:pathLst>
              <a:path w="8115300" h="5554980">
                <a:moveTo>
                  <a:pt x="0" y="5554726"/>
                </a:moveTo>
                <a:lnTo>
                  <a:pt x="8115300" y="5554726"/>
                </a:lnTo>
                <a:lnTo>
                  <a:pt x="8115300" y="0"/>
                </a:lnTo>
                <a:lnTo>
                  <a:pt x="0" y="0"/>
                </a:lnTo>
                <a:lnTo>
                  <a:pt x="0" y="5554726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4897" y="2279396"/>
            <a:ext cx="6753859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8419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A massagem mecânica </a:t>
            </a:r>
            <a:r>
              <a:rPr sz="2800" spc="5" dirty="0">
                <a:latin typeface="Arial"/>
                <a:cs typeface="Arial"/>
              </a:rPr>
              <a:t>não-invasiva </a:t>
            </a:r>
            <a:r>
              <a:rPr sz="2800" spc="-5" dirty="0">
                <a:latin typeface="Arial"/>
                <a:cs typeface="Arial"/>
              </a:rPr>
              <a:t>do  </a:t>
            </a:r>
            <a:r>
              <a:rPr sz="2800" dirty="0">
                <a:latin typeface="Arial"/>
                <a:cs typeface="Arial"/>
              </a:rPr>
              <a:t>contorno corporal melhora a aparência da  </a:t>
            </a:r>
            <a:r>
              <a:rPr sz="2800" spc="-5" dirty="0">
                <a:latin typeface="Arial"/>
                <a:cs typeface="Arial"/>
              </a:rPr>
              <a:t>celulite e </a:t>
            </a:r>
            <a:r>
              <a:rPr sz="2800" dirty="0">
                <a:latin typeface="Arial"/>
                <a:cs typeface="Arial"/>
              </a:rPr>
              <a:t>altera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distribuição </a:t>
            </a:r>
            <a:r>
              <a:rPr sz="2800" spc="-5" dirty="0">
                <a:latin typeface="Arial"/>
                <a:cs typeface="Arial"/>
              </a:rPr>
              <a:t>da </a:t>
            </a:r>
            <a:r>
              <a:rPr sz="2800" dirty="0">
                <a:latin typeface="Arial"/>
                <a:cs typeface="Arial"/>
              </a:rPr>
              <a:t>gordura  subcutânea, por tracionar verticalmente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os  tecidos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conectivos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9068" y="6267767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(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CF53FDAB-4375-80BB-B3CA-C0D8909A7D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468" y="333756"/>
            <a:ext cx="8750808" cy="964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0" y="0"/>
            <a:ext cx="8748776" cy="65611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82612" y="592201"/>
            <a:ext cx="7797800" cy="5862955"/>
            <a:chOff x="582612" y="592201"/>
            <a:chExt cx="7797800" cy="5862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187" y="620776"/>
              <a:ext cx="7740650" cy="58054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6900" y="606488"/>
              <a:ext cx="7769225" cy="5834380"/>
            </a:xfrm>
            <a:custGeom>
              <a:avLst/>
              <a:gdLst/>
              <a:ahLst/>
              <a:cxnLst/>
              <a:rect l="l" t="t" r="r" b="b"/>
              <a:pathLst>
                <a:path w="7769225" h="5834380">
                  <a:moveTo>
                    <a:pt x="0" y="5833999"/>
                  </a:moveTo>
                  <a:lnTo>
                    <a:pt x="7769225" y="5833999"/>
                  </a:lnTo>
                  <a:lnTo>
                    <a:pt x="7769225" y="0"/>
                  </a:lnTo>
                  <a:lnTo>
                    <a:pt x="0" y="0"/>
                  </a:lnTo>
                  <a:lnTo>
                    <a:pt x="0" y="58339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ump Up mais Endermo - Vitória/ES - Guia Vitória Centro">
            <a:extLst>
              <a:ext uri="{FF2B5EF4-FFF2-40B4-BE49-F238E27FC236}">
                <a16:creationId xmlns:a16="http://schemas.microsoft.com/office/drawing/2014/main" id="{937AE71B-A3EE-F7E3-8B27-997F1D80A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"/>
            <a:ext cx="66294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82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A972A6F-1DA5-1C13-1009-453222F3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" y="1143000"/>
            <a:ext cx="9098731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06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it Ventosas Faciais 5 Ponteiras Para Estrias Vacuo Endermo">
            <a:extLst>
              <a:ext uri="{FF2B5EF4-FFF2-40B4-BE49-F238E27FC236}">
                <a16:creationId xmlns:a16="http://schemas.microsoft.com/office/drawing/2014/main" id="{94901FB3-4126-2BC2-DA82-9DC4EB6DA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48028"/>
            <a:ext cx="8218503" cy="693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698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361188"/>
            <a:ext cx="5715000" cy="80467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23850" y="1600200"/>
            <a:ext cx="8496300" cy="4829175"/>
          </a:xfrm>
          <a:custGeom>
            <a:avLst/>
            <a:gdLst/>
            <a:ahLst/>
            <a:cxnLst/>
            <a:rect l="l" t="t" r="r" b="b"/>
            <a:pathLst>
              <a:path w="8496300" h="4829175">
                <a:moveTo>
                  <a:pt x="0" y="4829175"/>
                </a:moveTo>
                <a:lnTo>
                  <a:pt x="8496300" y="4829175"/>
                </a:lnTo>
                <a:lnTo>
                  <a:pt x="8496300" y="0"/>
                </a:lnTo>
                <a:lnTo>
                  <a:pt x="0" y="0"/>
                </a:lnTo>
                <a:lnTo>
                  <a:pt x="0" y="4829175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9750" y="1580515"/>
            <a:ext cx="7986395" cy="34206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24180" marR="5080" indent="-412115">
              <a:lnSpc>
                <a:spcPct val="90100"/>
              </a:lnSpc>
              <a:spcBef>
                <a:spcPts val="430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endParaRPr lang="pt-BR" sz="2800" dirty="0">
              <a:latin typeface="Arial"/>
              <a:cs typeface="Arial"/>
            </a:endParaRPr>
          </a:p>
          <a:p>
            <a:pPr marL="424180" marR="5080" indent="-412115">
              <a:lnSpc>
                <a:spcPct val="90100"/>
              </a:lnSpc>
              <a:spcBef>
                <a:spcPts val="430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r>
              <a:rPr lang="pt-BR" sz="2800" dirty="0">
                <a:latin typeface="Arial"/>
                <a:cs typeface="Arial"/>
              </a:rPr>
              <a:t>Avaliação do p</a:t>
            </a:r>
            <a:r>
              <a:rPr sz="2800" dirty="0" err="1">
                <a:latin typeface="Arial"/>
                <a:cs typeface="Arial"/>
              </a:rPr>
              <a:t>aciente</a:t>
            </a:r>
            <a:r>
              <a:rPr lang="pt-BR" sz="2800" dirty="0">
                <a:latin typeface="Arial"/>
                <a:cs typeface="Arial"/>
              </a:rPr>
              <a:t>;</a:t>
            </a:r>
          </a:p>
          <a:p>
            <a:pPr marL="424180" marR="5080" indent="-412115">
              <a:lnSpc>
                <a:spcPct val="90100"/>
              </a:lnSpc>
              <a:spcBef>
                <a:spcPts val="430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r>
              <a:rPr lang="pt-BR" sz="2800" spc="-5" dirty="0">
                <a:latin typeface="Arial"/>
                <a:cs typeface="Arial"/>
              </a:rPr>
              <a:t>A </a:t>
            </a:r>
            <a:r>
              <a:rPr sz="2800" dirty="0" err="1">
                <a:latin typeface="Arial"/>
                <a:cs typeface="Arial"/>
              </a:rPr>
              <a:t>pele</a:t>
            </a:r>
            <a:r>
              <a:rPr sz="2800" dirty="0">
                <a:latin typeface="Arial"/>
                <a:cs typeface="Arial"/>
              </a:rPr>
              <a:t> livre </a:t>
            </a:r>
            <a:r>
              <a:rPr sz="2800" dirty="0" err="1">
                <a:latin typeface="Arial"/>
                <a:cs typeface="Arial"/>
              </a:rPr>
              <a:t>sem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dirty="0" err="1">
                <a:latin typeface="Arial"/>
                <a:cs typeface="Arial"/>
              </a:rPr>
              <a:t>qualquer</a:t>
            </a:r>
            <a:r>
              <a:rPr sz="2800" dirty="0">
                <a:latin typeface="Arial"/>
                <a:cs typeface="Arial"/>
              </a:rPr>
              <a:t> creme;</a:t>
            </a:r>
          </a:p>
          <a:p>
            <a:pPr marL="424180" marR="858519" indent="-412115">
              <a:lnSpc>
                <a:spcPts val="3020"/>
              </a:lnSpc>
              <a:spcBef>
                <a:spcPts val="725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r>
              <a:rPr sz="2800" dirty="0" err="1">
                <a:latin typeface="Arial"/>
                <a:cs typeface="Arial"/>
              </a:rPr>
              <a:t>Utiliza</a:t>
            </a:r>
            <a:r>
              <a:rPr sz="2800" dirty="0">
                <a:latin typeface="Arial"/>
                <a:cs typeface="Arial"/>
              </a:rPr>
              <a:t>-se então aparelhos </a:t>
            </a:r>
            <a:r>
              <a:rPr sz="2800" spc="-5" dirty="0">
                <a:latin typeface="Arial"/>
                <a:cs typeface="Arial"/>
              </a:rPr>
              <a:t>de </a:t>
            </a:r>
            <a:r>
              <a:rPr sz="2800" spc="5" dirty="0">
                <a:latin typeface="Arial"/>
                <a:cs typeface="Arial"/>
              </a:rPr>
              <a:t>vácuo </a:t>
            </a:r>
            <a:r>
              <a:rPr sz="2800" dirty="0">
                <a:latin typeface="Arial"/>
                <a:cs typeface="Arial"/>
              </a:rPr>
              <a:t>para  aplicação da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 err="1">
                <a:latin typeface="Arial"/>
                <a:cs typeface="Arial"/>
              </a:rPr>
              <a:t>massagem</a:t>
            </a:r>
            <a:r>
              <a:rPr lang="pt-BR" sz="2800" dirty="0">
                <a:latin typeface="Arial"/>
                <a:cs typeface="Arial"/>
              </a:rPr>
              <a:t> mecânica</a:t>
            </a:r>
            <a:endParaRPr sz="2800" dirty="0">
              <a:latin typeface="Arial"/>
              <a:cs typeface="Arial"/>
            </a:endParaRPr>
          </a:p>
          <a:p>
            <a:pPr marL="424180" marR="598805" indent="-412115">
              <a:lnSpc>
                <a:spcPct val="89900"/>
              </a:lnSpc>
              <a:spcBef>
                <a:spcPts val="640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r>
              <a:rPr sz="2800" dirty="0">
                <a:latin typeface="Arial"/>
                <a:cs typeface="Arial"/>
              </a:rPr>
              <a:t>provocando uma pressão negativa </a:t>
            </a:r>
            <a:r>
              <a:rPr sz="2800" spc="-5" dirty="0">
                <a:latin typeface="Arial"/>
                <a:cs typeface="Arial"/>
              </a:rPr>
              <a:t>de </a:t>
            </a:r>
            <a:r>
              <a:rPr sz="2800" dirty="0">
                <a:latin typeface="Arial"/>
                <a:cs typeface="Arial"/>
              </a:rPr>
              <a:t>– 760  mmHg a 0 mmHg (ideal não passar de -  200mmHg).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63512" y="1031938"/>
            <a:ext cx="8831580" cy="5018405"/>
            <a:chOff x="163512" y="1031938"/>
            <a:chExt cx="8831580" cy="50184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087" y="1060513"/>
              <a:ext cx="8774049" cy="49608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7800" y="1046225"/>
              <a:ext cx="8803005" cy="4989830"/>
            </a:xfrm>
            <a:custGeom>
              <a:avLst/>
              <a:gdLst/>
              <a:ahLst/>
              <a:cxnLst/>
              <a:rect l="l" t="t" r="r" b="b"/>
              <a:pathLst>
                <a:path w="8803005" h="4989830">
                  <a:moveTo>
                    <a:pt x="0" y="4989449"/>
                  </a:moveTo>
                  <a:lnTo>
                    <a:pt x="8802624" y="4989449"/>
                  </a:lnTo>
                  <a:lnTo>
                    <a:pt x="8802624" y="0"/>
                  </a:lnTo>
                  <a:lnTo>
                    <a:pt x="0" y="0"/>
                  </a:lnTo>
                  <a:lnTo>
                    <a:pt x="0" y="4989449"/>
                  </a:lnTo>
                  <a:close/>
                </a:path>
              </a:pathLst>
            </a:custGeom>
            <a:ln w="285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33450" y="333756"/>
            <a:ext cx="5101590" cy="5870575"/>
            <a:chOff x="933450" y="333756"/>
            <a:chExt cx="5101590" cy="5870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1276" y="333756"/>
              <a:ext cx="2683764" cy="9646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1341500"/>
              <a:ext cx="4824476" cy="48243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52500" y="1322450"/>
              <a:ext cx="4862830" cy="4862830"/>
            </a:xfrm>
            <a:custGeom>
              <a:avLst/>
              <a:gdLst/>
              <a:ahLst/>
              <a:cxnLst/>
              <a:rect l="l" t="t" r="r" b="b"/>
              <a:pathLst>
                <a:path w="4862830" h="4862830">
                  <a:moveTo>
                    <a:pt x="0" y="4862449"/>
                  </a:moveTo>
                  <a:lnTo>
                    <a:pt x="4862576" y="4862449"/>
                  </a:lnTo>
                  <a:lnTo>
                    <a:pt x="4862576" y="0"/>
                  </a:lnTo>
                  <a:lnTo>
                    <a:pt x="0" y="0"/>
                  </a:lnTo>
                  <a:lnTo>
                    <a:pt x="0" y="4862449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36970" y="2665666"/>
            <a:ext cx="2411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Associação </a:t>
            </a:r>
            <a:r>
              <a:rPr sz="1800" dirty="0">
                <a:latin typeface="Arial"/>
                <a:cs typeface="Arial"/>
              </a:rPr>
              <a:t>de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técnicas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RF +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Endermo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650" y="0"/>
            <a:ext cx="4392676" cy="2878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087" y="2924175"/>
            <a:ext cx="7524750" cy="34671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90A04CE-40E0-827E-13B9-F0CB04C9BC2D}"/>
              </a:ext>
            </a:extLst>
          </p:cNvPr>
          <p:cNvSpPr txBox="1"/>
          <p:nvPr/>
        </p:nvSpPr>
        <p:spPr>
          <a:xfrm>
            <a:off x="5715000" y="533400"/>
            <a:ext cx="297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PUMP: </a:t>
            </a:r>
          </a:p>
          <a:p>
            <a:r>
              <a:rPr lang="pt-BR" sz="3600" dirty="0"/>
              <a:t>PODE OU NÃO PODE?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913604"/>
            <a:ext cx="7772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buClr>
                <a:srgbClr val="F8F8F8"/>
              </a:buClr>
              <a:buSzPct val="64285"/>
              <a:tabLst>
                <a:tab pos="423545" algn="l"/>
                <a:tab pos="424180" algn="l"/>
              </a:tabLst>
            </a:pPr>
            <a:r>
              <a:rPr lang="pt-BR" sz="4000" b="1" spc="-5" dirty="0">
                <a:solidFill>
                  <a:schemeClr val="bg2">
                    <a:lumMod val="50000"/>
                  </a:schemeClr>
                </a:solidFill>
              </a:rPr>
              <a:t>E NA FLACIDEZ TISSULAR? </a:t>
            </a:r>
            <a:endParaRPr sz="4000" b="1" spc="-5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74007" y="2495550"/>
            <a:ext cx="2955925" cy="4362450"/>
            <a:chOff x="3021076" y="1590675"/>
            <a:chExt cx="2955925" cy="43624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4891" y="1634998"/>
              <a:ext cx="2874010" cy="42800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0126" y="1609725"/>
              <a:ext cx="2917825" cy="4324350"/>
            </a:xfrm>
            <a:custGeom>
              <a:avLst/>
              <a:gdLst/>
              <a:ahLst/>
              <a:cxnLst/>
              <a:rect l="l" t="t" r="r" b="b"/>
              <a:pathLst>
                <a:path w="2917825" h="4324350">
                  <a:moveTo>
                    <a:pt x="0" y="4324350"/>
                  </a:moveTo>
                  <a:lnTo>
                    <a:pt x="2917825" y="4324350"/>
                  </a:lnTo>
                  <a:lnTo>
                    <a:pt x="2917825" y="0"/>
                  </a:lnTo>
                  <a:lnTo>
                    <a:pt x="0" y="0"/>
                  </a:lnTo>
                  <a:lnTo>
                    <a:pt x="0" y="4324350"/>
                  </a:lnTo>
                  <a:close/>
                </a:path>
              </a:pathLst>
            </a:custGeom>
            <a:ln w="381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2058E5D6-5F04-462D-2E27-BF8472FF6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135" y="3095625"/>
            <a:ext cx="6524625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95" y="731519"/>
            <a:ext cx="5015483" cy="80467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2214626"/>
            <a:ext cx="7467600" cy="2645732"/>
          </a:xfrm>
          <a:custGeom>
            <a:avLst/>
            <a:gdLst/>
            <a:ahLst/>
            <a:cxnLst/>
            <a:rect l="l" t="t" r="r" b="b"/>
            <a:pathLst>
              <a:path w="7467600" h="1862454">
                <a:moveTo>
                  <a:pt x="0" y="1862074"/>
                </a:moveTo>
                <a:lnTo>
                  <a:pt x="7467600" y="1862074"/>
                </a:lnTo>
                <a:lnTo>
                  <a:pt x="7467600" y="0"/>
                </a:lnTo>
                <a:lnTo>
                  <a:pt x="0" y="0"/>
                </a:lnTo>
                <a:lnTo>
                  <a:pt x="0" y="1862074"/>
                </a:lnTo>
                <a:close/>
              </a:path>
            </a:pathLst>
          </a:custGeom>
          <a:ln w="28574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8957" y="2152155"/>
            <a:ext cx="5728970" cy="209223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08965" indent="-608965">
              <a:lnSpc>
                <a:spcPct val="100000"/>
              </a:lnSpc>
              <a:spcBef>
                <a:spcPts val="775"/>
              </a:spcBef>
              <a:buClr>
                <a:srgbClr val="F8F8F8"/>
              </a:buClr>
              <a:buSzPct val="64285"/>
              <a:buAutoNum type="arabicPeriod"/>
              <a:tabLst>
                <a:tab pos="608965" algn="l"/>
                <a:tab pos="609600" algn="l"/>
              </a:tabLst>
            </a:pPr>
            <a:r>
              <a:rPr sz="2800" spc="-20" dirty="0">
                <a:latin typeface="Arial"/>
                <a:cs typeface="Arial"/>
              </a:rPr>
              <a:t>Tumores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Cutâneos;</a:t>
            </a:r>
          </a:p>
          <a:p>
            <a:pPr marL="608965" indent="-608965">
              <a:lnSpc>
                <a:spcPct val="100000"/>
              </a:lnSpc>
              <a:spcBef>
                <a:spcPts val="685"/>
              </a:spcBef>
              <a:buClr>
                <a:srgbClr val="F8F8F8"/>
              </a:buClr>
              <a:buSzPct val="64285"/>
              <a:buAutoNum type="arabicPeriod"/>
              <a:tabLst>
                <a:tab pos="608965" algn="l"/>
                <a:tab pos="609600" algn="l"/>
              </a:tabLst>
            </a:pPr>
            <a:r>
              <a:rPr sz="2800" dirty="0">
                <a:latin typeface="Arial"/>
                <a:cs typeface="Arial"/>
              </a:rPr>
              <a:t>Fragilidade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Capilar;</a:t>
            </a:r>
          </a:p>
          <a:p>
            <a:pPr marL="608965" indent="-608965">
              <a:lnSpc>
                <a:spcPct val="100000"/>
              </a:lnSpc>
              <a:spcBef>
                <a:spcPts val="660"/>
              </a:spcBef>
              <a:buClr>
                <a:srgbClr val="F8F8F8"/>
              </a:buClr>
              <a:buSzPct val="64285"/>
              <a:buAutoNum type="arabicPeriod"/>
              <a:tabLst>
                <a:tab pos="608965" algn="l"/>
                <a:tab pos="609600" algn="l"/>
              </a:tabLst>
            </a:pPr>
            <a:r>
              <a:rPr sz="2800" dirty="0">
                <a:latin typeface="Arial"/>
                <a:cs typeface="Arial"/>
              </a:rPr>
              <a:t>Doenças Infecciosas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 err="1">
                <a:latin typeface="Arial"/>
                <a:cs typeface="Arial"/>
              </a:rPr>
              <a:t>Evolutivas</a:t>
            </a:r>
            <a:r>
              <a:rPr sz="2800" dirty="0">
                <a:latin typeface="Arial"/>
                <a:cs typeface="Arial"/>
              </a:rPr>
              <a:t>;</a:t>
            </a:r>
            <a:endParaRPr lang="pt-BR" sz="2800" dirty="0">
              <a:latin typeface="Arial"/>
              <a:cs typeface="Arial"/>
            </a:endParaRPr>
          </a:p>
          <a:p>
            <a:pPr marL="608965" indent="-608965">
              <a:lnSpc>
                <a:spcPct val="100000"/>
              </a:lnSpc>
              <a:spcBef>
                <a:spcPts val="660"/>
              </a:spcBef>
              <a:buClr>
                <a:srgbClr val="F8F8F8"/>
              </a:buClr>
              <a:buSzPct val="64285"/>
              <a:buAutoNum type="arabicPeriod"/>
              <a:tabLst>
                <a:tab pos="608965" algn="l"/>
                <a:tab pos="609600" algn="l"/>
              </a:tabLst>
            </a:pPr>
            <a:r>
              <a:rPr lang="pt-BR" sz="2800" dirty="0">
                <a:latin typeface="Arial"/>
                <a:cs typeface="Arial"/>
              </a:rPr>
              <a:t>Flacidez Tissular Acentuada.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FC4ACB-B1E0-AA8D-FF8F-655027D38EB2}"/>
              </a:ext>
            </a:extLst>
          </p:cNvPr>
          <p:cNvSpPr txBox="1"/>
          <p:nvPr/>
        </p:nvSpPr>
        <p:spPr>
          <a:xfrm>
            <a:off x="457200" y="7620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/>
              <a:t>PEELINGS MECÂNICOS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9A468F-86A6-BDCB-A75D-459EF4F6309B}"/>
              </a:ext>
            </a:extLst>
          </p:cNvPr>
          <p:cNvSpPr txBox="1"/>
          <p:nvPr/>
        </p:nvSpPr>
        <p:spPr>
          <a:xfrm>
            <a:off x="1752600" y="2819400"/>
            <a:ext cx="708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MICRODERMOABRASÃO</a:t>
            </a:r>
          </a:p>
        </p:txBody>
      </p:sp>
    </p:spTree>
    <p:extLst>
      <p:ext uri="{BB962C8B-B14F-4D97-AF65-F5344CB8AC3E}">
        <p14:creationId xmlns:p14="http://schemas.microsoft.com/office/powerpoint/2010/main" val="471579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30312" y="160401"/>
            <a:ext cx="6342380" cy="6393180"/>
            <a:chOff x="1230312" y="160401"/>
            <a:chExt cx="6342380" cy="63931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8887" y="188976"/>
              <a:ext cx="6284849" cy="633564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44600" y="174688"/>
              <a:ext cx="6313805" cy="6364605"/>
            </a:xfrm>
            <a:custGeom>
              <a:avLst/>
              <a:gdLst/>
              <a:ahLst/>
              <a:cxnLst/>
              <a:rect l="l" t="t" r="r" b="b"/>
              <a:pathLst>
                <a:path w="6313805" h="6364605">
                  <a:moveTo>
                    <a:pt x="0" y="6364224"/>
                  </a:moveTo>
                  <a:lnTo>
                    <a:pt x="6313424" y="6364224"/>
                  </a:lnTo>
                  <a:lnTo>
                    <a:pt x="6313424" y="0"/>
                  </a:lnTo>
                  <a:lnTo>
                    <a:pt x="0" y="0"/>
                  </a:lnTo>
                  <a:lnTo>
                    <a:pt x="0" y="6364224"/>
                  </a:lnTo>
                  <a:close/>
                </a:path>
              </a:pathLst>
            </a:custGeom>
            <a:ln w="285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21797" y="1229661"/>
            <a:ext cx="8472805" cy="5171139"/>
          </a:xfrm>
          <a:custGeom>
            <a:avLst/>
            <a:gdLst/>
            <a:ahLst/>
            <a:cxnLst/>
            <a:rect l="l" t="t" r="r" b="b"/>
            <a:pathLst>
              <a:path w="8472805" h="5715000">
                <a:moveTo>
                  <a:pt x="0" y="5715000"/>
                </a:moveTo>
                <a:lnTo>
                  <a:pt x="8472551" y="5715000"/>
                </a:lnTo>
                <a:lnTo>
                  <a:pt x="8472551" y="0"/>
                </a:lnTo>
                <a:lnTo>
                  <a:pt x="0" y="0"/>
                </a:lnTo>
                <a:lnTo>
                  <a:pt x="0" y="5715000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6269" y="701258"/>
            <a:ext cx="8114665" cy="55701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24180" indent="-411480">
              <a:lnSpc>
                <a:spcPct val="100000"/>
              </a:lnSpc>
              <a:spcBef>
                <a:spcPts val="775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endParaRPr lang="pt-BR" sz="2800" u="heavy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424180" indent="-411480">
              <a:lnSpc>
                <a:spcPct val="100000"/>
              </a:lnSpc>
              <a:spcBef>
                <a:spcPts val="775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Peeling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Mecânico</a:t>
            </a:r>
            <a:r>
              <a:rPr sz="2800" dirty="0">
                <a:latin typeface="Arial"/>
                <a:cs typeface="Arial"/>
              </a:rPr>
              <a:t>: Dermoabrasão,</a:t>
            </a:r>
          </a:p>
          <a:p>
            <a:pPr marL="424180" indent="-411480">
              <a:lnSpc>
                <a:spcPct val="100000"/>
              </a:lnSpc>
              <a:spcBef>
                <a:spcPts val="685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Microdermoabrasão (Cristais 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Diamantes).</a:t>
            </a:r>
            <a:endParaRPr sz="4050" dirty="0">
              <a:latin typeface="Arial"/>
              <a:cs typeface="Arial"/>
            </a:endParaRPr>
          </a:p>
          <a:p>
            <a:pPr marL="424180" marR="5080" indent="-411480">
              <a:lnSpc>
                <a:spcPct val="100000"/>
              </a:lnSpc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As indicações mais comuns relacionadas </a:t>
            </a:r>
            <a:r>
              <a:rPr sz="2800" spc="-5" dirty="0">
                <a:latin typeface="Arial"/>
                <a:cs typeface="Arial"/>
              </a:rPr>
              <a:t>ao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uso  dos peelings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são:</a:t>
            </a:r>
          </a:p>
          <a:p>
            <a:pPr marL="424180" indent="-411480">
              <a:lnSpc>
                <a:spcPct val="100000"/>
              </a:lnSpc>
              <a:spcBef>
                <a:spcPts val="680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- correção de rugas </a:t>
            </a:r>
            <a:r>
              <a:rPr sz="2800" spc="-5" dirty="0">
                <a:latin typeface="Arial"/>
                <a:cs typeface="Arial"/>
              </a:rPr>
              <a:t>e </a:t>
            </a:r>
            <a:r>
              <a:rPr sz="2800" dirty="0">
                <a:latin typeface="Arial"/>
                <a:cs typeface="Arial"/>
              </a:rPr>
              <a:t>sulcos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cutâneos;</a:t>
            </a:r>
          </a:p>
          <a:p>
            <a:pPr marL="424180" indent="-411480">
              <a:lnSpc>
                <a:spcPct val="100000"/>
              </a:lnSpc>
              <a:spcBef>
                <a:spcPts val="665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- afinamento de tecido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epitelial,</a:t>
            </a:r>
          </a:p>
          <a:p>
            <a:pPr marL="424180" indent="-411480">
              <a:lnSpc>
                <a:spcPct val="100000"/>
              </a:lnSpc>
              <a:spcBef>
                <a:spcPts val="680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- cicatrizes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superficiais;</a:t>
            </a:r>
          </a:p>
          <a:p>
            <a:pPr marL="424180" indent="-411480">
              <a:lnSpc>
                <a:spcPct val="100000"/>
              </a:lnSpc>
              <a:spcBef>
                <a:spcPts val="660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-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estrias;</a:t>
            </a:r>
          </a:p>
          <a:p>
            <a:pPr marL="424180" indent="-411480">
              <a:lnSpc>
                <a:spcPct val="100000"/>
              </a:lnSpc>
              <a:spcBef>
                <a:spcPts val="685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- seqüelas de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acne;</a:t>
            </a:r>
          </a:p>
          <a:p>
            <a:pPr marL="424180" indent="-411480">
              <a:lnSpc>
                <a:spcPct val="100000"/>
              </a:lnSpc>
              <a:spcBef>
                <a:spcPts val="680"/>
              </a:spcBef>
              <a:buClr>
                <a:srgbClr val="F8F8F8"/>
              </a:buClr>
              <a:buSzPct val="64285"/>
              <a:buChar char="-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-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foliculite.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678F791C-7667-B110-2288-47A8FE319E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" y="274067"/>
            <a:ext cx="8750808" cy="9646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57200" y="1714500"/>
            <a:ext cx="8187055" cy="4714875"/>
          </a:xfrm>
          <a:custGeom>
            <a:avLst/>
            <a:gdLst/>
            <a:ahLst/>
            <a:cxnLst/>
            <a:rect l="l" t="t" r="r" b="b"/>
            <a:pathLst>
              <a:path w="8187055" h="4714875">
                <a:moveTo>
                  <a:pt x="0" y="4714875"/>
                </a:moveTo>
                <a:lnTo>
                  <a:pt x="8186801" y="4714875"/>
                </a:lnTo>
                <a:lnTo>
                  <a:pt x="8186801" y="0"/>
                </a:lnTo>
                <a:lnTo>
                  <a:pt x="0" y="0"/>
                </a:lnTo>
                <a:lnTo>
                  <a:pt x="0" y="4714875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417" y="1737931"/>
            <a:ext cx="7760334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marR="5080" indent="-41148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sz="1800" spc="5" dirty="0">
                <a:solidFill>
                  <a:srgbClr val="F8F8F8"/>
                </a:solidFill>
                <a:latin typeface="Arial"/>
                <a:cs typeface="Arial"/>
              </a:rPr>
              <a:t>-	</a:t>
            </a:r>
            <a:r>
              <a:rPr sz="2800" dirty="0">
                <a:latin typeface="Arial"/>
                <a:cs typeface="Arial"/>
              </a:rPr>
              <a:t>Na prática terapêutica demonstra que seu  manuseio consiste </a:t>
            </a:r>
            <a:r>
              <a:rPr sz="2800" spc="-5" dirty="0">
                <a:latin typeface="Arial"/>
                <a:cs typeface="Arial"/>
              </a:rPr>
              <a:t>na </a:t>
            </a:r>
            <a:r>
              <a:rPr sz="2800" dirty="0">
                <a:latin typeface="Arial"/>
                <a:cs typeface="Arial"/>
              </a:rPr>
              <a:t>aplicação direta sobre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a  </a:t>
            </a:r>
            <a:r>
              <a:rPr sz="2800" dirty="0">
                <a:latin typeface="Arial"/>
                <a:cs typeface="Arial"/>
              </a:rPr>
              <a:t>pele através de um equipamento mecânico  gerador </a:t>
            </a:r>
            <a:r>
              <a:rPr sz="2800" spc="-5" dirty="0">
                <a:latin typeface="Arial"/>
                <a:cs typeface="Arial"/>
              </a:rPr>
              <a:t>de </a:t>
            </a:r>
            <a:r>
              <a:rPr sz="2800" dirty="0">
                <a:latin typeface="Arial"/>
                <a:cs typeface="Arial"/>
              </a:rPr>
              <a:t>pressão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negativa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pressão 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positiva simultâneas</a:t>
            </a:r>
            <a:r>
              <a:rPr sz="2800" dirty="0">
                <a:latin typeface="Arial"/>
                <a:cs typeface="Arial"/>
              </a:rPr>
              <a:t>, em que são utilizados  microgrânulos </a:t>
            </a:r>
            <a:r>
              <a:rPr sz="2800" spc="-5" dirty="0">
                <a:latin typeface="Arial"/>
                <a:cs typeface="Arial"/>
              </a:rPr>
              <a:t>de óxido de </a:t>
            </a:r>
            <a:r>
              <a:rPr sz="2800" dirty="0">
                <a:latin typeface="Arial"/>
                <a:cs typeface="Arial"/>
              </a:rPr>
              <a:t>alumínio (ou outro  material similar), quimicamente inertes,  </a:t>
            </a:r>
            <a:r>
              <a:rPr sz="2800" spc="-5" dirty="0">
                <a:latin typeface="Arial"/>
                <a:cs typeface="Arial"/>
              </a:rPr>
              <a:t>jateados </a:t>
            </a:r>
            <a:r>
              <a:rPr sz="2800" dirty="0">
                <a:latin typeface="Arial"/>
                <a:cs typeface="Arial"/>
              </a:rPr>
              <a:t>pela pressão positiva sobre </a:t>
            </a:r>
            <a:r>
              <a:rPr sz="2800" spc="-5" dirty="0">
                <a:latin typeface="Arial"/>
                <a:cs typeface="Arial"/>
              </a:rPr>
              <a:t>a  </a:t>
            </a:r>
            <a:r>
              <a:rPr sz="2800" dirty="0">
                <a:latin typeface="Arial"/>
                <a:cs typeface="Arial"/>
              </a:rPr>
              <a:t>superfície cutânea numa velocidade passível  </a:t>
            </a:r>
            <a:r>
              <a:rPr sz="2800" spc="-5" dirty="0">
                <a:latin typeface="Arial"/>
                <a:cs typeface="Arial"/>
              </a:rPr>
              <a:t>de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controle.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46F02984-4FD2-F08F-FD30-B333FA91A3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" y="274067"/>
            <a:ext cx="8750808" cy="9646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00" y="1643126"/>
            <a:ext cx="8187055" cy="2649855"/>
          </a:xfrm>
          <a:custGeom>
            <a:avLst/>
            <a:gdLst/>
            <a:ahLst/>
            <a:cxnLst/>
            <a:rect l="l" t="t" r="r" b="b"/>
            <a:pathLst>
              <a:path w="8187055" h="2649854">
                <a:moveTo>
                  <a:pt x="0" y="2649474"/>
                </a:moveTo>
                <a:lnTo>
                  <a:pt x="8186801" y="2649474"/>
                </a:lnTo>
                <a:lnTo>
                  <a:pt x="8186801" y="0"/>
                </a:lnTo>
                <a:lnTo>
                  <a:pt x="0" y="0"/>
                </a:lnTo>
                <a:lnTo>
                  <a:pt x="0" y="2649474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3417" y="1878252"/>
            <a:ext cx="7580630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marR="5080" indent="-41148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sz="1800" spc="5" dirty="0">
                <a:solidFill>
                  <a:srgbClr val="F8F8F8"/>
                </a:solidFill>
              </a:rPr>
              <a:t>-	</a:t>
            </a:r>
            <a:r>
              <a:rPr dirty="0"/>
              <a:t>Promove uma aceleração </a:t>
            </a:r>
            <a:r>
              <a:rPr spc="-5" dirty="0"/>
              <a:t>da </a:t>
            </a:r>
            <a:r>
              <a:rPr dirty="0"/>
              <a:t>mitose </a:t>
            </a:r>
            <a:r>
              <a:rPr spc="-5" dirty="0"/>
              <a:t>celular e  </a:t>
            </a:r>
            <a:r>
              <a:rPr dirty="0"/>
              <a:t>consequente renovação epitelial, ocorrida </a:t>
            </a:r>
            <a:r>
              <a:rPr spc="-5" dirty="0"/>
              <a:t>na  </a:t>
            </a:r>
            <a:r>
              <a:rPr dirty="0"/>
              <a:t>camada </a:t>
            </a:r>
            <a:r>
              <a:rPr spc="-5" dirty="0"/>
              <a:t>subjacente e </a:t>
            </a:r>
            <a:r>
              <a:rPr dirty="0"/>
              <a:t>estimulando </a:t>
            </a:r>
            <a:r>
              <a:rPr spc="-5" dirty="0"/>
              <a:t>a  </a:t>
            </a:r>
            <a:r>
              <a:rPr dirty="0" err="1"/>
              <a:t>neovascularização</a:t>
            </a:r>
            <a:r>
              <a:rPr dirty="0"/>
              <a:t> regional</a:t>
            </a:r>
            <a:r>
              <a:rPr lang="pt-BR" dirty="0"/>
              <a:t>.</a:t>
            </a:r>
            <a:endParaRPr sz="1800" dirty="0"/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BD159F7C-8B14-EB83-767A-CA20035638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" y="274067"/>
            <a:ext cx="8750808" cy="9646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2912" y="128015"/>
            <a:ext cx="8258175" cy="1304290"/>
            <a:chOff x="442912" y="128015"/>
            <a:chExt cx="8258175" cy="1304290"/>
          </a:xfrm>
        </p:grpSpPr>
        <p:sp>
          <p:nvSpPr>
            <p:cNvPr id="4" name="object 4"/>
            <p:cNvSpPr/>
            <p:nvPr/>
          </p:nvSpPr>
          <p:spPr>
            <a:xfrm>
              <a:off x="457200" y="274701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272" y="128015"/>
              <a:ext cx="7200900" cy="12893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30212" y="2095500"/>
            <a:ext cx="8279130" cy="352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marR="27305" indent="-412115">
              <a:lnSpc>
                <a:spcPct val="100000"/>
              </a:lnSpc>
              <a:spcBef>
                <a:spcPts val="100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r>
              <a:rPr sz="2800" dirty="0">
                <a:latin typeface="Arial"/>
                <a:cs typeface="Arial"/>
              </a:rPr>
              <a:t>Outro </a:t>
            </a:r>
            <a:r>
              <a:rPr sz="2800" spc="-5" dirty="0">
                <a:latin typeface="Arial"/>
                <a:cs typeface="Arial"/>
              </a:rPr>
              <a:t>tipo </a:t>
            </a:r>
            <a:r>
              <a:rPr sz="2800" dirty="0">
                <a:latin typeface="Arial"/>
                <a:cs typeface="Arial"/>
              </a:rPr>
              <a:t>de equipamento </a:t>
            </a:r>
            <a:r>
              <a:rPr sz="2800" spc="-5" dirty="0">
                <a:latin typeface="Arial"/>
                <a:cs typeface="Arial"/>
              </a:rPr>
              <a:t>utilizado na </a:t>
            </a:r>
            <a:r>
              <a:rPr sz="2800" dirty="0">
                <a:latin typeface="Arial"/>
                <a:cs typeface="Arial"/>
              </a:rPr>
              <a:t>prática </a:t>
            </a:r>
            <a:r>
              <a:rPr sz="2800" spc="-5" dirty="0">
                <a:latin typeface="Arial"/>
                <a:cs typeface="Arial"/>
              </a:rPr>
              <a:t>de  </a:t>
            </a:r>
            <a:r>
              <a:rPr sz="2800" dirty="0">
                <a:latin typeface="Arial"/>
                <a:cs typeface="Arial"/>
              </a:rPr>
              <a:t>microdermoabrasão </a:t>
            </a:r>
            <a:r>
              <a:rPr sz="2800" spc="-5" dirty="0">
                <a:latin typeface="Arial"/>
                <a:cs typeface="Arial"/>
              </a:rPr>
              <a:t>é </a:t>
            </a:r>
            <a:r>
              <a:rPr sz="2800" dirty="0">
                <a:latin typeface="Arial"/>
                <a:cs typeface="Arial"/>
              </a:rPr>
              <a:t>composto </a:t>
            </a:r>
            <a:r>
              <a:rPr sz="2800" spc="-5" dirty="0">
                <a:latin typeface="Arial"/>
                <a:cs typeface="Arial"/>
              </a:rPr>
              <a:t>por </a:t>
            </a:r>
            <a:r>
              <a:rPr sz="2800" dirty="0">
                <a:latin typeface="Arial"/>
                <a:cs typeface="Arial"/>
              </a:rPr>
              <a:t>uma  manopla com diferentes ponteiras diamantadas  </a:t>
            </a:r>
            <a:r>
              <a:rPr sz="2800" spc="-5" dirty="0">
                <a:latin typeface="Arial"/>
                <a:cs typeface="Arial"/>
              </a:rPr>
              <a:t>de </a:t>
            </a:r>
            <a:r>
              <a:rPr sz="2800" dirty="0">
                <a:latin typeface="Arial"/>
                <a:cs typeface="Arial"/>
              </a:rPr>
              <a:t>granulometrias diferentes denominado peeling  </a:t>
            </a:r>
            <a:r>
              <a:rPr sz="2800" spc="-5" dirty="0">
                <a:latin typeface="Arial"/>
                <a:cs typeface="Arial"/>
              </a:rPr>
              <a:t>de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diamante.</a:t>
            </a:r>
            <a:endParaRPr sz="2800">
              <a:latin typeface="Arial"/>
              <a:cs typeface="Arial"/>
            </a:endParaRPr>
          </a:p>
          <a:p>
            <a:pPr marL="424180" marR="5080" indent="-412115">
              <a:lnSpc>
                <a:spcPct val="100000"/>
              </a:lnSpc>
              <a:spcBef>
                <a:spcPts val="685"/>
              </a:spcBef>
              <a:buClr>
                <a:srgbClr val="F8F8F8"/>
              </a:buClr>
              <a:buSzPct val="64285"/>
              <a:buChar char="-"/>
              <a:tabLst>
                <a:tab pos="424180" algn="l"/>
                <a:tab pos="424815" algn="l"/>
              </a:tabLst>
            </a:pPr>
            <a:r>
              <a:rPr sz="2800" dirty="0">
                <a:latin typeface="Arial"/>
                <a:cs typeface="Arial"/>
              </a:rPr>
              <a:t>Neste equipamento só obtemos pressão negativa  (ajustavél), proporcionando </a:t>
            </a:r>
            <a:r>
              <a:rPr sz="2800" spc="-5" dirty="0">
                <a:latin typeface="Arial"/>
                <a:cs typeface="Arial"/>
              </a:rPr>
              <a:t>que a </a:t>
            </a:r>
            <a:r>
              <a:rPr sz="2800" dirty="0">
                <a:latin typeface="Arial"/>
                <a:cs typeface="Arial"/>
              </a:rPr>
              <a:t>pele </a:t>
            </a:r>
            <a:r>
              <a:rPr sz="2800" spc="-10" dirty="0">
                <a:latin typeface="Arial"/>
                <a:cs typeface="Arial"/>
              </a:rPr>
              <a:t>seja  </a:t>
            </a:r>
            <a:r>
              <a:rPr sz="2800" dirty="0">
                <a:latin typeface="Arial"/>
                <a:cs typeface="Arial"/>
              </a:rPr>
              <a:t>suavemente sugada pela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manopla.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487" y="13716"/>
            <a:ext cx="8339327" cy="14950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1600136"/>
            <a:ext cx="8329930" cy="5043805"/>
          </a:xfrm>
          <a:custGeom>
            <a:avLst/>
            <a:gdLst/>
            <a:ahLst/>
            <a:cxnLst/>
            <a:rect l="l" t="t" r="r" b="b"/>
            <a:pathLst>
              <a:path w="8329930" h="5043805">
                <a:moveTo>
                  <a:pt x="0" y="5043551"/>
                </a:moveTo>
                <a:lnTo>
                  <a:pt x="8329676" y="5043551"/>
                </a:lnTo>
                <a:lnTo>
                  <a:pt x="8329676" y="0"/>
                </a:lnTo>
                <a:lnTo>
                  <a:pt x="0" y="0"/>
                </a:lnTo>
                <a:lnTo>
                  <a:pt x="0" y="5043551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417" y="1537081"/>
            <a:ext cx="6672580" cy="455104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800" b="1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Vantagens:</a:t>
            </a:r>
            <a:endParaRPr sz="2800">
              <a:latin typeface="Arial"/>
              <a:cs typeface="Arial"/>
            </a:endParaRPr>
          </a:p>
          <a:p>
            <a:pPr marL="228600" indent="-215900">
              <a:lnSpc>
                <a:spcPct val="100000"/>
              </a:lnSpc>
              <a:spcBef>
                <a:spcPts val="680"/>
              </a:spcBef>
              <a:buChar char="-"/>
              <a:tabLst>
                <a:tab pos="228600" algn="l"/>
              </a:tabLst>
            </a:pPr>
            <a:r>
              <a:rPr sz="2800" dirty="0">
                <a:latin typeface="Arial"/>
                <a:cs typeface="Arial"/>
              </a:rPr>
              <a:t>Regeneração tecidual mais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rápida.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Desvantagens:</a:t>
            </a:r>
            <a:endParaRPr sz="2800">
              <a:latin typeface="Arial"/>
              <a:cs typeface="Arial"/>
            </a:endParaRPr>
          </a:p>
          <a:p>
            <a:pPr marL="502920" lvl="1" indent="-198120">
              <a:lnSpc>
                <a:spcPct val="100000"/>
              </a:lnSpc>
              <a:spcBef>
                <a:spcPts val="680"/>
              </a:spcBef>
              <a:buChar char="-"/>
              <a:tabLst>
                <a:tab pos="502920" algn="l"/>
              </a:tabLst>
            </a:pPr>
            <a:r>
              <a:rPr sz="2800" dirty="0">
                <a:latin typeface="Arial"/>
                <a:cs typeface="Arial"/>
              </a:rPr>
              <a:t>Abrasão menos regular 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 precisa;</a:t>
            </a:r>
            <a:endParaRPr sz="2800">
              <a:latin typeface="Arial"/>
              <a:cs typeface="Arial"/>
            </a:endParaRPr>
          </a:p>
          <a:p>
            <a:pPr marL="523240" lvl="1" indent="-218440">
              <a:lnSpc>
                <a:spcPct val="100000"/>
              </a:lnSpc>
              <a:spcBef>
                <a:spcPts val="685"/>
              </a:spcBef>
              <a:buChar char="-"/>
              <a:tabLst>
                <a:tab pos="523240" algn="l"/>
              </a:tabLst>
            </a:pPr>
            <a:r>
              <a:rPr sz="2800" dirty="0">
                <a:latin typeface="Arial"/>
                <a:cs typeface="Arial"/>
              </a:rPr>
              <a:t>“Incrustação </a:t>
            </a:r>
            <a:r>
              <a:rPr sz="2800" spc="-5" dirty="0">
                <a:latin typeface="Arial"/>
                <a:cs typeface="Arial"/>
              </a:rPr>
              <a:t>de cristais na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pele”;</a:t>
            </a:r>
            <a:endParaRPr sz="2800">
              <a:latin typeface="Arial"/>
              <a:cs typeface="Arial"/>
            </a:endParaRPr>
          </a:p>
          <a:p>
            <a:pPr marL="424180" marR="5080" lvl="1" indent="-119380">
              <a:lnSpc>
                <a:spcPct val="100000"/>
              </a:lnSpc>
              <a:spcBef>
                <a:spcPts val="655"/>
              </a:spcBef>
              <a:buChar char="-"/>
              <a:tabLst>
                <a:tab pos="523240" algn="l"/>
              </a:tabLst>
            </a:pPr>
            <a:r>
              <a:rPr sz="2800" spc="-5" dirty="0">
                <a:latin typeface="Arial"/>
                <a:cs typeface="Arial"/>
              </a:rPr>
              <a:t>Dificuldade de </a:t>
            </a:r>
            <a:r>
              <a:rPr sz="2800" dirty="0">
                <a:latin typeface="Arial"/>
                <a:cs typeface="Arial"/>
              </a:rPr>
              <a:t>visualização </a:t>
            </a:r>
            <a:r>
              <a:rPr sz="2800" spc="-5" dirty="0">
                <a:latin typeface="Arial"/>
                <a:cs typeface="Arial"/>
              </a:rPr>
              <a:t>do </a:t>
            </a:r>
            <a:r>
              <a:rPr sz="2800" dirty="0">
                <a:latin typeface="Arial"/>
                <a:cs typeface="Arial"/>
              </a:rPr>
              <a:t>nível </a:t>
            </a:r>
            <a:r>
              <a:rPr sz="2800" spc="-5" dirty="0">
                <a:latin typeface="Arial"/>
                <a:cs typeface="Arial"/>
              </a:rPr>
              <a:t>de  </a:t>
            </a:r>
            <a:r>
              <a:rPr sz="2800" dirty="0">
                <a:latin typeface="Arial"/>
                <a:cs typeface="Arial"/>
              </a:rPr>
              <a:t>esfoliação;</a:t>
            </a:r>
            <a:endParaRPr sz="2800">
              <a:latin typeface="Arial"/>
              <a:cs typeface="Arial"/>
            </a:endParaRPr>
          </a:p>
          <a:p>
            <a:pPr marL="502920" lvl="1" indent="-198120">
              <a:lnSpc>
                <a:spcPct val="100000"/>
              </a:lnSpc>
              <a:spcBef>
                <a:spcPts val="690"/>
              </a:spcBef>
              <a:buChar char="-"/>
              <a:tabLst>
                <a:tab pos="502920" algn="l"/>
              </a:tabLst>
            </a:pPr>
            <a:r>
              <a:rPr sz="2800" spc="-5" dirty="0">
                <a:latin typeface="Arial"/>
                <a:cs typeface="Arial"/>
              </a:rPr>
              <a:t>Aspiração pelo </a:t>
            </a:r>
            <a:r>
              <a:rPr sz="2800" dirty="0">
                <a:latin typeface="Arial"/>
                <a:cs typeface="Arial"/>
              </a:rPr>
              <a:t>operador 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paciente;</a:t>
            </a:r>
            <a:endParaRPr sz="2800">
              <a:latin typeface="Arial"/>
              <a:cs typeface="Arial"/>
            </a:endParaRPr>
          </a:p>
          <a:p>
            <a:pPr marL="523240" lvl="1" indent="-218440">
              <a:lnSpc>
                <a:spcPct val="100000"/>
              </a:lnSpc>
              <a:spcBef>
                <a:spcPts val="660"/>
              </a:spcBef>
              <a:buChar char="-"/>
              <a:tabLst>
                <a:tab pos="523240" algn="l"/>
              </a:tabLst>
            </a:pPr>
            <a:r>
              <a:rPr sz="2800" dirty="0">
                <a:latin typeface="Arial"/>
                <a:cs typeface="Arial"/>
              </a:rPr>
              <a:t>Cristais </a:t>
            </a:r>
            <a:r>
              <a:rPr sz="2800" spc="-5" dirty="0">
                <a:latin typeface="Arial"/>
                <a:cs typeface="Arial"/>
              </a:rPr>
              <a:t>nos </a:t>
            </a:r>
            <a:r>
              <a:rPr sz="2800" dirty="0">
                <a:latin typeface="Arial"/>
                <a:cs typeface="Arial"/>
              </a:rPr>
              <a:t>olhos.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42912" y="13716"/>
            <a:ext cx="8321675" cy="1495425"/>
            <a:chOff x="442912" y="13716"/>
            <a:chExt cx="8321675" cy="1495425"/>
          </a:xfrm>
        </p:grpSpPr>
        <p:sp>
          <p:nvSpPr>
            <p:cNvPr id="4" name="object 4"/>
            <p:cNvSpPr/>
            <p:nvPr/>
          </p:nvSpPr>
          <p:spPr>
            <a:xfrm>
              <a:off x="457200" y="274700"/>
              <a:ext cx="8229600" cy="1143000"/>
            </a:xfrm>
            <a:custGeom>
              <a:avLst/>
              <a:gdLst/>
              <a:ahLst/>
              <a:cxnLst/>
              <a:rect l="l" t="t" r="r" b="b"/>
              <a:pathLst>
                <a:path w="8229600" h="1143000">
                  <a:moveTo>
                    <a:pt x="0" y="1143000"/>
                  </a:moveTo>
                  <a:lnTo>
                    <a:pt x="8229600" y="1143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207" y="13716"/>
              <a:ext cx="8243316" cy="1495043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57200" y="1928812"/>
            <a:ext cx="8258175" cy="4572000"/>
          </a:xfrm>
          <a:custGeom>
            <a:avLst/>
            <a:gdLst/>
            <a:ahLst/>
            <a:cxnLst/>
            <a:rect l="l" t="t" r="r" b="b"/>
            <a:pathLst>
              <a:path w="8258175" h="4572000">
                <a:moveTo>
                  <a:pt x="0" y="4572000"/>
                </a:moveTo>
                <a:lnTo>
                  <a:pt x="8258175" y="4572000"/>
                </a:lnTo>
                <a:lnTo>
                  <a:pt x="8258175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417" y="1860854"/>
            <a:ext cx="7898765" cy="38677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000" b="1" i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Vantagens:</a:t>
            </a:r>
            <a:endParaRPr sz="3000" dirty="0">
              <a:latin typeface="Arial"/>
              <a:cs typeface="Arial"/>
            </a:endParaRPr>
          </a:p>
          <a:p>
            <a:pPr marL="457200" indent="-233679">
              <a:lnSpc>
                <a:spcPct val="100000"/>
              </a:lnSpc>
              <a:spcBef>
                <a:spcPts val="720"/>
              </a:spcBef>
              <a:buChar char="-"/>
              <a:tabLst>
                <a:tab pos="457200" algn="l"/>
              </a:tabLst>
            </a:pPr>
            <a:r>
              <a:rPr sz="3000" spc="-5" dirty="0">
                <a:latin typeface="Arial"/>
                <a:cs typeface="Arial"/>
              </a:rPr>
              <a:t>Esfolia suave, controlada e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uniformemente;</a:t>
            </a:r>
            <a:endParaRPr sz="3000" dirty="0">
              <a:latin typeface="Arial"/>
              <a:cs typeface="Arial"/>
            </a:endParaRPr>
          </a:p>
          <a:p>
            <a:pPr marL="457200" indent="-233679">
              <a:lnSpc>
                <a:spcPct val="100000"/>
              </a:lnSpc>
              <a:spcBef>
                <a:spcPts val="725"/>
              </a:spcBef>
              <a:buChar char="-"/>
              <a:tabLst>
                <a:tab pos="457200" algn="l"/>
              </a:tabLst>
            </a:pPr>
            <a:r>
              <a:rPr sz="3000" spc="-10" dirty="0">
                <a:latin typeface="Arial"/>
                <a:cs typeface="Arial"/>
              </a:rPr>
              <a:t>Visualização </a:t>
            </a:r>
            <a:r>
              <a:rPr sz="3000" spc="-5" dirty="0">
                <a:latin typeface="Arial"/>
                <a:cs typeface="Arial"/>
              </a:rPr>
              <a:t>da </a:t>
            </a:r>
            <a:r>
              <a:rPr sz="3000" spc="-10" dirty="0">
                <a:latin typeface="Arial"/>
                <a:cs typeface="Arial"/>
              </a:rPr>
              <a:t>profundidade </a:t>
            </a:r>
            <a:r>
              <a:rPr sz="3000" spc="-5" dirty="0">
                <a:latin typeface="Arial"/>
                <a:cs typeface="Arial"/>
              </a:rPr>
              <a:t>da</a:t>
            </a:r>
            <a:r>
              <a:rPr sz="3000" spc="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esfoliação;</a:t>
            </a:r>
            <a:endParaRPr sz="3000" dirty="0">
              <a:latin typeface="Arial"/>
              <a:cs typeface="Arial"/>
            </a:endParaRPr>
          </a:p>
          <a:p>
            <a:pPr marL="457200" indent="-233679">
              <a:lnSpc>
                <a:spcPct val="100000"/>
              </a:lnSpc>
              <a:spcBef>
                <a:spcPts val="720"/>
              </a:spcBef>
              <a:buChar char="-"/>
              <a:tabLst>
                <a:tab pos="457200" algn="l"/>
              </a:tabLst>
            </a:pPr>
            <a:r>
              <a:rPr sz="3000" spc="-10" dirty="0">
                <a:latin typeface="Arial"/>
                <a:cs typeface="Arial"/>
              </a:rPr>
              <a:t>Não </a:t>
            </a:r>
            <a:r>
              <a:rPr sz="3000" dirty="0">
                <a:latin typeface="Arial"/>
                <a:cs typeface="Arial"/>
              </a:rPr>
              <a:t>há </a:t>
            </a:r>
            <a:r>
              <a:rPr sz="3000" spc="-5" dirty="0">
                <a:latin typeface="Arial"/>
                <a:cs typeface="Arial"/>
              </a:rPr>
              <a:t>interação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química.</a:t>
            </a:r>
            <a:endParaRPr sz="3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0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Desvantagens:</a:t>
            </a:r>
            <a:endParaRPr sz="3000" dirty="0">
              <a:latin typeface="Arial"/>
              <a:cs typeface="Arial"/>
            </a:endParaRPr>
          </a:p>
          <a:p>
            <a:pPr marL="457200" indent="-233679">
              <a:lnSpc>
                <a:spcPct val="100000"/>
              </a:lnSpc>
              <a:spcBef>
                <a:spcPts val="725"/>
              </a:spcBef>
              <a:buChar char="-"/>
              <a:tabLst>
                <a:tab pos="457200" algn="l"/>
              </a:tabLst>
            </a:pPr>
            <a:r>
              <a:rPr sz="3000" spc="-5" dirty="0">
                <a:latin typeface="Arial"/>
                <a:cs typeface="Arial"/>
              </a:rPr>
              <a:t>Difícil realizar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contornos;</a:t>
            </a:r>
            <a:endParaRPr sz="3000" dirty="0">
              <a:latin typeface="Arial"/>
              <a:cs typeface="Arial"/>
            </a:endParaRPr>
          </a:p>
          <a:p>
            <a:pPr marL="223521">
              <a:lnSpc>
                <a:spcPct val="100000"/>
              </a:lnSpc>
              <a:spcBef>
                <a:spcPts val="720"/>
              </a:spcBef>
              <a:tabLst>
                <a:tab pos="457200" algn="l"/>
              </a:tabLst>
            </a:pP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123" y="361188"/>
            <a:ext cx="5015483" cy="80467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1600136"/>
            <a:ext cx="8187055" cy="4526280"/>
          </a:xfrm>
          <a:custGeom>
            <a:avLst/>
            <a:gdLst/>
            <a:ahLst/>
            <a:cxnLst/>
            <a:rect l="l" t="t" r="r" b="b"/>
            <a:pathLst>
              <a:path w="8187055" h="4526280">
                <a:moveTo>
                  <a:pt x="0" y="4526026"/>
                </a:moveTo>
                <a:lnTo>
                  <a:pt x="8186801" y="4526026"/>
                </a:lnTo>
                <a:lnTo>
                  <a:pt x="8186801" y="0"/>
                </a:lnTo>
                <a:lnTo>
                  <a:pt x="0" y="0"/>
                </a:lnTo>
                <a:lnTo>
                  <a:pt x="0" y="4526026"/>
                </a:lnTo>
                <a:close/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3417" y="2053220"/>
            <a:ext cx="7757795" cy="29273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4180" indent="-411480">
              <a:lnSpc>
                <a:spcPct val="100000"/>
              </a:lnSpc>
              <a:spcBef>
                <a:spcPts val="760"/>
              </a:spcBef>
              <a:buClr>
                <a:srgbClr val="F8F8F8"/>
              </a:buClr>
              <a:buSzPct val="64285"/>
              <a:buFont typeface="Wingdings"/>
              <a:buChar char="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Fragilidade capilar;</a:t>
            </a:r>
            <a:endParaRPr sz="2800">
              <a:latin typeface="Arial"/>
              <a:cs typeface="Arial"/>
            </a:endParaRPr>
          </a:p>
          <a:p>
            <a:pPr marL="424180" marR="218440" indent="-411480">
              <a:lnSpc>
                <a:spcPct val="100000"/>
              </a:lnSpc>
              <a:spcBef>
                <a:spcPts val="660"/>
              </a:spcBef>
              <a:buClr>
                <a:srgbClr val="F8F8F8"/>
              </a:buClr>
              <a:buSzPct val="64285"/>
              <a:buFont typeface="Wingdings"/>
              <a:buChar char="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Hemangiomas (tumor formado por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pequenos  vasos sanguíneos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rompidos);</a:t>
            </a:r>
            <a:endParaRPr sz="2800">
              <a:latin typeface="Arial"/>
              <a:cs typeface="Arial"/>
            </a:endParaRPr>
          </a:p>
          <a:p>
            <a:pPr marL="424180" indent="-411480">
              <a:lnSpc>
                <a:spcPct val="100000"/>
              </a:lnSpc>
              <a:spcBef>
                <a:spcPts val="685"/>
              </a:spcBef>
              <a:buClr>
                <a:srgbClr val="F8F8F8"/>
              </a:buClr>
              <a:buSzPct val="64285"/>
              <a:buFont typeface="Wingdings"/>
              <a:buChar char=""/>
              <a:tabLst>
                <a:tab pos="423545" algn="l"/>
                <a:tab pos="424180" algn="l"/>
              </a:tabLst>
            </a:pPr>
            <a:r>
              <a:rPr sz="2800" dirty="0">
                <a:latin typeface="Arial"/>
                <a:cs typeface="Arial"/>
              </a:rPr>
              <a:t>Qualquer tipo de lesão tecidual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aberta;</a:t>
            </a:r>
            <a:endParaRPr sz="2800">
              <a:latin typeface="Arial"/>
              <a:cs typeface="Arial"/>
            </a:endParaRPr>
          </a:p>
          <a:p>
            <a:pPr marL="424180" marR="5080" indent="-411480">
              <a:lnSpc>
                <a:spcPct val="100000"/>
              </a:lnSpc>
              <a:spcBef>
                <a:spcPts val="680"/>
              </a:spcBef>
              <a:buClr>
                <a:srgbClr val="F8F8F8"/>
              </a:buClr>
              <a:buSzPct val="64285"/>
              <a:buFont typeface="Wingdings"/>
              <a:buChar char=""/>
              <a:tabLst>
                <a:tab pos="423545" algn="l"/>
                <a:tab pos="424180" algn="l"/>
              </a:tabLst>
            </a:pPr>
            <a:r>
              <a:rPr sz="2800" spc="-5" dirty="0">
                <a:latin typeface="Arial"/>
                <a:cs typeface="Arial"/>
              </a:rPr>
              <a:t>Exposição </a:t>
            </a:r>
            <a:r>
              <a:rPr sz="2800" dirty="0">
                <a:latin typeface="Arial"/>
                <a:cs typeface="Arial"/>
              </a:rPr>
              <a:t>solar até </a:t>
            </a:r>
            <a:r>
              <a:rPr sz="2800" spc="-5" dirty="0">
                <a:latin typeface="Arial"/>
                <a:cs typeface="Arial"/>
              </a:rPr>
              <a:t>20 dias </a:t>
            </a:r>
            <a:r>
              <a:rPr sz="2800" dirty="0">
                <a:latin typeface="Arial"/>
                <a:cs typeface="Arial"/>
              </a:rPr>
              <a:t>após </a:t>
            </a:r>
            <a:r>
              <a:rPr sz="2800" spc="-5" dirty="0">
                <a:latin typeface="Arial"/>
                <a:cs typeface="Arial"/>
              </a:rPr>
              <a:t>o </a:t>
            </a:r>
            <a:r>
              <a:rPr sz="2800" dirty="0">
                <a:latin typeface="Arial"/>
                <a:cs typeface="Arial"/>
              </a:rPr>
              <a:t>tratamento  (não esquecer </a:t>
            </a:r>
            <a:r>
              <a:rPr sz="2800" spc="-5" dirty="0">
                <a:latin typeface="Arial"/>
                <a:cs typeface="Arial"/>
              </a:rPr>
              <a:t>o </a:t>
            </a:r>
            <a:r>
              <a:rPr sz="2800" dirty="0">
                <a:latin typeface="Arial"/>
                <a:cs typeface="Arial"/>
              </a:rPr>
              <a:t>uso </a:t>
            </a:r>
            <a:r>
              <a:rPr sz="2800" spc="-5" dirty="0">
                <a:latin typeface="Arial"/>
                <a:cs typeface="Arial"/>
              </a:rPr>
              <a:t>do </a:t>
            </a:r>
            <a:r>
              <a:rPr sz="2800" dirty="0">
                <a:latin typeface="Arial"/>
                <a:cs typeface="Arial"/>
              </a:rPr>
              <a:t>bloqueador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solar).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223</TotalTime>
  <Words>633</Words>
  <Application>Microsoft Office PowerPoint</Application>
  <PresentationFormat>Apresentação na tela (4:3)</PresentationFormat>
  <Paragraphs>83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 NA FLACIDEZ TISSULAR?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- Promove uma aceleração da mitose celular e  consequente renovação epitelial, ocorrida na  camada subjacente e estimulando a  neovascularização regional.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Cristiane</dc:creator>
  <cp:lastModifiedBy>mariana justi</cp:lastModifiedBy>
  <cp:revision>9</cp:revision>
  <dcterms:created xsi:type="dcterms:W3CDTF">2020-09-27T16:12:10Z</dcterms:created>
  <dcterms:modified xsi:type="dcterms:W3CDTF">2025-08-03T22:19:48Z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2020-09-27T00:00:00Z</vt:filetime>
  </property>
</Properties>
</file>