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81" r:id="rId9"/>
    <p:sldId id="282" r:id="rId10"/>
    <p:sldId id="283" r:id="rId11"/>
    <p:sldId id="284" r:id="rId12"/>
    <p:sldId id="286" r:id="rId13"/>
    <p:sldId id="287" r:id="rId14"/>
    <p:sldId id="288" r:id="rId15"/>
    <p:sldId id="289" r:id="rId16"/>
    <p:sldId id="290" r:id="rId17"/>
    <p:sldId id="263" r:id="rId18"/>
    <p:sldId id="264" r:id="rId19"/>
    <p:sldId id="265" r:id="rId20"/>
    <p:sldId id="266" r:id="rId21"/>
    <p:sldId id="267" r:id="rId22"/>
    <p:sldId id="310" r:id="rId23"/>
    <p:sldId id="311" r:id="rId24"/>
    <p:sldId id="314" r:id="rId25"/>
    <p:sldId id="350" r:id="rId26"/>
    <p:sldId id="351" r:id="rId27"/>
    <p:sldId id="352" r:id="rId28"/>
    <p:sldId id="353" r:id="rId29"/>
    <p:sldId id="354" r:id="rId30"/>
    <p:sldId id="355" r:id="rId31"/>
    <p:sldId id="358" r:id="rId32"/>
    <p:sldId id="359" r:id="rId33"/>
    <p:sldId id="360" r:id="rId34"/>
    <p:sldId id="361" r:id="rId35"/>
    <p:sldId id="357" r:id="rId36"/>
    <p:sldId id="362" r:id="rId37"/>
    <p:sldId id="363" r:id="rId38"/>
    <p:sldId id="356" r:id="rId39"/>
    <p:sldId id="364" r:id="rId40"/>
    <p:sldId id="365" r:id="rId41"/>
    <p:sldId id="366" r:id="rId42"/>
    <p:sldId id="306" r:id="rId43"/>
    <p:sldId id="307" r:id="rId44"/>
    <p:sldId id="308" r:id="rId45"/>
    <p:sldId id="315" r:id="rId46"/>
    <p:sldId id="322" r:id="rId47"/>
    <p:sldId id="268" r:id="rId48"/>
    <p:sldId id="269" r:id="rId49"/>
    <p:sldId id="270" r:id="rId50"/>
    <p:sldId id="271" r:id="rId51"/>
    <p:sldId id="272" r:id="rId52"/>
    <p:sldId id="273" r:id="rId53"/>
    <p:sldId id="274" r:id="rId54"/>
    <p:sldId id="275" r:id="rId55"/>
    <p:sldId id="319" r:id="rId56"/>
    <p:sldId id="323" r:id="rId57"/>
    <p:sldId id="324" r:id="rId58"/>
    <p:sldId id="332" r:id="rId59"/>
    <p:sldId id="331" r:id="rId60"/>
    <p:sldId id="329" r:id="rId61"/>
    <p:sldId id="330" r:id="rId62"/>
    <p:sldId id="333" r:id="rId63"/>
    <p:sldId id="334" r:id="rId64"/>
    <p:sldId id="335" r:id="rId65"/>
    <p:sldId id="336" r:id="rId66"/>
    <p:sldId id="337" r:id="rId67"/>
    <p:sldId id="327" r:id="rId68"/>
    <p:sldId id="328" r:id="rId69"/>
    <p:sldId id="325" r:id="rId70"/>
    <p:sldId id="326" r:id="rId71"/>
    <p:sldId id="338" r:id="rId72"/>
    <p:sldId id="339" r:id="rId73"/>
    <p:sldId id="340" r:id="rId74"/>
    <p:sldId id="341" r:id="rId75"/>
    <p:sldId id="342" r:id="rId76"/>
    <p:sldId id="343" r:id="rId77"/>
    <p:sldId id="378" r:id="rId78"/>
    <p:sldId id="379" r:id="rId79"/>
    <p:sldId id="344" r:id="rId80"/>
    <p:sldId id="345" r:id="rId81"/>
    <p:sldId id="348" r:id="rId82"/>
    <p:sldId id="346" r:id="rId83"/>
    <p:sldId id="349" r:id="rId84"/>
    <p:sldId id="347" r:id="rId85"/>
    <p:sldId id="380" r:id="rId86"/>
    <p:sldId id="371" r:id="rId87"/>
    <p:sldId id="320" r:id="rId88"/>
    <p:sldId id="376" r:id="rId89"/>
    <p:sldId id="377" r:id="rId90"/>
    <p:sldId id="368" r:id="rId91"/>
    <p:sldId id="369" r:id="rId92"/>
    <p:sldId id="370" r:id="rId93"/>
    <p:sldId id="372" r:id="rId94"/>
    <p:sldId id="373" r:id="rId95"/>
    <p:sldId id="374" r:id="rId96"/>
    <p:sldId id="375" r:id="rId97"/>
    <p:sldId id="381" r:id="rId98"/>
    <p:sldId id="382" r:id="rId99"/>
    <p:sldId id="383" r:id="rId100"/>
    <p:sldId id="321" r:id="rId101"/>
    <p:sldId id="384" r:id="rId102"/>
    <p:sldId id="388" r:id="rId103"/>
    <p:sldId id="389" r:id="rId104"/>
    <p:sldId id="390" r:id="rId105"/>
    <p:sldId id="385" r:id="rId106"/>
    <p:sldId id="387" r:id="rId107"/>
    <p:sldId id="386" r:id="rId108"/>
    <p:sldId id="399" r:id="rId109"/>
    <p:sldId id="400" r:id="rId110"/>
    <p:sldId id="402" r:id="rId111"/>
    <p:sldId id="396" r:id="rId112"/>
    <p:sldId id="397" r:id="rId113"/>
    <p:sldId id="391" r:id="rId114"/>
    <p:sldId id="395" r:id="rId115"/>
    <p:sldId id="401" r:id="rId116"/>
    <p:sldId id="392" r:id="rId117"/>
    <p:sldId id="394" r:id="rId118"/>
    <p:sldId id="393" r:id="rId119"/>
    <p:sldId id="398" r:id="rId120"/>
    <p:sldId id="405" r:id="rId121"/>
    <p:sldId id="404" r:id="rId122"/>
    <p:sldId id="406" r:id="rId123"/>
    <p:sldId id="403" r:id="rId124"/>
    <p:sldId id="312" r:id="rId125"/>
    <p:sldId id="313" r:id="rId126"/>
    <p:sldId id="276" r:id="rId127"/>
    <p:sldId id="277" r:id="rId128"/>
    <p:sldId id="278" r:id="rId129"/>
    <p:sldId id="279" r:id="rId130"/>
    <p:sldId id="280" r:id="rId131"/>
    <p:sldId id="292" r:id="rId132"/>
    <p:sldId id="293" r:id="rId133"/>
    <p:sldId id="294" r:id="rId134"/>
    <p:sldId id="291" r:id="rId135"/>
    <p:sldId id="305" r:id="rId136"/>
    <p:sldId id="316" r:id="rId137"/>
    <p:sldId id="317" r:id="rId138"/>
    <p:sldId id="318" r:id="rId139"/>
    <p:sldId id="407" r:id="rId140"/>
    <p:sldId id="410" r:id="rId141"/>
    <p:sldId id="409" r:id="rId142"/>
    <p:sldId id="408" r:id="rId143"/>
    <p:sldId id="411" r:id="rId144"/>
    <p:sldId id="413" r:id="rId145"/>
    <p:sldId id="412" r:id="rId146"/>
    <p:sldId id="414" r:id="rId147"/>
    <p:sldId id="415" r:id="rId148"/>
    <p:sldId id="416" r:id="rId149"/>
    <p:sldId id="295" r:id="rId150"/>
    <p:sldId id="296" r:id="rId151"/>
    <p:sldId id="297" r:id="rId152"/>
    <p:sldId id="298" r:id="rId153"/>
    <p:sldId id="299" r:id="rId154"/>
    <p:sldId id="300" r:id="rId155"/>
    <p:sldId id="303" r:id="rId156"/>
    <p:sldId id="301" r:id="rId157"/>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71" d="100"/>
          <a:sy n="71" d="100"/>
        </p:scale>
        <p:origin x="69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slide" Target="slides/slide144.xml"/><Relationship Id="rId153" Type="http://schemas.openxmlformats.org/officeDocument/2006/relationships/slide" Target="slides/slide152.xml"/><Relationship Id="rId16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F1504D-4B1C-5D35-0425-18B8618A21A9}"/>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DBF3BEF4-A001-DDBB-AE23-F24010953E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75826C4F-2B44-7324-7FE6-5171D2AA02CB}"/>
              </a:ext>
            </a:extLst>
          </p:cNvPr>
          <p:cNvSpPr>
            <a:spLocks noGrp="1"/>
          </p:cNvSpPr>
          <p:nvPr>
            <p:ph type="dt" sz="half" idx="10"/>
          </p:nvPr>
        </p:nvSpPr>
        <p:spPr/>
        <p:txBody>
          <a:bodyPr/>
          <a:lstStyle/>
          <a:p>
            <a:fld id="{84FD990A-0BE0-4DCF-8653-9D5B98384CFC}" type="datetimeFigureOut">
              <a:rPr lang="pt-BR" smtClean="0"/>
              <a:t>13/04/2026</a:t>
            </a:fld>
            <a:endParaRPr lang="pt-BR"/>
          </a:p>
        </p:txBody>
      </p:sp>
      <p:sp>
        <p:nvSpPr>
          <p:cNvPr id="5" name="Espaço Reservado para Rodapé 4">
            <a:extLst>
              <a:ext uri="{FF2B5EF4-FFF2-40B4-BE49-F238E27FC236}">
                <a16:creationId xmlns:a16="http://schemas.microsoft.com/office/drawing/2014/main" id="{D5503E60-19F6-B21D-1486-02A78829D93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4F093280-EB78-D460-3926-5753D776C849}"/>
              </a:ext>
            </a:extLst>
          </p:cNvPr>
          <p:cNvSpPr>
            <a:spLocks noGrp="1"/>
          </p:cNvSpPr>
          <p:nvPr>
            <p:ph type="sldNum" sz="quarter" idx="12"/>
          </p:nvPr>
        </p:nvSpPr>
        <p:spPr/>
        <p:txBody>
          <a:bodyPr/>
          <a:lstStyle/>
          <a:p>
            <a:fld id="{BD1AAE8A-E79A-4CA0-AC9E-8C1D627CDE59}" type="slidenum">
              <a:rPr lang="pt-BR" smtClean="0"/>
              <a:t>‹nº›</a:t>
            </a:fld>
            <a:endParaRPr lang="pt-BR"/>
          </a:p>
        </p:txBody>
      </p:sp>
    </p:spTree>
    <p:extLst>
      <p:ext uri="{BB962C8B-B14F-4D97-AF65-F5344CB8AC3E}">
        <p14:creationId xmlns:p14="http://schemas.microsoft.com/office/powerpoint/2010/main" val="4759359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828A85-8363-7A84-8EDC-AD24A10AACF0}"/>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2BBDD755-712E-6434-33F3-D7F97EE42C48}"/>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5128404-D45B-628B-3FE2-6C1E77821197}"/>
              </a:ext>
            </a:extLst>
          </p:cNvPr>
          <p:cNvSpPr>
            <a:spLocks noGrp="1"/>
          </p:cNvSpPr>
          <p:nvPr>
            <p:ph type="dt" sz="half" idx="10"/>
          </p:nvPr>
        </p:nvSpPr>
        <p:spPr/>
        <p:txBody>
          <a:bodyPr/>
          <a:lstStyle/>
          <a:p>
            <a:fld id="{84FD990A-0BE0-4DCF-8653-9D5B98384CFC}" type="datetimeFigureOut">
              <a:rPr lang="pt-BR" smtClean="0"/>
              <a:t>13/04/2026</a:t>
            </a:fld>
            <a:endParaRPr lang="pt-BR"/>
          </a:p>
        </p:txBody>
      </p:sp>
      <p:sp>
        <p:nvSpPr>
          <p:cNvPr id="5" name="Espaço Reservado para Rodapé 4">
            <a:extLst>
              <a:ext uri="{FF2B5EF4-FFF2-40B4-BE49-F238E27FC236}">
                <a16:creationId xmlns:a16="http://schemas.microsoft.com/office/drawing/2014/main" id="{1786E8B8-17A1-510E-0548-7E8804EC4A3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A3097CC7-B5D7-87BA-186A-A8D28F5DDD16}"/>
              </a:ext>
            </a:extLst>
          </p:cNvPr>
          <p:cNvSpPr>
            <a:spLocks noGrp="1"/>
          </p:cNvSpPr>
          <p:nvPr>
            <p:ph type="sldNum" sz="quarter" idx="12"/>
          </p:nvPr>
        </p:nvSpPr>
        <p:spPr/>
        <p:txBody>
          <a:bodyPr/>
          <a:lstStyle/>
          <a:p>
            <a:fld id="{BD1AAE8A-E79A-4CA0-AC9E-8C1D627CDE59}" type="slidenum">
              <a:rPr lang="pt-BR" smtClean="0"/>
              <a:t>‹nº›</a:t>
            </a:fld>
            <a:endParaRPr lang="pt-BR"/>
          </a:p>
        </p:txBody>
      </p:sp>
    </p:spTree>
    <p:extLst>
      <p:ext uri="{BB962C8B-B14F-4D97-AF65-F5344CB8AC3E}">
        <p14:creationId xmlns:p14="http://schemas.microsoft.com/office/powerpoint/2010/main" val="1995814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0D67B1-AB17-6D52-0055-C327E16020AF}"/>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0C471FB3-7827-F65A-ABC4-218D59D46AB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1740A1FE-4906-51C7-CD90-5784FA34B0BF}"/>
              </a:ext>
            </a:extLst>
          </p:cNvPr>
          <p:cNvSpPr>
            <a:spLocks noGrp="1"/>
          </p:cNvSpPr>
          <p:nvPr>
            <p:ph type="dt" sz="half" idx="10"/>
          </p:nvPr>
        </p:nvSpPr>
        <p:spPr/>
        <p:txBody>
          <a:bodyPr/>
          <a:lstStyle/>
          <a:p>
            <a:fld id="{84FD990A-0BE0-4DCF-8653-9D5B98384CFC}" type="datetimeFigureOut">
              <a:rPr lang="pt-BR" smtClean="0"/>
              <a:t>13/04/2026</a:t>
            </a:fld>
            <a:endParaRPr lang="pt-BR"/>
          </a:p>
        </p:txBody>
      </p:sp>
      <p:sp>
        <p:nvSpPr>
          <p:cNvPr id="5" name="Espaço Reservado para Rodapé 4">
            <a:extLst>
              <a:ext uri="{FF2B5EF4-FFF2-40B4-BE49-F238E27FC236}">
                <a16:creationId xmlns:a16="http://schemas.microsoft.com/office/drawing/2014/main" id="{E822C653-706D-6D15-4176-FE671B32683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F74D24C5-2D50-DE85-0DCF-B4B8B672B1B5}"/>
              </a:ext>
            </a:extLst>
          </p:cNvPr>
          <p:cNvSpPr>
            <a:spLocks noGrp="1"/>
          </p:cNvSpPr>
          <p:nvPr>
            <p:ph type="sldNum" sz="quarter" idx="12"/>
          </p:nvPr>
        </p:nvSpPr>
        <p:spPr/>
        <p:txBody>
          <a:bodyPr/>
          <a:lstStyle/>
          <a:p>
            <a:fld id="{BD1AAE8A-E79A-4CA0-AC9E-8C1D627CDE59}" type="slidenum">
              <a:rPr lang="pt-BR" smtClean="0"/>
              <a:t>‹nº›</a:t>
            </a:fld>
            <a:endParaRPr lang="pt-BR"/>
          </a:p>
        </p:txBody>
      </p:sp>
    </p:spTree>
    <p:extLst>
      <p:ext uri="{BB962C8B-B14F-4D97-AF65-F5344CB8AC3E}">
        <p14:creationId xmlns:p14="http://schemas.microsoft.com/office/powerpoint/2010/main" val="1849196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613286-F12B-F68C-E583-46C8D9AC393C}"/>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A7FBDC64-5CF8-F27E-98E7-CD5DFD718FC5}"/>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45F32F9C-836F-BE1D-0F91-BCA0F4DA3254}"/>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38D0A17F-2C54-A4F3-C349-1E244906DC63}"/>
              </a:ext>
            </a:extLst>
          </p:cNvPr>
          <p:cNvSpPr>
            <a:spLocks noGrp="1"/>
          </p:cNvSpPr>
          <p:nvPr>
            <p:ph type="dt" sz="half" idx="10"/>
          </p:nvPr>
        </p:nvSpPr>
        <p:spPr/>
        <p:txBody>
          <a:bodyPr/>
          <a:lstStyle/>
          <a:p>
            <a:fld id="{84FD990A-0BE0-4DCF-8653-9D5B98384CFC}" type="datetimeFigureOut">
              <a:rPr lang="pt-BR" smtClean="0"/>
              <a:t>13/04/2026</a:t>
            </a:fld>
            <a:endParaRPr lang="pt-BR"/>
          </a:p>
        </p:txBody>
      </p:sp>
      <p:sp>
        <p:nvSpPr>
          <p:cNvPr id="6" name="Espaço Reservado para Rodapé 5">
            <a:extLst>
              <a:ext uri="{FF2B5EF4-FFF2-40B4-BE49-F238E27FC236}">
                <a16:creationId xmlns:a16="http://schemas.microsoft.com/office/drawing/2014/main" id="{9769FAA9-414C-7D05-86DF-A2BA69452B2A}"/>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A06DD400-961C-B1F8-5620-DE9D62CF07FC}"/>
              </a:ext>
            </a:extLst>
          </p:cNvPr>
          <p:cNvSpPr>
            <a:spLocks noGrp="1"/>
          </p:cNvSpPr>
          <p:nvPr>
            <p:ph type="sldNum" sz="quarter" idx="12"/>
          </p:nvPr>
        </p:nvSpPr>
        <p:spPr/>
        <p:txBody>
          <a:bodyPr/>
          <a:lstStyle/>
          <a:p>
            <a:fld id="{BD1AAE8A-E79A-4CA0-AC9E-8C1D627CDE59}" type="slidenum">
              <a:rPr lang="pt-BR" smtClean="0"/>
              <a:t>‹nº›</a:t>
            </a:fld>
            <a:endParaRPr lang="pt-BR"/>
          </a:p>
        </p:txBody>
      </p:sp>
    </p:spTree>
    <p:extLst>
      <p:ext uri="{BB962C8B-B14F-4D97-AF65-F5344CB8AC3E}">
        <p14:creationId xmlns:p14="http://schemas.microsoft.com/office/powerpoint/2010/main" val="38182750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44E9F0-26A8-2BDE-ADE0-03CA84ECC474}"/>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1AC38822-9320-01FC-053C-357AFB3A26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3B96E5C9-AAD7-8D34-6E7C-7601B9C9AAD7}"/>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17067430-452C-0059-D169-D1E52A1AD17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CEAA39CA-11AF-C4AE-EFCB-6E180DC29BF5}"/>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9DC1FEE2-E7C3-3AF4-3DC4-1ACE49BFC945}"/>
              </a:ext>
            </a:extLst>
          </p:cNvPr>
          <p:cNvSpPr>
            <a:spLocks noGrp="1"/>
          </p:cNvSpPr>
          <p:nvPr>
            <p:ph type="dt" sz="half" idx="10"/>
          </p:nvPr>
        </p:nvSpPr>
        <p:spPr/>
        <p:txBody>
          <a:bodyPr/>
          <a:lstStyle/>
          <a:p>
            <a:fld id="{84FD990A-0BE0-4DCF-8653-9D5B98384CFC}" type="datetimeFigureOut">
              <a:rPr lang="pt-BR" smtClean="0"/>
              <a:t>13/04/2026</a:t>
            </a:fld>
            <a:endParaRPr lang="pt-BR"/>
          </a:p>
        </p:txBody>
      </p:sp>
      <p:sp>
        <p:nvSpPr>
          <p:cNvPr id="8" name="Espaço Reservado para Rodapé 7">
            <a:extLst>
              <a:ext uri="{FF2B5EF4-FFF2-40B4-BE49-F238E27FC236}">
                <a16:creationId xmlns:a16="http://schemas.microsoft.com/office/drawing/2014/main" id="{61D9355F-753D-29CD-FE8B-D0CDDD122CD7}"/>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15690B1B-E109-4756-48FB-2546F5DA0106}"/>
              </a:ext>
            </a:extLst>
          </p:cNvPr>
          <p:cNvSpPr>
            <a:spLocks noGrp="1"/>
          </p:cNvSpPr>
          <p:nvPr>
            <p:ph type="sldNum" sz="quarter" idx="12"/>
          </p:nvPr>
        </p:nvSpPr>
        <p:spPr/>
        <p:txBody>
          <a:bodyPr/>
          <a:lstStyle/>
          <a:p>
            <a:fld id="{BD1AAE8A-E79A-4CA0-AC9E-8C1D627CDE59}" type="slidenum">
              <a:rPr lang="pt-BR" smtClean="0"/>
              <a:t>‹nº›</a:t>
            </a:fld>
            <a:endParaRPr lang="pt-BR"/>
          </a:p>
        </p:txBody>
      </p:sp>
    </p:spTree>
    <p:extLst>
      <p:ext uri="{BB962C8B-B14F-4D97-AF65-F5344CB8AC3E}">
        <p14:creationId xmlns:p14="http://schemas.microsoft.com/office/powerpoint/2010/main" val="23510038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30D96B-CA2B-0C6E-F816-8F769D1CBB9F}"/>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07F9FB8B-BA7D-1BF6-6C30-118ACEC1C9E9}"/>
              </a:ext>
            </a:extLst>
          </p:cNvPr>
          <p:cNvSpPr>
            <a:spLocks noGrp="1"/>
          </p:cNvSpPr>
          <p:nvPr>
            <p:ph type="dt" sz="half" idx="10"/>
          </p:nvPr>
        </p:nvSpPr>
        <p:spPr/>
        <p:txBody>
          <a:bodyPr/>
          <a:lstStyle/>
          <a:p>
            <a:fld id="{84FD990A-0BE0-4DCF-8653-9D5B98384CFC}" type="datetimeFigureOut">
              <a:rPr lang="pt-BR" smtClean="0"/>
              <a:t>13/04/2026</a:t>
            </a:fld>
            <a:endParaRPr lang="pt-BR"/>
          </a:p>
        </p:txBody>
      </p:sp>
      <p:sp>
        <p:nvSpPr>
          <p:cNvPr id="4" name="Espaço Reservado para Rodapé 3">
            <a:extLst>
              <a:ext uri="{FF2B5EF4-FFF2-40B4-BE49-F238E27FC236}">
                <a16:creationId xmlns:a16="http://schemas.microsoft.com/office/drawing/2014/main" id="{33F7C082-552D-5C80-A764-698F5648A0CA}"/>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EE532E1C-958B-D141-7796-CFA4F0A2151B}"/>
              </a:ext>
            </a:extLst>
          </p:cNvPr>
          <p:cNvSpPr>
            <a:spLocks noGrp="1"/>
          </p:cNvSpPr>
          <p:nvPr>
            <p:ph type="sldNum" sz="quarter" idx="12"/>
          </p:nvPr>
        </p:nvSpPr>
        <p:spPr/>
        <p:txBody>
          <a:bodyPr/>
          <a:lstStyle/>
          <a:p>
            <a:fld id="{BD1AAE8A-E79A-4CA0-AC9E-8C1D627CDE59}" type="slidenum">
              <a:rPr lang="pt-BR" smtClean="0"/>
              <a:t>‹nº›</a:t>
            </a:fld>
            <a:endParaRPr lang="pt-BR"/>
          </a:p>
        </p:txBody>
      </p:sp>
    </p:spTree>
    <p:extLst>
      <p:ext uri="{BB962C8B-B14F-4D97-AF65-F5344CB8AC3E}">
        <p14:creationId xmlns:p14="http://schemas.microsoft.com/office/powerpoint/2010/main" val="5380029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99BBB9BF-8D0C-7685-6B97-FF9F08C805B1}"/>
              </a:ext>
            </a:extLst>
          </p:cNvPr>
          <p:cNvSpPr>
            <a:spLocks noGrp="1"/>
          </p:cNvSpPr>
          <p:nvPr>
            <p:ph type="dt" sz="half" idx="10"/>
          </p:nvPr>
        </p:nvSpPr>
        <p:spPr/>
        <p:txBody>
          <a:bodyPr/>
          <a:lstStyle/>
          <a:p>
            <a:fld id="{84FD990A-0BE0-4DCF-8653-9D5B98384CFC}" type="datetimeFigureOut">
              <a:rPr lang="pt-BR" smtClean="0"/>
              <a:t>13/04/2026</a:t>
            </a:fld>
            <a:endParaRPr lang="pt-BR"/>
          </a:p>
        </p:txBody>
      </p:sp>
      <p:sp>
        <p:nvSpPr>
          <p:cNvPr id="3" name="Espaço Reservado para Rodapé 2">
            <a:extLst>
              <a:ext uri="{FF2B5EF4-FFF2-40B4-BE49-F238E27FC236}">
                <a16:creationId xmlns:a16="http://schemas.microsoft.com/office/drawing/2014/main" id="{7304BEA5-F8EB-5112-38B8-78344FD6BD60}"/>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32CC03D8-C960-4063-1C15-E1CEDC173AAF}"/>
              </a:ext>
            </a:extLst>
          </p:cNvPr>
          <p:cNvSpPr>
            <a:spLocks noGrp="1"/>
          </p:cNvSpPr>
          <p:nvPr>
            <p:ph type="sldNum" sz="quarter" idx="12"/>
          </p:nvPr>
        </p:nvSpPr>
        <p:spPr/>
        <p:txBody>
          <a:bodyPr/>
          <a:lstStyle/>
          <a:p>
            <a:fld id="{BD1AAE8A-E79A-4CA0-AC9E-8C1D627CDE59}" type="slidenum">
              <a:rPr lang="pt-BR" smtClean="0"/>
              <a:t>‹nº›</a:t>
            </a:fld>
            <a:endParaRPr lang="pt-BR"/>
          </a:p>
        </p:txBody>
      </p:sp>
    </p:spTree>
    <p:extLst>
      <p:ext uri="{BB962C8B-B14F-4D97-AF65-F5344CB8AC3E}">
        <p14:creationId xmlns:p14="http://schemas.microsoft.com/office/powerpoint/2010/main" val="1661525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8EAEFD-0A4C-829A-9A16-67B368562B70}"/>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F68BA94B-6093-5C02-8E71-85E3C2470E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AA64BC34-087D-E68A-68C1-F59F7EA24E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977DED4A-6B39-B8DC-C5ED-78A21F1F0C0C}"/>
              </a:ext>
            </a:extLst>
          </p:cNvPr>
          <p:cNvSpPr>
            <a:spLocks noGrp="1"/>
          </p:cNvSpPr>
          <p:nvPr>
            <p:ph type="dt" sz="half" idx="10"/>
          </p:nvPr>
        </p:nvSpPr>
        <p:spPr/>
        <p:txBody>
          <a:bodyPr/>
          <a:lstStyle/>
          <a:p>
            <a:fld id="{84FD990A-0BE0-4DCF-8653-9D5B98384CFC}" type="datetimeFigureOut">
              <a:rPr lang="pt-BR" smtClean="0"/>
              <a:t>13/04/2026</a:t>
            </a:fld>
            <a:endParaRPr lang="pt-BR"/>
          </a:p>
        </p:txBody>
      </p:sp>
      <p:sp>
        <p:nvSpPr>
          <p:cNvPr id="6" name="Espaço Reservado para Rodapé 5">
            <a:extLst>
              <a:ext uri="{FF2B5EF4-FFF2-40B4-BE49-F238E27FC236}">
                <a16:creationId xmlns:a16="http://schemas.microsoft.com/office/drawing/2014/main" id="{951C8085-3FAC-A2E1-8205-24D6B785587E}"/>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FF2029DF-6C6C-EC79-7C08-89DE2913BF0B}"/>
              </a:ext>
            </a:extLst>
          </p:cNvPr>
          <p:cNvSpPr>
            <a:spLocks noGrp="1"/>
          </p:cNvSpPr>
          <p:nvPr>
            <p:ph type="sldNum" sz="quarter" idx="12"/>
          </p:nvPr>
        </p:nvSpPr>
        <p:spPr/>
        <p:txBody>
          <a:bodyPr/>
          <a:lstStyle/>
          <a:p>
            <a:fld id="{BD1AAE8A-E79A-4CA0-AC9E-8C1D627CDE59}" type="slidenum">
              <a:rPr lang="pt-BR" smtClean="0"/>
              <a:t>‹nº›</a:t>
            </a:fld>
            <a:endParaRPr lang="pt-BR"/>
          </a:p>
        </p:txBody>
      </p:sp>
    </p:spTree>
    <p:extLst>
      <p:ext uri="{BB962C8B-B14F-4D97-AF65-F5344CB8AC3E}">
        <p14:creationId xmlns:p14="http://schemas.microsoft.com/office/powerpoint/2010/main" val="33584234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C95850-2206-0B0F-2107-083C3279CFAA}"/>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4EE81FB9-C5D2-686E-B55A-0C6536F919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7DE6D520-459F-9500-E245-D4F7D26D8B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C22C6898-0BB4-B943-1912-BD9E98547E92}"/>
              </a:ext>
            </a:extLst>
          </p:cNvPr>
          <p:cNvSpPr>
            <a:spLocks noGrp="1"/>
          </p:cNvSpPr>
          <p:nvPr>
            <p:ph type="dt" sz="half" idx="10"/>
          </p:nvPr>
        </p:nvSpPr>
        <p:spPr/>
        <p:txBody>
          <a:bodyPr/>
          <a:lstStyle/>
          <a:p>
            <a:fld id="{84FD990A-0BE0-4DCF-8653-9D5B98384CFC}" type="datetimeFigureOut">
              <a:rPr lang="pt-BR" smtClean="0"/>
              <a:t>13/04/2026</a:t>
            </a:fld>
            <a:endParaRPr lang="pt-BR"/>
          </a:p>
        </p:txBody>
      </p:sp>
      <p:sp>
        <p:nvSpPr>
          <p:cNvPr id="6" name="Espaço Reservado para Rodapé 5">
            <a:extLst>
              <a:ext uri="{FF2B5EF4-FFF2-40B4-BE49-F238E27FC236}">
                <a16:creationId xmlns:a16="http://schemas.microsoft.com/office/drawing/2014/main" id="{9091B228-9A81-2822-442D-ABCFB2C88845}"/>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CCBAE3F9-2CD9-AB2B-664D-052409220748}"/>
              </a:ext>
            </a:extLst>
          </p:cNvPr>
          <p:cNvSpPr>
            <a:spLocks noGrp="1"/>
          </p:cNvSpPr>
          <p:nvPr>
            <p:ph type="sldNum" sz="quarter" idx="12"/>
          </p:nvPr>
        </p:nvSpPr>
        <p:spPr/>
        <p:txBody>
          <a:bodyPr/>
          <a:lstStyle/>
          <a:p>
            <a:fld id="{BD1AAE8A-E79A-4CA0-AC9E-8C1D627CDE59}" type="slidenum">
              <a:rPr lang="pt-BR" smtClean="0"/>
              <a:t>‹nº›</a:t>
            </a:fld>
            <a:endParaRPr lang="pt-BR"/>
          </a:p>
        </p:txBody>
      </p:sp>
    </p:spTree>
    <p:extLst>
      <p:ext uri="{BB962C8B-B14F-4D97-AF65-F5344CB8AC3E}">
        <p14:creationId xmlns:p14="http://schemas.microsoft.com/office/powerpoint/2010/main" val="2517561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44A9A4-8B2D-8C67-61C8-622D9D1E6FE1}"/>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9E888C2C-4B17-28D3-B71D-6EF60BBCC095}"/>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C10DE47E-63DC-849F-AFCD-D790B2AF6A4D}"/>
              </a:ext>
            </a:extLst>
          </p:cNvPr>
          <p:cNvSpPr>
            <a:spLocks noGrp="1"/>
          </p:cNvSpPr>
          <p:nvPr>
            <p:ph type="dt" sz="half" idx="10"/>
          </p:nvPr>
        </p:nvSpPr>
        <p:spPr/>
        <p:txBody>
          <a:bodyPr/>
          <a:lstStyle/>
          <a:p>
            <a:fld id="{84FD990A-0BE0-4DCF-8653-9D5B98384CFC}" type="datetimeFigureOut">
              <a:rPr lang="pt-BR" smtClean="0"/>
              <a:t>13/04/2026</a:t>
            </a:fld>
            <a:endParaRPr lang="pt-BR"/>
          </a:p>
        </p:txBody>
      </p:sp>
      <p:sp>
        <p:nvSpPr>
          <p:cNvPr id="5" name="Espaço Reservado para Rodapé 4">
            <a:extLst>
              <a:ext uri="{FF2B5EF4-FFF2-40B4-BE49-F238E27FC236}">
                <a16:creationId xmlns:a16="http://schemas.microsoft.com/office/drawing/2014/main" id="{2D7F806D-8DCB-5B15-6866-FB7152B820EC}"/>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C10D4622-4878-0914-507F-00E611B1612E}"/>
              </a:ext>
            </a:extLst>
          </p:cNvPr>
          <p:cNvSpPr>
            <a:spLocks noGrp="1"/>
          </p:cNvSpPr>
          <p:nvPr>
            <p:ph type="sldNum" sz="quarter" idx="12"/>
          </p:nvPr>
        </p:nvSpPr>
        <p:spPr/>
        <p:txBody>
          <a:bodyPr/>
          <a:lstStyle/>
          <a:p>
            <a:fld id="{BD1AAE8A-E79A-4CA0-AC9E-8C1D627CDE59}" type="slidenum">
              <a:rPr lang="pt-BR" smtClean="0"/>
              <a:t>‹nº›</a:t>
            </a:fld>
            <a:endParaRPr lang="pt-BR"/>
          </a:p>
        </p:txBody>
      </p:sp>
    </p:spTree>
    <p:extLst>
      <p:ext uri="{BB962C8B-B14F-4D97-AF65-F5344CB8AC3E}">
        <p14:creationId xmlns:p14="http://schemas.microsoft.com/office/powerpoint/2010/main" val="30648553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AD957D58-0E19-6AA6-2FF1-16E338063CA9}"/>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CECCC50E-CC1E-B39F-86C5-D072C90C298E}"/>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86A7ECAF-6660-8B63-6454-2610BB888B8C}"/>
              </a:ext>
            </a:extLst>
          </p:cNvPr>
          <p:cNvSpPr>
            <a:spLocks noGrp="1"/>
          </p:cNvSpPr>
          <p:nvPr>
            <p:ph type="dt" sz="half" idx="10"/>
          </p:nvPr>
        </p:nvSpPr>
        <p:spPr/>
        <p:txBody>
          <a:bodyPr/>
          <a:lstStyle/>
          <a:p>
            <a:fld id="{84FD990A-0BE0-4DCF-8653-9D5B98384CFC}" type="datetimeFigureOut">
              <a:rPr lang="pt-BR" smtClean="0"/>
              <a:t>13/04/2026</a:t>
            </a:fld>
            <a:endParaRPr lang="pt-BR"/>
          </a:p>
        </p:txBody>
      </p:sp>
      <p:sp>
        <p:nvSpPr>
          <p:cNvPr id="5" name="Espaço Reservado para Rodapé 4">
            <a:extLst>
              <a:ext uri="{FF2B5EF4-FFF2-40B4-BE49-F238E27FC236}">
                <a16:creationId xmlns:a16="http://schemas.microsoft.com/office/drawing/2014/main" id="{AB6D5556-FABA-E0BB-84B8-D4B88D91F63B}"/>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2ECD2CA-D1D1-DB34-D268-80CF76D7FE47}"/>
              </a:ext>
            </a:extLst>
          </p:cNvPr>
          <p:cNvSpPr>
            <a:spLocks noGrp="1"/>
          </p:cNvSpPr>
          <p:nvPr>
            <p:ph type="sldNum" sz="quarter" idx="12"/>
          </p:nvPr>
        </p:nvSpPr>
        <p:spPr/>
        <p:txBody>
          <a:bodyPr/>
          <a:lstStyle/>
          <a:p>
            <a:fld id="{BD1AAE8A-E79A-4CA0-AC9E-8C1D627CDE59}" type="slidenum">
              <a:rPr lang="pt-BR" smtClean="0"/>
              <a:t>‹nº›</a:t>
            </a:fld>
            <a:endParaRPr lang="pt-BR"/>
          </a:p>
        </p:txBody>
      </p:sp>
    </p:spTree>
    <p:extLst>
      <p:ext uri="{BB962C8B-B14F-4D97-AF65-F5344CB8AC3E}">
        <p14:creationId xmlns:p14="http://schemas.microsoft.com/office/powerpoint/2010/main" val="1905466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31899FE8-52DB-0657-AF08-6E755D2D3F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DD2EA328-97BE-A891-74D7-F9352D453B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BA88C79D-A57A-5C87-CF5D-48D33FB6A9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FD990A-0BE0-4DCF-8653-9D5B98384CFC}" type="datetimeFigureOut">
              <a:rPr lang="pt-BR" smtClean="0"/>
              <a:t>13/04/2026</a:t>
            </a:fld>
            <a:endParaRPr lang="pt-BR"/>
          </a:p>
        </p:txBody>
      </p:sp>
      <p:sp>
        <p:nvSpPr>
          <p:cNvPr id="5" name="Espaço Reservado para Rodapé 4">
            <a:extLst>
              <a:ext uri="{FF2B5EF4-FFF2-40B4-BE49-F238E27FC236}">
                <a16:creationId xmlns:a16="http://schemas.microsoft.com/office/drawing/2014/main" id="{16DA23AA-F9E1-EB36-96A2-877D7C5003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1117E7A4-A84C-1555-46B9-4E199EB7AA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1AAE8A-E79A-4CA0-AC9E-8C1D627CDE59}" type="slidenum">
              <a:rPr lang="pt-BR" smtClean="0"/>
              <a:t>‹nº›</a:t>
            </a:fld>
            <a:endParaRPr lang="pt-BR"/>
          </a:p>
        </p:txBody>
      </p:sp>
    </p:spTree>
    <p:extLst>
      <p:ext uri="{BB962C8B-B14F-4D97-AF65-F5344CB8AC3E}">
        <p14:creationId xmlns:p14="http://schemas.microsoft.com/office/powerpoint/2010/main" val="14401534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hyperlink" Target="https://liliandermatologista.com.br/laser-thulium/" TargetMode="Externa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39.gif"/><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hyperlink" Target="https://www.carumoreno.com.br/2025/10/08/herpes-como-identificar-prevenir-e-acelerar-a-cura/" TargetMode="Externa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58.jp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59.jp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60.jp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833756-1D5D-476D-592C-7D55B751FE16}"/>
              </a:ext>
            </a:extLst>
          </p:cNvPr>
          <p:cNvSpPr>
            <a:spLocks noGrp="1"/>
          </p:cNvSpPr>
          <p:nvPr>
            <p:ph type="ctrTitle"/>
          </p:nvPr>
        </p:nvSpPr>
        <p:spPr>
          <a:xfrm>
            <a:off x="1378225" y="1122363"/>
            <a:ext cx="9395791" cy="2387600"/>
          </a:xfrm>
        </p:spPr>
        <p:txBody>
          <a:bodyPr/>
          <a:lstStyle/>
          <a:p>
            <a:r>
              <a:rPr lang="pt-BR" dirty="0"/>
              <a:t>ELETROTERMOFOTOTERAPIA</a:t>
            </a:r>
          </a:p>
        </p:txBody>
      </p:sp>
      <p:sp>
        <p:nvSpPr>
          <p:cNvPr id="3" name="Subtítulo 2">
            <a:extLst>
              <a:ext uri="{FF2B5EF4-FFF2-40B4-BE49-F238E27FC236}">
                <a16:creationId xmlns:a16="http://schemas.microsoft.com/office/drawing/2014/main" id="{72F3F65D-405D-A525-3060-F0B4DF9F2733}"/>
              </a:ext>
            </a:extLst>
          </p:cNvPr>
          <p:cNvSpPr>
            <a:spLocks noGrp="1"/>
          </p:cNvSpPr>
          <p:nvPr>
            <p:ph type="subTitle" idx="1"/>
          </p:nvPr>
        </p:nvSpPr>
        <p:spPr/>
        <p:txBody>
          <a:bodyPr/>
          <a:lstStyle/>
          <a:p>
            <a:r>
              <a:rPr lang="pt-BR" dirty="0" err="1"/>
              <a:t>Prof</a:t>
            </a:r>
            <a:r>
              <a:rPr lang="pt-BR" dirty="0"/>
              <a:t> Mariana Macedo Justi </a:t>
            </a:r>
          </a:p>
        </p:txBody>
      </p:sp>
    </p:spTree>
    <p:extLst>
      <p:ext uri="{BB962C8B-B14F-4D97-AF65-F5344CB8AC3E}">
        <p14:creationId xmlns:p14="http://schemas.microsoft.com/office/powerpoint/2010/main" val="934753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DC55E9-59DB-4305-70B1-BE78C0F4F576}"/>
              </a:ext>
            </a:extLst>
          </p:cNvPr>
          <p:cNvSpPr>
            <a:spLocks noGrp="1"/>
          </p:cNvSpPr>
          <p:nvPr>
            <p:ph type="title"/>
          </p:nvPr>
        </p:nvSpPr>
        <p:spPr/>
        <p:txBody>
          <a:bodyPr/>
          <a:lstStyle/>
          <a:p>
            <a:r>
              <a:rPr lang="pt-BR" dirty="0"/>
              <a:t>ELETROTERMOFOTOTERAPIA</a:t>
            </a:r>
          </a:p>
        </p:txBody>
      </p:sp>
      <p:sp>
        <p:nvSpPr>
          <p:cNvPr id="3" name="Espaço Reservado para Conteúdo 2">
            <a:extLst>
              <a:ext uri="{FF2B5EF4-FFF2-40B4-BE49-F238E27FC236}">
                <a16:creationId xmlns:a16="http://schemas.microsoft.com/office/drawing/2014/main" id="{840DE17F-0FB6-283F-31FA-2BFED0D1CC1D}"/>
              </a:ext>
            </a:extLst>
          </p:cNvPr>
          <p:cNvSpPr>
            <a:spLocks noGrp="1"/>
          </p:cNvSpPr>
          <p:nvPr>
            <p:ph idx="1"/>
          </p:nvPr>
        </p:nvSpPr>
        <p:spPr/>
        <p:txBody>
          <a:bodyPr/>
          <a:lstStyle/>
          <a:p>
            <a:pPr>
              <a:lnSpc>
                <a:spcPct val="150000"/>
              </a:lnSpc>
              <a:spcBef>
                <a:spcPts val="0"/>
              </a:spcBef>
            </a:pPr>
            <a:r>
              <a:rPr lang="pt-BR" dirty="0"/>
              <a:t>São os tipos de luzes para fins terapêuticos </a:t>
            </a:r>
          </a:p>
          <a:p>
            <a:pPr>
              <a:lnSpc>
                <a:spcPct val="150000"/>
              </a:lnSpc>
              <a:spcBef>
                <a:spcPts val="0"/>
              </a:spcBef>
            </a:pPr>
            <a:r>
              <a:rPr lang="pt-BR" dirty="0"/>
              <a:t>São pacotes de energia que interagem com o tecido biológico </a:t>
            </a:r>
          </a:p>
          <a:p>
            <a:pPr>
              <a:lnSpc>
                <a:spcPct val="150000"/>
              </a:lnSpc>
              <a:spcBef>
                <a:spcPts val="0"/>
              </a:spcBef>
            </a:pPr>
            <a:r>
              <a:rPr lang="pt-BR" dirty="0"/>
              <a:t>Campos luminosos: laser, LED, LIP</a:t>
            </a:r>
          </a:p>
        </p:txBody>
      </p:sp>
    </p:spTree>
    <p:extLst>
      <p:ext uri="{BB962C8B-B14F-4D97-AF65-F5344CB8AC3E}">
        <p14:creationId xmlns:p14="http://schemas.microsoft.com/office/powerpoint/2010/main" val="1222292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10ADAD-74CC-B6BC-CC81-71EE9C13047E}"/>
              </a:ext>
            </a:extLst>
          </p:cNvPr>
          <p:cNvSpPr>
            <a:spLocks noGrp="1"/>
          </p:cNvSpPr>
          <p:nvPr>
            <p:ph type="title"/>
          </p:nvPr>
        </p:nvSpPr>
        <p:spPr/>
        <p:txBody>
          <a:bodyPr/>
          <a:lstStyle/>
          <a:p>
            <a:r>
              <a:rPr lang="pt-BR" dirty="0"/>
              <a:t>ELETROTERMOFOTOTERAPIA</a:t>
            </a:r>
          </a:p>
        </p:txBody>
      </p:sp>
      <p:sp>
        <p:nvSpPr>
          <p:cNvPr id="3" name="Espaço Reservado para Conteúdo 2">
            <a:extLst>
              <a:ext uri="{FF2B5EF4-FFF2-40B4-BE49-F238E27FC236}">
                <a16:creationId xmlns:a16="http://schemas.microsoft.com/office/drawing/2014/main" id="{9D647F15-AC16-2AF9-E727-AD16A0F2803F}"/>
              </a:ext>
            </a:extLst>
          </p:cNvPr>
          <p:cNvSpPr>
            <a:spLocks noGrp="1"/>
          </p:cNvSpPr>
          <p:nvPr>
            <p:ph idx="1"/>
          </p:nvPr>
        </p:nvSpPr>
        <p:spPr/>
        <p:txBody>
          <a:bodyPr/>
          <a:lstStyle/>
          <a:p>
            <a:pPr>
              <a:lnSpc>
                <a:spcPct val="150000"/>
              </a:lnSpc>
              <a:spcBef>
                <a:spcPts val="0"/>
              </a:spcBef>
            </a:pPr>
            <a:r>
              <a:rPr lang="pt-BR" dirty="0"/>
              <a:t>LASER monocromático</a:t>
            </a:r>
          </a:p>
          <a:p>
            <a:pPr>
              <a:lnSpc>
                <a:spcPct val="150000"/>
              </a:lnSpc>
              <a:spcBef>
                <a:spcPts val="0"/>
              </a:spcBef>
            </a:pPr>
            <a:r>
              <a:rPr lang="pt-BR" dirty="0"/>
              <a:t>Luz amplificada por emissão estimulada de radiação </a:t>
            </a:r>
          </a:p>
          <a:p>
            <a:pPr>
              <a:lnSpc>
                <a:spcPct val="150000"/>
              </a:lnSpc>
              <a:spcBef>
                <a:spcPts val="0"/>
              </a:spcBef>
            </a:pPr>
            <a:r>
              <a:rPr lang="pt-BR" dirty="0"/>
              <a:t>LED monocromático </a:t>
            </a:r>
          </a:p>
          <a:p>
            <a:pPr>
              <a:lnSpc>
                <a:spcPct val="150000"/>
              </a:lnSpc>
              <a:spcBef>
                <a:spcPts val="0"/>
              </a:spcBef>
            </a:pPr>
            <a:r>
              <a:rPr lang="pt-BR" dirty="0"/>
              <a:t>Emissão de luz por diodo</a:t>
            </a:r>
          </a:p>
          <a:p>
            <a:pPr>
              <a:lnSpc>
                <a:spcPct val="150000"/>
              </a:lnSpc>
              <a:spcBef>
                <a:spcPts val="0"/>
              </a:spcBef>
            </a:pPr>
            <a:r>
              <a:rPr lang="pt-BR" dirty="0"/>
              <a:t>LIP policromático (emite a luz em vários comprimentos de onda)</a:t>
            </a:r>
          </a:p>
          <a:p>
            <a:pPr>
              <a:lnSpc>
                <a:spcPct val="150000"/>
              </a:lnSpc>
              <a:spcBef>
                <a:spcPts val="0"/>
              </a:spcBef>
            </a:pPr>
            <a:r>
              <a:rPr lang="pt-BR" dirty="0"/>
              <a:t>Luz intensa pulsada </a:t>
            </a:r>
          </a:p>
        </p:txBody>
      </p:sp>
    </p:spTree>
    <p:extLst>
      <p:ext uri="{BB962C8B-B14F-4D97-AF65-F5344CB8AC3E}">
        <p14:creationId xmlns:p14="http://schemas.microsoft.com/office/powerpoint/2010/main" val="1741014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FA6694-348D-CA94-FDFC-61C9AA69A458}"/>
              </a:ext>
            </a:extLst>
          </p:cNvPr>
          <p:cNvSpPr>
            <a:spLocks noGrp="1"/>
          </p:cNvSpPr>
          <p:nvPr>
            <p:ph type="title"/>
          </p:nvPr>
        </p:nvSpPr>
        <p:spPr/>
        <p:txBody>
          <a:bodyPr/>
          <a:lstStyle/>
          <a:p>
            <a:r>
              <a:rPr lang="pt-BR" dirty="0"/>
              <a:t>ELETROTERMOFOTOTERAPIA</a:t>
            </a:r>
          </a:p>
        </p:txBody>
      </p:sp>
      <p:pic>
        <p:nvPicPr>
          <p:cNvPr id="1026" name="Picture 2" descr="Espectro Eletromagnético - InfoEscola">
            <a:extLst>
              <a:ext uri="{FF2B5EF4-FFF2-40B4-BE49-F238E27FC236}">
                <a16:creationId xmlns:a16="http://schemas.microsoft.com/office/drawing/2014/main" id="{6519D786-5142-8FAA-6ED4-FC9E01548AF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00239" y="1690688"/>
            <a:ext cx="8391522" cy="4730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87259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F5DC09-52D4-66E9-D059-E5B621163434}"/>
              </a:ext>
            </a:extLst>
          </p:cNvPr>
          <p:cNvSpPr>
            <a:spLocks noGrp="1"/>
          </p:cNvSpPr>
          <p:nvPr>
            <p:ph type="title"/>
          </p:nvPr>
        </p:nvSpPr>
        <p:spPr/>
        <p:txBody>
          <a:bodyPr/>
          <a:lstStyle/>
          <a:p>
            <a:r>
              <a:rPr lang="pt-BR" dirty="0"/>
              <a:t>ELETROTERMOFOTOTERAPIA</a:t>
            </a:r>
          </a:p>
        </p:txBody>
      </p:sp>
      <p:pic>
        <p:nvPicPr>
          <p:cNvPr id="2052" name="Picture 4" descr="Luz e Cor: Comprimento de onda do espectro visivel">
            <a:extLst>
              <a:ext uri="{FF2B5EF4-FFF2-40B4-BE49-F238E27FC236}">
                <a16:creationId xmlns:a16="http://schemas.microsoft.com/office/drawing/2014/main" id="{810A7137-17F2-13A8-19B8-6062A9C2CD6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10744" y="2358886"/>
            <a:ext cx="11835211" cy="3419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7393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13AC1F-8390-9F03-E355-062729C9690E}"/>
              </a:ext>
            </a:extLst>
          </p:cNvPr>
          <p:cNvSpPr>
            <a:spLocks noGrp="1"/>
          </p:cNvSpPr>
          <p:nvPr>
            <p:ph type="title"/>
          </p:nvPr>
        </p:nvSpPr>
        <p:spPr/>
        <p:txBody>
          <a:bodyPr/>
          <a:lstStyle/>
          <a:p>
            <a:r>
              <a:rPr lang="pt-BR" dirty="0"/>
              <a:t>ELETROTERMOFOTOTERAPIA</a:t>
            </a:r>
          </a:p>
        </p:txBody>
      </p:sp>
      <p:graphicFrame>
        <p:nvGraphicFramePr>
          <p:cNvPr id="4" name="Tabela 4">
            <a:extLst>
              <a:ext uri="{FF2B5EF4-FFF2-40B4-BE49-F238E27FC236}">
                <a16:creationId xmlns:a16="http://schemas.microsoft.com/office/drawing/2014/main" id="{2E71FE14-BB51-912E-83E2-347FAFBF7709}"/>
              </a:ext>
            </a:extLst>
          </p:cNvPr>
          <p:cNvGraphicFramePr>
            <a:graphicFrameLocks noGrp="1"/>
          </p:cNvGraphicFramePr>
          <p:nvPr>
            <p:ph idx="1"/>
            <p:extLst>
              <p:ext uri="{D42A27DB-BD31-4B8C-83A1-F6EECF244321}">
                <p14:modId xmlns:p14="http://schemas.microsoft.com/office/powerpoint/2010/main" val="3059010332"/>
              </p:ext>
            </p:extLst>
          </p:nvPr>
        </p:nvGraphicFramePr>
        <p:xfrm>
          <a:off x="838200" y="1825625"/>
          <a:ext cx="10515600" cy="2966720"/>
        </p:xfrm>
        <a:graphic>
          <a:graphicData uri="http://schemas.openxmlformats.org/drawingml/2006/table">
            <a:tbl>
              <a:tblPr firstRow="1" bandRow="1">
                <a:tableStyleId>{5940675A-B579-460E-94D1-54222C63F5DA}</a:tableStyleId>
              </a:tblPr>
              <a:tblGrid>
                <a:gridCol w="5257800">
                  <a:extLst>
                    <a:ext uri="{9D8B030D-6E8A-4147-A177-3AD203B41FA5}">
                      <a16:colId xmlns:a16="http://schemas.microsoft.com/office/drawing/2014/main" val="3869964103"/>
                    </a:ext>
                  </a:extLst>
                </a:gridCol>
                <a:gridCol w="5257800">
                  <a:extLst>
                    <a:ext uri="{9D8B030D-6E8A-4147-A177-3AD203B41FA5}">
                      <a16:colId xmlns:a16="http://schemas.microsoft.com/office/drawing/2014/main" val="773568166"/>
                    </a:ext>
                  </a:extLst>
                </a:gridCol>
              </a:tblGrid>
              <a:tr h="370840">
                <a:tc>
                  <a:txBody>
                    <a:bodyPr/>
                    <a:lstStyle/>
                    <a:p>
                      <a:pPr algn="ctr"/>
                      <a:r>
                        <a:rPr lang="pt-BR" b="1" dirty="0"/>
                        <a:t>COR </a:t>
                      </a:r>
                    </a:p>
                  </a:txBody>
                  <a:tcPr/>
                </a:tc>
                <a:tc>
                  <a:txBody>
                    <a:bodyPr/>
                    <a:lstStyle/>
                    <a:p>
                      <a:pPr algn="ctr"/>
                      <a:r>
                        <a:rPr lang="pt-BR" b="1" dirty="0"/>
                        <a:t>COMPRIMENTO DE ONDA </a:t>
                      </a:r>
                    </a:p>
                  </a:txBody>
                  <a:tcPr/>
                </a:tc>
                <a:extLst>
                  <a:ext uri="{0D108BD9-81ED-4DB2-BD59-A6C34878D82A}">
                    <a16:rowId xmlns:a16="http://schemas.microsoft.com/office/drawing/2014/main" val="3090468119"/>
                  </a:ext>
                </a:extLst>
              </a:tr>
              <a:tr h="370840">
                <a:tc>
                  <a:txBody>
                    <a:bodyPr/>
                    <a:lstStyle/>
                    <a:p>
                      <a:r>
                        <a:rPr lang="pt-BR" dirty="0">
                          <a:solidFill>
                            <a:srgbClr val="7030A0"/>
                          </a:solidFill>
                        </a:rPr>
                        <a:t>VIOLETA </a:t>
                      </a:r>
                    </a:p>
                  </a:txBody>
                  <a:tcPr/>
                </a:tc>
                <a:tc>
                  <a:txBody>
                    <a:bodyPr/>
                    <a:lstStyle/>
                    <a:p>
                      <a:r>
                        <a:rPr lang="pt-BR" dirty="0"/>
                        <a:t>370 – 450 </a:t>
                      </a:r>
                      <a:r>
                        <a:rPr lang="pt-BR" dirty="0" err="1"/>
                        <a:t>nm</a:t>
                      </a:r>
                      <a:endParaRPr lang="pt-BR" dirty="0"/>
                    </a:p>
                  </a:txBody>
                  <a:tcPr/>
                </a:tc>
                <a:extLst>
                  <a:ext uri="{0D108BD9-81ED-4DB2-BD59-A6C34878D82A}">
                    <a16:rowId xmlns:a16="http://schemas.microsoft.com/office/drawing/2014/main" val="1523669185"/>
                  </a:ext>
                </a:extLst>
              </a:tr>
              <a:tr h="370840">
                <a:tc>
                  <a:txBody>
                    <a:bodyPr/>
                    <a:lstStyle/>
                    <a:p>
                      <a:r>
                        <a:rPr lang="pt-BR" dirty="0">
                          <a:solidFill>
                            <a:srgbClr val="00B0F0"/>
                          </a:solidFill>
                        </a:rPr>
                        <a:t>AZUL</a:t>
                      </a:r>
                    </a:p>
                  </a:txBody>
                  <a:tcPr/>
                </a:tc>
                <a:tc>
                  <a:txBody>
                    <a:bodyPr/>
                    <a:lstStyle/>
                    <a:p>
                      <a:r>
                        <a:rPr lang="pt-BR" dirty="0"/>
                        <a:t>450 – 495 </a:t>
                      </a:r>
                      <a:r>
                        <a:rPr lang="pt-BR" dirty="0" err="1"/>
                        <a:t>nm</a:t>
                      </a:r>
                      <a:endParaRPr lang="pt-BR" dirty="0"/>
                    </a:p>
                  </a:txBody>
                  <a:tcPr/>
                </a:tc>
                <a:extLst>
                  <a:ext uri="{0D108BD9-81ED-4DB2-BD59-A6C34878D82A}">
                    <a16:rowId xmlns:a16="http://schemas.microsoft.com/office/drawing/2014/main" val="682333250"/>
                  </a:ext>
                </a:extLst>
              </a:tr>
              <a:tr h="370840">
                <a:tc>
                  <a:txBody>
                    <a:bodyPr/>
                    <a:lstStyle/>
                    <a:p>
                      <a:r>
                        <a:rPr lang="pt-BR" dirty="0">
                          <a:solidFill>
                            <a:srgbClr val="92D050"/>
                          </a:solidFill>
                        </a:rPr>
                        <a:t>VERDE </a:t>
                      </a:r>
                    </a:p>
                  </a:txBody>
                  <a:tcPr/>
                </a:tc>
                <a:tc>
                  <a:txBody>
                    <a:bodyPr/>
                    <a:lstStyle/>
                    <a:p>
                      <a:r>
                        <a:rPr lang="pt-BR" dirty="0"/>
                        <a:t>495 – 570 </a:t>
                      </a:r>
                      <a:r>
                        <a:rPr lang="pt-BR" dirty="0" err="1"/>
                        <a:t>nm</a:t>
                      </a:r>
                      <a:endParaRPr lang="pt-BR" dirty="0"/>
                    </a:p>
                  </a:txBody>
                  <a:tcPr/>
                </a:tc>
                <a:extLst>
                  <a:ext uri="{0D108BD9-81ED-4DB2-BD59-A6C34878D82A}">
                    <a16:rowId xmlns:a16="http://schemas.microsoft.com/office/drawing/2014/main" val="2694662426"/>
                  </a:ext>
                </a:extLst>
              </a:tr>
              <a:tr h="370840">
                <a:tc>
                  <a:txBody>
                    <a:bodyPr/>
                    <a:lstStyle/>
                    <a:p>
                      <a:r>
                        <a:rPr lang="pt-BR" dirty="0">
                          <a:solidFill>
                            <a:srgbClr val="FFFF00"/>
                          </a:solidFill>
                        </a:rPr>
                        <a:t>AMARELO </a:t>
                      </a:r>
                    </a:p>
                  </a:txBody>
                  <a:tcPr/>
                </a:tc>
                <a:tc>
                  <a:txBody>
                    <a:bodyPr/>
                    <a:lstStyle/>
                    <a:p>
                      <a:r>
                        <a:rPr lang="pt-BR" dirty="0"/>
                        <a:t>570 – 590 </a:t>
                      </a:r>
                      <a:r>
                        <a:rPr lang="pt-BR" dirty="0" err="1"/>
                        <a:t>nm</a:t>
                      </a:r>
                      <a:endParaRPr lang="pt-BR" dirty="0"/>
                    </a:p>
                  </a:txBody>
                  <a:tcPr/>
                </a:tc>
                <a:extLst>
                  <a:ext uri="{0D108BD9-81ED-4DB2-BD59-A6C34878D82A}">
                    <a16:rowId xmlns:a16="http://schemas.microsoft.com/office/drawing/2014/main" val="2449517496"/>
                  </a:ext>
                </a:extLst>
              </a:tr>
              <a:tr h="370840">
                <a:tc>
                  <a:txBody>
                    <a:bodyPr/>
                    <a:lstStyle/>
                    <a:p>
                      <a:r>
                        <a:rPr lang="pt-BR" dirty="0">
                          <a:solidFill>
                            <a:srgbClr val="FFC000"/>
                          </a:solidFill>
                        </a:rPr>
                        <a:t>LARANJA </a:t>
                      </a:r>
                    </a:p>
                  </a:txBody>
                  <a:tcPr/>
                </a:tc>
                <a:tc>
                  <a:txBody>
                    <a:bodyPr/>
                    <a:lstStyle/>
                    <a:p>
                      <a:r>
                        <a:rPr lang="pt-BR" dirty="0"/>
                        <a:t>590 – 620 </a:t>
                      </a:r>
                      <a:r>
                        <a:rPr lang="pt-BR" dirty="0" err="1"/>
                        <a:t>nm</a:t>
                      </a:r>
                      <a:endParaRPr lang="pt-BR" dirty="0"/>
                    </a:p>
                  </a:txBody>
                  <a:tcPr/>
                </a:tc>
                <a:extLst>
                  <a:ext uri="{0D108BD9-81ED-4DB2-BD59-A6C34878D82A}">
                    <a16:rowId xmlns:a16="http://schemas.microsoft.com/office/drawing/2014/main" val="2803062238"/>
                  </a:ext>
                </a:extLst>
              </a:tr>
              <a:tr h="370840">
                <a:tc>
                  <a:txBody>
                    <a:bodyPr/>
                    <a:lstStyle/>
                    <a:p>
                      <a:r>
                        <a:rPr lang="pt-BR" dirty="0">
                          <a:solidFill>
                            <a:srgbClr val="FF0000"/>
                          </a:solidFill>
                        </a:rPr>
                        <a:t>VERMELHO </a:t>
                      </a:r>
                    </a:p>
                  </a:txBody>
                  <a:tcPr/>
                </a:tc>
                <a:tc>
                  <a:txBody>
                    <a:bodyPr/>
                    <a:lstStyle/>
                    <a:p>
                      <a:r>
                        <a:rPr lang="pt-BR" dirty="0"/>
                        <a:t>620 – 750 </a:t>
                      </a:r>
                      <a:r>
                        <a:rPr lang="pt-BR" dirty="0" err="1"/>
                        <a:t>nm</a:t>
                      </a:r>
                      <a:endParaRPr lang="pt-BR" dirty="0"/>
                    </a:p>
                  </a:txBody>
                  <a:tcPr/>
                </a:tc>
                <a:extLst>
                  <a:ext uri="{0D108BD9-81ED-4DB2-BD59-A6C34878D82A}">
                    <a16:rowId xmlns:a16="http://schemas.microsoft.com/office/drawing/2014/main" val="3928460044"/>
                  </a:ext>
                </a:extLst>
              </a:tr>
              <a:tr h="370840">
                <a:tc>
                  <a:txBody>
                    <a:bodyPr/>
                    <a:lstStyle/>
                    <a:p>
                      <a:r>
                        <a:rPr lang="pt-BR" dirty="0"/>
                        <a:t>INFRAVERMELHO </a:t>
                      </a:r>
                    </a:p>
                  </a:txBody>
                  <a:tcPr/>
                </a:tc>
                <a:tc>
                  <a:txBody>
                    <a:bodyPr/>
                    <a:lstStyle/>
                    <a:p>
                      <a:r>
                        <a:rPr lang="pt-BR" dirty="0"/>
                        <a:t>750 – 1200 </a:t>
                      </a:r>
                      <a:r>
                        <a:rPr lang="pt-BR" dirty="0" err="1"/>
                        <a:t>nm</a:t>
                      </a:r>
                      <a:endParaRPr lang="pt-BR" dirty="0"/>
                    </a:p>
                  </a:txBody>
                  <a:tcPr/>
                </a:tc>
                <a:extLst>
                  <a:ext uri="{0D108BD9-81ED-4DB2-BD59-A6C34878D82A}">
                    <a16:rowId xmlns:a16="http://schemas.microsoft.com/office/drawing/2014/main" val="1510929506"/>
                  </a:ext>
                </a:extLst>
              </a:tr>
            </a:tbl>
          </a:graphicData>
        </a:graphic>
      </p:graphicFrame>
    </p:spTree>
    <p:extLst>
      <p:ext uri="{BB962C8B-B14F-4D97-AF65-F5344CB8AC3E}">
        <p14:creationId xmlns:p14="http://schemas.microsoft.com/office/powerpoint/2010/main" val="1784529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7535FB-1AC5-DBA2-5D4C-0D44F080F398}"/>
              </a:ext>
            </a:extLst>
          </p:cNvPr>
          <p:cNvSpPr>
            <a:spLocks noGrp="1"/>
          </p:cNvSpPr>
          <p:nvPr>
            <p:ph type="title"/>
          </p:nvPr>
        </p:nvSpPr>
        <p:spPr/>
        <p:txBody>
          <a:bodyPr/>
          <a:lstStyle/>
          <a:p>
            <a:r>
              <a:rPr lang="pt-BR" dirty="0"/>
              <a:t>ELETROTERMOFOTOTERAPIA</a:t>
            </a:r>
          </a:p>
        </p:txBody>
      </p:sp>
      <p:sp>
        <p:nvSpPr>
          <p:cNvPr id="3" name="Espaço Reservado para Conteúdo 2">
            <a:extLst>
              <a:ext uri="{FF2B5EF4-FFF2-40B4-BE49-F238E27FC236}">
                <a16:creationId xmlns:a16="http://schemas.microsoft.com/office/drawing/2014/main" id="{645CA7AF-69F0-26AF-7CD6-C40D88DF9ED6}"/>
              </a:ext>
            </a:extLst>
          </p:cNvPr>
          <p:cNvSpPr>
            <a:spLocks noGrp="1"/>
          </p:cNvSpPr>
          <p:nvPr>
            <p:ph idx="1"/>
          </p:nvPr>
        </p:nvSpPr>
        <p:spPr/>
        <p:txBody>
          <a:bodyPr>
            <a:normAutofit lnSpcReduction="10000"/>
          </a:bodyPr>
          <a:lstStyle/>
          <a:p>
            <a:pPr algn="just">
              <a:lnSpc>
                <a:spcPct val="150000"/>
              </a:lnSpc>
              <a:spcBef>
                <a:spcPts val="0"/>
              </a:spcBef>
            </a:pPr>
            <a:r>
              <a:rPr lang="pt-BR" dirty="0"/>
              <a:t>A especificidade de absorção da luz pelas células é conhecida como cromóforos. Do grego </a:t>
            </a:r>
            <a:r>
              <a:rPr lang="pt-BR" dirty="0" err="1"/>
              <a:t>chroma</a:t>
            </a:r>
            <a:r>
              <a:rPr lang="pt-BR" dirty="0"/>
              <a:t> = cor, </a:t>
            </a:r>
            <a:r>
              <a:rPr lang="pt-BR" dirty="0" err="1"/>
              <a:t>phoros</a:t>
            </a:r>
            <a:r>
              <a:rPr lang="pt-BR" dirty="0"/>
              <a:t> = portador, “portador da cor”. </a:t>
            </a:r>
          </a:p>
          <a:p>
            <a:pPr algn="just">
              <a:lnSpc>
                <a:spcPct val="150000"/>
              </a:lnSpc>
              <a:spcBef>
                <a:spcPts val="0"/>
              </a:spcBef>
            </a:pPr>
            <a:r>
              <a:rPr lang="pt-BR" dirty="0"/>
              <a:t>Onde tem muita capacidade de absorver energia.</a:t>
            </a:r>
          </a:p>
          <a:p>
            <a:pPr algn="just">
              <a:lnSpc>
                <a:spcPct val="150000"/>
              </a:lnSpc>
              <a:spcBef>
                <a:spcPts val="0"/>
              </a:spcBef>
            </a:pPr>
            <a:r>
              <a:rPr lang="pt-BR" dirty="0"/>
              <a:t>Um cromóforo é uma molécula capaz de absorver uma luz especifica.</a:t>
            </a:r>
          </a:p>
          <a:p>
            <a:pPr algn="just">
              <a:lnSpc>
                <a:spcPct val="150000"/>
              </a:lnSpc>
              <a:spcBef>
                <a:spcPts val="0"/>
              </a:spcBef>
            </a:pPr>
            <a:r>
              <a:rPr lang="pt-BR" dirty="0"/>
              <a:t>O comprimento de onda atinge um tecido alvo.</a:t>
            </a:r>
          </a:p>
          <a:p>
            <a:pPr algn="just">
              <a:lnSpc>
                <a:spcPct val="150000"/>
              </a:lnSpc>
              <a:spcBef>
                <a:spcPts val="0"/>
              </a:spcBef>
            </a:pPr>
            <a:r>
              <a:rPr lang="pt-BR" dirty="0"/>
              <a:t>A luz necessita de energia suficiente para produzir seu efeito. </a:t>
            </a:r>
          </a:p>
          <a:p>
            <a:endParaRPr lang="pt-BR" dirty="0"/>
          </a:p>
        </p:txBody>
      </p:sp>
    </p:spTree>
    <p:extLst>
      <p:ext uri="{BB962C8B-B14F-4D97-AF65-F5344CB8AC3E}">
        <p14:creationId xmlns:p14="http://schemas.microsoft.com/office/powerpoint/2010/main" val="3195561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B7BB32-8984-8B87-FF4C-97C01CF522E7}"/>
              </a:ext>
            </a:extLst>
          </p:cNvPr>
          <p:cNvSpPr>
            <a:spLocks noGrp="1"/>
          </p:cNvSpPr>
          <p:nvPr>
            <p:ph type="title"/>
          </p:nvPr>
        </p:nvSpPr>
        <p:spPr/>
        <p:txBody>
          <a:bodyPr/>
          <a:lstStyle/>
          <a:p>
            <a:r>
              <a:rPr lang="pt-BR" dirty="0"/>
              <a:t>ELETROTERMOFOTOTERAPIA</a:t>
            </a:r>
          </a:p>
        </p:txBody>
      </p:sp>
      <p:sp>
        <p:nvSpPr>
          <p:cNvPr id="3" name="Espaço Reservado para Conteúdo 2">
            <a:extLst>
              <a:ext uri="{FF2B5EF4-FFF2-40B4-BE49-F238E27FC236}">
                <a16:creationId xmlns:a16="http://schemas.microsoft.com/office/drawing/2014/main" id="{FA5BFF8F-613B-C329-62BB-9C0A82C530F2}"/>
              </a:ext>
            </a:extLst>
          </p:cNvPr>
          <p:cNvSpPr>
            <a:spLocks noGrp="1"/>
          </p:cNvSpPr>
          <p:nvPr>
            <p:ph idx="1"/>
          </p:nvPr>
        </p:nvSpPr>
        <p:spPr/>
        <p:txBody>
          <a:bodyPr/>
          <a:lstStyle/>
          <a:p>
            <a:pPr algn="just"/>
            <a:r>
              <a:rPr lang="pt-BR" dirty="0"/>
              <a:t>Cromóforos são partes de moléculas responsáveis pela absorção de luz em comprimentos de onda específicos, e são cruciais para determinar a cor de uma substância. Em outras palavras, são grupos de átomos em uma molécula que interagem com a luz, resultando em absorção e emissão de cores.</a:t>
            </a:r>
          </a:p>
          <a:p>
            <a:pPr algn="just"/>
            <a:r>
              <a:rPr lang="pt-BR" dirty="0"/>
              <a:t>Cromóforos possuem elétrons que podem ser excitados pela absorção de energia luminosa, mudando de um estado fundamental para um estado excitado.</a:t>
            </a:r>
          </a:p>
        </p:txBody>
      </p:sp>
    </p:spTree>
    <p:extLst>
      <p:ext uri="{BB962C8B-B14F-4D97-AF65-F5344CB8AC3E}">
        <p14:creationId xmlns:p14="http://schemas.microsoft.com/office/powerpoint/2010/main" val="2487035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012AE8-BE2C-E8F9-E17A-4C40CFE1D0EA}"/>
              </a:ext>
            </a:extLst>
          </p:cNvPr>
          <p:cNvSpPr>
            <a:spLocks noGrp="1"/>
          </p:cNvSpPr>
          <p:nvPr>
            <p:ph type="title"/>
          </p:nvPr>
        </p:nvSpPr>
        <p:spPr/>
        <p:txBody>
          <a:bodyPr/>
          <a:lstStyle/>
          <a:p>
            <a:r>
              <a:rPr lang="pt-BR" dirty="0"/>
              <a:t>ELETROTERMOFOTOTERAPIA</a:t>
            </a:r>
          </a:p>
        </p:txBody>
      </p:sp>
      <p:sp>
        <p:nvSpPr>
          <p:cNvPr id="3" name="Espaço Reservado para Conteúdo 2">
            <a:extLst>
              <a:ext uri="{FF2B5EF4-FFF2-40B4-BE49-F238E27FC236}">
                <a16:creationId xmlns:a16="http://schemas.microsoft.com/office/drawing/2014/main" id="{9E2D33B5-3FBF-384B-2F0A-09BF4207AC52}"/>
              </a:ext>
            </a:extLst>
          </p:cNvPr>
          <p:cNvSpPr>
            <a:spLocks noGrp="1"/>
          </p:cNvSpPr>
          <p:nvPr>
            <p:ph idx="1"/>
          </p:nvPr>
        </p:nvSpPr>
        <p:spPr/>
        <p:txBody>
          <a:bodyPr/>
          <a:lstStyle/>
          <a:p>
            <a:pPr algn="just"/>
            <a:r>
              <a:rPr lang="pt-BR" dirty="0"/>
              <a:t>A aplicação da luz tem o potencial de inibir ou estimular a atividade celular. </a:t>
            </a:r>
          </a:p>
          <a:p>
            <a:pPr algn="just"/>
            <a:r>
              <a:rPr lang="pt-BR" dirty="0"/>
              <a:t>Ao utilizar de maneira correta os cromóforos alvos é possível direcionar a energia luminosa do led ou laser células ou locais específicos.</a:t>
            </a:r>
          </a:p>
          <a:p>
            <a:pPr algn="just"/>
            <a:r>
              <a:rPr lang="pt-BR" dirty="0"/>
              <a:t>A seleção inadequada do comprimento de onda ou a aplicação incorreta pode resultar em dano no tecido, e posterior resultado insatisfatório. </a:t>
            </a:r>
          </a:p>
        </p:txBody>
      </p:sp>
    </p:spTree>
    <p:extLst>
      <p:ext uri="{BB962C8B-B14F-4D97-AF65-F5344CB8AC3E}">
        <p14:creationId xmlns:p14="http://schemas.microsoft.com/office/powerpoint/2010/main" val="415946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878242-7D4A-F376-D4AE-F0DB0A5825CE}"/>
              </a:ext>
            </a:extLst>
          </p:cNvPr>
          <p:cNvSpPr>
            <a:spLocks noGrp="1"/>
          </p:cNvSpPr>
          <p:nvPr>
            <p:ph type="title"/>
          </p:nvPr>
        </p:nvSpPr>
        <p:spPr/>
        <p:txBody>
          <a:bodyPr/>
          <a:lstStyle/>
          <a:p>
            <a:r>
              <a:rPr lang="pt-BR" dirty="0"/>
              <a:t>ELETROTERMOFOTOTERAPIA</a:t>
            </a:r>
          </a:p>
        </p:txBody>
      </p:sp>
      <p:sp>
        <p:nvSpPr>
          <p:cNvPr id="3" name="Espaço Reservado para Conteúdo 2">
            <a:extLst>
              <a:ext uri="{FF2B5EF4-FFF2-40B4-BE49-F238E27FC236}">
                <a16:creationId xmlns:a16="http://schemas.microsoft.com/office/drawing/2014/main" id="{F566E138-7C23-9E3E-F9DA-52A73ECCFA97}"/>
              </a:ext>
            </a:extLst>
          </p:cNvPr>
          <p:cNvSpPr>
            <a:spLocks noGrp="1"/>
          </p:cNvSpPr>
          <p:nvPr>
            <p:ph idx="1"/>
          </p:nvPr>
        </p:nvSpPr>
        <p:spPr/>
        <p:txBody>
          <a:bodyPr/>
          <a:lstStyle/>
          <a:p>
            <a:pPr algn="just"/>
            <a:r>
              <a:rPr lang="pt-BR" dirty="0"/>
              <a:t>CROMOFORO AGUA:</a:t>
            </a:r>
          </a:p>
          <a:p>
            <a:pPr algn="just"/>
            <a:r>
              <a:rPr lang="pt-BR" dirty="0"/>
              <a:t>Comprimento de onda 1450 a 1940 </a:t>
            </a:r>
            <a:r>
              <a:rPr lang="pt-BR" dirty="0" err="1"/>
              <a:t>nm</a:t>
            </a:r>
            <a:r>
              <a:rPr lang="pt-BR" dirty="0"/>
              <a:t>.</a:t>
            </a:r>
          </a:p>
          <a:p>
            <a:pPr algn="just"/>
            <a:r>
              <a:rPr lang="pt-BR" dirty="0"/>
              <a:t>Para procedimentos que visam aumento de temperatura. </a:t>
            </a:r>
          </a:p>
          <a:p>
            <a:pPr algn="just"/>
            <a:r>
              <a:rPr lang="pt-BR" dirty="0"/>
              <a:t>O que podemos citar de tecnologias que possuem a agua como cromóforo?</a:t>
            </a:r>
          </a:p>
        </p:txBody>
      </p:sp>
    </p:spTree>
    <p:extLst>
      <p:ext uri="{BB962C8B-B14F-4D97-AF65-F5344CB8AC3E}">
        <p14:creationId xmlns:p14="http://schemas.microsoft.com/office/powerpoint/2010/main" val="161016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615786-EDC7-C88E-84BA-1BB9A526C42B}"/>
              </a:ext>
            </a:extLst>
          </p:cNvPr>
          <p:cNvSpPr>
            <a:spLocks noGrp="1"/>
          </p:cNvSpPr>
          <p:nvPr>
            <p:ph type="title"/>
          </p:nvPr>
        </p:nvSpPr>
        <p:spPr/>
        <p:txBody>
          <a:bodyPr/>
          <a:lstStyle/>
          <a:p>
            <a:r>
              <a:rPr lang="pt-BR" dirty="0"/>
              <a:t>ELETROTERMOFOTOTERAPIA</a:t>
            </a:r>
          </a:p>
        </p:txBody>
      </p:sp>
      <p:sp>
        <p:nvSpPr>
          <p:cNvPr id="3" name="Espaço Reservado para Conteúdo 2">
            <a:extLst>
              <a:ext uri="{FF2B5EF4-FFF2-40B4-BE49-F238E27FC236}">
                <a16:creationId xmlns:a16="http://schemas.microsoft.com/office/drawing/2014/main" id="{74982DB4-054A-DA03-CFD7-A13FF7D856B5}"/>
              </a:ext>
            </a:extLst>
          </p:cNvPr>
          <p:cNvSpPr>
            <a:spLocks noGrp="1"/>
          </p:cNvSpPr>
          <p:nvPr>
            <p:ph idx="1"/>
          </p:nvPr>
        </p:nvSpPr>
        <p:spPr/>
        <p:txBody>
          <a:bodyPr/>
          <a:lstStyle/>
          <a:p>
            <a:pPr algn="just"/>
            <a:r>
              <a:rPr lang="pt-BR" dirty="0"/>
              <a:t>CROMOFORO MELANINA:</a:t>
            </a:r>
          </a:p>
          <a:p>
            <a:pPr algn="just"/>
            <a:r>
              <a:rPr lang="pt-BR" dirty="0"/>
              <a:t>Quando se quer atingir o cromóforo alvo da melanina, se trabalha com pigmentação. O que se tem de resultado trabalhar esse cromóforo? A hiperpigmentação, epilação, sendo necessário cuidar de fototipos altos e peles escuras. </a:t>
            </a:r>
          </a:p>
          <a:p>
            <a:pPr algn="just"/>
            <a:r>
              <a:rPr lang="pt-BR" dirty="0"/>
              <a:t>Quais tecnologias podem trabalhar hiperpigmentação e epilação?</a:t>
            </a:r>
          </a:p>
          <a:p>
            <a:pPr marL="0" indent="0" algn="just">
              <a:buNone/>
            </a:pPr>
            <a:endParaRPr lang="pt-BR" dirty="0"/>
          </a:p>
        </p:txBody>
      </p:sp>
    </p:spTree>
    <p:extLst>
      <p:ext uri="{BB962C8B-B14F-4D97-AF65-F5344CB8AC3E}">
        <p14:creationId xmlns:p14="http://schemas.microsoft.com/office/powerpoint/2010/main" val="12951446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8AE5D1-BF63-85ED-17E3-7E510A8550E2}"/>
              </a:ext>
            </a:extLst>
          </p:cNvPr>
          <p:cNvSpPr>
            <a:spLocks noGrp="1"/>
          </p:cNvSpPr>
          <p:nvPr>
            <p:ph type="title"/>
          </p:nvPr>
        </p:nvSpPr>
        <p:spPr/>
        <p:txBody>
          <a:bodyPr/>
          <a:lstStyle/>
          <a:p>
            <a:r>
              <a:rPr lang="pt-BR" dirty="0"/>
              <a:t>ELETROTERMOFOTOTERAPIA</a:t>
            </a:r>
          </a:p>
        </p:txBody>
      </p:sp>
      <p:sp>
        <p:nvSpPr>
          <p:cNvPr id="3" name="Espaço Reservado para Conteúdo 2">
            <a:extLst>
              <a:ext uri="{FF2B5EF4-FFF2-40B4-BE49-F238E27FC236}">
                <a16:creationId xmlns:a16="http://schemas.microsoft.com/office/drawing/2014/main" id="{DA1B9AAE-5887-EEAF-34E7-7832B4E0ADB7}"/>
              </a:ext>
            </a:extLst>
          </p:cNvPr>
          <p:cNvSpPr>
            <a:spLocks noGrp="1"/>
          </p:cNvSpPr>
          <p:nvPr>
            <p:ph idx="1"/>
          </p:nvPr>
        </p:nvSpPr>
        <p:spPr/>
        <p:txBody>
          <a:bodyPr/>
          <a:lstStyle/>
          <a:p>
            <a:pPr algn="just"/>
            <a:r>
              <a:rPr lang="pt-BR" dirty="0"/>
              <a:t>CROMOFORO HEMOGLOBINA:</a:t>
            </a:r>
          </a:p>
          <a:p>
            <a:pPr algn="just"/>
            <a:r>
              <a:rPr lang="pt-BR" dirty="0"/>
              <a:t>A hemoglobina confere a cor avermelhada do sangue e possui afinidade pela cor vermelha e infravermelha. Se for led faz fotobiomodulação, com estimulo de colágeno, aumento na produção de ATP, melhora de cicatrização, baixa de potencial inflamatório, rejuvenescimento com estimulo de fibroblastos, melhora de lesões ate mesmo vasculares. Na terapia capilar estimula o crescimento dos fios, reduz a queda capilar e tem potencial regenerativo alto. Se for usado no formato laser, realiza coagulação de vasos (remoção de micro vasos e telangiectasias ou rosáceas). </a:t>
            </a:r>
          </a:p>
        </p:txBody>
      </p:sp>
    </p:spTree>
    <p:extLst>
      <p:ext uri="{BB962C8B-B14F-4D97-AF65-F5344CB8AC3E}">
        <p14:creationId xmlns:p14="http://schemas.microsoft.com/office/powerpoint/2010/main" val="14367025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0BC30C-378F-AA13-15A6-ED4FF05DD01F}"/>
              </a:ext>
            </a:extLst>
          </p:cNvPr>
          <p:cNvSpPr>
            <a:spLocks noGrp="1"/>
          </p:cNvSpPr>
          <p:nvPr>
            <p:ph type="title"/>
          </p:nvPr>
        </p:nvSpPr>
        <p:spPr/>
        <p:txBody>
          <a:bodyPr/>
          <a:lstStyle/>
          <a:p>
            <a:r>
              <a:rPr lang="pt-BR" dirty="0"/>
              <a:t>ELETROTERMOFOTOTERAPIA</a:t>
            </a:r>
          </a:p>
        </p:txBody>
      </p:sp>
      <p:sp>
        <p:nvSpPr>
          <p:cNvPr id="3" name="Espaço Reservado para Conteúdo 2">
            <a:extLst>
              <a:ext uri="{FF2B5EF4-FFF2-40B4-BE49-F238E27FC236}">
                <a16:creationId xmlns:a16="http://schemas.microsoft.com/office/drawing/2014/main" id="{DAE828BE-97DF-9885-1791-1AFB0D4F4E9F}"/>
              </a:ext>
            </a:extLst>
          </p:cNvPr>
          <p:cNvSpPr>
            <a:spLocks noGrp="1"/>
          </p:cNvSpPr>
          <p:nvPr>
            <p:ph idx="1"/>
          </p:nvPr>
        </p:nvSpPr>
        <p:spPr/>
        <p:txBody>
          <a:bodyPr/>
          <a:lstStyle/>
          <a:p>
            <a:pPr algn="just"/>
            <a:r>
              <a:rPr lang="pt-BR" dirty="0"/>
              <a:t>CROMOFORO CITOCROMO C OXIDASE: </a:t>
            </a:r>
          </a:p>
          <a:p>
            <a:pPr algn="just"/>
            <a:r>
              <a:rPr lang="pt-BR" dirty="0"/>
              <a:t>São enzimas que melhoram o desempenho no processo de reações celulares, e quando ativadas via estimulo de luz, realizam seus processos em estado de excitação, fazendo a troca na cadeia de elétrons para o oxigênio de forma mais rápida e eficiente. A melhora se tem vários benefícios, no reparo tecidual, alivio de dor, baixa de processos inflamatórios, redução de edemas, aumento na produção de energia via ATP, rejuvenescimento, estimulo de fibroblastos e melhora na qualidade de fibras colágenas. Podendo ser estimulado por luzes âmbar, vermelha e infravermelha.</a:t>
            </a:r>
          </a:p>
        </p:txBody>
      </p:sp>
    </p:spTree>
    <p:extLst>
      <p:ext uri="{BB962C8B-B14F-4D97-AF65-F5344CB8AC3E}">
        <p14:creationId xmlns:p14="http://schemas.microsoft.com/office/powerpoint/2010/main" val="23702297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68168D-537E-8FD8-4642-CDB3580AA8CE}"/>
              </a:ext>
            </a:extLst>
          </p:cNvPr>
          <p:cNvSpPr>
            <a:spLocks noGrp="1"/>
          </p:cNvSpPr>
          <p:nvPr>
            <p:ph type="title"/>
          </p:nvPr>
        </p:nvSpPr>
        <p:spPr/>
        <p:txBody>
          <a:bodyPr/>
          <a:lstStyle/>
          <a:p>
            <a:r>
              <a:rPr lang="pt-BR" dirty="0"/>
              <a:t>ELETROTERMOFOTOTERAPIA</a:t>
            </a:r>
          </a:p>
        </p:txBody>
      </p:sp>
      <p:sp>
        <p:nvSpPr>
          <p:cNvPr id="3" name="Espaço Reservado para Conteúdo 2">
            <a:extLst>
              <a:ext uri="{FF2B5EF4-FFF2-40B4-BE49-F238E27FC236}">
                <a16:creationId xmlns:a16="http://schemas.microsoft.com/office/drawing/2014/main" id="{8706CC16-56F5-0715-8C8E-219E207B92B7}"/>
              </a:ext>
            </a:extLst>
          </p:cNvPr>
          <p:cNvSpPr>
            <a:spLocks noGrp="1"/>
          </p:cNvSpPr>
          <p:nvPr>
            <p:ph idx="1"/>
          </p:nvPr>
        </p:nvSpPr>
        <p:spPr/>
        <p:txBody>
          <a:bodyPr/>
          <a:lstStyle/>
          <a:p>
            <a:r>
              <a:rPr lang="pt-BR" dirty="0"/>
              <a:t>CROMOFORO PROTOPORFIRINAS:</a:t>
            </a:r>
          </a:p>
          <a:p>
            <a:pPr algn="just"/>
            <a:r>
              <a:rPr lang="pt-BR" dirty="0"/>
              <a:t>Quando se ativa esse cromóforo, se tem melhora no processo de acne ativa, psoríase, dermatite, redução de infecção, melhora na cicatrização da pele, melhora da hidratação a nível de queratina. As </a:t>
            </a:r>
            <a:r>
              <a:rPr lang="pt-BR" dirty="0" err="1"/>
              <a:t>protoporfirinas</a:t>
            </a:r>
            <a:r>
              <a:rPr lang="pt-BR" dirty="0"/>
              <a:t> e flavo proteínas preferem estímulos de luz azul e violeta que compreende de 400 a 495 </a:t>
            </a:r>
            <a:r>
              <a:rPr lang="pt-BR" dirty="0" err="1"/>
              <a:t>nm</a:t>
            </a:r>
            <a:r>
              <a:rPr lang="pt-BR" dirty="0"/>
              <a:t>. </a:t>
            </a:r>
          </a:p>
        </p:txBody>
      </p:sp>
    </p:spTree>
    <p:extLst>
      <p:ext uri="{BB962C8B-B14F-4D97-AF65-F5344CB8AC3E}">
        <p14:creationId xmlns:p14="http://schemas.microsoft.com/office/powerpoint/2010/main" val="23772491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284C16-9AE0-3D52-3B92-16D5C43C7C94}"/>
              </a:ext>
            </a:extLst>
          </p:cNvPr>
          <p:cNvSpPr>
            <a:spLocks noGrp="1"/>
          </p:cNvSpPr>
          <p:nvPr>
            <p:ph type="title"/>
          </p:nvPr>
        </p:nvSpPr>
        <p:spPr/>
        <p:txBody>
          <a:bodyPr/>
          <a:lstStyle/>
          <a:p>
            <a:r>
              <a:rPr lang="pt-BR" dirty="0"/>
              <a:t>ELETROTERMOFOTOTERAPIA</a:t>
            </a:r>
          </a:p>
        </p:txBody>
      </p:sp>
      <p:sp>
        <p:nvSpPr>
          <p:cNvPr id="3" name="Espaço Reservado para Conteúdo 2">
            <a:extLst>
              <a:ext uri="{FF2B5EF4-FFF2-40B4-BE49-F238E27FC236}">
                <a16:creationId xmlns:a16="http://schemas.microsoft.com/office/drawing/2014/main" id="{90F12D0F-6D1C-4F68-277A-769B1DDB9A72}"/>
              </a:ext>
            </a:extLst>
          </p:cNvPr>
          <p:cNvSpPr>
            <a:spLocks noGrp="1"/>
          </p:cNvSpPr>
          <p:nvPr>
            <p:ph idx="1"/>
          </p:nvPr>
        </p:nvSpPr>
        <p:spPr/>
        <p:txBody>
          <a:bodyPr/>
          <a:lstStyle/>
          <a:p>
            <a:r>
              <a:rPr lang="pt-BR" dirty="0"/>
              <a:t>CROMOFORO OPSINAS: </a:t>
            </a:r>
          </a:p>
          <a:p>
            <a:pPr algn="just"/>
            <a:r>
              <a:rPr lang="pt-BR" dirty="0"/>
              <a:t>São cromóforos que em contato com a luz verde melhoram o reparo tecidual, a proliferação de fibroblastos, com redução de processos inflamatórios e aumento de angiogênese, com melhora do aporte nutricional. São comprimentos de luz entre 530 </a:t>
            </a:r>
            <a:r>
              <a:rPr lang="pt-BR" dirty="0" err="1"/>
              <a:t>nm</a:t>
            </a:r>
            <a:r>
              <a:rPr lang="pt-BR" dirty="0"/>
              <a:t>. </a:t>
            </a:r>
          </a:p>
        </p:txBody>
      </p:sp>
    </p:spTree>
    <p:extLst>
      <p:ext uri="{BB962C8B-B14F-4D97-AF65-F5344CB8AC3E}">
        <p14:creationId xmlns:p14="http://schemas.microsoft.com/office/powerpoint/2010/main" val="27752282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2D6471-D92A-00A2-B5AF-3C52D0A53712}"/>
              </a:ext>
            </a:extLst>
          </p:cNvPr>
          <p:cNvSpPr>
            <a:spLocks noGrp="1"/>
          </p:cNvSpPr>
          <p:nvPr>
            <p:ph type="title"/>
          </p:nvPr>
        </p:nvSpPr>
        <p:spPr/>
        <p:txBody>
          <a:bodyPr/>
          <a:lstStyle/>
          <a:p>
            <a:r>
              <a:rPr lang="pt-BR" dirty="0"/>
              <a:t>ELETROTERMOFOTOTERAPIA</a:t>
            </a:r>
          </a:p>
        </p:txBody>
      </p:sp>
      <p:sp>
        <p:nvSpPr>
          <p:cNvPr id="3" name="Espaço Reservado para Conteúdo 2">
            <a:extLst>
              <a:ext uri="{FF2B5EF4-FFF2-40B4-BE49-F238E27FC236}">
                <a16:creationId xmlns:a16="http://schemas.microsoft.com/office/drawing/2014/main" id="{96ACA898-CF27-00F3-934D-55B80A0BF119}"/>
              </a:ext>
            </a:extLst>
          </p:cNvPr>
          <p:cNvSpPr>
            <a:spLocks noGrp="1"/>
          </p:cNvSpPr>
          <p:nvPr>
            <p:ph idx="1"/>
          </p:nvPr>
        </p:nvSpPr>
        <p:spPr/>
        <p:txBody>
          <a:bodyPr/>
          <a:lstStyle/>
          <a:p>
            <a:r>
              <a:rPr lang="pt-BR" dirty="0"/>
              <a:t>Quando escolho um laser que o cromóforo é a melanina se tem laser de: epilação, led vermelho, infravermelho.</a:t>
            </a:r>
          </a:p>
          <a:p>
            <a:r>
              <a:rPr lang="pt-BR" dirty="0"/>
              <a:t>Quando escolho um laser que o cromóforo é a hemoglobina se tem laser de: remoção de vasos, telangiectasias, se for led para rejuvenescimento...</a:t>
            </a:r>
          </a:p>
          <a:p>
            <a:r>
              <a:rPr lang="pt-BR" dirty="0"/>
              <a:t>Quando escolho um laser que o cromóforo é a agua se tem laser de: CO2 fracionado, </a:t>
            </a:r>
            <a:r>
              <a:rPr lang="pt-BR" dirty="0" err="1"/>
              <a:t>thulium</a:t>
            </a:r>
            <a:r>
              <a:rPr lang="pt-BR" dirty="0"/>
              <a:t>, </a:t>
            </a:r>
            <a:r>
              <a:rPr lang="pt-BR" dirty="0" err="1"/>
              <a:t>endolaser</a:t>
            </a:r>
            <a:r>
              <a:rPr lang="pt-BR" dirty="0"/>
              <a:t>.</a:t>
            </a:r>
          </a:p>
          <a:p>
            <a:r>
              <a:rPr lang="pt-BR" dirty="0"/>
              <a:t>E o </a:t>
            </a:r>
            <a:r>
              <a:rPr lang="pt-BR" dirty="0" err="1"/>
              <a:t>ilib</a:t>
            </a:r>
            <a:r>
              <a:rPr lang="pt-BR" dirty="0"/>
              <a:t>?</a:t>
            </a:r>
          </a:p>
          <a:p>
            <a:r>
              <a:rPr lang="pt-BR" dirty="0"/>
              <a:t>E o laser de remoção de tatuagem?</a:t>
            </a:r>
          </a:p>
        </p:txBody>
      </p:sp>
    </p:spTree>
    <p:extLst>
      <p:ext uri="{BB962C8B-B14F-4D97-AF65-F5344CB8AC3E}">
        <p14:creationId xmlns:p14="http://schemas.microsoft.com/office/powerpoint/2010/main" val="31645874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F3731F-F534-3A0E-7292-4255DCE79480}"/>
              </a:ext>
            </a:extLst>
          </p:cNvPr>
          <p:cNvSpPr>
            <a:spLocks noGrp="1"/>
          </p:cNvSpPr>
          <p:nvPr>
            <p:ph type="title"/>
          </p:nvPr>
        </p:nvSpPr>
        <p:spPr/>
        <p:txBody>
          <a:bodyPr/>
          <a:lstStyle/>
          <a:p>
            <a:r>
              <a:rPr lang="pt-BR" dirty="0"/>
              <a:t>ELETROTERMOFOTOTERAPIA</a:t>
            </a:r>
          </a:p>
        </p:txBody>
      </p:sp>
      <p:sp>
        <p:nvSpPr>
          <p:cNvPr id="3" name="Espaço Reservado para Conteúdo 2">
            <a:extLst>
              <a:ext uri="{FF2B5EF4-FFF2-40B4-BE49-F238E27FC236}">
                <a16:creationId xmlns:a16="http://schemas.microsoft.com/office/drawing/2014/main" id="{4795A02D-751C-D3A6-A17D-47D2FDBEBC4B}"/>
              </a:ext>
            </a:extLst>
          </p:cNvPr>
          <p:cNvSpPr>
            <a:spLocks noGrp="1"/>
          </p:cNvSpPr>
          <p:nvPr>
            <p:ph idx="1"/>
          </p:nvPr>
        </p:nvSpPr>
        <p:spPr/>
        <p:txBody>
          <a:bodyPr/>
          <a:lstStyle/>
          <a:p>
            <a:pPr>
              <a:lnSpc>
                <a:spcPct val="150000"/>
              </a:lnSpc>
              <a:spcBef>
                <a:spcPts val="0"/>
              </a:spcBef>
            </a:pPr>
            <a:r>
              <a:rPr lang="pt-BR" dirty="0"/>
              <a:t>NIVEIS DE POTENCIA </a:t>
            </a:r>
          </a:p>
          <a:p>
            <a:pPr>
              <a:lnSpc>
                <a:spcPct val="150000"/>
              </a:lnSpc>
              <a:spcBef>
                <a:spcPts val="0"/>
              </a:spcBef>
            </a:pPr>
            <a:endParaRPr lang="pt-BR" dirty="0"/>
          </a:p>
          <a:p>
            <a:pPr>
              <a:lnSpc>
                <a:spcPct val="150000"/>
              </a:lnSpc>
              <a:spcBef>
                <a:spcPts val="0"/>
              </a:spcBef>
            </a:pPr>
            <a:r>
              <a:rPr lang="pt-BR" dirty="0"/>
              <a:t>ALTA POTENCIA:  Laser cirúrgico – temperaturas ate 100°C</a:t>
            </a:r>
          </a:p>
          <a:p>
            <a:pPr>
              <a:lnSpc>
                <a:spcPct val="150000"/>
              </a:lnSpc>
              <a:spcBef>
                <a:spcPts val="0"/>
              </a:spcBef>
            </a:pPr>
            <a:r>
              <a:rPr lang="pt-BR" dirty="0"/>
              <a:t>MEDIA POTENCIA: Laser e LIP – temperatura ate 60°C</a:t>
            </a:r>
          </a:p>
          <a:p>
            <a:pPr>
              <a:lnSpc>
                <a:spcPct val="150000"/>
              </a:lnSpc>
              <a:spcBef>
                <a:spcPts val="0"/>
              </a:spcBef>
            </a:pPr>
            <a:r>
              <a:rPr lang="pt-BR" dirty="0"/>
              <a:t>BAIXA POTENCIA: Laser de baixa potencia, não aquece e LED – somente fonte de luz </a:t>
            </a:r>
          </a:p>
        </p:txBody>
      </p:sp>
    </p:spTree>
    <p:extLst>
      <p:ext uri="{BB962C8B-B14F-4D97-AF65-F5344CB8AC3E}">
        <p14:creationId xmlns:p14="http://schemas.microsoft.com/office/powerpoint/2010/main" val="29530346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0B7425-B898-20DE-67E0-CAE332261456}"/>
              </a:ext>
            </a:extLst>
          </p:cNvPr>
          <p:cNvSpPr>
            <a:spLocks noGrp="1"/>
          </p:cNvSpPr>
          <p:nvPr>
            <p:ph type="title"/>
          </p:nvPr>
        </p:nvSpPr>
        <p:spPr/>
        <p:txBody>
          <a:bodyPr/>
          <a:lstStyle/>
          <a:p>
            <a:r>
              <a:rPr lang="pt-BR" dirty="0"/>
              <a:t>ELETROTERMOFOTOTERAPIA</a:t>
            </a:r>
          </a:p>
        </p:txBody>
      </p:sp>
      <p:sp>
        <p:nvSpPr>
          <p:cNvPr id="3" name="Espaço Reservado para Conteúdo 2">
            <a:extLst>
              <a:ext uri="{FF2B5EF4-FFF2-40B4-BE49-F238E27FC236}">
                <a16:creationId xmlns:a16="http://schemas.microsoft.com/office/drawing/2014/main" id="{65C08B1F-D693-7BF4-7309-C6D7B042797E}"/>
              </a:ext>
            </a:extLst>
          </p:cNvPr>
          <p:cNvSpPr>
            <a:spLocks noGrp="1"/>
          </p:cNvSpPr>
          <p:nvPr>
            <p:ph idx="1"/>
          </p:nvPr>
        </p:nvSpPr>
        <p:spPr/>
        <p:txBody>
          <a:bodyPr/>
          <a:lstStyle/>
          <a:p>
            <a:endParaRPr lang="pt-BR" dirty="0"/>
          </a:p>
        </p:txBody>
      </p:sp>
      <p:pic>
        <p:nvPicPr>
          <p:cNvPr id="4" name="Picture 2" descr="Material Didático - IMD">
            <a:extLst>
              <a:ext uri="{FF2B5EF4-FFF2-40B4-BE49-F238E27FC236}">
                <a16:creationId xmlns:a16="http://schemas.microsoft.com/office/drawing/2014/main" id="{54BD680A-6E66-8649-44AA-416CE97940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8387" y="1451911"/>
            <a:ext cx="6015226" cy="54060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65305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6B3739-3752-65AB-0C98-593D9C4469C6}"/>
              </a:ext>
            </a:extLst>
          </p:cNvPr>
          <p:cNvSpPr>
            <a:spLocks noGrp="1"/>
          </p:cNvSpPr>
          <p:nvPr>
            <p:ph type="title"/>
          </p:nvPr>
        </p:nvSpPr>
        <p:spPr/>
        <p:txBody>
          <a:bodyPr/>
          <a:lstStyle/>
          <a:p>
            <a:endParaRPr lang="pt-BR" dirty="0"/>
          </a:p>
        </p:txBody>
      </p:sp>
      <p:sp>
        <p:nvSpPr>
          <p:cNvPr id="3" name="Espaço Reservado para Conteúdo 2">
            <a:extLst>
              <a:ext uri="{FF2B5EF4-FFF2-40B4-BE49-F238E27FC236}">
                <a16:creationId xmlns:a16="http://schemas.microsoft.com/office/drawing/2014/main" id="{3A53A4F5-8CC2-34D8-9AD0-C821C5B32D93}"/>
              </a:ext>
            </a:extLst>
          </p:cNvPr>
          <p:cNvSpPr>
            <a:spLocks noGrp="1"/>
          </p:cNvSpPr>
          <p:nvPr>
            <p:ph idx="1"/>
          </p:nvPr>
        </p:nvSpPr>
        <p:spPr/>
        <p:txBody>
          <a:bodyPr/>
          <a:lstStyle/>
          <a:p>
            <a:endParaRPr lang="pt-BR"/>
          </a:p>
        </p:txBody>
      </p:sp>
      <p:pic>
        <p:nvPicPr>
          <p:cNvPr id="5" name="Picture 4" descr="comprimentos de onda - Body Health Brasil">
            <a:extLst>
              <a:ext uri="{FF2B5EF4-FFF2-40B4-BE49-F238E27FC236}">
                <a16:creationId xmlns:a16="http://schemas.microsoft.com/office/drawing/2014/main" id="{C26D8871-71C0-E067-3CDE-A0EAD6D90A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904" y="36813"/>
            <a:ext cx="10654747" cy="7011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5792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B19C27-2B2E-A3FD-AAC5-E3B8249E3037}"/>
              </a:ext>
            </a:extLst>
          </p:cNvPr>
          <p:cNvSpPr>
            <a:spLocks noGrp="1"/>
          </p:cNvSpPr>
          <p:nvPr>
            <p:ph type="title"/>
          </p:nvPr>
        </p:nvSpPr>
        <p:spPr/>
        <p:txBody>
          <a:bodyPr/>
          <a:lstStyle/>
          <a:p>
            <a:r>
              <a:rPr lang="pt-BR" dirty="0"/>
              <a:t>ELETROTERMOFOTOTERAPIA</a:t>
            </a:r>
          </a:p>
        </p:txBody>
      </p:sp>
      <p:graphicFrame>
        <p:nvGraphicFramePr>
          <p:cNvPr id="4" name="Tabela 4">
            <a:extLst>
              <a:ext uri="{FF2B5EF4-FFF2-40B4-BE49-F238E27FC236}">
                <a16:creationId xmlns:a16="http://schemas.microsoft.com/office/drawing/2014/main" id="{06C204A2-9D16-72BD-23C0-BC1CB56C71FA}"/>
              </a:ext>
            </a:extLst>
          </p:cNvPr>
          <p:cNvGraphicFramePr>
            <a:graphicFrameLocks noGrp="1"/>
          </p:cNvGraphicFramePr>
          <p:nvPr>
            <p:ph idx="1"/>
            <p:extLst>
              <p:ext uri="{D42A27DB-BD31-4B8C-83A1-F6EECF244321}">
                <p14:modId xmlns:p14="http://schemas.microsoft.com/office/powerpoint/2010/main" val="1523425406"/>
              </p:ext>
            </p:extLst>
          </p:nvPr>
        </p:nvGraphicFramePr>
        <p:xfrm>
          <a:off x="838200" y="1918390"/>
          <a:ext cx="10515600" cy="3708400"/>
        </p:xfrm>
        <a:graphic>
          <a:graphicData uri="http://schemas.openxmlformats.org/drawingml/2006/table">
            <a:tbl>
              <a:tblPr firstRow="1" bandRow="1">
                <a:tableStyleId>{5940675A-B579-460E-94D1-54222C63F5DA}</a:tableStyleId>
              </a:tblPr>
              <a:tblGrid>
                <a:gridCol w="5257800">
                  <a:extLst>
                    <a:ext uri="{9D8B030D-6E8A-4147-A177-3AD203B41FA5}">
                      <a16:colId xmlns:a16="http://schemas.microsoft.com/office/drawing/2014/main" val="350408568"/>
                    </a:ext>
                  </a:extLst>
                </a:gridCol>
                <a:gridCol w="5257800">
                  <a:extLst>
                    <a:ext uri="{9D8B030D-6E8A-4147-A177-3AD203B41FA5}">
                      <a16:colId xmlns:a16="http://schemas.microsoft.com/office/drawing/2014/main" val="3236085061"/>
                    </a:ext>
                  </a:extLst>
                </a:gridCol>
              </a:tblGrid>
              <a:tr h="370840">
                <a:tc>
                  <a:txBody>
                    <a:bodyPr/>
                    <a:lstStyle/>
                    <a:p>
                      <a:pPr algn="ctr"/>
                      <a:r>
                        <a:rPr lang="pt-BR" b="1" dirty="0"/>
                        <a:t>LASER </a:t>
                      </a:r>
                    </a:p>
                  </a:txBody>
                  <a:tcPr/>
                </a:tc>
                <a:tc>
                  <a:txBody>
                    <a:bodyPr/>
                    <a:lstStyle/>
                    <a:p>
                      <a:pPr algn="ctr"/>
                      <a:r>
                        <a:rPr lang="pt-BR" b="1" dirty="0"/>
                        <a:t>COMPRIMENTO DE ONDA </a:t>
                      </a:r>
                    </a:p>
                  </a:txBody>
                  <a:tcPr/>
                </a:tc>
                <a:extLst>
                  <a:ext uri="{0D108BD9-81ED-4DB2-BD59-A6C34878D82A}">
                    <a16:rowId xmlns:a16="http://schemas.microsoft.com/office/drawing/2014/main" val="3204677230"/>
                  </a:ext>
                </a:extLst>
              </a:tr>
              <a:tr h="370840">
                <a:tc>
                  <a:txBody>
                    <a:bodyPr/>
                    <a:lstStyle/>
                    <a:p>
                      <a:r>
                        <a:rPr lang="pt-BR" dirty="0"/>
                        <a:t>ND </a:t>
                      </a:r>
                      <a:r>
                        <a:rPr lang="pt-BR" dirty="0" err="1"/>
                        <a:t>Yag</a:t>
                      </a:r>
                      <a:r>
                        <a:rPr lang="pt-BR" dirty="0"/>
                        <a:t> Superficial </a:t>
                      </a:r>
                    </a:p>
                  </a:txBody>
                  <a:tcPr/>
                </a:tc>
                <a:tc>
                  <a:txBody>
                    <a:bodyPr/>
                    <a:lstStyle/>
                    <a:p>
                      <a:r>
                        <a:rPr lang="pt-BR" dirty="0"/>
                        <a:t>532 </a:t>
                      </a:r>
                      <a:r>
                        <a:rPr lang="pt-BR" dirty="0" err="1"/>
                        <a:t>nm</a:t>
                      </a:r>
                      <a:r>
                        <a:rPr lang="pt-BR" dirty="0"/>
                        <a:t> </a:t>
                      </a:r>
                    </a:p>
                  </a:txBody>
                  <a:tcPr/>
                </a:tc>
                <a:extLst>
                  <a:ext uri="{0D108BD9-81ED-4DB2-BD59-A6C34878D82A}">
                    <a16:rowId xmlns:a16="http://schemas.microsoft.com/office/drawing/2014/main" val="2047906281"/>
                  </a:ext>
                </a:extLst>
              </a:tr>
              <a:tr h="370840">
                <a:tc>
                  <a:txBody>
                    <a:bodyPr/>
                    <a:lstStyle/>
                    <a:p>
                      <a:r>
                        <a:rPr lang="pt-BR" dirty="0"/>
                        <a:t>Corantes </a:t>
                      </a:r>
                    </a:p>
                  </a:txBody>
                  <a:tcPr/>
                </a:tc>
                <a:tc>
                  <a:txBody>
                    <a:bodyPr/>
                    <a:lstStyle/>
                    <a:p>
                      <a:r>
                        <a:rPr lang="pt-BR" dirty="0"/>
                        <a:t>585 </a:t>
                      </a:r>
                      <a:r>
                        <a:rPr lang="pt-BR" dirty="0" err="1"/>
                        <a:t>nm</a:t>
                      </a:r>
                      <a:endParaRPr lang="pt-BR" dirty="0"/>
                    </a:p>
                  </a:txBody>
                  <a:tcPr/>
                </a:tc>
                <a:extLst>
                  <a:ext uri="{0D108BD9-81ED-4DB2-BD59-A6C34878D82A}">
                    <a16:rowId xmlns:a16="http://schemas.microsoft.com/office/drawing/2014/main" val="139987924"/>
                  </a:ext>
                </a:extLst>
              </a:tr>
              <a:tr h="370840">
                <a:tc>
                  <a:txBody>
                    <a:bodyPr/>
                    <a:lstStyle/>
                    <a:p>
                      <a:r>
                        <a:rPr lang="pt-BR" dirty="0"/>
                        <a:t>Rubi </a:t>
                      </a:r>
                    </a:p>
                  </a:txBody>
                  <a:tcPr/>
                </a:tc>
                <a:tc>
                  <a:txBody>
                    <a:bodyPr/>
                    <a:lstStyle/>
                    <a:p>
                      <a:r>
                        <a:rPr lang="pt-BR" dirty="0"/>
                        <a:t>694 </a:t>
                      </a:r>
                      <a:r>
                        <a:rPr lang="pt-BR" dirty="0" err="1"/>
                        <a:t>nm</a:t>
                      </a:r>
                      <a:endParaRPr lang="pt-BR" dirty="0"/>
                    </a:p>
                  </a:txBody>
                  <a:tcPr/>
                </a:tc>
                <a:extLst>
                  <a:ext uri="{0D108BD9-81ED-4DB2-BD59-A6C34878D82A}">
                    <a16:rowId xmlns:a16="http://schemas.microsoft.com/office/drawing/2014/main" val="3053037980"/>
                  </a:ext>
                </a:extLst>
              </a:tr>
              <a:tr h="370840">
                <a:tc>
                  <a:txBody>
                    <a:bodyPr/>
                    <a:lstStyle/>
                    <a:p>
                      <a:r>
                        <a:rPr lang="pt-BR" dirty="0"/>
                        <a:t>Alexandrite </a:t>
                      </a:r>
                    </a:p>
                  </a:txBody>
                  <a:tcPr/>
                </a:tc>
                <a:tc>
                  <a:txBody>
                    <a:bodyPr/>
                    <a:lstStyle/>
                    <a:p>
                      <a:r>
                        <a:rPr lang="pt-BR" dirty="0"/>
                        <a:t>755 </a:t>
                      </a:r>
                      <a:r>
                        <a:rPr lang="pt-BR" dirty="0" err="1"/>
                        <a:t>nm</a:t>
                      </a:r>
                      <a:endParaRPr lang="pt-BR" dirty="0"/>
                    </a:p>
                  </a:txBody>
                  <a:tcPr/>
                </a:tc>
                <a:extLst>
                  <a:ext uri="{0D108BD9-81ED-4DB2-BD59-A6C34878D82A}">
                    <a16:rowId xmlns:a16="http://schemas.microsoft.com/office/drawing/2014/main" val="2537198927"/>
                  </a:ext>
                </a:extLst>
              </a:tr>
              <a:tr h="370840">
                <a:tc>
                  <a:txBody>
                    <a:bodyPr/>
                    <a:lstStyle/>
                    <a:p>
                      <a:r>
                        <a:rPr lang="pt-BR" dirty="0"/>
                        <a:t>Diodo</a:t>
                      </a:r>
                    </a:p>
                  </a:txBody>
                  <a:tcPr/>
                </a:tc>
                <a:tc>
                  <a:txBody>
                    <a:bodyPr/>
                    <a:lstStyle/>
                    <a:p>
                      <a:r>
                        <a:rPr lang="pt-BR" dirty="0"/>
                        <a:t>800 </a:t>
                      </a:r>
                      <a:r>
                        <a:rPr lang="pt-BR" dirty="0" err="1"/>
                        <a:t>nm</a:t>
                      </a:r>
                      <a:endParaRPr lang="pt-BR" dirty="0"/>
                    </a:p>
                  </a:txBody>
                  <a:tcPr/>
                </a:tc>
                <a:extLst>
                  <a:ext uri="{0D108BD9-81ED-4DB2-BD59-A6C34878D82A}">
                    <a16:rowId xmlns:a16="http://schemas.microsoft.com/office/drawing/2014/main" val="365310225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ND </a:t>
                      </a:r>
                      <a:r>
                        <a:rPr lang="pt-BR" dirty="0" err="1"/>
                        <a:t>Yag</a:t>
                      </a:r>
                      <a:r>
                        <a:rPr lang="pt-BR" dirty="0"/>
                        <a:t> profundo </a:t>
                      </a:r>
                    </a:p>
                  </a:txBody>
                  <a:tcPr/>
                </a:tc>
                <a:tc>
                  <a:txBody>
                    <a:bodyPr/>
                    <a:lstStyle/>
                    <a:p>
                      <a:r>
                        <a:rPr lang="pt-BR" dirty="0"/>
                        <a:t>1064 </a:t>
                      </a:r>
                      <a:r>
                        <a:rPr lang="pt-BR" dirty="0" err="1"/>
                        <a:t>nm</a:t>
                      </a:r>
                      <a:endParaRPr lang="pt-BR" dirty="0"/>
                    </a:p>
                  </a:txBody>
                  <a:tcPr/>
                </a:tc>
                <a:extLst>
                  <a:ext uri="{0D108BD9-81ED-4DB2-BD59-A6C34878D82A}">
                    <a16:rowId xmlns:a16="http://schemas.microsoft.com/office/drawing/2014/main" val="867473560"/>
                  </a:ext>
                </a:extLst>
              </a:tr>
              <a:tr h="370840">
                <a:tc>
                  <a:txBody>
                    <a:bodyPr/>
                    <a:lstStyle/>
                    <a:p>
                      <a:r>
                        <a:rPr lang="pt-BR" dirty="0" err="1"/>
                        <a:t>Thulium</a:t>
                      </a:r>
                      <a:r>
                        <a:rPr lang="pt-BR" dirty="0"/>
                        <a:t> </a:t>
                      </a:r>
                    </a:p>
                  </a:txBody>
                  <a:tcPr/>
                </a:tc>
                <a:tc>
                  <a:txBody>
                    <a:bodyPr/>
                    <a:lstStyle/>
                    <a:p>
                      <a:r>
                        <a:rPr lang="pt-BR" dirty="0"/>
                        <a:t>1927 </a:t>
                      </a:r>
                      <a:r>
                        <a:rPr lang="pt-BR" dirty="0" err="1"/>
                        <a:t>nm</a:t>
                      </a:r>
                      <a:endParaRPr lang="pt-BR" dirty="0"/>
                    </a:p>
                  </a:txBody>
                  <a:tcPr/>
                </a:tc>
                <a:extLst>
                  <a:ext uri="{0D108BD9-81ED-4DB2-BD59-A6C34878D82A}">
                    <a16:rowId xmlns:a16="http://schemas.microsoft.com/office/drawing/2014/main" val="3065179199"/>
                  </a:ext>
                </a:extLst>
              </a:tr>
              <a:tr h="370840">
                <a:tc>
                  <a:txBody>
                    <a:bodyPr/>
                    <a:lstStyle/>
                    <a:p>
                      <a:r>
                        <a:rPr lang="pt-BR" dirty="0" err="1"/>
                        <a:t>Er</a:t>
                      </a:r>
                      <a:r>
                        <a:rPr lang="pt-BR" dirty="0"/>
                        <a:t> </a:t>
                      </a:r>
                      <a:r>
                        <a:rPr lang="pt-BR" dirty="0" err="1"/>
                        <a:t>Yag</a:t>
                      </a:r>
                      <a:endParaRPr lang="pt-BR" dirty="0"/>
                    </a:p>
                  </a:txBody>
                  <a:tcPr/>
                </a:tc>
                <a:tc>
                  <a:txBody>
                    <a:bodyPr/>
                    <a:lstStyle/>
                    <a:p>
                      <a:r>
                        <a:rPr lang="pt-BR" dirty="0"/>
                        <a:t>2940 </a:t>
                      </a:r>
                      <a:r>
                        <a:rPr lang="pt-BR" dirty="0" err="1"/>
                        <a:t>nm</a:t>
                      </a:r>
                      <a:endParaRPr lang="pt-BR" dirty="0"/>
                    </a:p>
                  </a:txBody>
                  <a:tcPr/>
                </a:tc>
                <a:extLst>
                  <a:ext uri="{0D108BD9-81ED-4DB2-BD59-A6C34878D82A}">
                    <a16:rowId xmlns:a16="http://schemas.microsoft.com/office/drawing/2014/main" val="750633397"/>
                  </a:ext>
                </a:extLst>
              </a:tr>
              <a:tr h="370840">
                <a:tc>
                  <a:txBody>
                    <a:bodyPr/>
                    <a:lstStyle/>
                    <a:p>
                      <a:r>
                        <a:rPr lang="pt-BR" dirty="0"/>
                        <a:t>CO2 </a:t>
                      </a:r>
                    </a:p>
                  </a:txBody>
                  <a:tcPr/>
                </a:tc>
                <a:tc>
                  <a:txBody>
                    <a:bodyPr/>
                    <a:lstStyle/>
                    <a:p>
                      <a:r>
                        <a:rPr lang="pt-BR" dirty="0"/>
                        <a:t>10600 </a:t>
                      </a:r>
                      <a:r>
                        <a:rPr lang="pt-BR" dirty="0" err="1"/>
                        <a:t>nm</a:t>
                      </a:r>
                      <a:endParaRPr lang="pt-BR" dirty="0"/>
                    </a:p>
                  </a:txBody>
                  <a:tcPr/>
                </a:tc>
                <a:extLst>
                  <a:ext uri="{0D108BD9-81ED-4DB2-BD59-A6C34878D82A}">
                    <a16:rowId xmlns:a16="http://schemas.microsoft.com/office/drawing/2014/main" val="1710143750"/>
                  </a:ext>
                </a:extLst>
              </a:tr>
            </a:tbl>
          </a:graphicData>
        </a:graphic>
      </p:graphicFrame>
    </p:spTree>
    <p:extLst>
      <p:ext uri="{BB962C8B-B14F-4D97-AF65-F5344CB8AC3E}">
        <p14:creationId xmlns:p14="http://schemas.microsoft.com/office/powerpoint/2010/main" val="36289042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71BA06-F0D6-0E40-7C8B-73DFB7F65DFE}"/>
              </a:ext>
            </a:extLst>
          </p:cNvPr>
          <p:cNvSpPr>
            <a:spLocks noGrp="1"/>
          </p:cNvSpPr>
          <p:nvPr>
            <p:ph type="title"/>
          </p:nvPr>
        </p:nvSpPr>
        <p:spPr/>
        <p:txBody>
          <a:bodyPr/>
          <a:lstStyle/>
          <a:p>
            <a:r>
              <a:rPr lang="pt-BR" dirty="0"/>
              <a:t>ELETROTERMOFOTOTERAPIA</a:t>
            </a:r>
          </a:p>
        </p:txBody>
      </p:sp>
      <p:sp>
        <p:nvSpPr>
          <p:cNvPr id="3" name="Espaço Reservado para Conteúdo 2">
            <a:extLst>
              <a:ext uri="{FF2B5EF4-FFF2-40B4-BE49-F238E27FC236}">
                <a16:creationId xmlns:a16="http://schemas.microsoft.com/office/drawing/2014/main" id="{85DE3742-0344-2ECB-0D18-DCA592A49F53}"/>
              </a:ext>
            </a:extLst>
          </p:cNvPr>
          <p:cNvSpPr>
            <a:spLocks noGrp="1"/>
          </p:cNvSpPr>
          <p:nvPr>
            <p:ph idx="1"/>
          </p:nvPr>
        </p:nvSpPr>
        <p:spPr/>
        <p:txBody>
          <a:bodyPr>
            <a:normAutofit lnSpcReduction="10000"/>
          </a:bodyPr>
          <a:lstStyle/>
          <a:p>
            <a:pPr>
              <a:lnSpc>
                <a:spcPct val="150000"/>
              </a:lnSpc>
              <a:spcBef>
                <a:spcPts val="0"/>
              </a:spcBef>
            </a:pPr>
            <a:r>
              <a:rPr lang="pt-BR" dirty="0" err="1"/>
              <a:t>Endolaser</a:t>
            </a:r>
            <a:r>
              <a:rPr lang="pt-BR" dirty="0"/>
              <a:t> </a:t>
            </a:r>
          </a:p>
          <a:p>
            <a:pPr>
              <a:lnSpc>
                <a:spcPct val="150000"/>
              </a:lnSpc>
              <a:spcBef>
                <a:spcPts val="0"/>
              </a:spcBef>
            </a:pPr>
            <a:r>
              <a:rPr lang="pt-BR" dirty="0"/>
              <a:t>980 e 1470 </a:t>
            </a:r>
            <a:r>
              <a:rPr lang="pt-BR" dirty="0" err="1"/>
              <a:t>nm</a:t>
            </a:r>
            <a:endParaRPr lang="pt-BR" dirty="0"/>
          </a:p>
          <a:p>
            <a:pPr>
              <a:lnSpc>
                <a:spcPct val="150000"/>
              </a:lnSpc>
              <a:spcBef>
                <a:spcPts val="0"/>
              </a:spcBef>
            </a:pPr>
            <a:endParaRPr lang="pt-BR" dirty="0"/>
          </a:p>
          <a:p>
            <a:pPr>
              <a:lnSpc>
                <a:spcPct val="150000"/>
              </a:lnSpc>
              <a:spcBef>
                <a:spcPts val="0"/>
              </a:spcBef>
            </a:pPr>
            <a:r>
              <a:rPr lang="pt-BR" dirty="0"/>
              <a:t>Remoção tatuagem</a:t>
            </a:r>
          </a:p>
          <a:p>
            <a:pPr>
              <a:lnSpc>
                <a:spcPct val="150000"/>
              </a:lnSpc>
              <a:spcBef>
                <a:spcPts val="0"/>
              </a:spcBef>
            </a:pPr>
            <a:r>
              <a:rPr lang="pt-BR" dirty="0"/>
              <a:t>532 </a:t>
            </a:r>
            <a:r>
              <a:rPr lang="pt-BR" dirty="0" err="1"/>
              <a:t>nm</a:t>
            </a:r>
            <a:r>
              <a:rPr lang="pt-BR" dirty="0"/>
              <a:t> cores - vermelho, laranja e amarelo</a:t>
            </a:r>
          </a:p>
          <a:p>
            <a:pPr>
              <a:lnSpc>
                <a:spcPct val="150000"/>
              </a:lnSpc>
              <a:spcBef>
                <a:spcPts val="0"/>
              </a:spcBef>
            </a:pPr>
            <a:r>
              <a:rPr lang="pt-BR" dirty="0"/>
              <a:t>694 </a:t>
            </a:r>
            <a:r>
              <a:rPr lang="pt-BR" dirty="0" err="1"/>
              <a:t>nm</a:t>
            </a:r>
            <a:r>
              <a:rPr lang="pt-BR" dirty="0"/>
              <a:t> cores – azul, roxo, verde e preto</a:t>
            </a:r>
          </a:p>
          <a:p>
            <a:pPr>
              <a:lnSpc>
                <a:spcPct val="150000"/>
              </a:lnSpc>
              <a:spcBef>
                <a:spcPts val="0"/>
              </a:spcBef>
            </a:pPr>
            <a:r>
              <a:rPr lang="pt-BR" dirty="0"/>
              <a:t>1064 </a:t>
            </a:r>
            <a:r>
              <a:rPr lang="pt-BR" dirty="0" err="1"/>
              <a:t>nm</a:t>
            </a:r>
            <a:r>
              <a:rPr lang="pt-BR" dirty="0"/>
              <a:t> cores – verde, azul e preto</a:t>
            </a:r>
          </a:p>
          <a:p>
            <a:endParaRPr lang="pt-BR" dirty="0"/>
          </a:p>
        </p:txBody>
      </p:sp>
    </p:spTree>
    <p:extLst>
      <p:ext uri="{BB962C8B-B14F-4D97-AF65-F5344CB8AC3E}">
        <p14:creationId xmlns:p14="http://schemas.microsoft.com/office/powerpoint/2010/main" val="37902491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599051-AE46-223D-E85E-F792A0B6FEF3}"/>
              </a:ext>
            </a:extLst>
          </p:cNvPr>
          <p:cNvSpPr>
            <a:spLocks noGrp="1"/>
          </p:cNvSpPr>
          <p:nvPr>
            <p:ph type="title"/>
          </p:nvPr>
        </p:nvSpPr>
        <p:spPr/>
        <p:txBody>
          <a:bodyPr/>
          <a:lstStyle/>
          <a:p>
            <a:r>
              <a:rPr lang="pt-BR" dirty="0"/>
              <a:t>LUZ INTENSA PULSADA</a:t>
            </a:r>
          </a:p>
        </p:txBody>
      </p:sp>
      <p:pic>
        <p:nvPicPr>
          <p:cNvPr id="5" name="Espaço Reservado para Conteúdo 4">
            <a:extLst>
              <a:ext uri="{FF2B5EF4-FFF2-40B4-BE49-F238E27FC236}">
                <a16:creationId xmlns:a16="http://schemas.microsoft.com/office/drawing/2014/main" id="{0CBD3BB2-ACAF-3362-C2B2-DBF04DCCFE59}"/>
              </a:ext>
            </a:extLst>
          </p:cNvPr>
          <p:cNvPicPr>
            <a:picLocks noGrp="1" noChangeAspect="1"/>
          </p:cNvPicPr>
          <p:nvPr>
            <p:ph idx="1"/>
          </p:nvPr>
        </p:nvPicPr>
        <p:blipFill>
          <a:blip r:embed="rId2"/>
          <a:stretch>
            <a:fillRect/>
          </a:stretch>
        </p:blipFill>
        <p:spPr>
          <a:xfrm>
            <a:off x="5444198" y="1228269"/>
            <a:ext cx="5458264" cy="5680404"/>
          </a:xfrm>
          <a:prstGeom prst="rect">
            <a:avLst/>
          </a:prstGeom>
        </p:spPr>
      </p:pic>
    </p:spTree>
    <p:extLst>
      <p:ext uri="{BB962C8B-B14F-4D97-AF65-F5344CB8AC3E}">
        <p14:creationId xmlns:p14="http://schemas.microsoft.com/office/powerpoint/2010/main" val="32716613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9B38F4-6177-1C37-4E5F-2FFCD7342685}"/>
              </a:ext>
            </a:extLst>
          </p:cNvPr>
          <p:cNvSpPr>
            <a:spLocks noGrp="1"/>
          </p:cNvSpPr>
          <p:nvPr>
            <p:ph type="title"/>
          </p:nvPr>
        </p:nvSpPr>
        <p:spPr/>
        <p:txBody>
          <a:bodyPr/>
          <a:lstStyle/>
          <a:p>
            <a:r>
              <a:rPr lang="pt-BR" dirty="0"/>
              <a:t>LUZ INTENSA PULSADA</a:t>
            </a:r>
          </a:p>
        </p:txBody>
      </p:sp>
      <p:sp>
        <p:nvSpPr>
          <p:cNvPr id="6" name="AutoShape 8" descr="Kit Light Pulse com Aplicador Intercambiável - Aparelho de Luz Intensa Pulsada - HTM">
            <a:extLst>
              <a:ext uri="{FF2B5EF4-FFF2-40B4-BE49-F238E27FC236}">
                <a16:creationId xmlns:a16="http://schemas.microsoft.com/office/drawing/2014/main" id="{3130DC66-6161-E357-F05F-A28CC9A81A15}"/>
              </a:ext>
            </a:extLst>
          </p:cNvPr>
          <p:cNvSpPr>
            <a:spLocks noGrp="1" noChangeAspect="1" noChangeArrowheads="1"/>
          </p:cNvSpPr>
          <p:nvPr>
            <p:ph idx="1"/>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just"/>
            <a:r>
              <a:rPr lang="pt-BR" dirty="0"/>
              <a:t>A Luz Intensa Pulsada é uma tecnologia que </a:t>
            </a:r>
            <a:r>
              <a:rPr lang="pt-BR" b="1" dirty="0"/>
              <a:t>emite feixes de luz policromática</a:t>
            </a:r>
            <a:r>
              <a:rPr lang="pt-BR" dirty="0"/>
              <a:t>, com diferentes comprimentos de onda, que penetram na pele de forma seletiva, dependendo do objetivo terapêutico.</a:t>
            </a:r>
          </a:p>
          <a:p>
            <a:pPr marL="0" indent="0" algn="just">
              <a:buNone/>
            </a:pPr>
            <a:endParaRPr lang="pt-BR" dirty="0"/>
          </a:p>
          <a:p>
            <a:pPr algn="just"/>
            <a:r>
              <a:rPr lang="pt-BR" dirty="0"/>
              <a:t>Ela não deve ser confundida com o laser, embora compartilhem alguns princípios. Enquanto o laser utiliza uma luz monocromática (um único comprimento de onda), a </a:t>
            </a:r>
            <a:r>
              <a:rPr lang="pt-BR" b="1" dirty="0"/>
              <a:t>LIP é mais ampla e adaptável</a:t>
            </a:r>
            <a:r>
              <a:rPr lang="pt-BR" dirty="0"/>
              <a:t>, podendo tratar múltiplas condições com diferentes filtros e ajustes de parâmetros. </a:t>
            </a:r>
          </a:p>
          <a:p>
            <a:endParaRPr lang="pt-BR" dirty="0"/>
          </a:p>
        </p:txBody>
      </p:sp>
    </p:spTree>
    <p:extLst>
      <p:ext uri="{BB962C8B-B14F-4D97-AF65-F5344CB8AC3E}">
        <p14:creationId xmlns:p14="http://schemas.microsoft.com/office/powerpoint/2010/main" val="17121248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49336-D8EC-D3C7-9530-134BCFF533E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C8F0A57-7DCD-753D-B773-E914E78DBCCC}"/>
              </a:ext>
            </a:extLst>
          </p:cNvPr>
          <p:cNvSpPr>
            <a:spLocks noGrp="1"/>
          </p:cNvSpPr>
          <p:nvPr>
            <p:ph type="title"/>
          </p:nvPr>
        </p:nvSpPr>
        <p:spPr/>
        <p:txBody>
          <a:bodyPr/>
          <a:lstStyle/>
          <a:p>
            <a:r>
              <a:rPr lang="pt-BR" dirty="0"/>
              <a:t>LUZ INTENSA PULSADA</a:t>
            </a:r>
          </a:p>
        </p:txBody>
      </p:sp>
      <p:pic>
        <p:nvPicPr>
          <p:cNvPr id="16386" name="Picture 2" descr="Dispersão da luz. Como ocorre o fenômeno da dispersão da luz?">
            <a:extLst>
              <a:ext uri="{FF2B5EF4-FFF2-40B4-BE49-F238E27FC236}">
                <a16:creationId xmlns:a16="http://schemas.microsoft.com/office/drawing/2014/main" id="{614144C2-D37E-054E-6599-BB00BD7A33F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04049" y="1264569"/>
            <a:ext cx="7132320" cy="54341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56444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E4DDB0-9E4F-E7A8-E8D6-9DB3732979D6}"/>
              </a:ext>
            </a:extLst>
          </p:cNvPr>
          <p:cNvSpPr>
            <a:spLocks noGrp="1"/>
          </p:cNvSpPr>
          <p:nvPr>
            <p:ph type="title"/>
          </p:nvPr>
        </p:nvSpPr>
        <p:spPr/>
        <p:txBody>
          <a:bodyPr/>
          <a:lstStyle/>
          <a:p>
            <a:r>
              <a:rPr lang="pt-BR" dirty="0"/>
              <a:t>LUZ INTENSA PULSADA</a:t>
            </a:r>
          </a:p>
        </p:txBody>
      </p:sp>
      <p:pic>
        <p:nvPicPr>
          <p:cNvPr id="17410" name="Picture 2" descr="Saiba qual a principal diferença entre o laser e a LIP">
            <a:extLst>
              <a:ext uri="{FF2B5EF4-FFF2-40B4-BE49-F238E27FC236}">
                <a16:creationId xmlns:a16="http://schemas.microsoft.com/office/drawing/2014/main" id="{69B89C39-6771-3985-CCC0-C1A131BAF4F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38622" y="1825625"/>
            <a:ext cx="5305789" cy="51341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10910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09273B-FCC6-EC8A-2618-609656BEE9C5}"/>
              </a:ext>
            </a:extLst>
          </p:cNvPr>
          <p:cNvSpPr>
            <a:spLocks noGrp="1"/>
          </p:cNvSpPr>
          <p:nvPr>
            <p:ph type="title"/>
          </p:nvPr>
        </p:nvSpPr>
        <p:spPr/>
        <p:txBody>
          <a:bodyPr/>
          <a:lstStyle/>
          <a:p>
            <a:r>
              <a:rPr lang="pt-BR" dirty="0"/>
              <a:t>LUZ INTENSA PULSADA</a:t>
            </a:r>
          </a:p>
        </p:txBody>
      </p:sp>
      <p:sp>
        <p:nvSpPr>
          <p:cNvPr id="3" name="Espaço Reservado para Conteúdo 2">
            <a:extLst>
              <a:ext uri="{FF2B5EF4-FFF2-40B4-BE49-F238E27FC236}">
                <a16:creationId xmlns:a16="http://schemas.microsoft.com/office/drawing/2014/main" id="{4920BF7D-F995-8759-1250-403DCD84AED0}"/>
              </a:ext>
            </a:extLst>
          </p:cNvPr>
          <p:cNvSpPr>
            <a:spLocks noGrp="1"/>
          </p:cNvSpPr>
          <p:nvPr>
            <p:ph idx="1"/>
          </p:nvPr>
        </p:nvSpPr>
        <p:spPr/>
        <p:txBody>
          <a:bodyPr>
            <a:normAutofit fontScale="92500"/>
          </a:bodyPr>
          <a:lstStyle/>
          <a:p>
            <a:pPr algn="just"/>
            <a:r>
              <a:rPr lang="pt-BR" b="1" dirty="0"/>
              <a:t>Rejuvenescimento facial (</a:t>
            </a:r>
            <a:r>
              <a:rPr lang="pt-BR" b="1" dirty="0" err="1"/>
              <a:t>fotorejuvenescimento</a:t>
            </a:r>
            <a:r>
              <a:rPr lang="pt-BR" b="1" dirty="0"/>
              <a:t>): </a:t>
            </a:r>
            <a:r>
              <a:rPr lang="pt-BR" dirty="0"/>
              <a:t>Atenua rugas finas, melhora a textura da pele, estimula o colágeno e uniformiza o tom.</a:t>
            </a:r>
          </a:p>
          <a:p>
            <a:pPr algn="just"/>
            <a:r>
              <a:rPr lang="pt-BR" b="1" dirty="0"/>
              <a:t>Remoção de manchas e pigmentações:</a:t>
            </a:r>
            <a:r>
              <a:rPr lang="pt-BR" dirty="0"/>
              <a:t> Atua em melanina e hemoglobina, sendo eficaz no tratamento de </a:t>
            </a:r>
            <a:r>
              <a:rPr lang="pt-BR" dirty="0" err="1"/>
              <a:t>melasmas</a:t>
            </a:r>
            <a:r>
              <a:rPr lang="pt-BR" dirty="0"/>
              <a:t>, sardas, </a:t>
            </a:r>
            <a:r>
              <a:rPr lang="pt-BR" dirty="0" err="1"/>
              <a:t>lentigos</a:t>
            </a:r>
            <a:r>
              <a:rPr lang="pt-BR" dirty="0"/>
              <a:t> e eritemas.</a:t>
            </a:r>
          </a:p>
          <a:p>
            <a:pPr algn="just"/>
            <a:r>
              <a:rPr lang="pt-BR" b="1" dirty="0"/>
              <a:t>Tratamento de lesões vasculares superficiais:</a:t>
            </a:r>
            <a:r>
              <a:rPr lang="pt-BR" dirty="0"/>
              <a:t> Como telangiectasias, rosácea e pequenos vasos faciais.</a:t>
            </a:r>
          </a:p>
          <a:p>
            <a:pPr algn="just"/>
            <a:r>
              <a:rPr lang="pt-BR" b="1" dirty="0"/>
              <a:t>Controle da acne ativa:</a:t>
            </a:r>
            <a:r>
              <a:rPr lang="pt-BR" dirty="0"/>
              <a:t> A luz ajuda a reduzir a atividade da glândula sebácea e tem ação bactericida.</a:t>
            </a:r>
          </a:p>
          <a:p>
            <a:pPr algn="just"/>
            <a:r>
              <a:rPr lang="pt-BR" b="1" dirty="0" err="1"/>
              <a:t>Fotoepilação</a:t>
            </a:r>
            <a:r>
              <a:rPr lang="pt-BR" b="1" dirty="0"/>
              <a:t> (redução de pelos):</a:t>
            </a:r>
            <a:r>
              <a:rPr lang="pt-BR" dirty="0"/>
              <a:t> Inibe o crescimento do pelo ao atingir seletivamente a melanina no folículo piloso.</a:t>
            </a:r>
          </a:p>
          <a:p>
            <a:endParaRPr lang="pt-BR" dirty="0"/>
          </a:p>
        </p:txBody>
      </p:sp>
    </p:spTree>
    <p:extLst>
      <p:ext uri="{BB962C8B-B14F-4D97-AF65-F5344CB8AC3E}">
        <p14:creationId xmlns:p14="http://schemas.microsoft.com/office/powerpoint/2010/main" val="15188010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4420C8-354D-B3FF-D87B-BF4DC4B950BE}"/>
              </a:ext>
            </a:extLst>
          </p:cNvPr>
          <p:cNvSpPr>
            <a:spLocks noGrp="1"/>
          </p:cNvSpPr>
          <p:nvPr>
            <p:ph type="title"/>
          </p:nvPr>
        </p:nvSpPr>
        <p:spPr/>
        <p:txBody>
          <a:bodyPr/>
          <a:lstStyle/>
          <a:p>
            <a:r>
              <a:rPr lang="pt-BR" dirty="0"/>
              <a:t>LUZ INTENSA PULSADA</a:t>
            </a:r>
          </a:p>
        </p:txBody>
      </p:sp>
      <p:sp>
        <p:nvSpPr>
          <p:cNvPr id="3" name="Espaço Reservado para Conteúdo 2">
            <a:extLst>
              <a:ext uri="{FF2B5EF4-FFF2-40B4-BE49-F238E27FC236}">
                <a16:creationId xmlns:a16="http://schemas.microsoft.com/office/drawing/2014/main" id="{4BC06D62-4819-2E32-DFB1-5053EAC12F99}"/>
              </a:ext>
            </a:extLst>
          </p:cNvPr>
          <p:cNvSpPr>
            <a:spLocks noGrp="1"/>
          </p:cNvSpPr>
          <p:nvPr>
            <p:ph idx="1"/>
          </p:nvPr>
        </p:nvSpPr>
        <p:spPr/>
        <p:txBody>
          <a:bodyPr>
            <a:normAutofit lnSpcReduction="10000"/>
          </a:bodyPr>
          <a:lstStyle/>
          <a:p>
            <a:pPr algn="just"/>
            <a:r>
              <a:rPr lang="pt-BR" dirty="0"/>
              <a:t>A </a:t>
            </a:r>
            <a:r>
              <a:rPr lang="pt-BR" b="1" dirty="0"/>
              <a:t>programação da Luz Intensa Pulsada (LIP)</a:t>
            </a:r>
            <a:r>
              <a:rPr lang="pt-BR" dirty="0"/>
              <a:t> é o ajuste dos parâmetros do equipamento para que a energia atinja </a:t>
            </a:r>
            <a:r>
              <a:rPr lang="pt-BR" b="1" dirty="0"/>
              <a:t>o alvo correto (cromóforo)</a:t>
            </a:r>
            <a:r>
              <a:rPr lang="pt-BR" dirty="0"/>
              <a:t> com segurança e eficácia. Ela é baseada no princípio da Fototermólise seletiva.</a:t>
            </a:r>
          </a:p>
          <a:p>
            <a:r>
              <a:rPr lang="pt-BR" dirty="0"/>
              <a:t>É necessário </a:t>
            </a:r>
            <a:r>
              <a:rPr lang="pt-BR" dirty="0" err="1"/>
              <a:t>definer</a:t>
            </a:r>
            <a:r>
              <a:rPr lang="pt-BR" dirty="0"/>
              <a:t> qual estrutura será atingida pelo comprimento de onda da luz: </a:t>
            </a:r>
          </a:p>
          <a:p>
            <a:r>
              <a:rPr lang="pt-BR" dirty="0"/>
              <a:t>560–590 </a:t>
            </a:r>
            <a:r>
              <a:rPr lang="pt-BR" dirty="0" err="1"/>
              <a:t>nm</a:t>
            </a:r>
            <a:r>
              <a:rPr lang="pt-BR" dirty="0"/>
              <a:t> → manchas (melanina) </a:t>
            </a:r>
          </a:p>
          <a:p>
            <a:r>
              <a:rPr lang="pt-BR" dirty="0"/>
              <a:t>590–640 </a:t>
            </a:r>
            <a:r>
              <a:rPr lang="pt-BR" dirty="0" err="1"/>
              <a:t>nm</a:t>
            </a:r>
            <a:r>
              <a:rPr lang="pt-BR" dirty="0"/>
              <a:t> → rejuvenescimento </a:t>
            </a:r>
          </a:p>
          <a:p>
            <a:r>
              <a:rPr lang="pt-BR" dirty="0"/>
              <a:t>640–755 </a:t>
            </a:r>
            <a:r>
              <a:rPr lang="pt-BR" dirty="0" err="1"/>
              <a:t>nm</a:t>
            </a:r>
            <a:r>
              <a:rPr lang="pt-BR" dirty="0"/>
              <a:t> → depilação </a:t>
            </a:r>
          </a:p>
          <a:p>
            <a:r>
              <a:rPr lang="pt-BR" dirty="0"/>
              <a:t>530–560 </a:t>
            </a:r>
            <a:r>
              <a:rPr lang="pt-BR" dirty="0" err="1"/>
              <a:t>nm</a:t>
            </a:r>
            <a:r>
              <a:rPr lang="pt-BR" dirty="0"/>
              <a:t> → vasinhos</a:t>
            </a:r>
          </a:p>
          <a:p>
            <a:pPr algn="just"/>
            <a:endParaRPr lang="pt-BR" dirty="0"/>
          </a:p>
          <a:p>
            <a:endParaRPr lang="pt-BR" dirty="0"/>
          </a:p>
        </p:txBody>
      </p:sp>
    </p:spTree>
    <p:extLst>
      <p:ext uri="{BB962C8B-B14F-4D97-AF65-F5344CB8AC3E}">
        <p14:creationId xmlns:p14="http://schemas.microsoft.com/office/powerpoint/2010/main" val="3042067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E84A9E-C983-D027-965F-B2FB843AB6D9}"/>
              </a:ext>
            </a:extLst>
          </p:cNvPr>
          <p:cNvSpPr>
            <a:spLocks noGrp="1"/>
          </p:cNvSpPr>
          <p:nvPr>
            <p:ph type="title"/>
          </p:nvPr>
        </p:nvSpPr>
        <p:spPr/>
        <p:txBody>
          <a:bodyPr/>
          <a:lstStyle/>
          <a:p>
            <a:r>
              <a:rPr lang="pt-BR" dirty="0"/>
              <a:t>LUZ INTENSA PULSADA</a:t>
            </a:r>
          </a:p>
        </p:txBody>
      </p:sp>
      <p:pic>
        <p:nvPicPr>
          <p:cNvPr id="5" name="Espaço Reservado para Conteúdo 4">
            <a:extLst>
              <a:ext uri="{FF2B5EF4-FFF2-40B4-BE49-F238E27FC236}">
                <a16:creationId xmlns:a16="http://schemas.microsoft.com/office/drawing/2014/main" id="{FD902B7D-4C00-A457-864F-4453A36CCA7B}"/>
              </a:ext>
            </a:extLst>
          </p:cNvPr>
          <p:cNvPicPr>
            <a:picLocks noGrp="1" noChangeAspect="1"/>
          </p:cNvPicPr>
          <p:nvPr>
            <p:ph idx="1"/>
          </p:nvPr>
        </p:nvPicPr>
        <p:blipFill>
          <a:blip r:embed="rId2"/>
          <a:stretch>
            <a:fillRect/>
          </a:stretch>
        </p:blipFill>
        <p:spPr>
          <a:xfrm>
            <a:off x="266439" y="2307102"/>
            <a:ext cx="11956196" cy="3474720"/>
          </a:xfrm>
          <a:prstGeom prst="rect">
            <a:avLst/>
          </a:prstGeom>
        </p:spPr>
      </p:pic>
    </p:spTree>
    <p:extLst>
      <p:ext uri="{BB962C8B-B14F-4D97-AF65-F5344CB8AC3E}">
        <p14:creationId xmlns:p14="http://schemas.microsoft.com/office/powerpoint/2010/main" val="26366882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6704BA-5E0C-6AB9-CF50-B778736A9D92}"/>
              </a:ext>
            </a:extLst>
          </p:cNvPr>
          <p:cNvSpPr>
            <a:spLocks noGrp="1"/>
          </p:cNvSpPr>
          <p:nvPr>
            <p:ph type="title"/>
          </p:nvPr>
        </p:nvSpPr>
        <p:spPr/>
        <p:txBody>
          <a:bodyPr/>
          <a:lstStyle/>
          <a:p>
            <a:r>
              <a:rPr lang="pt-BR" dirty="0"/>
              <a:t>LUZ INTENSA PULSADA</a:t>
            </a:r>
          </a:p>
        </p:txBody>
      </p:sp>
      <p:pic>
        <p:nvPicPr>
          <p:cNvPr id="18434" name="Picture 2" descr="Luz Intensa Pulsada para Pele na Clínica Leger Porto Alegre">
            <a:extLst>
              <a:ext uri="{FF2B5EF4-FFF2-40B4-BE49-F238E27FC236}">
                <a16:creationId xmlns:a16="http://schemas.microsoft.com/office/drawing/2014/main" id="{3835F55B-539F-17AF-11DF-3899DA99CD5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10843" y="1510338"/>
            <a:ext cx="9170314" cy="4982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18676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738D88-8A5D-66AC-26A6-0003296F324A}"/>
              </a:ext>
            </a:extLst>
          </p:cNvPr>
          <p:cNvSpPr>
            <a:spLocks noGrp="1"/>
          </p:cNvSpPr>
          <p:nvPr>
            <p:ph type="title"/>
          </p:nvPr>
        </p:nvSpPr>
        <p:spPr/>
        <p:txBody>
          <a:bodyPr/>
          <a:lstStyle/>
          <a:p>
            <a:r>
              <a:rPr lang="pt-BR" dirty="0"/>
              <a:t>LUZ INTENSA PULSADA</a:t>
            </a:r>
          </a:p>
        </p:txBody>
      </p:sp>
      <p:pic>
        <p:nvPicPr>
          <p:cNvPr id="19458" name="Picture 2" descr="Entenda como utilizar a Luz Intensa Pulsada (LIP) na Fisioterapia">
            <a:extLst>
              <a:ext uri="{FF2B5EF4-FFF2-40B4-BE49-F238E27FC236}">
                <a16:creationId xmlns:a16="http://schemas.microsoft.com/office/drawing/2014/main" id="{61606AD0-4193-4D57-B8E1-40DC0418DFF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63705" y="1419577"/>
            <a:ext cx="5565705" cy="5073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62447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ABE8C8-CF81-65E3-56DE-DE9D09269FF8}"/>
              </a:ext>
            </a:extLst>
          </p:cNvPr>
          <p:cNvSpPr>
            <a:spLocks noGrp="1"/>
          </p:cNvSpPr>
          <p:nvPr>
            <p:ph type="title"/>
          </p:nvPr>
        </p:nvSpPr>
        <p:spPr/>
        <p:txBody>
          <a:bodyPr/>
          <a:lstStyle/>
          <a:p>
            <a:r>
              <a:rPr lang="pt-BR" dirty="0"/>
              <a:t>LUZ INTENSA PULSADA</a:t>
            </a:r>
          </a:p>
        </p:txBody>
      </p:sp>
      <p:sp>
        <p:nvSpPr>
          <p:cNvPr id="3" name="Espaço Reservado para Conteúdo 2">
            <a:extLst>
              <a:ext uri="{FF2B5EF4-FFF2-40B4-BE49-F238E27FC236}">
                <a16:creationId xmlns:a16="http://schemas.microsoft.com/office/drawing/2014/main" id="{FE7155B9-E1D7-A5AB-33F1-26034C3BCFE7}"/>
              </a:ext>
            </a:extLst>
          </p:cNvPr>
          <p:cNvSpPr>
            <a:spLocks noGrp="1"/>
          </p:cNvSpPr>
          <p:nvPr>
            <p:ph idx="1"/>
          </p:nvPr>
        </p:nvSpPr>
        <p:spPr/>
        <p:txBody>
          <a:bodyPr>
            <a:normAutofit fontScale="92500" lnSpcReduction="10000"/>
          </a:bodyPr>
          <a:lstStyle/>
          <a:p>
            <a:pPr marL="0" indent="0" algn="just">
              <a:buNone/>
            </a:pPr>
            <a:r>
              <a:rPr lang="pt-BR" dirty="0"/>
              <a:t>O tratamento com a luz intensa pulsada não é recomendado nas seguintes situações – </a:t>
            </a:r>
            <a:r>
              <a:rPr lang="pt-BR" b="1" dirty="0"/>
              <a:t>CONTRA INDICAÇÕES</a:t>
            </a:r>
            <a:r>
              <a:rPr lang="pt-BR" dirty="0"/>
              <a:t>:</a:t>
            </a:r>
          </a:p>
          <a:p>
            <a:pPr algn="just"/>
            <a:r>
              <a:rPr lang="pt-BR" dirty="0"/>
              <a:t>Gravidez ou amamentação;</a:t>
            </a:r>
          </a:p>
          <a:p>
            <a:pPr algn="just"/>
            <a:r>
              <a:rPr lang="pt-BR" dirty="0"/>
              <a:t>Uso de remédios, como isotretinoína, corticoides, anticoagulantes ou remédios fotossensibilizantes;</a:t>
            </a:r>
          </a:p>
          <a:p>
            <a:pPr algn="just"/>
            <a:r>
              <a:rPr lang="pt-BR" dirty="0"/>
              <a:t>Pessoas com a pele bronzeada;</a:t>
            </a:r>
          </a:p>
          <a:p>
            <a:pPr algn="just"/>
            <a:r>
              <a:rPr lang="pt-BR" dirty="0"/>
              <a:t>Pelos brancos na região a ser tratada;</a:t>
            </a:r>
          </a:p>
          <a:p>
            <a:pPr algn="just"/>
            <a:r>
              <a:rPr lang="pt-BR" dirty="0"/>
              <a:t>Infecção ou feridas na pele;</a:t>
            </a:r>
          </a:p>
          <a:p>
            <a:pPr algn="just"/>
            <a:r>
              <a:rPr lang="pt-BR" dirty="0"/>
              <a:t>Câncer de pele.</a:t>
            </a:r>
          </a:p>
          <a:p>
            <a:pPr algn="just"/>
            <a:r>
              <a:rPr lang="pt-BR" dirty="0"/>
              <a:t>VERIFICAR QUALIDADE DA PELE NA AVALIAÇÃO</a:t>
            </a:r>
          </a:p>
          <a:p>
            <a:endParaRPr lang="pt-BR" dirty="0"/>
          </a:p>
        </p:txBody>
      </p:sp>
    </p:spTree>
    <p:extLst>
      <p:ext uri="{BB962C8B-B14F-4D97-AF65-F5344CB8AC3E}">
        <p14:creationId xmlns:p14="http://schemas.microsoft.com/office/powerpoint/2010/main" val="33512219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2350D5-AB4A-A7D5-7337-34D31E206FFB}"/>
              </a:ext>
            </a:extLst>
          </p:cNvPr>
          <p:cNvSpPr>
            <a:spLocks noGrp="1"/>
          </p:cNvSpPr>
          <p:nvPr>
            <p:ph type="title"/>
          </p:nvPr>
        </p:nvSpPr>
        <p:spPr/>
        <p:txBody>
          <a:bodyPr/>
          <a:lstStyle/>
          <a:p>
            <a:r>
              <a:rPr lang="pt-BR" dirty="0"/>
              <a:t>LUZ INTENSA PULSADA</a:t>
            </a:r>
          </a:p>
        </p:txBody>
      </p:sp>
      <p:sp>
        <p:nvSpPr>
          <p:cNvPr id="3" name="Espaço Reservado para Conteúdo 2">
            <a:extLst>
              <a:ext uri="{FF2B5EF4-FFF2-40B4-BE49-F238E27FC236}">
                <a16:creationId xmlns:a16="http://schemas.microsoft.com/office/drawing/2014/main" id="{554214B7-BE06-21A4-15C2-9CDA5805101F}"/>
              </a:ext>
            </a:extLst>
          </p:cNvPr>
          <p:cNvSpPr>
            <a:spLocks noGrp="1"/>
          </p:cNvSpPr>
          <p:nvPr>
            <p:ph idx="1"/>
          </p:nvPr>
        </p:nvSpPr>
        <p:spPr/>
        <p:txBody>
          <a:bodyPr/>
          <a:lstStyle/>
          <a:p>
            <a:pPr algn="just"/>
            <a:r>
              <a:rPr lang="pt-BR" dirty="0"/>
              <a:t>A luz intensa pulsada é considerado um tratamento seguro quando realizada pelo dermatologista ou um profissional especializado em estética.</a:t>
            </a:r>
          </a:p>
          <a:p>
            <a:pPr algn="just"/>
            <a:r>
              <a:rPr lang="pt-BR" dirty="0"/>
              <a:t>No entanto, podem surgir alguns efeitos colaterais, como muita vermelhidão da área tratada, coceira e formação de bolhas, que pode indicar queimadura na pele, que podem acontecer quando o equipamento não está bem calibrado.</a:t>
            </a:r>
          </a:p>
          <a:p>
            <a:pPr marL="0" indent="0">
              <a:buNone/>
            </a:pPr>
            <a:endParaRPr lang="pt-BR" dirty="0"/>
          </a:p>
        </p:txBody>
      </p:sp>
    </p:spTree>
    <p:extLst>
      <p:ext uri="{BB962C8B-B14F-4D97-AF65-F5344CB8AC3E}">
        <p14:creationId xmlns:p14="http://schemas.microsoft.com/office/powerpoint/2010/main" val="34533298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EF0C00-122D-0ABC-76BF-D24A59ED9162}"/>
              </a:ext>
            </a:extLst>
          </p:cNvPr>
          <p:cNvSpPr>
            <a:spLocks noGrp="1"/>
          </p:cNvSpPr>
          <p:nvPr>
            <p:ph type="title"/>
          </p:nvPr>
        </p:nvSpPr>
        <p:spPr/>
        <p:txBody>
          <a:bodyPr/>
          <a:lstStyle/>
          <a:p>
            <a:r>
              <a:rPr lang="pt-BR" dirty="0"/>
              <a:t>LUZ INTENSA PULSADA</a:t>
            </a:r>
          </a:p>
        </p:txBody>
      </p:sp>
      <p:sp>
        <p:nvSpPr>
          <p:cNvPr id="3" name="Espaço Reservado para Conteúdo 2">
            <a:extLst>
              <a:ext uri="{FF2B5EF4-FFF2-40B4-BE49-F238E27FC236}">
                <a16:creationId xmlns:a16="http://schemas.microsoft.com/office/drawing/2014/main" id="{99B66E98-BF21-FC76-7727-542A25860BB8}"/>
              </a:ext>
            </a:extLst>
          </p:cNvPr>
          <p:cNvSpPr>
            <a:spLocks noGrp="1"/>
          </p:cNvSpPr>
          <p:nvPr>
            <p:ph idx="1"/>
          </p:nvPr>
        </p:nvSpPr>
        <p:spPr/>
        <p:txBody>
          <a:bodyPr/>
          <a:lstStyle/>
          <a:p>
            <a:r>
              <a:rPr lang="pt-BR" b="1" dirty="0"/>
              <a:t>RISCOS: </a:t>
            </a:r>
          </a:p>
          <a:p>
            <a:pPr algn="just"/>
            <a:r>
              <a:rPr lang="pt-BR" dirty="0"/>
              <a:t>A queimadura na pele pode acontecer caso o equipamento esteja mal calibrado, quando a pele está bronzeada ou quando o equipamento é mal utilizado. </a:t>
            </a:r>
          </a:p>
          <a:p>
            <a:pPr algn="just"/>
            <a:r>
              <a:rPr lang="pt-BR" dirty="0"/>
              <a:t>Caso durante a aplicação da técnica a sensação de queimação demore mais do que 10 segundos para passar e seja semelhante à sensação de uma queimadura de fogo, o médico deve graduar novamente o equipamento para não provocar mais queimaduras. </a:t>
            </a:r>
          </a:p>
          <a:p>
            <a:endParaRPr lang="pt-BR" dirty="0"/>
          </a:p>
        </p:txBody>
      </p:sp>
    </p:spTree>
    <p:extLst>
      <p:ext uri="{BB962C8B-B14F-4D97-AF65-F5344CB8AC3E}">
        <p14:creationId xmlns:p14="http://schemas.microsoft.com/office/powerpoint/2010/main" val="22566139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523723-5B4D-218B-A9A9-00C4BA309A8A}"/>
              </a:ext>
            </a:extLst>
          </p:cNvPr>
          <p:cNvSpPr>
            <a:spLocks noGrp="1"/>
          </p:cNvSpPr>
          <p:nvPr>
            <p:ph type="title"/>
          </p:nvPr>
        </p:nvSpPr>
        <p:spPr/>
        <p:txBody>
          <a:bodyPr/>
          <a:lstStyle/>
          <a:p>
            <a:r>
              <a:rPr lang="pt-BR" dirty="0"/>
              <a:t>LUZ INTENSA PULSADA</a:t>
            </a:r>
          </a:p>
        </p:txBody>
      </p:sp>
      <p:sp>
        <p:nvSpPr>
          <p:cNvPr id="3" name="Espaço Reservado para Conteúdo 2">
            <a:extLst>
              <a:ext uri="{FF2B5EF4-FFF2-40B4-BE49-F238E27FC236}">
                <a16:creationId xmlns:a16="http://schemas.microsoft.com/office/drawing/2014/main" id="{E537AD66-14F0-2615-7440-47ABD917A426}"/>
              </a:ext>
            </a:extLst>
          </p:cNvPr>
          <p:cNvSpPr>
            <a:spLocks noGrp="1"/>
          </p:cNvSpPr>
          <p:nvPr>
            <p:ph idx="1"/>
          </p:nvPr>
        </p:nvSpPr>
        <p:spPr/>
        <p:txBody>
          <a:bodyPr/>
          <a:lstStyle/>
          <a:p>
            <a:r>
              <a:rPr lang="pt-BR" b="1" dirty="0"/>
              <a:t>RISCOS:</a:t>
            </a:r>
            <a:r>
              <a:rPr lang="pt-BR" dirty="0"/>
              <a:t> </a:t>
            </a:r>
          </a:p>
          <a:p>
            <a:pPr algn="just"/>
            <a:r>
              <a:rPr lang="pt-BR" dirty="0"/>
              <a:t>Se no local do tratamento a região ficar mais clara ou um pouco mais escura, é sinal de que o equipamento não tinha o melhor comprimento de onda para a tonalidade da pele da pessoa. O risco das manchas surgirem é maior em pessoas morenas</a:t>
            </a:r>
          </a:p>
          <a:p>
            <a:pPr algn="just"/>
            <a:r>
              <a:rPr lang="pt-BR" dirty="0"/>
              <a:t>Quando o médico e a pessoa não utilizam o óculos de proteção durante todo o tratamento podem surgir alterações graves nos olhos, afetando a íris. Mas para eliminar esse risco basta usar o óculos de proteção de forma correta durante todo procedimento. </a:t>
            </a:r>
          </a:p>
        </p:txBody>
      </p:sp>
    </p:spTree>
    <p:extLst>
      <p:ext uri="{BB962C8B-B14F-4D97-AF65-F5344CB8AC3E}">
        <p14:creationId xmlns:p14="http://schemas.microsoft.com/office/powerpoint/2010/main" val="315378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197F67-D9F7-C57A-0422-59D06CE9D2DA}"/>
              </a:ext>
            </a:extLst>
          </p:cNvPr>
          <p:cNvSpPr>
            <a:spLocks noGrp="1"/>
          </p:cNvSpPr>
          <p:nvPr>
            <p:ph type="title"/>
          </p:nvPr>
        </p:nvSpPr>
        <p:spPr/>
        <p:txBody>
          <a:bodyPr/>
          <a:lstStyle/>
          <a:p>
            <a:r>
              <a:rPr lang="pt-BR" dirty="0"/>
              <a:t>LUZ INTENSA PULSADA</a:t>
            </a:r>
          </a:p>
        </p:txBody>
      </p:sp>
      <p:sp>
        <p:nvSpPr>
          <p:cNvPr id="3" name="Espaço Reservado para Conteúdo 2">
            <a:extLst>
              <a:ext uri="{FF2B5EF4-FFF2-40B4-BE49-F238E27FC236}">
                <a16:creationId xmlns:a16="http://schemas.microsoft.com/office/drawing/2014/main" id="{C0B9C380-E8D7-49D7-B7DD-050B70F02644}"/>
              </a:ext>
            </a:extLst>
          </p:cNvPr>
          <p:cNvSpPr>
            <a:spLocks noGrp="1"/>
          </p:cNvSpPr>
          <p:nvPr>
            <p:ph idx="1"/>
          </p:nvPr>
        </p:nvSpPr>
        <p:spPr>
          <a:xfrm>
            <a:off x="838200" y="1842867"/>
            <a:ext cx="10515600" cy="5219114"/>
          </a:xfrm>
        </p:spPr>
        <p:txBody>
          <a:bodyPr>
            <a:normAutofit fontScale="77500" lnSpcReduction="20000"/>
          </a:bodyPr>
          <a:lstStyle/>
          <a:p>
            <a:pPr algn="just"/>
            <a:r>
              <a:rPr lang="pt-BR" b="1" dirty="0"/>
              <a:t>INDICAÇÕES POS APLICAÇÃO: </a:t>
            </a:r>
          </a:p>
          <a:p>
            <a:pPr algn="just"/>
            <a:r>
              <a:rPr lang="pt-BR" b="1" dirty="0"/>
              <a:t>Aplicar um </a:t>
            </a:r>
            <a:r>
              <a:rPr lang="pt-BR" dirty="0"/>
              <a:t>creme ou pomada cicatrizante com filtro solar, recomendados pelo médico;</a:t>
            </a:r>
          </a:p>
          <a:p>
            <a:pPr algn="just"/>
            <a:r>
              <a:rPr lang="pt-BR" b="1" dirty="0"/>
              <a:t>Evitar se expor ao sol ou fazer bronzeamento artificial</a:t>
            </a:r>
            <a:r>
              <a:rPr lang="pt-BR" dirty="0"/>
              <a:t> durante 1 mês antes e depois de cada sessão;</a:t>
            </a:r>
          </a:p>
          <a:p>
            <a:pPr algn="just"/>
            <a:r>
              <a:rPr lang="pt-BR" b="1" dirty="0"/>
              <a:t>Usar protetor solar diariamente</a:t>
            </a:r>
            <a:r>
              <a:rPr lang="pt-BR" dirty="0"/>
              <a:t>, com no mínimo FPS 30, e reaplicar sempre que necessário;</a:t>
            </a:r>
          </a:p>
          <a:p>
            <a:pPr algn="just"/>
            <a:r>
              <a:rPr lang="pt-BR" dirty="0"/>
              <a:t>Não remover a pele descamada e não arrancar pequenas crostas que podem surgir, esperando que elas caiam sozinhas;</a:t>
            </a:r>
          </a:p>
          <a:p>
            <a:pPr algn="just"/>
            <a:r>
              <a:rPr lang="pt-BR" b="1" dirty="0"/>
              <a:t>Evitar usar maquiagem por pelo menos 24 horas</a:t>
            </a:r>
            <a:r>
              <a:rPr lang="pt-BR" dirty="0"/>
              <a:t> após a depilação a laser no rosto;</a:t>
            </a:r>
          </a:p>
          <a:p>
            <a:pPr algn="just"/>
            <a:r>
              <a:rPr lang="pt-BR" dirty="0"/>
              <a:t>Não tomar banho com água muito quente no mesmo dia do tratamento;</a:t>
            </a:r>
          </a:p>
          <a:p>
            <a:pPr algn="just"/>
            <a:r>
              <a:rPr lang="pt-BR" dirty="0"/>
              <a:t>Usar roupas leves que não friccionam a pele.</a:t>
            </a:r>
          </a:p>
          <a:p>
            <a:pPr algn="just"/>
            <a:r>
              <a:rPr lang="pt-BR" dirty="0"/>
              <a:t>Se a pele do rosto descamar não é recomendado usar maquiagem, dando preferência ao uso de cremes hidratantes com efeito refrescante ou calmante várias vezes ao dia. </a:t>
            </a:r>
          </a:p>
        </p:txBody>
      </p:sp>
    </p:spTree>
    <p:extLst>
      <p:ext uri="{BB962C8B-B14F-4D97-AF65-F5344CB8AC3E}">
        <p14:creationId xmlns:p14="http://schemas.microsoft.com/office/powerpoint/2010/main" val="1898817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451181-CEF9-4EE7-408E-B07C27C95179}"/>
              </a:ext>
            </a:extLst>
          </p:cNvPr>
          <p:cNvSpPr>
            <a:spLocks noGrp="1"/>
          </p:cNvSpPr>
          <p:nvPr>
            <p:ph type="title"/>
          </p:nvPr>
        </p:nvSpPr>
        <p:spPr/>
        <p:txBody>
          <a:bodyPr/>
          <a:lstStyle/>
          <a:p>
            <a:r>
              <a:rPr lang="pt-BR" dirty="0"/>
              <a:t>LUZ INTENSA PULSADA</a:t>
            </a:r>
          </a:p>
        </p:txBody>
      </p:sp>
      <p:sp>
        <p:nvSpPr>
          <p:cNvPr id="3" name="Espaço Reservado para Conteúdo 2">
            <a:extLst>
              <a:ext uri="{FF2B5EF4-FFF2-40B4-BE49-F238E27FC236}">
                <a16:creationId xmlns:a16="http://schemas.microsoft.com/office/drawing/2014/main" id="{93DDBAE5-3C34-086A-91F8-00A9B74EF474}"/>
              </a:ext>
            </a:extLst>
          </p:cNvPr>
          <p:cNvSpPr>
            <a:spLocks noGrp="1"/>
          </p:cNvSpPr>
          <p:nvPr>
            <p:ph idx="1"/>
          </p:nvPr>
        </p:nvSpPr>
        <p:spPr>
          <a:xfrm>
            <a:off x="838200" y="1825625"/>
            <a:ext cx="10515600" cy="4667250"/>
          </a:xfrm>
        </p:spPr>
        <p:txBody>
          <a:bodyPr numCol="2">
            <a:normAutofit fontScale="62500" lnSpcReduction="20000"/>
          </a:bodyPr>
          <a:lstStyle/>
          <a:p>
            <a:pPr algn="just">
              <a:lnSpc>
                <a:spcPct val="170000"/>
              </a:lnSpc>
              <a:spcBef>
                <a:spcPts val="0"/>
              </a:spcBef>
            </a:pPr>
            <a:r>
              <a:rPr lang="pt-BR" sz="2900" b="1" dirty="0"/>
              <a:t>Fluência (energia – J/cm²): </a:t>
            </a:r>
            <a:r>
              <a:rPr lang="pt-BR" sz="2900" dirty="0"/>
              <a:t>Quantidade de energia aplicada </a:t>
            </a:r>
          </a:p>
          <a:p>
            <a:pPr marL="0" indent="0" algn="just">
              <a:lnSpc>
                <a:spcPct val="170000"/>
              </a:lnSpc>
              <a:spcBef>
                <a:spcPts val="0"/>
              </a:spcBef>
              <a:buNone/>
            </a:pPr>
            <a:r>
              <a:rPr lang="pt-BR" sz="2900" dirty="0"/>
              <a:t>Quanto maior, maior o efeito… mas também o risco</a:t>
            </a:r>
          </a:p>
          <a:p>
            <a:pPr algn="just">
              <a:lnSpc>
                <a:spcPct val="170000"/>
              </a:lnSpc>
              <a:spcBef>
                <a:spcPts val="0"/>
              </a:spcBef>
            </a:pPr>
            <a:r>
              <a:rPr lang="pt-BR" sz="2900" b="1" dirty="0"/>
              <a:t>Tempo de pulso (</a:t>
            </a:r>
            <a:r>
              <a:rPr lang="pt-BR" sz="2900" b="1" dirty="0" err="1"/>
              <a:t>ms</a:t>
            </a:r>
            <a:r>
              <a:rPr lang="pt-BR" sz="2900" b="1" dirty="0"/>
              <a:t>)</a:t>
            </a:r>
          </a:p>
          <a:p>
            <a:pPr marL="0" indent="0" algn="just">
              <a:lnSpc>
                <a:spcPct val="170000"/>
              </a:lnSpc>
              <a:spcBef>
                <a:spcPts val="0"/>
              </a:spcBef>
              <a:buNone/>
            </a:pPr>
            <a:r>
              <a:rPr lang="pt-BR" sz="2900" dirty="0"/>
              <a:t>Tempo que a luz fica em contato com a pele </a:t>
            </a:r>
          </a:p>
          <a:p>
            <a:pPr marL="0" indent="0" algn="just">
              <a:lnSpc>
                <a:spcPct val="170000"/>
              </a:lnSpc>
              <a:spcBef>
                <a:spcPts val="0"/>
              </a:spcBef>
              <a:buNone/>
            </a:pPr>
            <a:r>
              <a:rPr lang="pt-BR" sz="2900" dirty="0"/>
              <a:t>Deve ser compatível com o alvo </a:t>
            </a:r>
          </a:p>
          <a:p>
            <a:pPr marL="0" indent="0" algn="just">
              <a:lnSpc>
                <a:spcPct val="170000"/>
              </a:lnSpc>
              <a:spcBef>
                <a:spcPts val="0"/>
              </a:spcBef>
              <a:buNone/>
            </a:pPr>
            <a:r>
              <a:rPr lang="pt-BR" sz="2900" dirty="0"/>
              <a:t>Estruturas pequenas → pulso curto </a:t>
            </a:r>
          </a:p>
          <a:p>
            <a:pPr marL="0" indent="0" algn="just">
              <a:lnSpc>
                <a:spcPct val="170000"/>
              </a:lnSpc>
              <a:spcBef>
                <a:spcPts val="0"/>
              </a:spcBef>
              <a:buNone/>
            </a:pPr>
            <a:r>
              <a:rPr lang="pt-BR" sz="2900" dirty="0"/>
              <a:t>Estruturas maiores → pulso mais longo</a:t>
            </a:r>
          </a:p>
          <a:p>
            <a:pPr algn="just">
              <a:lnSpc>
                <a:spcPct val="170000"/>
              </a:lnSpc>
              <a:spcBef>
                <a:spcPts val="0"/>
              </a:spcBef>
            </a:pPr>
            <a:r>
              <a:rPr lang="pt-BR" sz="2900" b="1" dirty="0"/>
              <a:t>Número de pulsos</a:t>
            </a:r>
            <a:endParaRPr lang="pt-BR" sz="2900" dirty="0"/>
          </a:p>
          <a:p>
            <a:pPr marL="457200" lvl="1" indent="0" algn="just">
              <a:lnSpc>
                <a:spcPct val="170000"/>
              </a:lnSpc>
              <a:spcBef>
                <a:spcPts val="0"/>
              </a:spcBef>
              <a:buNone/>
            </a:pPr>
            <a:r>
              <a:rPr lang="pt-BR" sz="2900" dirty="0"/>
              <a:t>Pulso único </a:t>
            </a:r>
          </a:p>
          <a:p>
            <a:pPr marL="457200" lvl="1" indent="0" algn="just">
              <a:lnSpc>
                <a:spcPct val="170000"/>
              </a:lnSpc>
              <a:spcBef>
                <a:spcPts val="0"/>
              </a:spcBef>
              <a:buNone/>
            </a:pPr>
            <a:r>
              <a:rPr lang="pt-BR" sz="2900" dirty="0"/>
              <a:t>Duplo </a:t>
            </a:r>
          </a:p>
          <a:p>
            <a:pPr marL="457200" lvl="1" indent="0" algn="just">
              <a:lnSpc>
                <a:spcPct val="170000"/>
              </a:lnSpc>
              <a:spcBef>
                <a:spcPts val="0"/>
              </a:spcBef>
              <a:buNone/>
            </a:pPr>
            <a:r>
              <a:rPr lang="pt-BR" sz="2900" dirty="0"/>
              <a:t>Triplo </a:t>
            </a:r>
          </a:p>
          <a:p>
            <a:pPr marL="0" indent="0" algn="just">
              <a:lnSpc>
                <a:spcPct val="170000"/>
              </a:lnSpc>
              <a:spcBef>
                <a:spcPts val="0"/>
              </a:spcBef>
              <a:buNone/>
            </a:pPr>
            <a:r>
              <a:rPr lang="pt-BR" sz="2900" dirty="0"/>
              <a:t>Pulsos múltiplos ajudam a: Proteger a pele e distribuir o calor </a:t>
            </a:r>
          </a:p>
          <a:p>
            <a:pPr algn="just">
              <a:lnSpc>
                <a:spcPct val="170000"/>
              </a:lnSpc>
              <a:spcBef>
                <a:spcPts val="0"/>
              </a:spcBef>
            </a:pPr>
            <a:r>
              <a:rPr lang="pt-BR" sz="2900" b="1" dirty="0"/>
              <a:t>Intervalo entre pulsos (delay)</a:t>
            </a:r>
          </a:p>
          <a:p>
            <a:pPr marL="0" indent="0" algn="just">
              <a:lnSpc>
                <a:spcPct val="170000"/>
              </a:lnSpc>
              <a:spcBef>
                <a:spcPts val="0"/>
              </a:spcBef>
              <a:buNone/>
            </a:pPr>
            <a:r>
              <a:rPr lang="pt-BR" sz="2900" dirty="0"/>
              <a:t>Tempo entre um pulso e outro </a:t>
            </a:r>
          </a:p>
          <a:p>
            <a:pPr marL="0" indent="0" algn="just">
              <a:lnSpc>
                <a:spcPct val="170000"/>
              </a:lnSpc>
              <a:spcBef>
                <a:spcPts val="0"/>
              </a:spcBef>
              <a:buNone/>
            </a:pPr>
            <a:r>
              <a:rPr lang="pt-BR" sz="2900" dirty="0"/>
              <a:t>Permite resfriamento da epiderme </a:t>
            </a:r>
          </a:p>
          <a:p>
            <a:pPr algn="just">
              <a:lnSpc>
                <a:spcPct val="170000"/>
              </a:lnSpc>
              <a:spcBef>
                <a:spcPts val="0"/>
              </a:spcBef>
            </a:pPr>
            <a:r>
              <a:rPr lang="pt-BR" sz="2900" b="1" dirty="0"/>
              <a:t>Sistema de resfriamento</a:t>
            </a:r>
          </a:p>
          <a:p>
            <a:pPr marL="0" indent="0" algn="just">
              <a:lnSpc>
                <a:spcPct val="170000"/>
              </a:lnSpc>
              <a:spcBef>
                <a:spcPts val="0"/>
              </a:spcBef>
              <a:buNone/>
            </a:pPr>
            <a:r>
              <a:rPr lang="pt-BR" sz="2900" dirty="0"/>
              <a:t>Protege a pele </a:t>
            </a:r>
          </a:p>
          <a:p>
            <a:pPr marL="0" indent="0" algn="just">
              <a:lnSpc>
                <a:spcPct val="170000"/>
              </a:lnSpc>
              <a:spcBef>
                <a:spcPts val="0"/>
              </a:spcBef>
              <a:buNone/>
            </a:pPr>
            <a:r>
              <a:rPr lang="pt-BR" sz="2900" dirty="0"/>
              <a:t>Evita queimaduras </a:t>
            </a:r>
          </a:p>
          <a:p>
            <a:pPr marL="0" indent="0">
              <a:buNone/>
            </a:pPr>
            <a:endParaRPr lang="pt-BR" dirty="0"/>
          </a:p>
        </p:txBody>
      </p:sp>
    </p:spTree>
    <p:extLst>
      <p:ext uri="{BB962C8B-B14F-4D97-AF65-F5344CB8AC3E}">
        <p14:creationId xmlns:p14="http://schemas.microsoft.com/office/powerpoint/2010/main" val="10938874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8949F7-1BE9-97C3-D16D-FC562D117ACB}"/>
              </a:ext>
            </a:extLst>
          </p:cNvPr>
          <p:cNvSpPr>
            <a:spLocks noGrp="1"/>
          </p:cNvSpPr>
          <p:nvPr>
            <p:ph type="title"/>
          </p:nvPr>
        </p:nvSpPr>
        <p:spPr/>
        <p:txBody>
          <a:bodyPr/>
          <a:lstStyle/>
          <a:p>
            <a:r>
              <a:rPr lang="pt-BR" dirty="0"/>
              <a:t>LUZ INTENSA PULSADA</a:t>
            </a:r>
          </a:p>
        </p:txBody>
      </p:sp>
      <p:sp>
        <p:nvSpPr>
          <p:cNvPr id="4" name="Rectangle 1">
            <a:extLst>
              <a:ext uri="{FF2B5EF4-FFF2-40B4-BE49-F238E27FC236}">
                <a16:creationId xmlns:a16="http://schemas.microsoft.com/office/drawing/2014/main" id="{A9092996-69D3-B55F-8C9D-2DC82AF4E016}"/>
              </a:ext>
            </a:extLst>
          </p:cNvPr>
          <p:cNvSpPr>
            <a:spLocks noGrp="1" noChangeArrowheads="1"/>
          </p:cNvSpPr>
          <p:nvPr>
            <p:ph idx="1"/>
          </p:nvPr>
        </p:nvSpPr>
        <p:spPr bwMode="auto">
          <a:xfrm>
            <a:off x="838200" y="2157265"/>
            <a:ext cx="9363782" cy="3688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b="1" i="0" u="none" strike="noStrike" cap="none" normalizeH="0" baseline="0" dirty="0">
                <a:ln>
                  <a:noFill/>
                </a:ln>
                <a:effectLst/>
              </a:rPr>
              <a:t>FATORES QUE INFLUENCIAM NA APLICAÇÃO E NO RESULTADO</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pt-BR" altLang="pt-BR" b="0" i="0" u="none" strike="noStrike" cap="none" normalizeH="0" baseline="0" dirty="0">
                <a:ln>
                  <a:noFill/>
                </a:ln>
                <a:solidFill>
                  <a:schemeClr val="tx1"/>
                </a:solidFill>
                <a:effectLst/>
              </a:rPr>
              <a:t>Fototipo (peles escuras → menor energia)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pt-BR" altLang="pt-BR" b="0" i="0" u="none" strike="noStrike" cap="none" normalizeH="0" baseline="0" dirty="0">
                <a:ln>
                  <a:noFill/>
                </a:ln>
                <a:solidFill>
                  <a:schemeClr val="tx1"/>
                </a:solidFill>
                <a:effectLst/>
              </a:rPr>
              <a:t>Espessura da pele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pt-BR" altLang="pt-BR" b="0" i="0" u="none" strike="noStrike" cap="none" normalizeH="0" baseline="0" dirty="0">
                <a:ln>
                  <a:noFill/>
                </a:ln>
                <a:solidFill>
                  <a:schemeClr val="tx1"/>
                </a:solidFill>
                <a:effectLst/>
              </a:rPr>
              <a:t>Tipo de lesão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pt-BR" altLang="pt-BR" b="0" i="0" u="none" strike="noStrike" cap="none" normalizeH="0" baseline="0" dirty="0">
                <a:ln>
                  <a:noFill/>
                </a:ln>
                <a:solidFill>
                  <a:schemeClr val="tx1"/>
                </a:solidFill>
                <a:effectLst/>
              </a:rPr>
              <a:t>Profundidade do alvo </a:t>
            </a:r>
          </a:p>
          <a:p>
            <a:pPr marL="0" marR="0" lvl="0" indent="0" algn="just" defTabSz="914400" rtl="0" eaLnBrk="0" fontAlgn="base" latinLnBrk="0" hangingPunct="0">
              <a:lnSpc>
                <a:spcPct val="150000"/>
              </a:lnSpc>
              <a:spcBef>
                <a:spcPct val="0"/>
              </a:spcBef>
              <a:spcAft>
                <a:spcPct val="0"/>
              </a:spcAft>
              <a:buClrTx/>
              <a:buSzTx/>
              <a:buFontTx/>
              <a:buChar char="•"/>
              <a:tabLst/>
            </a:pPr>
            <a:r>
              <a:rPr lang="pt-BR" altLang="pt-BR" dirty="0"/>
              <a:t>AVALIAÇÃO DA PELE </a:t>
            </a:r>
            <a:endParaRPr kumimoji="0" lang="pt-BR" altLang="pt-BR"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1231113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91376A-E347-67EC-780D-D33C41C22C0C}"/>
              </a:ext>
            </a:extLst>
          </p:cNvPr>
          <p:cNvSpPr>
            <a:spLocks noGrp="1"/>
          </p:cNvSpPr>
          <p:nvPr>
            <p:ph type="title"/>
          </p:nvPr>
        </p:nvSpPr>
        <p:spPr/>
        <p:txBody>
          <a:bodyPr/>
          <a:lstStyle/>
          <a:p>
            <a:r>
              <a:rPr lang="pt-BR" dirty="0"/>
              <a:t>LUZ INTENSA PULSADA</a:t>
            </a:r>
          </a:p>
        </p:txBody>
      </p:sp>
      <p:pic>
        <p:nvPicPr>
          <p:cNvPr id="20482" name="Picture 2" descr="Luz Intensa Pulsada para Manchas antes e depois com o Lyra da Ibramed">
            <a:extLst>
              <a:ext uri="{FF2B5EF4-FFF2-40B4-BE49-F238E27FC236}">
                <a16:creationId xmlns:a16="http://schemas.microsoft.com/office/drawing/2014/main" id="{2D747189-0709-3E5A-3D93-6525AC09F91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47445" y="1442732"/>
            <a:ext cx="9101797" cy="51197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19766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A1B86E-ADAD-0884-8686-835FCA865ACD}"/>
              </a:ext>
            </a:extLst>
          </p:cNvPr>
          <p:cNvSpPr>
            <a:spLocks noGrp="1"/>
          </p:cNvSpPr>
          <p:nvPr>
            <p:ph type="title"/>
          </p:nvPr>
        </p:nvSpPr>
        <p:spPr/>
        <p:txBody>
          <a:bodyPr/>
          <a:lstStyle/>
          <a:p>
            <a:r>
              <a:rPr lang="pt-BR" dirty="0"/>
              <a:t>LUZ INTENSA PULSADA</a:t>
            </a:r>
          </a:p>
        </p:txBody>
      </p:sp>
      <p:pic>
        <p:nvPicPr>
          <p:cNvPr id="22530" name="Picture 2" descr="Tratamento Com Luz Intensa Pulsada - Dr. Szerman RJ">
            <a:extLst>
              <a:ext uri="{FF2B5EF4-FFF2-40B4-BE49-F238E27FC236}">
                <a16:creationId xmlns:a16="http://schemas.microsoft.com/office/drawing/2014/main" id="{FEA62E74-86DD-4C5C-876E-AA91530BC0A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89883" y="1832740"/>
            <a:ext cx="9612234" cy="48212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37466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E6ACF0-9280-3B74-74DC-26ED04C12746}"/>
              </a:ext>
            </a:extLst>
          </p:cNvPr>
          <p:cNvSpPr>
            <a:spLocks noGrp="1"/>
          </p:cNvSpPr>
          <p:nvPr>
            <p:ph type="title"/>
          </p:nvPr>
        </p:nvSpPr>
        <p:spPr/>
        <p:txBody>
          <a:bodyPr/>
          <a:lstStyle/>
          <a:p>
            <a:r>
              <a:rPr lang="pt-BR" dirty="0"/>
              <a:t>LUZ INTENSA PULSADA</a:t>
            </a:r>
          </a:p>
        </p:txBody>
      </p:sp>
      <p:pic>
        <p:nvPicPr>
          <p:cNvPr id="23554" name="Picture 2" descr="Tratamento Com Luz Intensa Pulsada - Dr. Szerman RJ">
            <a:extLst>
              <a:ext uri="{FF2B5EF4-FFF2-40B4-BE49-F238E27FC236}">
                <a16:creationId xmlns:a16="http://schemas.microsoft.com/office/drawing/2014/main" id="{FC4C6BBA-46E8-C3F8-B962-B4B974241E8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38378" y="1753464"/>
            <a:ext cx="9115243" cy="51045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97589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B3C575-B882-36DF-7D0D-8AFB5C322CCC}"/>
              </a:ext>
            </a:extLst>
          </p:cNvPr>
          <p:cNvSpPr>
            <a:spLocks noGrp="1"/>
          </p:cNvSpPr>
          <p:nvPr>
            <p:ph type="title"/>
          </p:nvPr>
        </p:nvSpPr>
        <p:spPr/>
        <p:txBody>
          <a:bodyPr/>
          <a:lstStyle/>
          <a:p>
            <a:r>
              <a:rPr lang="pt-BR" dirty="0"/>
              <a:t>LUZ INTENSA PULSADA</a:t>
            </a:r>
          </a:p>
        </p:txBody>
      </p:sp>
      <p:pic>
        <p:nvPicPr>
          <p:cNvPr id="24578" name="Picture 2" descr="Saiba mais sobre a Luz Intensa Pulsada - LIP - TV Jaguari">
            <a:extLst>
              <a:ext uri="{FF2B5EF4-FFF2-40B4-BE49-F238E27FC236}">
                <a16:creationId xmlns:a16="http://schemas.microsoft.com/office/drawing/2014/main" id="{B912AE67-B428-7885-5748-D110AE1B441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68095" y="1797249"/>
            <a:ext cx="8055810" cy="49552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19811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CCE22B-4DEE-6631-156E-D9746D515A37}"/>
              </a:ext>
            </a:extLst>
          </p:cNvPr>
          <p:cNvSpPr>
            <a:spLocks noGrp="1"/>
          </p:cNvSpPr>
          <p:nvPr>
            <p:ph type="title"/>
          </p:nvPr>
        </p:nvSpPr>
        <p:spPr/>
        <p:txBody>
          <a:bodyPr/>
          <a:lstStyle/>
          <a:p>
            <a:r>
              <a:rPr lang="pt-BR" dirty="0"/>
              <a:t>EPILAÇÃO </a:t>
            </a:r>
          </a:p>
        </p:txBody>
      </p:sp>
      <p:sp>
        <p:nvSpPr>
          <p:cNvPr id="3" name="Espaço Reservado para Conteúdo 2">
            <a:extLst>
              <a:ext uri="{FF2B5EF4-FFF2-40B4-BE49-F238E27FC236}">
                <a16:creationId xmlns:a16="http://schemas.microsoft.com/office/drawing/2014/main" id="{E855F9A7-8BC3-8EBF-E6BC-D1ED659D9021}"/>
              </a:ext>
            </a:extLst>
          </p:cNvPr>
          <p:cNvSpPr>
            <a:spLocks noGrp="1"/>
          </p:cNvSpPr>
          <p:nvPr>
            <p:ph idx="1"/>
          </p:nvPr>
        </p:nvSpPr>
        <p:spPr/>
        <p:txBody>
          <a:bodyPr/>
          <a:lstStyle/>
          <a:p>
            <a:endParaRPr lang="pt-BR"/>
          </a:p>
        </p:txBody>
      </p:sp>
      <p:pic>
        <p:nvPicPr>
          <p:cNvPr id="1026" name="Picture 2" descr="Cristal 3D Body Health - Continental Lasers">
            <a:extLst>
              <a:ext uri="{FF2B5EF4-FFF2-40B4-BE49-F238E27FC236}">
                <a16:creationId xmlns:a16="http://schemas.microsoft.com/office/drawing/2014/main" id="{5A583E98-F112-041C-8F58-8766EA45A6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1330" y="184127"/>
            <a:ext cx="6807516" cy="68075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13163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3BED3A-1E39-A09D-FD89-B4418A8C1BC2}"/>
              </a:ext>
            </a:extLst>
          </p:cNvPr>
          <p:cNvSpPr>
            <a:spLocks noGrp="1"/>
          </p:cNvSpPr>
          <p:nvPr>
            <p:ph type="title"/>
          </p:nvPr>
        </p:nvSpPr>
        <p:spPr/>
        <p:txBody>
          <a:bodyPr/>
          <a:lstStyle/>
          <a:p>
            <a:r>
              <a:rPr lang="pt-BR" dirty="0"/>
              <a:t>EPILAÇÃO</a:t>
            </a:r>
          </a:p>
        </p:txBody>
      </p:sp>
      <p:sp>
        <p:nvSpPr>
          <p:cNvPr id="3" name="Espaço Reservado para Conteúdo 2">
            <a:extLst>
              <a:ext uri="{FF2B5EF4-FFF2-40B4-BE49-F238E27FC236}">
                <a16:creationId xmlns:a16="http://schemas.microsoft.com/office/drawing/2014/main" id="{0E3908CC-24B2-C039-394A-18294D823BED}"/>
              </a:ext>
            </a:extLst>
          </p:cNvPr>
          <p:cNvSpPr>
            <a:spLocks noGrp="1"/>
          </p:cNvSpPr>
          <p:nvPr>
            <p:ph idx="1"/>
          </p:nvPr>
        </p:nvSpPr>
        <p:spPr/>
        <p:txBody>
          <a:bodyPr/>
          <a:lstStyle/>
          <a:p>
            <a:endParaRPr lang="pt-BR" dirty="0"/>
          </a:p>
        </p:txBody>
      </p:sp>
      <p:pic>
        <p:nvPicPr>
          <p:cNvPr id="6" name="Imagem 5">
            <a:extLst>
              <a:ext uri="{FF2B5EF4-FFF2-40B4-BE49-F238E27FC236}">
                <a16:creationId xmlns:a16="http://schemas.microsoft.com/office/drawing/2014/main" id="{99E2AAD4-8095-9CCF-B863-B146E7E78DD8}"/>
              </a:ext>
            </a:extLst>
          </p:cNvPr>
          <p:cNvPicPr>
            <a:picLocks noChangeAspect="1"/>
          </p:cNvPicPr>
          <p:nvPr/>
        </p:nvPicPr>
        <p:blipFill>
          <a:blip r:embed="rId2"/>
          <a:stretch>
            <a:fillRect/>
          </a:stretch>
        </p:blipFill>
        <p:spPr>
          <a:xfrm>
            <a:off x="4389120" y="144389"/>
            <a:ext cx="6964680" cy="6676088"/>
          </a:xfrm>
          <a:prstGeom prst="rect">
            <a:avLst/>
          </a:prstGeom>
        </p:spPr>
      </p:pic>
    </p:spTree>
    <p:extLst>
      <p:ext uri="{BB962C8B-B14F-4D97-AF65-F5344CB8AC3E}">
        <p14:creationId xmlns:p14="http://schemas.microsoft.com/office/powerpoint/2010/main" val="39687196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9CB0CF-6B26-5A0A-F79E-B621695565E1}"/>
              </a:ext>
            </a:extLst>
          </p:cNvPr>
          <p:cNvSpPr>
            <a:spLocks noGrp="1"/>
          </p:cNvSpPr>
          <p:nvPr>
            <p:ph type="title"/>
          </p:nvPr>
        </p:nvSpPr>
        <p:spPr/>
        <p:txBody>
          <a:bodyPr/>
          <a:lstStyle/>
          <a:p>
            <a:r>
              <a:rPr lang="pt-BR" dirty="0"/>
              <a:t>EPILAÇÃO </a:t>
            </a:r>
          </a:p>
        </p:txBody>
      </p:sp>
      <p:sp>
        <p:nvSpPr>
          <p:cNvPr id="3" name="Espaço Reservado para Conteúdo 2">
            <a:extLst>
              <a:ext uri="{FF2B5EF4-FFF2-40B4-BE49-F238E27FC236}">
                <a16:creationId xmlns:a16="http://schemas.microsoft.com/office/drawing/2014/main" id="{705F206B-A8C8-47ED-C788-82820940EE4C}"/>
              </a:ext>
            </a:extLst>
          </p:cNvPr>
          <p:cNvSpPr>
            <a:spLocks noGrp="1"/>
          </p:cNvSpPr>
          <p:nvPr>
            <p:ph idx="1"/>
          </p:nvPr>
        </p:nvSpPr>
        <p:spPr/>
        <p:txBody>
          <a:bodyPr/>
          <a:lstStyle/>
          <a:p>
            <a:endParaRPr lang="pt-BR"/>
          </a:p>
        </p:txBody>
      </p:sp>
      <p:pic>
        <p:nvPicPr>
          <p:cNvPr id="5" name="Imagem 4">
            <a:extLst>
              <a:ext uri="{FF2B5EF4-FFF2-40B4-BE49-F238E27FC236}">
                <a16:creationId xmlns:a16="http://schemas.microsoft.com/office/drawing/2014/main" id="{64544F33-AB59-5464-736A-A0D46D730847}"/>
              </a:ext>
            </a:extLst>
          </p:cNvPr>
          <p:cNvPicPr>
            <a:picLocks noChangeAspect="1"/>
          </p:cNvPicPr>
          <p:nvPr/>
        </p:nvPicPr>
        <p:blipFill>
          <a:blip r:embed="rId2"/>
          <a:stretch>
            <a:fillRect/>
          </a:stretch>
        </p:blipFill>
        <p:spPr>
          <a:xfrm>
            <a:off x="3472730" y="144800"/>
            <a:ext cx="8414470" cy="6779659"/>
          </a:xfrm>
          <a:prstGeom prst="rect">
            <a:avLst/>
          </a:prstGeom>
        </p:spPr>
      </p:pic>
    </p:spTree>
    <p:extLst>
      <p:ext uri="{BB962C8B-B14F-4D97-AF65-F5344CB8AC3E}">
        <p14:creationId xmlns:p14="http://schemas.microsoft.com/office/powerpoint/2010/main" val="1610671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2D9035-3C54-C165-F779-58D6D6ED52CE}"/>
              </a:ext>
            </a:extLst>
          </p:cNvPr>
          <p:cNvSpPr>
            <a:spLocks noGrp="1"/>
          </p:cNvSpPr>
          <p:nvPr>
            <p:ph type="title"/>
          </p:nvPr>
        </p:nvSpPr>
        <p:spPr/>
        <p:txBody>
          <a:bodyPr/>
          <a:lstStyle/>
          <a:p>
            <a:r>
              <a:rPr lang="pt-BR" dirty="0"/>
              <a:t>EPILAÇÃO</a:t>
            </a:r>
          </a:p>
        </p:txBody>
      </p:sp>
      <p:sp>
        <p:nvSpPr>
          <p:cNvPr id="3" name="Espaço Reservado para Conteúdo 2">
            <a:extLst>
              <a:ext uri="{FF2B5EF4-FFF2-40B4-BE49-F238E27FC236}">
                <a16:creationId xmlns:a16="http://schemas.microsoft.com/office/drawing/2014/main" id="{A3166268-8E4F-7E9F-3848-A2305F9831A5}"/>
              </a:ext>
            </a:extLst>
          </p:cNvPr>
          <p:cNvSpPr>
            <a:spLocks noGrp="1"/>
          </p:cNvSpPr>
          <p:nvPr>
            <p:ph idx="1"/>
          </p:nvPr>
        </p:nvSpPr>
        <p:spPr/>
        <p:txBody>
          <a:bodyPr/>
          <a:lstStyle/>
          <a:p>
            <a:endParaRPr lang="pt-BR"/>
          </a:p>
        </p:txBody>
      </p:sp>
      <p:pic>
        <p:nvPicPr>
          <p:cNvPr id="3074" name="Picture 2" descr="main product photo">
            <a:extLst>
              <a:ext uri="{FF2B5EF4-FFF2-40B4-BE49-F238E27FC236}">
                <a16:creationId xmlns:a16="http://schemas.microsoft.com/office/drawing/2014/main" id="{15F9BD65-67F4-04AF-F239-12458B90CB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48847" y="95250"/>
            <a:ext cx="6667500" cy="666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93409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B8A77E-013C-7626-56F1-D7ABF748F498}"/>
              </a:ext>
            </a:extLst>
          </p:cNvPr>
          <p:cNvSpPr>
            <a:spLocks noGrp="1"/>
          </p:cNvSpPr>
          <p:nvPr>
            <p:ph type="title"/>
          </p:nvPr>
        </p:nvSpPr>
        <p:spPr/>
        <p:txBody>
          <a:bodyPr/>
          <a:lstStyle/>
          <a:p>
            <a:r>
              <a:rPr lang="pt-BR" dirty="0"/>
              <a:t>EPILAÇÃO </a:t>
            </a:r>
          </a:p>
        </p:txBody>
      </p:sp>
      <p:pic>
        <p:nvPicPr>
          <p:cNvPr id="8" name="Espaço Reservado para Conteúdo 7">
            <a:extLst>
              <a:ext uri="{FF2B5EF4-FFF2-40B4-BE49-F238E27FC236}">
                <a16:creationId xmlns:a16="http://schemas.microsoft.com/office/drawing/2014/main" id="{65CF12A6-BA1E-FD52-38BF-CFB0EED98A35}"/>
              </a:ext>
            </a:extLst>
          </p:cNvPr>
          <p:cNvPicPr>
            <a:picLocks noGrp="1" noChangeAspect="1"/>
          </p:cNvPicPr>
          <p:nvPr>
            <p:ph idx="1"/>
          </p:nvPr>
        </p:nvPicPr>
        <p:blipFill>
          <a:blip r:embed="rId2"/>
          <a:stretch>
            <a:fillRect/>
          </a:stretch>
        </p:blipFill>
        <p:spPr bwMode="auto">
          <a:xfrm>
            <a:off x="3208607" y="1350498"/>
            <a:ext cx="8765148" cy="55075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21628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02101C-CFBE-5AB4-0056-A722C4490748}"/>
              </a:ext>
            </a:extLst>
          </p:cNvPr>
          <p:cNvSpPr>
            <a:spLocks noGrp="1"/>
          </p:cNvSpPr>
          <p:nvPr>
            <p:ph type="title"/>
          </p:nvPr>
        </p:nvSpPr>
        <p:spPr/>
        <p:txBody>
          <a:bodyPr/>
          <a:lstStyle/>
          <a:p>
            <a:r>
              <a:rPr lang="pt-BR" dirty="0"/>
              <a:t>EPILAÇÃO</a:t>
            </a:r>
          </a:p>
        </p:txBody>
      </p:sp>
      <p:sp>
        <p:nvSpPr>
          <p:cNvPr id="3" name="Espaço Reservado para Conteúdo 2">
            <a:extLst>
              <a:ext uri="{FF2B5EF4-FFF2-40B4-BE49-F238E27FC236}">
                <a16:creationId xmlns:a16="http://schemas.microsoft.com/office/drawing/2014/main" id="{FB8DCDF3-A26A-C158-C732-2CB14743AD40}"/>
              </a:ext>
            </a:extLst>
          </p:cNvPr>
          <p:cNvSpPr>
            <a:spLocks noGrp="1"/>
          </p:cNvSpPr>
          <p:nvPr>
            <p:ph idx="1"/>
          </p:nvPr>
        </p:nvSpPr>
        <p:spPr/>
        <p:txBody>
          <a:bodyPr>
            <a:normAutofit fontScale="92500" lnSpcReduction="20000"/>
          </a:bodyPr>
          <a:lstStyle/>
          <a:p>
            <a:pPr>
              <a:lnSpc>
                <a:spcPct val="150000"/>
              </a:lnSpc>
              <a:spcBef>
                <a:spcPts val="0"/>
              </a:spcBef>
            </a:pPr>
            <a:r>
              <a:rPr lang="pt-BR" dirty="0"/>
              <a:t>EPILAÇÃO </a:t>
            </a:r>
          </a:p>
          <a:p>
            <a:pPr>
              <a:lnSpc>
                <a:spcPct val="150000"/>
              </a:lnSpc>
              <a:spcBef>
                <a:spcPts val="0"/>
              </a:spcBef>
            </a:pPr>
            <a:r>
              <a:rPr lang="pt-BR" dirty="0"/>
              <a:t>A onda do equipamento é quem demanda a profundidade do pelo e sua ação na pele e foto tipo.</a:t>
            </a:r>
          </a:p>
          <a:p>
            <a:pPr>
              <a:lnSpc>
                <a:spcPct val="150000"/>
              </a:lnSpc>
              <a:spcBef>
                <a:spcPts val="0"/>
              </a:spcBef>
            </a:pPr>
            <a:r>
              <a:rPr lang="pt-BR" dirty="0"/>
              <a:t>Existe 4 versões de laser no mercado para </a:t>
            </a:r>
            <a:r>
              <a:rPr lang="pt-BR" dirty="0" err="1"/>
              <a:t>epilação</a:t>
            </a:r>
            <a:r>
              <a:rPr lang="pt-BR" dirty="0"/>
              <a:t> </a:t>
            </a:r>
          </a:p>
          <a:p>
            <a:pPr>
              <a:lnSpc>
                <a:spcPct val="150000"/>
              </a:lnSpc>
              <a:spcBef>
                <a:spcPts val="0"/>
              </a:spcBef>
            </a:pPr>
            <a:r>
              <a:rPr lang="pt-BR" dirty="0"/>
              <a:t>Alexandrite</a:t>
            </a:r>
          </a:p>
          <a:p>
            <a:pPr>
              <a:lnSpc>
                <a:spcPct val="150000"/>
              </a:lnSpc>
              <a:spcBef>
                <a:spcPts val="0"/>
              </a:spcBef>
            </a:pPr>
            <a:r>
              <a:rPr lang="pt-BR" dirty="0"/>
              <a:t>Diodo </a:t>
            </a:r>
          </a:p>
          <a:p>
            <a:pPr>
              <a:lnSpc>
                <a:spcPct val="150000"/>
              </a:lnSpc>
              <a:spcBef>
                <a:spcPts val="0"/>
              </a:spcBef>
            </a:pPr>
            <a:r>
              <a:rPr lang="pt-BR" dirty="0"/>
              <a:t>Rubi</a:t>
            </a:r>
          </a:p>
          <a:p>
            <a:pPr>
              <a:lnSpc>
                <a:spcPct val="150000"/>
              </a:lnSpc>
              <a:spcBef>
                <a:spcPts val="0"/>
              </a:spcBef>
            </a:pPr>
            <a:r>
              <a:rPr lang="pt-BR" dirty="0" err="1"/>
              <a:t>NDYag</a:t>
            </a:r>
            <a:endParaRPr lang="pt-BR" dirty="0"/>
          </a:p>
        </p:txBody>
      </p:sp>
    </p:spTree>
    <p:extLst>
      <p:ext uri="{BB962C8B-B14F-4D97-AF65-F5344CB8AC3E}">
        <p14:creationId xmlns:p14="http://schemas.microsoft.com/office/powerpoint/2010/main" val="5538877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87C419-E2F3-FF99-3B88-F636BB4891B0}"/>
              </a:ext>
            </a:extLst>
          </p:cNvPr>
          <p:cNvSpPr>
            <a:spLocks noGrp="1"/>
          </p:cNvSpPr>
          <p:nvPr>
            <p:ph type="title"/>
          </p:nvPr>
        </p:nvSpPr>
        <p:spPr/>
        <p:txBody>
          <a:bodyPr/>
          <a:lstStyle/>
          <a:p>
            <a:r>
              <a:rPr lang="pt-BR" dirty="0"/>
              <a:t>EPILAÇÃO</a:t>
            </a:r>
          </a:p>
        </p:txBody>
      </p:sp>
      <p:sp>
        <p:nvSpPr>
          <p:cNvPr id="3" name="Espaço Reservado para Conteúdo 2">
            <a:extLst>
              <a:ext uri="{FF2B5EF4-FFF2-40B4-BE49-F238E27FC236}">
                <a16:creationId xmlns:a16="http://schemas.microsoft.com/office/drawing/2014/main" id="{751280F1-ED34-111A-0247-080C32AA3F2F}"/>
              </a:ext>
            </a:extLst>
          </p:cNvPr>
          <p:cNvSpPr>
            <a:spLocks noGrp="1"/>
          </p:cNvSpPr>
          <p:nvPr>
            <p:ph idx="1"/>
          </p:nvPr>
        </p:nvSpPr>
        <p:spPr/>
        <p:txBody>
          <a:bodyPr>
            <a:normAutofit fontScale="92500"/>
          </a:bodyPr>
          <a:lstStyle/>
          <a:p>
            <a:pPr>
              <a:lnSpc>
                <a:spcPct val="150000"/>
              </a:lnSpc>
              <a:spcBef>
                <a:spcPts val="0"/>
              </a:spcBef>
            </a:pPr>
            <a:r>
              <a:rPr lang="pt-BR" dirty="0"/>
              <a:t>Rubi = 694 </a:t>
            </a:r>
            <a:r>
              <a:rPr lang="pt-BR" dirty="0" err="1"/>
              <a:t>nM</a:t>
            </a:r>
            <a:r>
              <a:rPr lang="pt-BR" dirty="0"/>
              <a:t> – nível dérmico </a:t>
            </a:r>
          </a:p>
          <a:p>
            <a:pPr>
              <a:lnSpc>
                <a:spcPct val="150000"/>
              </a:lnSpc>
              <a:spcBef>
                <a:spcPts val="0"/>
              </a:spcBef>
            </a:pPr>
            <a:r>
              <a:rPr lang="pt-BR" dirty="0"/>
              <a:t>Alexandrite = 755 </a:t>
            </a:r>
            <a:r>
              <a:rPr lang="pt-BR" dirty="0" err="1"/>
              <a:t>nM</a:t>
            </a:r>
            <a:r>
              <a:rPr lang="pt-BR" dirty="0"/>
              <a:t> – superficial </a:t>
            </a:r>
          </a:p>
          <a:p>
            <a:pPr>
              <a:lnSpc>
                <a:spcPct val="150000"/>
              </a:lnSpc>
              <a:spcBef>
                <a:spcPts val="0"/>
              </a:spcBef>
            </a:pPr>
            <a:r>
              <a:rPr lang="pt-BR" dirty="0"/>
              <a:t>Diodo = 800 a 810 </a:t>
            </a:r>
            <a:r>
              <a:rPr lang="pt-BR" dirty="0" err="1"/>
              <a:t>nM</a:t>
            </a:r>
            <a:r>
              <a:rPr lang="pt-BR" dirty="0"/>
              <a:t> – intermediário </a:t>
            </a:r>
          </a:p>
          <a:p>
            <a:pPr>
              <a:lnSpc>
                <a:spcPct val="150000"/>
              </a:lnSpc>
              <a:spcBef>
                <a:spcPts val="0"/>
              </a:spcBef>
            </a:pPr>
            <a:r>
              <a:rPr lang="pt-BR" dirty="0" err="1"/>
              <a:t>NDYag</a:t>
            </a:r>
            <a:r>
              <a:rPr lang="pt-BR" dirty="0"/>
              <a:t> = 1064 </a:t>
            </a:r>
            <a:r>
              <a:rPr lang="pt-BR" dirty="0" err="1"/>
              <a:t>nM</a:t>
            </a:r>
            <a:r>
              <a:rPr lang="pt-BR" dirty="0"/>
              <a:t> – profundo </a:t>
            </a:r>
          </a:p>
          <a:p>
            <a:pPr>
              <a:lnSpc>
                <a:spcPct val="150000"/>
              </a:lnSpc>
              <a:spcBef>
                <a:spcPts val="0"/>
              </a:spcBef>
            </a:pPr>
            <a:r>
              <a:rPr lang="pt-BR" dirty="0"/>
              <a:t>Laser 3D = união de vários comprimentos de onda 755, 800 e 1064 </a:t>
            </a:r>
            <a:r>
              <a:rPr lang="pt-BR" dirty="0" err="1"/>
              <a:t>nM</a:t>
            </a:r>
            <a:r>
              <a:rPr lang="pt-BR" dirty="0"/>
              <a:t> </a:t>
            </a:r>
          </a:p>
          <a:p>
            <a:pPr>
              <a:lnSpc>
                <a:spcPct val="150000"/>
              </a:lnSpc>
              <a:spcBef>
                <a:spcPts val="0"/>
              </a:spcBef>
            </a:pPr>
            <a:r>
              <a:rPr lang="pt-BR" dirty="0"/>
              <a:t>Laser 4D = união de vários comprimentos de onda 755, 800, 940 e 1064 </a:t>
            </a:r>
            <a:r>
              <a:rPr lang="pt-BR" dirty="0" err="1"/>
              <a:t>nM</a:t>
            </a:r>
            <a:endParaRPr lang="pt-BR" dirty="0"/>
          </a:p>
          <a:p>
            <a:endParaRPr lang="pt-BR" dirty="0"/>
          </a:p>
        </p:txBody>
      </p:sp>
    </p:spTree>
    <p:extLst>
      <p:ext uri="{BB962C8B-B14F-4D97-AF65-F5344CB8AC3E}">
        <p14:creationId xmlns:p14="http://schemas.microsoft.com/office/powerpoint/2010/main" val="9214304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C813E5-A73E-7C70-3145-31EB3FE4577C}"/>
              </a:ext>
            </a:extLst>
          </p:cNvPr>
          <p:cNvSpPr>
            <a:spLocks noGrp="1"/>
          </p:cNvSpPr>
          <p:nvPr>
            <p:ph type="title"/>
          </p:nvPr>
        </p:nvSpPr>
        <p:spPr/>
        <p:txBody>
          <a:bodyPr/>
          <a:lstStyle/>
          <a:p>
            <a:r>
              <a:rPr lang="pt-BR" dirty="0"/>
              <a:t>EPILAÇÃO</a:t>
            </a:r>
          </a:p>
        </p:txBody>
      </p:sp>
      <p:sp>
        <p:nvSpPr>
          <p:cNvPr id="3" name="Espaço Reservado para Conteúdo 2">
            <a:extLst>
              <a:ext uri="{FF2B5EF4-FFF2-40B4-BE49-F238E27FC236}">
                <a16:creationId xmlns:a16="http://schemas.microsoft.com/office/drawing/2014/main" id="{3C9F6C4E-B11F-FF5C-6F73-1D2C50A5E22C}"/>
              </a:ext>
            </a:extLst>
          </p:cNvPr>
          <p:cNvSpPr>
            <a:spLocks noGrp="1"/>
          </p:cNvSpPr>
          <p:nvPr>
            <p:ph idx="1"/>
          </p:nvPr>
        </p:nvSpPr>
        <p:spPr/>
        <p:txBody>
          <a:bodyPr>
            <a:normAutofit fontScale="77500" lnSpcReduction="20000"/>
          </a:bodyPr>
          <a:lstStyle/>
          <a:p>
            <a:pPr algn="just">
              <a:lnSpc>
                <a:spcPct val="160000"/>
              </a:lnSpc>
              <a:spcBef>
                <a:spcPts val="0"/>
              </a:spcBef>
            </a:pPr>
            <a:r>
              <a:rPr lang="pt-BR" dirty="0"/>
              <a:t>Alexandrite = pelos finos, como buço, indicado para uso em foto tipos mais baixos entre 1 e 4. </a:t>
            </a:r>
          </a:p>
          <a:p>
            <a:pPr algn="just">
              <a:lnSpc>
                <a:spcPct val="160000"/>
              </a:lnSpc>
              <a:spcBef>
                <a:spcPts val="0"/>
              </a:spcBef>
            </a:pPr>
            <a:r>
              <a:rPr lang="pt-BR" dirty="0"/>
              <a:t>Diodo = indicado para todos os locais, por ser um comprimento de onda intermediário, e por ter ação efetiva na matriz germinativa do pelo, mais indicado para braço, perna, barba. Pode ser utilizado em todos os foto tipos. </a:t>
            </a:r>
          </a:p>
          <a:p>
            <a:pPr algn="just">
              <a:lnSpc>
                <a:spcPct val="160000"/>
              </a:lnSpc>
              <a:spcBef>
                <a:spcPts val="0"/>
              </a:spcBef>
            </a:pPr>
            <a:r>
              <a:rPr lang="pt-BR" dirty="0" err="1"/>
              <a:t>NDYag</a:t>
            </a:r>
            <a:r>
              <a:rPr lang="pt-BR" dirty="0"/>
              <a:t> = para pelos com matriz germinativa mais profundas, axila, púbis. Indicado para foto tipos mais altos e pele negra, entre 4 e 5. </a:t>
            </a:r>
          </a:p>
          <a:p>
            <a:pPr algn="just">
              <a:lnSpc>
                <a:spcPct val="160000"/>
              </a:lnSpc>
              <a:spcBef>
                <a:spcPts val="0"/>
              </a:spcBef>
            </a:pPr>
            <a:r>
              <a:rPr lang="pt-BR" dirty="0"/>
              <a:t>Rubi = tem afinidade por pigmentos, utilizado na sua maioria para remoção de  tatuagens, Melasma, pintas, </a:t>
            </a:r>
            <a:r>
              <a:rPr lang="pt-BR" dirty="0" err="1"/>
              <a:t>lentigos</a:t>
            </a:r>
            <a:r>
              <a:rPr lang="pt-BR" dirty="0"/>
              <a:t> senis, não é recomendado para quem tem vitiligo.   </a:t>
            </a:r>
          </a:p>
          <a:p>
            <a:endParaRPr lang="pt-BR" dirty="0"/>
          </a:p>
        </p:txBody>
      </p:sp>
    </p:spTree>
    <p:extLst>
      <p:ext uri="{BB962C8B-B14F-4D97-AF65-F5344CB8AC3E}">
        <p14:creationId xmlns:p14="http://schemas.microsoft.com/office/powerpoint/2010/main" val="38762180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C656EF-3FA3-B665-2867-723ABB63E64C}"/>
              </a:ext>
            </a:extLst>
          </p:cNvPr>
          <p:cNvSpPr>
            <a:spLocks noGrp="1"/>
          </p:cNvSpPr>
          <p:nvPr>
            <p:ph type="title"/>
          </p:nvPr>
        </p:nvSpPr>
        <p:spPr/>
        <p:txBody>
          <a:bodyPr/>
          <a:lstStyle/>
          <a:p>
            <a:r>
              <a:rPr lang="pt-BR" dirty="0"/>
              <a:t>EPILAÇÃO</a:t>
            </a:r>
          </a:p>
        </p:txBody>
      </p:sp>
      <p:sp>
        <p:nvSpPr>
          <p:cNvPr id="3" name="Espaço Reservado para Conteúdo 2">
            <a:extLst>
              <a:ext uri="{FF2B5EF4-FFF2-40B4-BE49-F238E27FC236}">
                <a16:creationId xmlns:a16="http://schemas.microsoft.com/office/drawing/2014/main" id="{8D886CD8-57E1-9502-5303-1E22214C0DCB}"/>
              </a:ext>
            </a:extLst>
          </p:cNvPr>
          <p:cNvSpPr>
            <a:spLocks noGrp="1"/>
          </p:cNvSpPr>
          <p:nvPr>
            <p:ph idx="1"/>
          </p:nvPr>
        </p:nvSpPr>
        <p:spPr/>
        <p:txBody>
          <a:bodyPr/>
          <a:lstStyle/>
          <a:p>
            <a:pPr algn="just">
              <a:lnSpc>
                <a:spcPct val="150000"/>
              </a:lnSpc>
              <a:spcBef>
                <a:spcPts val="0"/>
              </a:spcBef>
            </a:pPr>
            <a:r>
              <a:rPr lang="pt-BR" dirty="0"/>
              <a:t>A maioria dos laser fazem leitura em pigmento, no caso de quem tem vitiligo, cuidar por ser uma doença de despigmentação e baixa melanina, para não acelerar o processo e aumentar a área de despigmentação. </a:t>
            </a:r>
          </a:p>
          <a:p>
            <a:endParaRPr lang="pt-BR" dirty="0"/>
          </a:p>
        </p:txBody>
      </p:sp>
    </p:spTree>
    <p:extLst>
      <p:ext uri="{BB962C8B-B14F-4D97-AF65-F5344CB8AC3E}">
        <p14:creationId xmlns:p14="http://schemas.microsoft.com/office/powerpoint/2010/main" val="37447316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E62516-D492-709A-1699-D46EC926A278}"/>
              </a:ext>
            </a:extLst>
          </p:cNvPr>
          <p:cNvSpPr>
            <a:spLocks noGrp="1"/>
          </p:cNvSpPr>
          <p:nvPr>
            <p:ph type="title"/>
          </p:nvPr>
        </p:nvSpPr>
        <p:spPr/>
        <p:txBody>
          <a:bodyPr/>
          <a:lstStyle/>
          <a:p>
            <a:r>
              <a:rPr lang="pt-BR" dirty="0"/>
              <a:t>EPILAÇÃO</a:t>
            </a:r>
          </a:p>
        </p:txBody>
      </p:sp>
      <p:sp>
        <p:nvSpPr>
          <p:cNvPr id="3" name="Espaço Reservado para Conteúdo 2">
            <a:extLst>
              <a:ext uri="{FF2B5EF4-FFF2-40B4-BE49-F238E27FC236}">
                <a16:creationId xmlns:a16="http://schemas.microsoft.com/office/drawing/2014/main" id="{E16678A7-F370-E0F2-2C03-758BFC35822C}"/>
              </a:ext>
            </a:extLst>
          </p:cNvPr>
          <p:cNvSpPr>
            <a:spLocks noGrp="1"/>
          </p:cNvSpPr>
          <p:nvPr>
            <p:ph idx="1"/>
          </p:nvPr>
        </p:nvSpPr>
        <p:spPr/>
        <p:txBody>
          <a:bodyPr>
            <a:normAutofit fontScale="92500" lnSpcReduction="20000"/>
          </a:bodyPr>
          <a:lstStyle/>
          <a:p>
            <a:pPr algn="just">
              <a:lnSpc>
                <a:spcPct val="150000"/>
              </a:lnSpc>
              <a:spcBef>
                <a:spcPts val="0"/>
              </a:spcBef>
            </a:pPr>
            <a:r>
              <a:rPr lang="pt-BR" dirty="0"/>
              <a:t>TIPOS DE APLICAÇÃO</a:t>
            </a:r>
          </a:p>
          <a:p>
            <a:pPr algn="just">
              <a:lnSpc>
                <a:spcPct val="150000"/>
              </a:lnSpc>
              <a:spcBef>
                <a:spcPts val="0"/>
              </a:spcBef>
            </a:pPr>
            <a:r>
              <a:rPr lang="pt-BR" dirty="0"/>
              <a:t>Varredura = movimento mais rápido com uso de gel para deslizamento, gel sem cor, e sem ativos. Utilizado em áreas grandes por questão de tempo e aquecimento de alguns aparelhos. </a:t>
            </a:r>
          </a:p>
          <a:p>
            <a:pPr algn="just">
              <a:lnSpc>
                <a:spcPct val="150000"/>
              </a:lnSpc>
              <a:spcBef>
                <a:spcPts val="0"/>
              </a:spcBef>
            </a:pPr>
            <a:r>
              <a:rPr lang="pt-BR" dirty="0"/>
              <a:t>Pontual  = mais eficaz, comprimento de onda mais concentrado, mais demorada a aplicação, geralmente é utilizado em áreas pequenas, podendo ser usado em áreas grandes. Causa mais desconforto na aplicação dependendo da região. </a:t>
            </a:r>
          </a:p>
          <a:p>
            <a:endParaRPr lang="pt-BR" dirty="0"/>
          </a:p>
        </p:txBody>
      </p:sp>
    </p:spTree>
    <p:extLst>
      <p:ext uri="{BB962C8B-B14F-4D97-AF65-F5344CB8AC3E}">
        <p14:creationId xmlns:p14="http://schemas.microsoft.com/office/powerpoint/2010/main" val="12435467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7E5711-E658-88E8-E29C-C93759002A28}"/>
              </a:ext>
            </a:extLst>
          </p:cNvPr>
          <p:cNvSpPr>
            <a:spLocks noGrp="1"/>
          </p:cNvSpPr>
          <p:nvPr>
            <p:ph type="title"/>
          </p:nvPr>
        </p:nvSpPr>
        <p:spPr/>
        <p:txBody>
          <a:bodyPr/>
          <a:lstStyle/>
          <a:p>
            <a:r>
              <a:rPr lang="pt-BR" dirty="0"/>
              <a:t>EPILAÇÃO</a:t>
            </a:r>
          </a:p>
        </p:txBody>
      </p:sp>
      <p:sp>
        <p:nvSpPr>
          <p:cNvPr id="3" name="Espaço Reservado para Conteúdo 2">
            <a:extLst>
              <a:ext uri="{FF2B5EF4-FFF2-40B4-BE49-F238E27FC236}">
                <a16:creationId xmlns:a16="http://schemas.microsoft.com/office/drawing/2014/main" id="{A3FBF9B6-1323-29F2-CBFC-4CF5748D6AC3}"/>
              </a:ext>
            </a:extLst>
          </p:cNvPr>
          <p:cNvSpPr>
            <a:spLocks noGrp="1"/>
          </p:cNvSpPr>
          <p:nvPr>
            <p:ph idx="1"/>
          </p:nvPr>
        </p:nvSpPr>
        <p:spPr/>
        <p:txBody>
          <a:bodyPr>
            <a:normAutofit fontScale="92500"/>
          </a:bodyPr>
          <a:lstStyle/>
          <a:p>
            <a:pPr algn="just">
              <a:lnSpc>
                <a:spcPct val="150000"/>
              </a:lnSpc>
              <a:spcBef>
                <a:spcPts val="0"/>
              </a:spcBef>
            </a:pPr>
            <a:r>
              <a:rPr lang="pt-BR" dirty="0"/>
              <a:t>Quando mais superficial a emissão da onda mais chances de despigmentar no caso de pele com foto tipo escuro e </a:t>
            </a:r>
            <a:r>
              <a:rPr lang="pt-BR" dirty="0" err="1"/>
              <a:t>vitilgo</a:t>
            </a:r>
            <a:r>
              <a:rPr lang="pt-BR" dirty="0"/>
              <a:t>, a emissão da onda fica mais concentrada, com alta temperatura e alta no potencial de inflamação, mais chances de queimadura e intercorrências se aplicado de forma errada, cuidar sempre do aumento da potencia em Joules e o foto tipo da pele.</a:t>
            </a:r>
          </a:p>
          <a:p>
            <a:pPr algn="just">
              <a:lnSpc>
                <a:spcPct val="150000"/>
              </a:lnSpc>
              <a:spcBef>
                <a:spcPts val="0"/>
              </a:spcBef>
            </a:pPr>
            <a:r>
              <a:rPr lang="pt-BR" dirty="0"/>
              <a:t>Quanto mais profundo há mais dispersão da onda, baixa temperatura, e baixo potencial de inflamação. </a:t>
            </a:r>
          </a:p>
          <a:p>
            <a:endParaRPr lang="pt-BR" dirty="0"/>
          </a:p>
        </p:txBody>
      </p:sp>
    </p:spTree>
    <p:extLst>
      <p:ext uri="{BB962C8B-B14F-4D97-AF65-F5344CB8AC3E}">
        <p14:creationId xmlns:p14="http://schemas.microsoft.com/office/powerpoint/2010/main" val="6651750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F0C6A9-2EEA-2441-F25E-42F0B44EFB9E}"/>
              </a:ext>
            </a:extLst>
          </p:cNvPr>
          <p:cNvSpPr>
            <a:spLocks noGrp="1"/>
          </p:cNvSpPr>
          <p:nvPr>
            <p:ph type="title"/>
          </p:nvPr>
        </p:nvSpPr>
        <p:spPr/>
        <p:txBody>
          <a:bodyPr/>
          <a:lstStyle/>
          <a:p>
            <a:r>
              <a:rPr lang="pt-BR" dirty="0"/>
              <a:t>EPILAÇÃO</a:t>
            </a:r>
          </a:p>
        </p:txBody>
      </p:sp>
      <p:sp>
        <p:nvSpPr>
          <p:cNvPr id="3" name="Espaço Reservado para Conteúdo 2">
            <a:extLst>
              <a:ext uri="{FF2B5EF4-FFF2-40B4-BE49-F238E27FC236}">
                <a16:creationId xmlns:a16="http://schemas.microsoft.com/office/drawing/2014/main" id="{EA5E8996-6A21-0744-B63A-DA80D1039D8C}"/>
              </a:ext>
            </a:extLst>
          </p:cNvPr>
          <p:cNvSpPr>
            <a:spLocks noGrp="1"/>
          </p:cNvSpPr>
          <p:nvPr>
            <p:ph idx="1"/>
          </p:nvPr>
        </p:nvSpPr>
        <p:spPr/>
        <p:txBody>
          <a:bodyPr>
            <a:normAutofit fontScale="92500" lnSpcReduction="20000"/>
          </a:bodyPr>
          <a:lstStyle/>
          <a:p>
            <a:pPr>
              <a:lnSpc>
                <a:spcPct val="150000"/>
              </a:lnSpc>
              <a:spcBef>
                <a:spcPts val="0"/>
              </a:spcBef>
            </a:pPr>
            <a:r>
              <a:rPr lang="pt-BR" dirty="0"/>
              <a:t>RECOMENDAÇÕES PÓS APLICAÇÃO </a:t>
            </a:r>
          </a:p>
          <a:p>
            <a:pPr>
              <a:lnSpc>
                <a:spcPct val="150000"/>
              </a:lnSpc>
              <a:spcBef>
                <a:spcPts val="0"/>
              </a:spcBef>
            </a:pPr>
            <a:r>
              <a:rPr lang="pt-BR" dirty="0"/>
              <a:t>Evitar sol e exposição ao calor por 24h</a:t>
            </a:r>
          </a:p>
          <a:p>
            <a:pPr>
              <a:lnSpc>
                <a:spcPct val="150000"/>
              </a:lnSpc>
              <a:spcBef>
                <a:spcPts val="0"/>
              </a:spcBef>
            </a:pPr>
            <a:r>
              <a:rPr lang="pt-BR" dirty="0"/>
              <a:t>Sol </a:t>
            </a:r>
          </a:p>
          <a:p>
            <a:pPr>
              <a:lnSpc>
                <a:spcPct val="150000"/>
              </a:lnSpc>
              <a:spcBef>
                <a:spcPts val="0"/>
              </a:spcBef>
            </a:pPr>
            <a:r>
              <a:rPr lang="pt-BR" dirty="0"/>
              <a:t>Bronzeamento </a:t>
            </a:r>
          </a:p>
          <a:p>
            <a:pPr>
              <a:lnSpc>
                <a:spcPct val="150000"/>
              </a:lnSpc>
              <a:spcBef>
                <a:spcPts val="0"/>
              </a:spcBef>
            </a:pPr>
            <a:r>
              <a:rPr lang="pt-BR" dirty="0"/>
              <a:t>Sauna</a:t>
            </a:r>
          </a:p>
          <a:p>
            <a:pPr>
              <a:lnSpc>
                <a:spcPct val="150000"/>
              </a:lnSpc>
              <a:spcBef>
                <a:spcPts val="0"/>
              </a:spcBef>
            </a:pPr>
            <a:r>
              <a:rPr lang="pt-BR" dirty="0"/>
              <a:t>Manta térmica</a:t>
            </a:r>
          </a:p>
          <a:p>
            <a:pPr>
              <a:lnSpc>
                <a:spcPct val="150000"/>
              </a:lnSpc>
              <a:spcBef>
                <a:spcPts val="0"/>
              </a:spcBef>
            </a:pPr>
            <a:r>
              <a:rPr lang="pt-BR" dirty="0"/>
              <a:t>Atividade física </a:t>
            </a:r>
          </a:p>
          <a:p>
            <a:pPr>
              <a:lnSpc>
                <a:spcPct val="150000"/>
              </a:lnSpc>
              <a:spcBef>
                <a:spcPts val="0"/>
              </a:spcBef>
            </a:pPr>
            <a:r>
              <a:rPr lang="pt-BR" dirty="0"/>
              <a:t>3 a 4 dias usar cremes calmantes  </a:t>
            </a:r>
          </a:p>
          <a:p>
            <a:endParaRPr lang="pt-BR" dirty="0"/>
          </a:p>
        </p:txBody>
      </p:sp>
    </p:spTree>
    <p:extLst>
      <p:ext uri="{BB962C8B-B14F-4D97-AF65-F5344CB8AC3E}">
        <p14:creationId xmlns:p14="http://schemas.microsoft.com/office/powerpoint/2010/main" val="25688740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A6CE09-DD0A-BB15-0FB0-D7CAC7C25DA0}"/>
              </a:ext>
            </a:extLst>
          </p:cNvPr>
          <p:cNvSpPr>
            <a:spLocks noGrp="1"/>
          </p:cNvSpPr>
          <p:nvPr>
            <p:ph type="title"/>
          </p:nvPr>
        </p:nvSpPr>
        <p:spPr/>
        <p:txBody>
          <a:bodyPr/>
          <a:lstStyle/>
          <a:p>
            <a:r>
              <a:rPr lang="pt-BR" dirty="0"/>
              <a:t>EPILAÇÃO</a:t>
            </a:r>
          </a:p>
        </p:txBody>
      </p:sp>
      <p:sp>
        <p:nvSpPr>
          <p:cNvPr id="3" name="Espaço Reservado para Conteúdo 2">
            <a:extLst>
              <a:ext uri="{FF2B5EF4-FFF2-40B4-BE49-F238E27FC236}">
                <a16:creationId xmlns:a16="http://schemas.microsoft.com/office/drawing/2014/main" id="{13B3E11A-E268-5822-831F-2CEE2680ED1D}"/>
              </a:ext>
            </a:extLst>
          </p:cNvPr>
          <p:cNvSpPr>
            <a:spLocks noGrp="1"/>
          </p:cNvSpPr>
          <p:nvPr>
            <p:ph idx="1"/>
          </p:nvPr>
        </p:nvSpPr>
        <p:spPr/>
        <p:txBody>
          <a:bodyPr>
            <a:normAutofit lnSpcReduction="10000"/>
          </a:bodyPr>
          <a:lstStyle/>
          <a:p>
            <a:pPr>
              <a:lnSpc>
                <a:spcPct val="150000"/>
              </a:lnSpc>
              <a:spcBef>
                <a:spcPts val="0"/>
              </a:spcBef>
            </a:pPr>
            <a:r>
              <a:rPr lang="pt-BR" dirty="0"/>
              <a:t>POR QUE NÃO SE APLICA LASER EM PELE BRONZEADA?</a:t>
            </a:r>
          </a:p>
          <a:p>
            <a:pPr>
              <a:lnSpc>
                <a:spcPct val="150000"/>
              </a:lnSpc>
              <a:spcBef>
                <a:spcPts val="0"/>
              </a:spcBef>
            </a:pPr>
            <a:r>
              <a:rPr lang="pt-BR" dirty="0"/>
              <a:t>Pele bronzeada muda o foto tipo natural da pele</a:t>
            </a:r>
          </a:p>
          <a:p>
            <a:pPr>
              <a:lnSpc>
                <a:spcPct val="150000"/>
              </a:lnSpc>
              <a:spcBef>
                <a:spcPts val="0"/>
              </a:spcBef>
            </a:pPr>
            <a:r>
              <a:rPr lang="pt-BR" dirty="0"/>
              <a:t>Pele esta desidratada </a:t>
            </a:r>
          </a:p>
          <a:p>
            <a:pPr>
              <a:lnSpc>
                <a:spcPct val="150000"/>
              </a:lnSpc>
              <a:spcBef>
                <a:spcPts val="0"/>
              </a:spcBef>
            </a:pPr>
            <a:r>
              <a:rPr lang="pt-BR" dirty="0"/>
              <a:t>Pele esta sensível</a:t>
            </a:r>
          </a:p>
          <a:p>
            <a:pPr>
              <a:lnSpc>
                <a:spcPct val="150000"/>
              </a:lnSpc>
              <a:spcBef>
                <a:spcPts val="0"/>
              </a:spcBef>
            </a:pPr>
            <a:r>
              <a:rPr lang="pt-BR" dirty="0"/>
              <a:t>Pele esta ressecada</a:t>
            </a:r>
          </a:p>
          <a:p>
            <a:pPr>
              <a:lnSpc>
                <a:spcPct val="150000"/>
              </a:lnSpc>
              <a:spcBef>
                <a:spcPts val="0"/>
              </a:spcBef>
            </a:pPr>
            <a:r>
              <a:rPr lang="pt-BR" dirty="0"/>
              <a:t>Pele esta ou passou por processo inflamatório </a:t>
            </a:r>
          </a:p>
          <a:p>
            <a:pPr>
              <a:lnSpc>
                <a:spcPct val="150000"/>
              </a:lnSpc>
              <a:spcBef>
                <a:spcPts val="0"/>
              </a:spcBef>
            </a:pPr>
            <a:r>
              <a:rPr lang="pt-BR" dirty="0"/>
              <a:t>Mais chances de queimaduras </a:t>
            </a:r>
          </a:p>
          <a:p>
            <a:endParaRPr lang="pt-BR" dirty="0"/>
          </a:p>
        </p:txBody>
      </p:sp>
    </p:spTree>
    <p:extLst>
      <p:ext uri="{BB962C8B-B14F-4D97-AF65-F5344CB8AC3E}">
        <p14:creationId xmlns:p14="http://schemas.microsoft.com/office/powerpoint/2010/main" val="4364653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E5E3D1-1DBF-7BFD-6B08-7F89B3FA9A34}"/>
              </a:ext>
            </a:extLst>
          </p:cNvPr>
          <p:cNvSpPr>
            <a:spLocks noGrp="1"/>
          </p:cNvSpPr>
          <p:nvPr>
            <p:ph type="title"/>
          </p:nvPr>
        </p:nvSpPr>
        <p:spPr/>
        <p:txBody>
          <a:bodyPr/>
          <a:lstStyle/>
          <a:p>
            <a:r>
              <a:rPr lang="pt-BR" dirty="0"/>
              <a:t>REMOÇÃO TATUAGEM</a:t>
            </a:r>
          </a:p>
        </p:txBody>
      </p:sp>
      <p:pic>
        <p:nvPicPr>
          <p:cNvPr id="6" name="Espaço Reservado para Conteúdo 5">
            <a:extLst>
              <a:ext uri="{FF2B5EF4-FFF2-40B4-BE49-F238E27FC236}">
                <a16:creationId xmlns:a16="http://schemas.microsoft.com/office/drawing/2014/main" id="{BD0FB18A-DCA8-EBC8-7D53-E5C3D274A09B}"/>
              </a:ext>
            </a:extLst>
          </p:cNvPr>
          <p:cNvPicPr>
            <a:picLocks noGrp="1" noChangeAspect="1"/>
          </p:cNvPicPr>
          <p:nvPr>
            <p:ph idx="1"/>
          </p:nvPr>
        </p:nvPicPr>
        <p:blipFill>
          <a:blip r:embed="rId2"/>
          <a:stretch>
            <a:fillRect/>
          </a:stretch>
        </p:blipFill>
        <p:spPr bwMode="auto">
          <a:xfrm>
            <a:off x="2672861" y="1512733"/>
            <a:ext cx="7441809" cy="49801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955111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EC113E-274F-C2C8-9C32-28F125AA9EF8}"/>
              </a:ext>
            </a:extLst>
          </p:cNvPr>
          <p:cNvSpPr>
            <a:spLocks noGrp="1"/>
          </p:cNvSpPr>
          <p:nvPr>
            <p:ph type="title"/>
          </p:nvPr>
        </p:nvSpPr>
        <p:spPr/>
        <p:txBody>
          <a:bodyPr/>
          <a:lstStyle/>
          <a:p>
            <a:r>
              <a:rPr lang="pt-BR" dirty="0"/>
              <a:t>REMOÇÃO TATUAGEM </a:t>
            </a:r>
          </a:p>
        </p:txBody>
      </p:sp>
      <p:pic>
        <p:nvPicPr>
          <p:cNvPr id="5" name="Espaço Reservado para Conteúdo 4">
            <a:extLst>
              <a:ext uri="{FF2B5EF4-FFF2-40B4-BE49-F238E27FC236}">
                <a16:creationId xmlns:a16="http://schemas.microsoft.com/office/drawing/2014/main" id="{6A92F64E-1642-F577-BBB0-9523AD1A4B2E}"/>
              </a:ext>
            </a:extLst>
          </p:cNvPr>
          <p:cNvPicPr>
            <a:picLocks noGrp="1" noChangeAspect="1"/>
          </p:cNvPicPr>
          <p:nvPr>
            <p:ph idx="1"/>
          </p:nvPr>
        </p:nvPicPr>
        <p:blipFill>
          <a:blip r:embed="rId2"/>
          <a:stretch>
            <a:fillRect/>
          </a:stretch>
        </p:blipFill>
        <p:spPr>
          <a:xfrm>
            <a:off x="3348111" y="1397140"/>
            <a:ext cx="5669280" cy="5372733"/>
          </a:xfrm>
          <a:prstGeom prst="rect">
            <a:avLst/>
          </a:prstGeom>
        </p:spPr>
      </p:pic>
    </p:spTree>
    <p:extLst>
      <p:ext uri="{BB962C8B-B14F-4D97-AF65-F5344CB8AC3E}">
        <p14:creationId xmlns:p14="http://schemas.microsoft.com/office/powerpoint/2010/main" val="4017301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524DA8-B0B8-D579-F553-78E4E1D3EB44}"/>
              </a:ext>
            </a:extLst>
          </p:cNvPr>
          <p:cNvSpPr>
            <a:spLocks noGrp="1"/>
          </p:cNvSpPr>
          <p:nvPr>
            <p:ph type="title"/>
          </p:nvPr>
        </p:nvSpPr>
        <p:spPr/>
        <p:txBody>
          <a:bodyPr/>
          <a:lstStyle/>
          <a:p>
            <a:r>
              <a:rPr lang="pt-BR" dirty="0"/>
              <a:t>REMOÇÃO DE TATUAGEM </a:t>
            </a:r>
          </a:p>
        </p:txBody>
      </p:sp>
      <p:pic>
        <p:nvPicPr>
          <p:cNvPr id="5" name="Espaço Reservado para Conteúdo 4">
            <a:extLst>
              <a:ext uri="{FF2B5EF4-FFF2-40B4-BE49-F238E27FC236}">
                <a16:creationId xmlns:a16="http://schemas.microsoft.com/office/drawing/2014/main" id="{93DAF0D3-632F-0CF3-A129-489F4DC8C73F}"/>
              </a:ext>
            </a:extLst>
          </p:cNvPr>
          <p:cNvPicPr>
            <a:picLocks noGrp="1" noChangeAspect="1"/>
          </p:cNvPicPr>
          <p:nvPr>
            <p:ph idx="1"/>
          </p:nvPr>
        </p:nvPicPr>
        <p:blipFill>
          <a:blip r:embed="rId2"/>
          <a:stretch>
            <a:fillRect/>
          </a:stretch>
        </p:blipFill>
        <p:spPr>
          <a:xfrm>
            <a:off x="3319975" y="1313596"/>
            <a:ext cx="5824025" cy="5638716"/>
          </a:xfrm>
          <a:prstGeom prst="rect">
            <a:avLst/>
          </a:prstGeom>
        </p:spPr>
      </p:pic>
    </p:spTree>
    <p:extLst>
      <p:ext uri="{BB962C8B-B14F-4D97-AF65-F5344CB8AC3E}">
        <p14:creationId xmlns:p14="http://schemas.microsoft.com/office/powerpoint/2010/main" val="5098224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373614-8F47-70C9-391A-BF2CB7939A04}"/>
              </a:ext>
            </a:extLst>
          </p:cNvPr>
          <p:cNvSpPr>
            <a:spLocks noGrp="1"/>
          </p:cNvSpPr>
          <p:nvPr>
            <p:ph type="title"/>
          </p:nvPr>
        </p:nvSpPr>
        <p:spPr/>
        <p:txBody>
          <a:bodyPr/>
          <a:lstStyle/>
          <a:p>
            <a:r>
              <a:rPr lang="pt-BR" dirty="0"/>
              <a:t>REMOÇÃO DE TATUAGEM </a:t>
            </a:r>
          </a:p>
        </p:txBody>
      </p:sp>
      <p:sp>
        <p:nvSpPr>
          <p:cNvPr id="3" name="Espaço Reservado para Conteúdo 2">
            <a:extLst>
              <a:ext uri="{FF2B5EF4-FFF2-40B4-BE49-F238E27FC236}">
                <a16:creationId xmlns:a16="http://schemas.microsoft.com/office/drawing/2014/main" id="{8954F722-4A97-60D3-FF53-F51028E7107D}"/>
              </a:ext>
            </a:extLst>
          </p:cNvPr>
          <p:cNvSpPr>
            <a:spLocks noGrp="1"/>
          </p:cNvSpPr>
          <p:nvPr>
            <p:ph idx="1"/>
          </p:nvPr>
        </p:nvSpPr>
        <p:spPr>
          <a:xfrm>
            <a:off x="838200" y="1924099"/>
            <a:ext cx="10515600" cy="4351338"/>
          </a:xfrm>
        </p:spPr>
        <p:txBody>
          <a:bodyPr>
            <a:normAutofit/>
          </a:bodyPr>
          <a:lstStyle/>
          <a:p>
            <a:pPr algn="ctr"/>
            <a:endParaRPr lang="pt-BR" sz="6000" dirty="0"/>
          </a:p>
          <a:p>
            <a:pPr algn="ctr"/>
            <a:r>
              <a:rPr lang="pt-BR" sz="6000" dirty="0"/>
              <a:t>Laser Q-</a:t>
            </a:r>
            <a:r>
              <a:rPr lang="pt-BR" sz="6000" dirty="0" err="1"/>
              <a:t>switched</a:t>
            </a:r>
            <a:endParaRPr lang="pt-BR" sz="6000" dirty="0"/>
          </a:p>
        </p:txBody>
      </p:sp>
    </p:spTree>
    <p:extLst>
      <p:ext uri="{BB962C8B-B14F-4D97-AF65-F5344CB8AC3E}">
        <p14:creationId xmlns:p14="http://schemas.microsoft.com/office/powerpoint/2010/main" val="40893239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9796E9-40D2-558D-153F-070ECD422C98}"/>
              </a:ext>
            </a:extLst>
          </p:cNvPr>
          <p:cNvSpPr>
            <a:spLocks noGrp="1"/>
          </p:cNvSpPr>
          <p:nvPr>
            <p:ph type="title"/>
          </p:nvPr>
        </p:nvSpPr>
        <p:spPr/>
        <p:txBody>
          <a:bodyPr/>
          <a:lstStyle/>
          <a:p>
            <a:r>
              <a:rPr lang="pt-BR" dirty="0"/>
              <a:t>REMOÇÃO DE TATUAGEM</a:t>
            </a:r>
          </a:p>
        </p:txBody>
      </p:sp>
      <p:sp>
        <p:nvSpPr>
          <p:cNvPr id="3" name="Espaço Reservado para Conteúdo 2">
            <a:extLst>
              <a:ext uri="{FF2B5EF4-FFF2-40B4-BE49-F238E27FC236}">
                <a16:creationId xmlns:a16="http://schemas.microsoft.com/office/drawing/2014/main" id="{81D332F2-8E9B-FFFE-98A5-96F45A0DDC46}"/>
              </a:ext>
            </a:extLst>
          </p:cNvPr>
          <p:cNvSpPr>
            <a:spLocks noGrp="1"/>
          </p:cNvSpPr>
          <p:nvPr>
            <p:ph idx="1"/>
          </p:nvPr>
        </p:nvSpPr>
        <p:spPr/>
        <p:txBody>
          <a:bodyPr>
            <a:normAutofit fontScale="92500" lnSpcReduction="10000"/>
          </a:bodyPr>
          <a:lstStyle/>
          <a:p>
            <a:pPr algn="just"/>
            <a:r>
              <a:rPr lang="pt-BR" dirty="0"/>
              <a:t>Em 1980, criou-se o processo de fototermólise seletiva; assim, seria possível remover os pigmentos com o mínimo de lesão dos tecidos adjacentes. O laser Q-</a:t>
            </a:r>
            <a:r>
              <a:rPr lang="pt-BR" dirty="0" err="1"/>
              <a:t>switched</a:t>
            </a:r>
            <a:r>
              <a:rPr lang="pt-BR" dirty="0"/>
              <a:t> possui fototermólise seletiva. Cada cromóforo da pele (melanina, água, oxiemoglobina e pigmentos exógenos) tem preferência por diferentes comprimentos de ondas para absorção. A energia absorvida pelo cromóforo é convertida em calor. Quanto menor o alvo, mais rápido é o aquecimento; então, estruturas muito pequenas requerem aquecimento rápido e a duração de pulso deve ser bem menor, em nanosegundos (</a:t>
            </a:r>
            <a:r>
              <a:rPr lang="pt-BR" dirty="0" err="1"/>
              <a:t>ns</a:t>
            </a:r>
            <a:r>
              <a:rPr lang="pt-BR" dirty="0"/>
              <a:t>), e com a evolução da tecnologia já se tem maquinas a picossegundos(</a:t>
            </a:r>
            <a:r>
              <a:rPr lang="pt-BR" dirty="0" err="1"/>
              <a:t>ps</a:t>
            </a:r>
            <a:r>
              <a:rPr lang="pt-BR" dirty="0"/>
              <a:t>). O tempo de relaxamento da temperatura é o tempo necessário para que o alvo perca 50% do calor obtido, ou seja, o tempo de exposição ao laser é menos da metade do tempo de relaxamento térmico, garantindo, assim, que o dano ficará somente no cromóforo</a:t>
            </a:r>
          </a:p>
        </p:txBody>
      </p:sp>
    </p:spTree>
    <p:extLst>
      <p:ext uri="{BB962C8B-B14F-4D97-AF65-F5344CB8AC3E}">
        <p14:creationId xmlns:p14="http://schemas.microsoft.com/office/powerpoint/2010/main" val="290292229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8966B7-F4A4-96E6-8BCC-27BC03014226}"/>
              </a:ext>
            </a:extLst>
          </p:cNvPr>
          <p:cNvSpPr>
            <a:spLocks noGrp="1"/>
          </p:cNvSpPr>
          <p:nvPr>
            <p:ph type="title"/>
          </p:nvPr>
        </p:nvSpPr>
        <p:spPr/>
        <p:txBody>
          <a:bodyPr/>
          <a:lstStyle/>
          <a:p>
            <a:r>
              <a:rPr lang="pt-BR" dirty="0"/>
              <a:t>REMOÇÃO TATUAGEM</a:t>
            </a:r>
          </a:p>
        </p:txBody>
      </p:sp>
      <p:sp>
        <p:nvSpPr>
          <p:cNvPr id="3" name="Espaço Reservado para Conteúdo 2">
            <a:extLst>
              <a:ext uri="{FF2B5EF4-FFF2-40B4-BE49-F238E27FC236}">
                <a16:creationId xmlns:a16="http://schemas.microsoft.com/office/drawing/2014/main" id="{E5F4178C-09E2-75BE-9264-939F5BDD5CBE}"/>
              </a:ext>
            </a:extLst>
          </p:cNvPr>
          <p:cNvSpPr>
            <a:spLocks noGrp="1"/>
          </p:cNvSpPr>
          <p:nvPr>
            <p:ph idx="1"/>
          </p:nvPr>
        </p:nvSpPr>
        <p:spPr/>
        <p:txBody>
          <a:bodyPr/>
          <a:lstStyle/>
          <a:p>
            <a:pPr algn="just"/>
            <a:r>
              <a:rPr lang="pt-BR" dirty="0"/>
              <a:t>O mecanismo de remoção se dá a partir da liberação de pulsos de alta potência do raio laser, que tem duração extremamente curta (</a:t>
            </a:r>
            <a:r>
              <a:rPr lang="pt-BR" dirty="0" err="1"/>
              <a:t>ns</a:t>
            </a:r>
            <a:r>
              <a:rPr lang="pt-BR" dirty="0"/>
              <a:t>); então, ocorre fragmentação da tinta e as altas temperaturas formam ondas acústicas, e através da propagação dessas ondas ocorre destruição das estruturas adjacentes (cromóforo). O pigmento fica na derme, dentro dos fibroblastos e macrófagos. Depois da exposição ao laser, a produção de CO2 e vapor d'água na derme causa o branqueamento da pele, o que explica a remoção da tinta em partes, sendo que outra parte do pigmento será fagocitada (CHACUR, 2014).</a:t>
            </a:r>
            <a:r>
              <a:rPr lang="pt-BR" baseline="30000" dirty="0"/>
              <a:t>     </a:t>
            </a:r>
            <a:endParaRPr lang="pt-BR" dirty="0"/>
          </a:p>
        </p:txBody>
      </p:sp>
    </p:spTree>
    <p:extLst>
      <p:ext uri="{BB962C8B-B14F-4D97-AF65-F5344CB8AC3E}">
        <p14:creationId xmlns:p14="http://schemas.microsoft.com/office/powerpoint/2010/main" val="635116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FCA96F-4E63-F1CC-8C81-DC01BF03F83A}"/>
              </a:ext>
            </a:extLst>
          </p:cNvPr>
          <p:cNvSpPr>
            <a:spLocks noGrp="1"/>
          </p:cNvSpPr>
          <p:nvPr>
            <p:ph type="title"/>
          </p:nvPr>
        </p:nvSpPr>
        <p:spPr/>
        <p:txBody>
          <a:bodyPr/>
          <a:lstStyle/>
          <a:p>
            <a:r>
              <a:rPr lang="pt-BR" dirty="0"/>
              <a:t>REMOÇÃO DE TATUAGEM</a:t>
            </a:r>
          </a:p>
        </p:txBody>
      </p:sp>
      <p:sp>
        <p:nvSpPr>
          <p:cNvPr id="3" name="Espaço Reservado para Conteúdo 2">
            <a:extLst>
              <a:ext uri="{FF2B5EF4-FFF2-40B4-BE49-F238E27FC236}">
                <a16:creationId xmlns:a16="http://schemas.microsoft.com/office/drawing/2014/main" id="{7A9EDB35-95AA-91C1-C477-1016855954C0}"/>
              </a:ext>
            </a:extLst>
          </p:cNvPr>
          <p:cNvSpPr>
            <a:spLocks noGrp="1"/>
          </p:cNvSpPr>
          <p:nvPr>
            <p:ph idx="1"/>
          </p:nvPr>
        </p:nvSpPr>
        <p:spPr/>
        <p:txBody>
          <a:bodyPr/>
          <a:lstStyle/>
          <a:p>
            <a:endParaRPr lang="pt-BR" b="1" dirty="0"/>
          </a:p>
          <a:p>
            <a:endParaRPr lang="pt-BR" b="1" dirty="0"/>
          </a:p>
          <a:p>
            <a:r>
              <a:rPr lang="pt-BR" sz="4400" b="1" dirty="0"/>
              <a:t>Quem nunca pensou nesta ideia?</a:t>
            </a:r>
          </a:p>
          <a:p>
            <a:r>
              <a:rPr lang="pt-BR" sz="4400" b="1" dirty="0"/>
              <a:t>Se o alvo e a cor escura, então...</a:t>
            </a:r>
          </a:p>
          <a:p>
            <a:r>
              <a:rPr lang="pt-BR" sz="4400" b="1" dirty="0"/>
              <a:t>Por que eu não posso usar o laser de depilação para remoção de tatuagem?</a:t>
            </a:r>
            <a:endParaRPr lang="pt-BR" sz="4400" dirty="0"/>
          </a:p>
          <a:p>
            <a:endParaRPr lang="pt-BR" dirty="0"/>
          </a:p>
        </p:txBody>
      </p:sp>
    </p:spTree>
    <p:extLst>
      <p:ext uri="{BB962C8B-B14F-4D97-AF65-F5344CB8AC3E}">
        <p14:creationId xmlns:p14="http://schemas.microsoft.com/office/powerpoint/2010/main" val="30934489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373EF6-60D7-173C-BC20-2BADCEDC178C}"/>
              </a:ext>
            </a:extLst>
          </p:cNvPr>
          <p:cNvSpPr>
            <a:spLocks noGrp="1"/>
          </p:cNvSpPr>
          <p:nvPr>
            <p:ph type="title"/>
          </p:nvPr>
        </p:nvSpPr>
        <p:spPr/>
        <p:txBody>
          <a:bodyPr/>
          <a:lstStyle/>
          <a:p>
            <a:r>
              <a:rPr lang="pt-BR" dirty="0"/>
              <a:t>REMOÇÃO DE TATUAGEM </a:t>
            </a:r>
          </a:p>
        </p:txBody>
      </p:sp>
      <p:sp>
        <p:nvSpPr>
          <p:cNvPr id="3" name="Espaço Reservado para Conteúdo 2">
            <a:extLst>
              <a:ext uri="{FF2B5EF4-FFF2-40B4-BE49-F238E27FC236}">
                <a16:creationId xmlns:a16="http://schemas.microsoft.com/office/drawing/2014/main" id="{DA6EF6FD-F6B0-6AC5-3427-54E6A6B3AA70}"/>
              </a:ext>
            </a:extLst>
          </p:cNvPr>
          <p:cNvSpPr>
            <a:spLocks noGrp="1"/>
          </p:cNvSpPr>
          <p:nvPr>
            <p:ph idx="1"/>
          </p:nvPr>
        </p:nvSpPr>
        <p:spPr/>
        <p:txBody>
          <a:bodyPr/>
          <a:lstStyle/>
          <a:p>
            <a:pPr algn="just"/>
            <a:r>
              <a:rPr lang="pt-BR" dirty="0"/>
              <a:t>Porque o alvo é a melanina do pelo, o pelo não é composto de uma melanina pura, contem mistura de tonalidades, derivado da </a:t>
            </a:r>
            <a:r>
              <a:rPr lang="pt-BR" dirty="0" err="1"/>
              <a:t>eumelanina</a:t>
            </a:r>
            <a:r>
              <a:rPr lang="pt-BR" dirty="0"/>
              <a:t> e </a:t>
            </a:r>
            <a:r>
              <a:rPr lang="pt-BR" dirty="0" err="1"/>
              <a:t>feomelanina</a:t>
            </a:r>
            <a:r>
              <a:rPr lang="pt-BR" dirty="0"/>
              <a:t>, no caso da depilação o objetivo seria destruir o folículo piloso. Sendo que ela trabalha com uma velocidade de milissegundos, um tempo bem mais longo com emissão de energia mais prolongada, promovendo um efeito foto térmico com maior aquecimento. </a:t>
            </a:r>
          </a:p>
          <a:p>
            <a:pPr algn="just"/>
            <a:r>
              <a:rPr lang="pt-BR" dirty="0"/>
              <a:t>Na remoção de tatuagem o alvo é o pigmento de tinta que precisa ser quebrado em partículas muito menores.</a:t>
            </a:r>
          </a:p>
          <a:p>
            <a:endParaRPr lang="pt-BR" dirty="0"/>
          </a:p>
        </p:txBody>
      </p:sp>
    </p:spTree>
    <p:extLst>
      <p:ext uri="{BB962C8B-B14F-4D97-AF65-F5344CB8AC3E}">
        <p14:creationId xmlns:p14="http://schemas.microsoft.com/office/powerpoint/2010/main" val="29287124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40D497-26D4-555C-6C54-26D84AC6E715}"/>
              </a:ext>
            </a:extLst>
          </p:cNvPr>
          <p:cNvSpPr>
            <a:spLocks noGrp="1"/>
          </p:cNvSpPr>
          <p:nvPr>
            <p:ph type="title"/>
          </p:nvPr>
        </p:nvSpPr>
        <p:spPr/>
        <p:txBody>
          <a:bodyPr/>
          <a:lstStyle/>
          <a:p>
            <a:r>
              <a:rPr lang="pt-BR" dirty="0"/>
              <a:t>REMOÇÃO DE TATUAGEM</a:t>
            </a:r>
          </a:p>
        </p:txBody>
      </p:sp>
      <p:sp>
        <p:nvSpPr>
          <p:cNvPr id="3" name="Espaço Reservado para Conteúdo 2">
            <a:extLst>
              <a:ext uri="{FF2B5EF4-FFF2-40B4-BE49-F238E27FC236}">
                <a16:creationId xmlns:a16="http://schemas.microsoft.com/office/drawing/2014/main" id="{AF053869-A39B-A425-4857-809957D7F466}"/>
              </a:ext>
            </a:extLst>
          </p:cNvPr>
          <p:cNvSpPr>
            <a:spLocks noGrp="1"/>
          </p:cNvSpPr>
          <p:nvPr>
            <p:ph idx="1"/>
          </p:nvPr>
        </p:nvSpPr>
        <p:spPr/>
        <p:txBody>
          <a:bodyPr/>
          <a:lstStyle/>
          <a:p>
            <a:pPr marL="0" indent="0">
              <a:buNone/>
            </a:pPr>
            <a:r>
              <a:rPr lang="pt-BR" b="1" dirty="0"/>
              <a:t>Laser de Depilação:</a:t>
            </a:r>
          </a:p>
          <a:p>
            <a:pPr lvl="0"/>
            <a:r>
              <a:rPr lang="pt-BR" dirty="0"/>
              <a:t>Laser contínuo ou de pulso longo </a:t>
            </a:r>
          </a:p>
          <a:p>
            <a:pPr lvl="0"/>
            <a:r>
              <a:rPr lang="pt-BR" dirty="0"/>
              <a:t>Aquece gradualmente o tecido </a:t>
            </a:r>
          </a:p>
          <a:p>
            <a:pPr lvl="0"/>
            <a:r>
              <a:rPr lang="pt-BR" dirty="0"/>
              <a:t>depilação não fragmenta o pigmento, só aquece</a:t>
            </a:r>
          </a:p>
          <a:p>
            <a:pPr marL="0" lvl="0" indent="0">
              <a:buNone/>
            </a:pPr>
            <a:endParaRPr lang="pt-BR" dirty="0"/>
          </a:p>
          <a:p>
            <a:pPr marL="0" indent="0">
              <a:buNone/>
            </a:pPr>
            <a:r>
              <a:rPr lang="pt-BR" b="1" dirty="0"/>
              <a:t>Laser de Remoção de tatuagem:</a:t>
            </a:r>
          </a:p>
          <a:p>
            <a:pPr lvl="0"/>
            <a:r>
              <a:rPr lang="pt-BR" dirty="0"/>
              <a:t>Laser de pulso ultrarrápido (como Q-</a:t>
            </a:r>
            <a:r>
              <a:rPr lang="pt-BR" dirty="0" err="1"/>
              <a:t>switched</a:t>
            </a:r>
            <a:r>
              <a:rPr lang="pt-BR" dirty="0"/>
              <a:t> ou pico laser) </a:t>
            </a:r>
          </a:p>
          <a:p>
            <a:pPr lvl="0"/>
            <a:r>
              <a:rPr lang="pt-BR" dirty="0"/>
              <a:t>Fragmenta o pigmento sem causar tanto dano térmico ao redor </a:t>
            </a:r>
          </a:p>
          <a:p>
            <a:pPr marL="0" indent="0">
              <a:buNone/>
            </a:pPr>
            <a:endParaRPr lang="pt-BR" dirty="0"/>
          </a:p>
        </p:txBody>
      </p:sp>
    </p:spTree>
    <p:extLst>
      <p:ext uri="{BB962C8B-B14F-4D97-AF65-F5344CB8AC3E}">
        <p14:creationId xmlns:p14="http://schemas.microsoft.com/office/powerpoint/2010/main" val="272297943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4D02F4-2E15-E5FE-6578-3F552DAF4060}"/>
              </a:ext>
            </a:extLst>
          </p:cNvPr>
          <p:cNvSpPr>
            <a:spLocks noGrp="1"/>
          </p:cNvSpPr>
          <p:nvPr>
            <p:ph type="title"/>
          </p:nvPr>
        </p:nvSpPr>
        <p:spPr/>
        <p:txBody>
          <a:bodyPr/>
          <a:lstStyle/>
          <a:p>
            <a:r>
              <a:rPr lang="pt-BR" dirty="0"/>
              <a:t>REMOÇÃO DE TATUAGEM</a:t>
            </a:r>
          </a:p>
        </p:txBody>
      </p:sp>
      <p:sp>
        <p:nvSpPr>
          <p:cNvPr id="3" name="Espaço Reservado para Conteúdo 2">
            <a:extLst>
              <a:ext uri="{FF2B5EF4-FFF2-40B4-BE49-F238E27FC236}">
                <a16:creationId xmlns:a16="http://schemas.microsoft.com/office/drawing/2014/main" id="{F090CE64-058B-C5DC-5C96-41C769889E11}"/>
              </a:ext>
            </a:extLst>
          </p:cNvPr>
          <p:cNvSpPr>
            <a:spLocks noGrp="1"/>
          </p:cNvSpPr>
          <p:nvPr>
            <p:ph idx="1"/>
          </p:nvPr>
        </p:nvSpPr>
        <p:spPr/>
        <p:txBody>
          <a:bodyPr>
            <a:normAutofit fontScale="92500" lnSpcReduction="10000"/>
          </a:bodyPr>
          <a:lstStyle/>
          <a:p>
            <a:pPr marL="0" indent="0" algn="just">
              <a:buNone/>
            </a:pPr>
            <a:r>
              <a:rPr lang="pt-BR" b="1" dirty="0"/>
              <a:t>O uso do laser de depilação em tatuagem pode causar danos que podem ser irreversíveis como:</a:t>
            </a:r>
          </a:p>
          <a:p>
            <a:pPr lvl="0" algn="just"/>
            <a:r>
              <a:rPr lang="pt-BR" dirty="0"/>
              <a:t>Queimadura, bolhas e cicatriz </a:t>
            </a:r>
          </a:p>
          <a:p>
            <a:pPr lvl="0" algn="just"/>
            <a:r>
              <a:rPr lang="pt-BR" dirty="0"/>
              <a:t>Hiperpigmentação ou hipopigmentação </a:t>
            </a:r>
          </a:p>
          <a:p>
            <a:pPr lvl="0" algn="just"/>
            <a:r>
              <a:rPr lang="pt-BR" dirty="0"/>
              <a:t>A tinta da tatuagem absorve MUITA energia, se o disparo for prolongado o risco de queimadura se torna MUITO grande. VAI GERAR CALOR EXCESSIVO.</a:t>
            </a:r>
          </a:p>
          <a:p>
            <a:pPr lvl="0" algn="just"/>
            <a:r>
              <a:rPr lang="pt-BR" dirty="0"/>
              <a:t>Ao usar o laser de depilação o pigmento não é quebrado corretamente, escurece a tatuagem, sendo um resultado ineficaz e perigoso. </a:t>
            </a:r>
          </a:p>
          <a:p>
            <a:pPr lvl="0" algn="just"/>
            <a:r>
              <a:rPr lang="pt-BR" dirty="0"/>
              <a:t>Usar o equipamento errado pode causar lesão na pele sem resultado esperado.</a:t>
            </a:r>
          </a:p>
          <a:p>
            <a:endParaRPr lang="pt-BR" dirty="0"/>
          </a:p>
        </p:txBody>
      </p:sp>
    </p:spTree>
    <p:extLst>
      <p:ext uri="{BB962C8B-B14F-4D97-AF65-F5344CB8AC3E}">
        <p14:creationId xmlns:p14="http://schemas.microsoft.com/office/powerpoint/2010/main" val="340252939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AE5FE0-CF61-907E-05AE-A03CB2AA9B3B}"/>
              </a:ext>
            </a:extLst>
          </p:cNvPr>
          <p:cNvSpPr>
            <a:spLocks noGrp="1"/>
          </p:cNvSpPr>
          <p:nvPr>
            <p:ph type="title"/>
          </p:nvPr>
        </p:nvSpPr>
        <p:spPr/>
        <p:txBody>
          <a:bodyPr/>
          <a:lstStyle/>
          <a:p>
            <a:r>
              <a:rPr lang="pt-BR" dirty="0"/>
              <a:t>REMOÇÃO DE TATUAGEM </a:t>
            </a:r>
          </a:p>
        </p:txBody>
      </p:sp>
      <p:sp>
        <p:nvSpPr>
          <p:cNvPr id="3" name="Espaço Reservado para Conteúdo 2">
            <a:extLst>
              <a:ext uri="{FF2B5EF4-FFF2-40B4-BE49-F238E27FC236}">
                <a16:creationId xmlns:a16="http://schemas.microsoft.com/office/drawing/2014/main" id="{B94D0A65-133B-CD0A-7DF8-29338F581EA0}"/>
              </a:ext>
            </a:extLst>
          </p:cNvPr>
          <p:cNvSpPr>
            <a:spLocks noGrp="1"/>
          </p:cNvSpPr>
          <p:nvPr>
            <p:ph idx="1"/>
          </p:nvPr>
        </p:nvSpPr>
        <p:spPr/>
        <p:txBody>
          <a:bodyPr>
            <a:normAutofit fontScale="92500" lnSpcReduction="20000"/>
          </a:bodyPr>
          <a:lstStyle/>
          <a:p>
            <a:pPr lvl="0" algn="just"/>
            <a:r>
              <a:rPr lang="pt-BR" dirty="0"/>
              <a:t>Para remoção de tatuagem sempre usar equipamentos específicos como o Q-</a:t>
            </a:r>
            <a:r>
              <a:rPr lang="pt-BR" dirty="0" err="1"/>
              <a:t>switched</a:t>
            </a:r>
            <a:r>
              <a:rPr lang="pt-BR" dirty="0"/>
              <a:t> ou o Pico laser que trabalha em picossegundos ou nanossegundos. </a:t>
            </a:r>
          </a:p>
          <a:p>
            <a:pPr lvl="0" algn="just"/>
            <a:r>
              <a:rPr lang="pt-BR" dirty="0"/>
              <a:t>É um equipamento que emite energia muito rápida e intensa, “explode” o pigmento sem aquecer tanto a pele. </a:t>
            </a:r>
          </a:p>
          <a:p>
            <a:pPr lvl="0" algn="just"/>
            <a:r>
              <a:rPr lang="pt-BR" dirty="0"/>
              <a:t>Promove um efeito fotoacústico, ele quebra o pigmento em partículas minúsculas, uma parte é dissipado pelo próprio aparelho e o restante é fagocitado pelo próprio organismo, por isso se torna dependente de mais de 4 sessões. A recomendação em alguns casos seria de 10 sessões dependendo da cobertura, local que se encontra na pele (derme superficial, derme profunda, epiderme).</a:t>
            </a:r>
          </a:p>
          <a:p>
            <a:pPr lvl="0" algn="just"/>
            <a:r>
              <a:rPr lang="pt-BR" dirty="0"/>
              <a:t>Quanto maior o tempo, mais calor é gerado.</a:t>
            </a:r>
          </a:p>
          <a:p>
            <a:pPr lvl="0" algn="just"/>
            <a:r>
              <a:rPr lang="pt-BR" dirty="0"/>
              <a:t>Quanto menor o tempo, mais “impacto” mecânico (quebra)</a:t>
            </a:r>
          </a:p>
          <a:p>
            <a:endParaRPr lang="pt-BR" dirty="0"/>
          </a:p>
        </p:txBody>
      </p:sp>
    </p:spTree>
    <p:extLst>
      <p:ext uri="{BB962C8B-B14F-4D97-AF65-F5344CB8AC3E}">
        <p14:creationId xmlns:p14="http://schemas.microsoft.com/office/powerpoint/2010/main" val="61336143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A68831-6B79-3A4B-BB53-235F144380BD}"/>
              </a:ext>
            </a:extLst>
          </p:cNvPr>
          <p:cNvSpPr>
            <a:spLocks noGrp="1"/>
          </p:cNvSpPr>
          <p:nvPr>
            <p:ph type="title"/>
          </p:nvPr>
        </p:nvSpPr>
        <p:spPr/>
        <p:txBody>
          <a:bodyPr/>
          <a:lstStyle/>
          <a:p>
            <a:r>
              <a:rPr lang="pt-BR" dirty="0"/>
              <a:t>REMOÇÃO DE TATUAGEM </a:t>
            </a:r>
          </a:p>
        </p:txBody>
      </p:sp>
      <p:sp>
        <p:nvSpPr>
          <p:cNvPr id="3" name="Espaço Reservado para Conteúdo 2">
            <a:extLst>
              <a:ext uri="{FF2B5EF4-FFF2-40B4-BE49-F238E27FC236}">
                <a16:creationId xmlns:a16="http://schemas.microsoft.com/office/drawing/2014/main" id="{BB9BEE6D-D4B3-FA4D-F742-556FEAA58044}"/>
              </a:ext>
            </a:extLst>
          </p:cNvPr>
          <p:cNvSpPr>
            <a:spLocks noGrp="1"/>
          </p:cNvSpPr>
          <p:nvPr>
            <p:ph idx="1"/>
          </p:nvPr>
        </p:nvSpPr>
        <p:spPr/>
        <p:txBody>
          <a:bodyPr/>
          <a:lstStyle/>
          <a:p>
            <a:pPr lvl="0"/>
            <a:endParaRPr lang="pt-BR" dirty="0"/>
          </a:p>
          <a:p>
            <a:pPr lvl="0"/>
            <a:endParaRPr lang="pt-BR" dirty="0"/>
          </a:p>
          <a:p>
            <a:pPr lvl="0"/>
            <a:r>
              <a:rPr lang="pt-BR" dirty="0"/>
              <a:t>Picossegundos (10⁻¹² s) → tatuagem </a:t>
            </a:r>
          </a:p>
          <a:p>
            <a:pPr lvl="0"/>
            <a:r>
              <a:rPr lang="pt-BR" dirty="0"/>
              <a:t>Nanossegundos (10⁻⁹ s) → tatuagem </a:t>
            </a:r>
          </a:p>
          <a:p>
            <a:pPr lvl="0"/>
            <a:r>
              <a:rPr lang="pt-BR" dirty="0"/>
              <a:t>Milissegundos (10⁻³ s) → depilação </a:t>
            </a:r>
          </a:p>
          <a:p>
            <a:endParaRPr lang="pt-BR" dirty="0"/>
          </a:p>
        </p:txBody>
      </p:sp>
    </p:spTree>
    <p:extLst>
      <p:ext uri="{BB962C8B-B14F-4D97-AF65-F5344CB8AC3E}">
        <p14:creationId xmlns:p14="http://schemas.microsoft.com/office/powerpoint/2010/main" val="209363361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F15D3-7F3C-B419-25A5-45060681855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66BA4F1-4D7E-386F-83F7-4C38075BDBCF}"/>
              </a:ext>
            </a:extLst>
          </p:cNvPr>
          <p:cNvSpPr>
            <a:spLocks noGrp="1"/>
          </p:cNvSpPr>
          <p:nvPr>
            <p:ph type="title"/>
          </p:nvPr>
        </p:nvSpPr>
        <p:spPr/>
        <p:txBody>
          <a:bodyPr/>
          <a:lstStyle/>
          <a:p>
            <a:r>
              <a:rPr lang="pt-BR" dirty="0"/>
              <a:t>REMOÇÃO DE TATUAGEM </a:t>
            </a:r>
          </a:p>
        </p:txBody>
      </p:sp>
      <p:sp>
        <p:nvSpPr>
          <p:cNvPr id="3" name="Espaço Reservado para Conteúdo 2">
            <a:extLst>
              <a:ext uri="{FF2B5EF4-FFF2-40B4-BE49-F238E27FC236}">
                <a16:creationId xmlns:a16="http://schemas.microsoft.com/office/drawing/2014/main" id="{B5FE8C9F-4C6B-C67D-8609-1B251235C0C1}"/>
              </a:ext>
            </a:extLst>
          </p:cNvPr>
          <p:cNvSpPr>
            <a:spLocks noGrp="1"/>
          </p:cNvSpPr>
          <p:nvPr>
            <p:ph idx="1"/>
          </p:nvPr>
        </p:nvSpPr>
        <p:spPr/>
        <p:txBody>
          <a:bodyPr/>
          <a:lstStyle/>
          <a:p>
            <a:r>
              <a:rPr lang="pt-BR" dirty="0" err="1"/>
              <a:t>Omer</a:t>
            </a:r>
            <a:r>
              <a:rPr lang="pt-BR" dirty="0"/>
              <a:t> </a:t>
            </a:r>
          </a:p>
          <a:p>
            <a:r>
              <a:rPr lang="pt-BR" dirty="0"/>
              <a:t>1064nm</a:t>
            </a:r>
          </a:p>
          <a:p>
            <a:r>
              <a:rPr lang="pt-BR" dirty="0"/>
              <a:t>Remoção de tatuagem/micropigmentação: Para pigmentos escuros, despigmentação de manchas e </a:t>
            </a:r>
            <a:r>
              <a:rPr lang="pt-BR" dirty="0" err="1"/>
              <a:t>resurfacing</a:t>
            </a:r>
            <a:r>
              <a:rPr lang="pt-BR" dirty="0"/>
              <a:t>. </a:t>
            </a:r>
          </a:p>
          <a:p>
            <a:r>
              <a:rPr lang="pt-BR" dirty="0"/>
              <a:t>532nm </a:t>
            </a:r>
          </a:p>
          <a:p>
            <a:r>
              <a:rPr lang="pt-BR" dirty="0"/>
              <a:t>Remoção de tatuagem/micropigmentação: Indicado para pigmentos coloridos. </a:t>
            </a:r>
          </a:p>
          <a:p>
            <a:r>
              <a:rPr lang="pt-BR" dirty="0"/>
              <a:t>O disparo em picossegundos (400 </a:t>
            </a:r>
            <a:r>
              <a:rPr lang="pt-BR" dirty="0" err="1"/>
              <a:t>ps</a:t>
            </a:r>
            <a:r>
              <a:rPr lang="pt-BR" dirty="0"/>
              <a:t>) fragmenta a tinta em partículas minúsculas, facilitando a absorção pelo organismo.</a:t>
            </a:r>
          </a:p>
          <a:p>
            <a:endParaRPr lang="pt-BR" dirty="0"/>
          </a:p>
        </p:txBody>
      </p:sp>
    </p:spTree>
    <p:extLst>
      <p:ext uri="{BB962C8B-B14F-4D97-AF65-F5344CB8AC3E}">
        <p14:creationId xmlns:p14="http://schemas.microsoft.com/office/powerpoint/2010/main" val="128276675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50492F-64AC-8E6F-E1F1-825C2B3A09B0}"/>
              </a:ext>
            </a:extLst>
          </p:cNvPr>
          <p:cNvSpPr>
            <a:spLocks noGrp="1"/>
          </p:cNvSpPr>
          <p:nvPr>
            <p:ph type="title"/>
          </p:nvPr>
        </p:nvSpPr>
        <p:spPr/>
        <p:txBody>
          <a:bodyPr/>
          <a:lstStyle/>
          <a:p>
            <a:r>
              <a:rPr lang="pt-BR" dirty="0"/>
              <a:t>REMOÇÃO DE TATUAGEM</a:t>
            </a:r>
          </a:p>
        </p:txBody>
      </p:sp>
      <p:sp>
        <p:nvSpPr>
          <p:cNvPr id="3" name="Espaço Reservado para Conteúdo 2">
            <a:extLst>
              <a:ext uri="{FF2B5EF4-FFF2-40B4-BE49-F238E27FC236}">
                <a16:creationId xmlns:a16="http://schemas.microsoft.com/office/drawing/2014/main" id="{8542BBAA-689E-9C70-EB38-1BDF11392713}"/>
              </a:ext>
            </a:extLst>
          </p:cNvPr>
          <p:cNvSpPr>
            <a:spLocks noGrp="1"/>
          </p:cNvSpPr>
          <p:nvPr>
            <p:ph idx="1"/>
          </p:nvPr>
        </p:nvSpPr>
        <p:spPr/>
        <p:txBody>
          <a:bodyPr>
            <a:normAutofit/>
          </a:bodyPr>
          <a:lstStyle/>
          <a:p>
            <a:r>
              <a:rPr lang="pt-BR" dirty="0"/>
              <a:t>Q-</a:t>
            </a:r>
            <a:r>
              <a:rPr lang="pt-BR" dirty="0" err="1"/>
              <a:t>Switcher</a:t>
            </a:r>
            <a:r>
              <a:rPr lang="pt-BR" dirty="0"/>
              <a:t> </a:t>
            </a:r>
            <a:r>
              <a:rPr lang="pt-BR" dirty="0" err="1"/>
              <a:t>Nd</a:t>
            </a:r>
            <a:r>
              <a:rPr lang="pt-BR" dirty="0"/>
              <a:t>: YAG: Tecnologia padrão-ouro. Inclui modelos eficazes como o </a:t>
            </a:r>
            <a:r>
              <a:rPr lang="pt-BR" dirty="0" err="1"/>
              <a:t>Neo</a:t>
            </a:r>
            <a:r>
              <a:rPr lang="pt-BR" dirty="0"/>
              <a:t> Lite, com comprimentos de onda de 1064nm (preto) e 532nm (vermelho/laranja).</a:t>
            </a:r>
          </a:p>
          <a:p>
            <a:r>
              <a:rPr lang="pt-BR" b="1" dirty="0"/>
              <a:t>Tinta preta/escura:</a:t>
            </a:r>
            <a:r>
              <a:rPr lang="pt-BR" dirty="0"/>
              <a:t> Laser </a:t>
            </a:r>
            <a:r>
              <a:rPr lang="pt-BR" dirty="0" err="1"/>
              <a:t>Nd:YAG</a:t>
            </a:r>
            <a:r>
              <a:rPr lang="pt-BR" dirty="0"/>
              <a:t> 1064nm.</a:t>
            </a:r>
          </a:p>
          <a:p>
            <a:r>
              <a:rPr lang="pt-BR" b="1" dirty="0"/>
              <a:t>Tintas coloridas (vermelho, laranja):</a:t>
            </a:r>
            <a:r>
              <a:rPr lang="pt-BR" dirty="0"/>
              <a:t> Laser 532nm.</a:t>
            </a:r>
          </a:p>
          <a:p>
            <a:r>
              <a:rPr lang="pt-BR" b="1" dirty="0"/>
              <a:t>Tintas difíceis (verde, azul):</a:t>
            </a:r>
            <a:r>
              <a:rPr lang="pt-BR" dirty="0"/>
              <a:t> Lasers de picossegundos são mais indicados.</a:t>
            </a:r>
          </a:p>
          <a:p>
            <a:r>
              <a:rPr lang="pt-BR" dirty="0"/>
              <a:t>O processo é lento, com intervalos de 4 a 6 semanas entre sessões, podendo demorar meses ou até um ano para a remoção total.</a:t>
            </a:r>
          </a:p>
        </p:txBody>
      </p:sp>
    </p:spTree>
    <p:extLst>
      <p:ext uri="{BB962C8B-B14F-4D97-AF65-F5344CB8AC3E}">
        <p14:creationId xmlns:p14="http://schemas.microsoft.com/office/powerpoint/2010/main" val="49407773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17F5D0-0055-49E2-1C4D-69E3DB9CD765}"/>
              </a:ext>
            </a:extLst>
          </p:cNvPr>
          <p:cNvSpPr>
            <a:spLocks noGrp="1"/>
          </p:cNvSpPr>
          <p:nvPr>
            <p:ph type="title"/>
          </p:nvPr>
        </p:nvSpPr>
        <p:spPr/>
        <p:txBody>
          <a:bodyPr/>
          <a:lstStyle/>
          <a:p>
            <a:r>
              <a:rPr lang="pt-BR" dirty="0"/>
              <a:t>REMOÇÃO DE TATUAGEM </a:t>
            </a:r>
          </a:p>
        </p:txBody>
      </p:sp>
      <p:sp>
        <p:nvSpPr>
          <p:cNvPr id="3" name="Espaço Reservado para Conteúdo 2">
            <a:extLst>
              <a:ext uri="{FF2B5EF4-FFF2-40B4-BE49-F238E27FC236}">
                <a16:creationId xmlns:a16="http://schemas.microsoft.com/office/drawing/2014/main" id="{CCA7992F-E8FD-CF6B-9A97-31868FE7BBD3}"/>
              </a:ext>
            </a:extLst>
          </p:cNvPr>
          <p:cNvSpPr>
            <a:spLocks noGrp="1"/>
          </p:cNvSpPr>
          <p:nvPr>
            <p:ph idx="1"/>
          </p:nvPr>
        </p:nvSpPr>
        <p:spPr/>
        <p:txBody>
          <a:bodyPr/>
          <a:lstStyle/>
          <a:p>
            <a:r>
              <a:rPr lang="pt-BR" dirty="0" err="1"/>
              <a:t>Cromatic</a:t>
            </a:r>
            <a:endParaRPr lang="pt-BR" dirty="0"/>
          </a:p>
          <a:p>
            <a:r>
              <a:rPr lang="pt-BR" dirty="0"/>
              <a:t>O Laser </a:t>
            </a:r>
            <a:r>
              <a:rPr lang="pt-BR" dirty="0" err="1"/>
              <a:t>Neo</a:t>
            </a:r>
            <a:r>
              <a:rPr lang="pt-BR" dirty="0"/>
              <a:t> ONE da </a:t>
            </a:r>
            <a:r>
              <a:rPr lang="pt-BR" dirty="0" err="1"/>
              <a:t>Cromatic</a:t>
            </a:r>
            <a:r>
              <a:rPr lang="pt-BR" dirty="0"/>
              <a:t> é um equipamento Q-</a:t>
            </a:r>
            <a:r>
              <a:rPr lang="pt-BR" dirty="0" err="1"/>
              <a:t>Switched</a:t>
            </a:r>
            <a:r>
              <a:rPr lang="pt-BR" dirty="0"/>
              <a:t> de alta performance para remoção de tatuagem, micropigmentação e Black Peel. Com comprimentos de onda </a:t>
            </a:r>
            <a:r>
              <a:rPr lang="pt-BR" b="1" dirty="0"/>
              <a:t>532nm, 1064nm e 1320nm</a:t>
            </a:r>
            <a:r>
              <a:rPr lang="pt-BR" dirty="0"/>
              <a:t>, oferece resultados rápidos, alta precisão e segurança para diversos tipos de pigmentos e tonalidades de pele.</a:t>
            </a:r>
          </a:p>
          <a:p>
            <a:endParaRPr lang="pt-BR" dirty="0"/>
          </a:p>
          <a:p>
            <a:endParaRPr lang="pt-BR" dirty="0"/>
          </a:p>
        </p:txBody>
      </p:sp>
    </p:spTree>
    <p:extLst>
      <p:ext uri="{BB962C8B-B14F-4D97-AF65-F5344CB8AC3E}">
        <p14:creationId xmlns:p14="http://schemas.microsoft.com/office/powerpoint/2010/main" val="426656079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5F5DD-65D7-E5C9-F850-C428A09DE12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AF74E65-683E-3F56-A930-FEF48BC3B92D}"/>
              </a:ext>
            </a:extLst>
          </p:cNvPr>
          <p:cNvSpPr>
            <a:spLocks noGrp="1"/>
          </p:cNvSpPr>
          <p:nvPr>
            <p:ph type="title"/>
          </p:nvPr>
        </p:nvSpPr>
        <p:spPr/>
        <p:txBody>
          <a:bodyPr/>
          <a:lstStyle/>
          <a:p>
            <a:r>
              <a:rPr lang="pt-BR" dirty="0"/>
              <a:t>REMOÇÃO DE TATUAGEM </a:t>
            </a:r>
          </a:p>
        </p:txBody>
      </p:sp>
      <p:sp>
        <p:nvSpPr>
          <p:cNvPr id="3" name="Espaço Reservado para Conteúdo 2">
            <a:extLst>
              <a:ext uri="{FF2B5EF4-FFF2-40B4-BE49-F238E27FC236}">
                <a16:creationId xmlns:a16="http://schemas.microsoft.com/office/drawing/2014/main" id="{7F4B8CB0-182B-F07E-847B-17903C1DC3DF}"/>
              </a:ext>
            </a:extLst>
          </p:cNvPr>
          <p:cNvSpPr>
            <a:spLocks noGrp="1"/>
          </p:cNvSpPr>
          <p:nvPr>
            <p:ph idx="1"/>
          </p:nvPr>
        </p:nvSpPr>
        <p:spPr>
          <a:xfrm>
            <a:off x="838200" y="1463040"/>
            <a:ext cx="10515600" cy="5205046"/>
          </a:xfrm>
        </p:spPr>
        <p:txBody>
          <a:bodyPr>
            <a:normAutofit fontScale="77500" lnSpcReduction="20000"/>
          </a:bodyPr>
          <a:lstStyle/>
          <a:p>
            <a:r>
              <a:rPr lang="pt-BR" dirty="0"/>
              <a:t>Indicações:</a:t>
            </a:r>
          </a:p>
          <a:p>
            <a:r>
              <a:rPr lang="pt-BR" dirty="0"/>
              <a:t>- Remoção de tatuagem preta, marrom escura e azul;</a:t>
            </a:r>
          </a:p>
          <a:p>
            <a:r>
              <a:rPr lang="pt-BR" dirty="0"/>
              <a:t>- Remoção de tatuagem vermelha, roxa, laranja e marrom clara;</a:t>
            </a:r>
          </a:p>
          <a:p>
            <a:r>
              <a:rPr lang="pt-BR" dirty="0"/>
              <a:t>- Remoção de tatuagem e micropigmentação em delineado de pálpebra;</a:t>
            </a:r>
          </a:p>
          <a:p>
            <a:r>
              <a:rPr lang="pt-BR" dirty="0"/>
              <a:t>- Remoção de tatuagem e micropigmentação de sobrancelha;</a:t>
            </a:r>
          </a:p>
          <a:p>
            <a:r>
              <a:rPr lang="pt-BR" dirty="0"/>
              <a:t>- Rejuvenescimento facial;</a:t>
            </a:r>
          </a:p>
          <a:p>
            <a:r>
              <a:rPr lang="pt-BR" dirty="0"/>
              <a:t>- Procedimento Black Peel;</a:t>
            </a:r>
          </a:p>
          <a:p>
            <a:r>
              <a:rPr lang="pt-BR" dirty="0"/>
              <a:t>- Tratamento de onicomicose;</a:t>
            </a:r>
          </a:p>
          <a:p>
            <a:r>
              <a:rPr lang="pt-BR" dirty="0"/>
              <a:t>- Redução de mancha senil;</a:t>
            </a:r>
          </a:p>
          <a:p>
            <a:r>
              <a:rPr lang="pt-BR" dirty="0"/>
              <a:t>- Tratamento de queratose seborreica;</a:t>
            </a:r>
          </a:p>
          <a:p>
            <a:r>
              <a:rPr lang="pt-BR" dirty="0"/>
              <a:t>- Clareamento de manchas café com leite;</a:t>
            </a:r>
          </a:p>
          <a:p>
            <a:r>
              <a:rPr lang="pt-BR" dirty="0"/>
              <a:t>- Tratamento de mancha solar;</a:t>
            </a:r>
          </a:p>
          <a:p>
            <a:r>
              <a:rPr lang="pt-BR" dirty="0"/>
              <a:t>- Clareamento de hiperpigmentação e </a:t>
            </a:r>
            <a:r>
              <a:rPr lang="pt-BR" dirty="0" err="1"/>
              <a:t>lentigo</a:t>
            </a:r>
            <a:r>
              <a:rPr lang="pt-BR" dirty="0"/>
              <a:t>;</a:t>
            </a:r>
          </a:p>
          <a:p>
            <a:r>
              <a:rPr lang="pt-BR" dirty="0"/>
              <a:t>- Tratamento de </a:t>
            </a:r>
            <a:r>
              <a:rPr lang="pt-BR" dirty="0" err="1"/>
              <a:t>melasma</a:t>
            </a:r>
            <a:r>
              <a:rPr lang="pt-BR" dirty="0"/>
              <a:t> para rejuvenescimento não ablativo.</a:t>
            </a:r>
          </a:p>
        </p:txBody>
      </p:sp>
    </p:spTree>
    <p:extLst>
      <p:ext uri="{BB962C8B-B14F-4D97-AF65-F5344CB8AC3E}">
        <p14:creationId xmlns:p14="http://schemas.microsoft.com/office/powerpoint/2010/main" val="94561338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1B56CA-F779-311B-032B-F0A7E65D916D}"/>
              </a:ext>
            </a:extLst>
          </p:cNvPr>
          <p:cNvSpPr>
            <a:spLocks noGrp="1"/>
          </p:cNvSpPr>
          <p:nvPr>
            <p:ph type="title"/>
          </p:nvPr>
        </p:nvSpPr>
        <p:spPr/>
        <p:txBody>
          <a:bodyPr/>
          <a:lstStyle/>
          <a:p>
            <a:r>
              <a:rPr lang="pt-BR" dirty="0"/>
              <a:t>REMOÇÃO DE TATUAGEM </a:t>
            </a:r>
          </a:p>
        </p:txBody>
      </p:sp>
      <p:sp>
        <p:nvSpPr>
          <p:cNvPr id="4" name="Rectangle 1">
            <a:extLst>
              <a:ext uri="{FF2B5EF4-FFF2-40B4-BE49-F238E27FC236}">
                <a16:creationId xmlns:a16="http://schemas.microsoft.com/office/drawing/2014/main" id="{ECBDEF81-A910-3A22-1281-310E029F942B}"/>
              </a:ext>
            </a:extLst>
          </p:cNvPr>
          <p:cNvSpPr>
            <a:spLocks noGrp="1" noChangeArrowheads="1"/>
          </p:cNvSpPr>
          <p:nvPr>
            <p:ph idx="1"/>
          </p:nvPr>
        </p:nvSpPr>
        <p:spPr bwMode="auto">
          <a:xfrm>
            <a:off x="992945" y="2546891"/>
            <a:ext cx="7635424"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i="0" u="none" strike="noStrike" cap="none" normalizeH="0" baseline="0" dirty="0">
                <a:ln>
                  <a:noFill/>
                </a:ln>
                <a:effectLst/>
              </a:rPr>
              <a:t>Preto é o mais fácil de remover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i="0" u="none" strike="noStrike" cap="none" normalizeH="0" baseline="0" dirty="0">
                <a:ln>
                  <a:noFill/>
                </a:ln>
                <a:effectLst/>
              </a:rPr>
              <a:t>Verde e amarelo são os mais difíceis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i="0" u="none" strike="noStrike" cap="none" normalizeH="0" baseline="0" dirty="0">
                <a:ln>
                  <a:noFill/>
                </a:ln>
                <a:effectLst/>
              </a:rPr>
              <a:t>Tatuagens coloridas exigem vários tipos de laser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i="0" u="none" strike="noStrike" cap="none" normalizeH="0" baseline="0" dirty="0">
                <a:ln>
                  <a:noFill/>
                </a:ln>
                <a:effectLst/>
              </a:rPr>
              <a:t>Nem toda tatuagem é removida 100% </a:t>
            </a:r>
          </a:p>
        </p:txBody>
      </p:sp>
    </p:spTree>
    <p:extLst>
      <p:ext uri="{BB962C8B-B14F-4D97-AF65-F5344CB8AC3E}">
        <p14:creationId xmlns:p14="http://schemas.microsoft.com/office/powerpoint/2010/main" val="221155000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B8646F-2576-1DBB-8AEA-083F934F1C25}"/>
              </a:ext>
            </a:extLst>
          </p:cNvPr>
          <p:cNvSpPr>
            <a:spLocks noGrp="1"/>
          </p:cNvSpPr>
          <p:nvPr>
            <p:ph type="title"/>
          </p:nvPr>
        </p:nvSpPr>
        <p:spPr/>
        <p:txBody>
          <a:bodyPr/>
          <a:lstStyle/>
          <a:p>
            <a:r>
              <a:rPr lang="pt-BR" dirty="0"/>
              <a:t>REMOÇÃO DE TATUAGEM </a:t>
            </a:r>
          </a:p>
        </p:txBody>
      </p:sp>
      <p:sp>
        <p:nvSpPr>
          <p:cNvPr id="3" name="Espaço Reservado para Conteúdo 2">
            <a:extLst>
              <a:ext uri="{FF2B5EF4-FFF2-40B4-BE49-F238E27FC236}">
                <a16:creationId xmlns:a16="http://schemas.microsoft.com/office/drawing/2014/main" id="{619AFD2E-DA45-804C-DED9-45E21901F367}"/>
              </a:ext>
            </a:extLst>
          </p:cNvPr>
          <p:cNvSpPr>
            <a:spLocks noGrp="1"/>
          </p:cNvSpPr>
          <p:nvPr>
            <p:ph idx="1"/>
          </p:nvPr>
        </p:nvSpPr>
        <p:spPr>
          <a:xfrm>
            <a:off x="838200" y="1690688"/>
            <a:ext cx="10515600" cy="5345723"/>
          </a:xfrm>
        </p:spPr>
        <p:txBody>
          <a:bodyPr>
            <a:normAutofit lnSpcReduction="10000"/>
          </a:bodyPr>
          <a:lstStyle/>
          <a:p>
            <a:r>
              <a:rPr lang="pt-BR" sz="2900" b="1" dirty="0"/>
              <a:t>Preto e azul escuro</a:t>
            </a:r>
            <a:r>
              <a:rPr lang="pt-BR" sz="2900" dirty="0"/>
              <a:t>: 1064 </a:t>
            </a:r>
            <a:r>
              <a:rPr lang="pt-BR" sz="2900" dirty="0" err="1"/>
              <a:t>nm</a:t>
            </a:r>
            <a:r>
              <a:rPr lang="pt-BR" sz="2900" dirty="0"/>
              <a:t> (</a:t>
            </a:r>
            <a:r>
              <a:rPr lang="pt-BR" sz="2900" dirty="0" err="1"/>
              <a:t>Nd:YAG</a:t>
            </a:r>
            <a:r>
              <a:rPr lang="pt-BR" sz="2900" dirty="0"/>
              <a:t>) que penetra profundamente na pele, sendo a cor mais fácil de remover </a:t>
            </a:r>
          </a:p>
          <a:p>
            <a:r>
              <a:rPr lang="pt-BR" sz="2900" b="1" dirty="0"/>
              <a:t>🔴 Vermelho: </a:t>
            </a:r>
            <a:r>
              <a:rPr lang="pt-BR" sz="2900" dirty="0"/>
              <a:t>532 </a:t>
            </a:r>
            <a:r>
              <a:rPr lang="pt-BR" sz="2900" dirty="0" err="1"/>
              <a:t>nm</a:t>
            </a:r>
            <a:r>
              <a:rPr lang="pt-BR" sz="2900" b="1" dirty="0"/>
              <a:t> </a:t>
            </a:r>
            <a:r>
              <a:rPr lang="pt-BR" sz="2900" dirty="0" err="1"/>
              <a:t>Nd:YAG</a:t>
            </a:r>
            <a:r>
              <a:rPr lang="pt-BR" sz="2900" dirty="0"/>
              <a:t> que  tem alta afinidade por tons quentes </a:t>
            </a:r>
          </a:p>
          <a:p>
            <a:r>
              <a:rPr lang="pt-BR" sz="2900" b="1" dirty="0"/>
              <a:t>🟠 Laranja: </a:t>
            </a:r>
            <a:r>
              <a:rPr lang="pt-BR" sz="2900" dirty="0"/>
              <a:t>532 </a:t>
            </a:r>
            <a:r>
              <a:rPr lang="pt-BR" sz="2900" dirty="0" err="1"/>
              <a:t>nm</a:t>
            </a:r>
            <a:r>
              <a:rPr lang="pt-BR" sz="2900" dirty="0"/>
              <a:t> que pode exigir mais sessões </a:t>
            </a:r>
          </a:p>
          <a:p>
            <a:r>
              <a:rPr lang="pt-BR" sz="2900" b="1" dirty="0"/>
              <a:t>🟡 Amarelo: </a:t>
            </a:r>
            <a:r>
              <a:rPr lang="pt-BR" sz="2900" dirty="0"/>
              <a:t>de difícil remoção, pode responder a 532 </a:t>
            </a:r>
            <a:r>
              <a:rPr lang="pt-BR" sz="2900" dirty="0" err="1"/>
              <a:t>nm</a:t>
            </a:r>
            <a:r>
              <a:rPr lang="pt-BR" sz="2900" dirty="0"/>
              <a:t> de forma limitada ou muitas vezes não responde bem </a:t>
            </a:r>
          </a:p>
          <a:p>
            <a:r>
              <a:rPr lang="pt-BR" sz="2900" b="1" dirty="0"/>
              <a:t>🟢 Verde: </a:t>
            </a:r>
            <a:r>
              <a:rPr lang="pt-BR" sz="2900" dirty="0"/>
              <a:t>755 </a:t>
            </a:r>
            <a:r>
              <a:rPr lang="pt-BR" sz="2900" dirty="0" err="1"/>
              <a:t>nm</a:t>
            </a:r>
            <a:r>
              <a:rPr lang="pt-BR" sz="2900" dirty="0"/>
              <a:t> (</a:t>
            </a:r>
            <a:r>
              <a:rPr lang="pt-BR" sz="2900" dirty="0" err="1"/>
              <a:t>Alexandrite</a:t>
            </a:r>
            <a:r>
              <a:rPr lang="pt-BR" sz="2900" dirty="0"/>
              <a:t>) ou 694 </a:t>
            </a:r>
            <a:r>
              <a:rPr lang="pt-BR" sz="2900" dirty="0" err="1"/>
              <a:t>nm</a:t>
            </a:r>
            <a:r>
              <a:rPr lang="pt-BR" sz="2900" dirty="0"/>
              <a:t> (Ruby) cores mais difíceis</a:t>
            </a:r>
          </a:p>
          <a:p>
            <a:r>
              <a:rPr lang="pt-BR" sz="2900" b="1" dirty="0"/>
              <a:t>🔵 Azul claro: </a:t>
            </a:r>
            <a:r>
              <a:rPr lang="pt-BR" sz="2900" dirty="0"/>
              <a:t>755 ou 694 </a:t>
            </a:r>
            <a:r>
              <a:rPr lang="pt-BR" sz="2900" dirty="0" err="1"/>
              <a:t>nm</a:t>
            </a:r>
            <a:r>
              <a:rPr lang="pt-BR" sz="2900" dirty="0"/>
              <a:t> melhor resposta que o verde </a:t>
            </a:r>
          </a:p>
          <a:p>
            <a:r>
              <a:rPr lang="pt-BR" sz="2900" b="1" dirty="0"/>
              <a:t>🟣 Roxo: </a:t>
            </a:r>
            <a:r>
              <a:rPr lang="pt-BR" sz="2900" dirty="0"/>
              <a:t>usa a combinação de comprimentos: 532 </a:t>
            </a:r>
            <a:r>
              <a:rPr lang="pt-BR" sz="2900" dirty="0" err="1"/>
              <a:t>nm</a:t>
            </a:r>
            <a:r>
              <a:rPr lang="pt-BR" sz="2900" dirty="0"/>
              <a:t> + 1064 </a:t>
            </a:r>
            <a:r>
              <a:rPr lang="pt-BR" sz="2900" dirty="0" err="1"/>
              <a:t>nm</a:t>
            </a:r>
            <a:r>
              <a:rPr lang="pt-BR" sz="2900" dirty="0"/>
              <a:t> ou 755 </a:t>
            </a:r>
            <a:r>
              <a:rPr lang="pt-BR" sz="2900" dirty="0" err="1"/>
              <a:t>nm</a:t>
            </a:r>
            <a:endParaRPr lang="pt-BR" sz="2900" dirty="0"/>
          </a:p>
          <a:p>
            <a:endParaRPr lang="pt-BR" dirty="0"/>
          </a:p>
        </p:txBody>
      </p:sp>
    </p:spTree>
    <p:extLst>
      <p:ext uri="{BB962C8B-B14F-4D97-AF65-F5344CB8AC3E}">
        <p14:creationId xmlns:p14="http://schemas.microsoft.com/office/powerpoint/2010/main" val="257003212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E47DF2-F65D-85FE-95F6-64E413BEDB55}"/>
              </a:ext>
            </a:extLst>
          </p:cNvPr>
          <p:cNvSpPr>
            <a:spLocks noGrp="1"/>
          </p:cNvSpPr>
          <p:nvPr>
            <p:ph type="title"/>
          </p:nvPr>
        </p:nvSpPr>
        <p:spPr/>
        <p:txBody>
          <a:bodyPr/>
          <a:lstStyle/>
          <a:p>
            <a:r>
              <a:rPr lang="pt-BR" dirty="0"/>
              <a:t>REMOÇÃO DE TATUAGEM </a:t>
            </a:r>
          </a:p>
        </p:txBody>
      </p:sp>
      <p:sp>
        <p:nvSpPr>
          <p:cNvPr id="3" name="Espaço Reservado para Conteúdo 2">
            <a:extLst>
              <a:ext uri="{FF2B5EF4-FFF2-40B4-BE49-F238E27FC236}">
                <a16:creationId xmlns:a16="http://schemas.microsoft.com/office/drawing/2014/main" id="{0578B5D3-AD8A-13AE-EAB7-8FD522898E89}"/>
              </a:ext>
            </a:extLst>
          </p:cNvPr>
          <p:cNvSpPr>
            <a:spLocks noGrp="1"/>
          </p:cNvSpPr>
          <p:nvPr>
            <p:ph idx="1"/>
          </p:nvPr>
        </p:nvSpPr>
        <p:spPr/>
        <p:txBody>
          <a:bodyPr/>
          <a:lstStyle/>
          <a:p>
            <a:endParaRPr lang="pt-BR" b="1" dirty="0"/>
          </a:p>
          <a:p>
            <a:pPr marL="0" indent="0">
              <a:buNone/>
            </a:pPr>
            <a:endParaRPr lang="pt-BR" b="1" dirty="0"/>
          </a:p>
          <a:p>
            <a:r>
              <a:rPr lang="pt-BR" b="1" dirty="0"/>
              <a:t>1064 </a:t>
            </a:r>
            <a:r>
              <a:rPr lang="pt-BR" b="1" dirty="0" err="1"/>
              <a:t>nm</a:t>
            </a:r>
            <a:r>
              <a:rPr lang="pt-BR" b="1" dirty="0"/>
              <a:t> → cores escuras</a:t>
            </a:r>
          </a:p>
          <a:p>
            <a:r>
              <a:rPr lang="pt-BR" b="1" dirty="0"/>
              <a:t>532 </a:t>
            </a:r>
            <a:r>
              <a:rPr lang="pt-BR" b="1" dirty="0" err="1"/>
              <a:t>nm</a:t>
            </a:r>
            <a:r>
              <a:rPr lang="pt-BR" b="1" dirty="0"/>
              <a:t> → cores quentes</a:t>
            </a:r>
          </a:p>
          <a:p>
            <a:r>
              <a:rPr lang="pt-BR" b="1" dirty="0"/>
              <a:t>755/694 </a:t>
            </a:r>
            <a:r>
              <a:rPr lang="pt-BR" b="1" dirty="0" err="1"/>
              <a:t>nm</a:t>
            </a:r>
            <a:r>
              <a:rPr lang="pt-BR" b="1" dirty="0"/>
              <a:t> → cores frias difíceis</a:t>
            </a:r>
            <a:endParaRPr lang="pt-BR" dirty="0"/>
          </a:p>
        </p:txBody>
      </p:sp>
    </p:spTree>
    <p:extLst>
      <p:ext uri="{BB962C8B-B14F-4D97-AF65-F5344CB8AC3E}">
        <p14:creationId xmlns:p14="http://schemas.microsoft.com/office/powerpoint/2010/main" val="217455764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ACDB24-3E1B-B92E-023B-0EDBA9C0161A}"/>
              </a:ext>
            </a:extLst>
          </p:cNvPr>
          <p:cNvSpPr>
            <a:spLocks noGrp="1"/>
          </p:cNvSpPr>
          <p:nvPr>
            <p:ph type="title"/>
          </p:nvPr>
        </p:nvSpPr>
        <p:spPr/>
        <p:txBody>
          <a:bodyPr/>
          <a:lstStyle/>
          <a:p>
            <a:r>
              <a:rPr lang="pt-BR" dirty="0"/>
              <a:t>REMOÇÃO DE TATUAGEM </a:t>
            </a:r>
          </a:p>
        </p:txBody>
      </p:sp>
      <p:sp>
        <p:nvSpPr>
          <p:cNvPr id="3" name="Espaço Reservado para Conteúdo 2">
            <a:extLst>
              <a:ext uri="{FF2B5EF4-FFF2-40B4-BE49-F238E27FC236}">
                <a16:creationId xmlns:a16="http://schemas.microsoft.com/office/drawing/2014/main" id="{A987C721-86F1-D888-B76B-0A55DF750309}"/>
              </a:ext>
            </a:extLst>
          </p:cNvPr>
          <p:cNvSpPr>
            <a:spLocks noGrp="1"/>
          </p:cNvSpPr>
          <p:nvPr>
            <p:ph idx="1"/>
          </p:nvPr>
        </p:nvSpPr>
        <p:spPr/>
        <p:txBody>
          <a:bodyPr/>
          <a:lstStyle/>
          <a:p>
            <a:r>
              <a:rPr lang="pt-BR" dirty="0"/>
              <a:t>De acordo com o estudo de CHACUR, 2014. </a:t>
            </a:r>
          </a:p>
          <a:p>
            <a:endParaRPr lang="pt-BR" dirty="0"/>
          </a:p>
        </p:txBody>
      </p:sp>
      <p:pic>
        <p:nvPicPr>
          <p:cNvPr id="9220" name="Picture 4">
            <a:extLst>
              <a:ext uri="{FF2B5EF4-FFF2-40B4-BE49-F238E27FC236}">
                <a16:creationId xmlns:a16="http://schemas.microsoft.com/office/drawing/2014/main" id="{0297FB88-23A7-4B7A-59ED-6BBF7B20B3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919413"/>
            <a:ext cx="10697308" cy="19620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227182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76D7E8-31ED-63D0-30E9-4B830FB0BFD8}"/>
              </a:ext>
            </a:extLst>
          </p:cNvPr>
          <p:cNvSpPr>
            <a:spLocks noGrp="1"/>
          </p:cNvSpPr>
          <p:nvPr>
            <p:ph type="title"/>
          </p:nvPr>
        </p:nvSpPr>
        <p:spPr/>
        <p:txBody>
          <a:bodyPr/>
          <a:lstStyle/>
          <a:p>
            <a:r>
              <a:rPr lang="pt-BR" dirty="0"/>
              <a:t>REMOÇÃO DE TATUAGEM </a:t>
            </a:r>
          </a:p>
        </p:txBody>
      </p:sp>
      <p:sp>
        <p:nvSpPr>
          <p:cNvPr id="3" name="Espaço Reservado para Conteúdo 2">
            <a:extLst>
              <a:ext uri="{FF2B5EF4-FFF2-40B4-BE49-F238E27FC236}">
                <a16:creationId xmlns:a16="http://schemas.microsoft.com/office/drawing/2014/main" id="{0AAC9FB6-ECF1-B27C-EF60-26DCCA3E6CBC}"/>
              </a:ext>
            </a:extLst>
          </p:cNvPr>
          <p:cNvSpPr>
            <a:spLocks noGrp="1"/>
          </p:cNvSpPr>
          <p:nvPr>
            <p:ph idx="1"/>
          </p:nvPr>
        </p:nvSpPr>
        <p:spPr/>
        <p:txBody>
          <a:bodyPr/>
          <a:lstStyle/>
          <a:p>
            <a:pPr algn="just"/>
            <a:r>
              <a:rPr lang="pt-BR" dirty="0"/>
              <a:t>O laser </a:t>
            </a:r>
            <a:r>
              <a:rPr lang="pt-BR" dirty="0" err="1"/>
              <a:t>NdYAG</a:t>
            </a:r>
            <a:r>
              <a:rPr lang="pt-BR" dirty="0"/>
              <a:t> apresenta bons resultados para remover o pigmento preto e a vantagem sobre o laser de Ruby é que, por possuir o comprimento de onda 1064 </a:t>
            </a:r>
            <a:r>
              <a:rPr lang="pt-BR" dirty="0" err="1"/>
              <a:t>nm</a:t>
            </a:r>
            <a:r>
              <a:rPr lang="pt-BR" dirty="0"/>
              <a:t>, protege mais a epiderme, apresentando menores efeitos adversos, como bolhas e hipocromia. Por isso, é mais indicado para fototipos mais altos.</a:t>
            </a:r>
          </a:p>
          <a:p>
            <a:pPr algn="just"/>
            <a:r>
              <a:rPr lang="pt-BR" dirty="0" err="1"/>
              <a:t>Zelickson</a:t>
            </a:r>
            <a:r>
              <a:rPr lang="pt-BR" dirty="0"/>
              <a:t> et al., ao compararem os lasers </a:t>
            </a:r>
            <a:r>
              <a:rPr lang="pt-BR" dirty="0" err="1"/>
              <a:t>Nd</a:t>
            </a:r>
            <a:r>
              <a:rPr lang="pt-BR" dirty="0"/>
              <a:t> YAG, Rubi e </a:t>
            </a:r>
            <a:r>
              <a:rPr lang="pt-BR" dirty="0" err="1"/>
              <a:t>Alexandrite</a:t>
            </a:r>
            <a:r>
              <a:rPr lang="pt-BR" dirty="0"/>
              <a:t>, analisaram os pigmentos </a:t>
            </a:r>
            <a:r>
              <a:rPr lang="pt-BR" dirty="0" err="1"/>
              <a:t>histopatologicamente</a:t>
            </a:r>
            <a:r>
              <a:rPr lang="pt-BR" dirty="0"/>
              <a:t> e observaram uma resposta melhor em relação à remoção das cores vermelho, marrom e laranja, com o </a:t>
            </a:r>
            <a:r>
              <a:rPr lang="pt-BR" dirty="0" err="1"/>
              <a:t>Nd</a:t>
            </a:r>
            <a:r>
              <a:rPr lang="pt-BR" dirty="0"/>
              <a:t> YAG. </a:t>
            </a:r>
          </a:p>
        </p:txBody>
      </p:sp>
    </p:spTree>
    <p:extLst>
      <p:ext uri="{BB962C8B-B14F-4D97-AF65-F5344CB8AC3E}">
        <p14:creationId xmlns:p14="http://schemas.microsoft.com/office/powerpoint/2010/main" val="359700307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E46847-99E0-AE24-FD63-E75289D7DF61}"/>
              </a:ext>
            </a:extLst>
          </p:cNvPr>
          <p:cNvSpPr>
            <a:spLocks noGrp="1"/>
          </p:cNvSpPr>
          <p:nvPr>
            <p:ph type="title"/>
          </p:nvPr>
        </p:nvSpPr>
        <p:spPr/>
        <p:txBody>
          <a:bodyPr/>
          <a:lstStyle/>
          <a:p>
            <a:r>
              <a:rPr lang="pt-BR" dirty="0"/>
              <a:t>REMOÇÃO DE TATUAGEM </a:t>
            </a:r>
          </a:p>
        </p:txBody>
      </p:sp>
      <p:sp>
        <p:nvSpPr>
          <p:cNvPr id="3" name="Espaço Reservado para Conteúdo 2">
            <a:extLst>
              <a:ext uri="{FF2B5EF4-FFF2-40B4-BE49-F238E27FC236}">
                <a16:creationId xmlns:a16="http://schemas.microsoft.com/office/drawing/2014/main" id="{89F28CE1-20C7-FEB2-254A-84DB4DB4E335}"/>
              </a:ext>
            </a:extLst>
          </p:cNvPr>
          <p:cNvSpPr>
            <a:spLocks noGrp="1"/>
          </p:cNvSpPr>
          <p:nvPr>
            <p:ph idx="1"/>
          </p:nvPr>
        </p:nvSpPr>
        <p:spPr/>
        <p:txBody>
          <a:bodyPr/>
          <a:lstStyle/>
          <a:p>
            <a:pPr algn="just"/>
            <a:r>
              <a:rPr lang="pt-BR" dirty="0"/>
              <a:t>Sabe-se que a fototermólise seletiva protege a pele, pois lasers com pulsos em nanosegundos atingem somente estruturas muito pequenas, como partículas de tinta. Quando as tatuagens são tratadas com durações de pulso no intervalo de milissegundos ou com lasers contínuos, o calor não se limita ao alvo. Esta transferência de calor provoca destruição inespecífica do tecido circundante e pode resultar em cicatrizes subsequentes (ANDERSON, 1983). </a:t>
            </a:r>
          </a:p>
        </p:txBody>
      </p:sp>
    </p:spTree>
    <p:extLst>
      <p:ext uri="{BB962C8B-B14F-4D97-AF65-F5344CB8AC3E}">
        <p14:creationId xmlns:p14="http://schemas.microsoft.com/office/powerpoint/2010/main" val="189812935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C6624F-63F1-2A37-3B18-B05C42D67D0A}"/>
              </a:ext>
            </a:extLst>
          </p:cNvPr>
          <p:cNvSpPr>
            <a:spLocks noGrp="1"/>
          </p:cNvSpPr>
          <p:nvPr>
            <p:ph type="title"/>
          </p:nvPr>
        </p:nvSpPr>
        <p:spPr/>
        <p:txBody>
          <a:bodyPr/>
          <a:lstStyle/>
          <a:p>
            <a:r>
              <a:rPr lang="pt-BR" dirty="0"/>
              <a:t>REMOÇÃO DE TATUAGEM </a:t>
            </a:r>
          </a:p>
        </p:txBody>
      </p:sp>
      <p:sp>
        <p:nvSpPr>
          <p:cNvPr id="3" name="Espaço Reservado para Conteúdo 2">
            <a:extLst>
              <a:ext uri="{FF2B5EF4-FFF2-40B4-BE49-F238E27FC236}">
                <a16:creationId xmlns:a16="http://schemas.microsoft.com/office/drawing/2014/main" id="{CE7652DD-361B-9528-C2EB-EF7EAEF020AF}"/>
              </a:ext>
            </a:extLst>
          </p:cNvPr>
          <p:cNvSpPr>
            <a:spLocks noGrp="1"/>
          </p:cNvSpPr>
          <p:nvPr>
            <p:ph idx="1"/>
          </p:nvPr>
        </p:nvSpPr>
        <p:spPr/>
        <p:txBody>
          <a:bodyPr/>
          <a:lstStyle/>
          <a:p>
            <a:pPr algn="just"/>
            <a:r>
              <a:rPr lang="pt-BR" b="1" dirty="0"/>
              <a:t>Peeling de Hollywood (Black Peel) — como é feito</a:t>
            </a:r>
          </a:p>
          <a:p>
            <a:pPr algn="just"/>
            <a:r>
              <a:rPr lang="pt-BR" dirty="0"/>
              <a:t>O </a:t>
            </a:r>
            <a:r>
              <a:rPr lang="pt-BR" b="1" dirty="0"/>
              <a:t>Peeling de Hollywood</a:t>
            </a:r>
            <a:r>
              <a:rPr lang="pt-BR" dirty="0"/>
              <a:t> é um procedimento que associa </a:t>
            </a:r>
            <a:r>
              <a:rPr lang="pt-BR" b="1" dirty="0"/>
              <a:t>máscara de carbono + laser</a:t>
            </a:r>
            <a:r>
              <a:rPr lang="pt-BR" dirty="0"/>
              <a:t>, muito usado para limpeza profunda, controle de oleosidade e melhora da textura da pele.</a:t>
            </a:r>
          </a:p>
          <a:p>
            <a:pPr algn="just"/>
            <a:r>
              <a:rPr lang="pt-BR" dirty="0"/>
              <a:t>Limpeza completa para retirar a oleosidade, restos de maquiagem e impurezas.</a:t>
            </a:r>
          </a:p>
          <a:p>
            <a:pPr marL="0" indent="0">
              <a:buNone/>
            </a:pPr>
            <a:endParaRPr lang="pt-BR" dirty="0"/>
          </a:p>
          <a:p>
            <a:endParaRPr lang="pt-BR" dirty="0"/>
          </a:p>
        </p:txBody>
      </p:sp>
    </p:spTree>
    <p:extLst>
      <p:ext uri="{BB962C8B-B14F-4D97-AF65-F5344CB8AC3E}">
        <p14:creationId xmlns:p14="http://schemas.microsoft.com/office/powerpoint/2010/main" val="93767435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9A682B-EAB0-AF93-6A8C-71CFAAE0CECC}"/>
              </a:ext>
            </a:extLst>
          </p:cNvPr>
          <p:cNvSpPr>
            <a:spLocks noGrp="1"/>
          </p:cNvSpPr>
          <p:nvPr>
            <p:ph type="title"/>
          </p:nvPr>
        </p:nvSpPr>
        <p:spPr/>
        <p:txBody>
          <a:bodyPr/>
          <a:lstStyle/>
          <a:p>
            <a:r>
              <a:rPr lang="pt-BR" dirty="0"/>
              <a:t>REMOÇÃO DE TATUAGEM </a:t>
            </a:r>
          </a:p>
        </p:txBody>
      </p:sp>
      <p:sp>
        <p:nvSpPr>
          <p:cNvPr id="3" name="Espaço Reservado para Conteúdo 2">
            <a:extLst>
              <a:ext uri="{FF2B5EF4-FFF2-40B4-BE49-F238E27FC236}">
                <a16:creationId xmlns:a16="http://schemas.microsoft.com/office/drawing/2014/main" id="{20C0742D-230A-516D-5389-49877A49E3B7}"/>
              </a:ext>
            </a:extLst>
          </p:cNvPr>
          <p:cNvSpPr>
            <a:spLocks noGrp="1"/>
          </p:cNvSpPr>
          <p:nvPr>
            <p:ph idx="1"/>
          </p:nvPr>
        </p:nvSpPr>
        <p:spPr/>
        <p:txBody>
          <a:bodyPr>
            <a:normAutofit/>
          </a:bodyPr>
          <a:lstStyle/>
          <a:p>
            <a:pPr algn="just"/>
            <a:r>
              <a:rPr lang="pt-BR" dirty="0"/>
              <a:t>Aplica-se uma máscara de </a:t>
            </a:r>
            <a:r>
              <a:rPr lang="pt-BR" b="1" dirty="0"/>
              <a:t>carbono (carvão ativado)</a:t>
            </a:r>
            <a:r>
              <a:rPr lang="pt-BR" dirty="0"/>
              <a:t> na pele, o carbono penetra nos poros e se liga às impurezas, aguarda secar (cerca de 10–20 minutos) e utiliza-se laser </a:t>
            </a:r>
            <a:r>
              <a:rPr lang="pt-BR" b="1" dirty="0" err="1"/>
              <a:t>Nd:YAG</a:t>
            </a:r>
            <a:r>
              <a:rPr lang="pt-BR" b="1" dirty="0"/>
              <a:t> 1064 </a:t>
            </a:r>
            <a:r>
              <a:rPr lang="pt-BR" b="1" dirty="0" err="1"/>
              <a:t>nm</a:t>
            </a:r>
            <a:r>
              <a:rPr lang="pt-BR" b="1" dirty="0"/>
              <a:t>.</a:t>
            </a:r>
            <a:endParaRPr lang="pt-BR" dirty="0"/>
          </a:p>
          <a:p>
            <a:pPr algn="just"/>
            <a:r>
              <a:rPr lang="pt-BR" dirty="0"/>
              <a:t>O laser atinge o carbono e provoca </a:t>
            </a:r>
            <a:r>
              <a:rPr lang="pt-BR" dirty="0" err="1"/>
              <a:t>microexplosões</a:t>
            </a:r>
            <a:r>
              <a:rPr lang="pt-BR" dirty="0"/>
              <a:t> que promove a limpeza profunda dos poros, remoção de células mortas e estímulo de colágeno</a:t>
            </a:r>
          </a:p>
          <a:p>
            <a:pPr algn="just"/>
            <a:r>
              <a:rPr lang="pt-BR" dirty="0"/>
              <a:t>Realiza fototermólise seletiva.</a:t>
            </a:r>
          </a:p>
          <a:p>
            <a:pPr algn="just"/>
            <a:r>
              <a:rPr lang="pt-BR" dirty="0"/>
              <a:t>Indicado para quem tem pele oleosa, acne leve, poros dilatados, manchas superficiais, rejuvenescimento. </a:t>
            </a:r>
          </a:p>
          <a:p>
            <a:endParaRPr lang="pt-BR" dirty="0"/>
          </a:p>
        </p:txBody>
      </p:sp>
    </p:spTree>
    <p:extLst>
      <p:ext uri="{BB962C8B-B14F-4D97-AF65-F5344CB8AC3E}">
        <p14:creationId xmlns:p14="http://schemas.microsoft.com/office/powerpoint/2010/main" val="243842156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73544C-AD11-3EBD-A340-0E912EBD2DEF}"/>
              </a:ext>
            </a:extLst>
          </p:cNvPr>
          <p:cNvSpPr>
            <a:spLocks noGrp="1"/>
          </p:cNvSpPr>
          <p:nvPr>
            <p:ph type="title"/>
          </p:nvPr>
        </p:nvSpPr>
        <p:spPr/>
        <p:txBody>
          <a:bodyPr/>
          <a:lstStyle/>
          <a:p>
            <a:r>
              <a:rPr lang="pt-BR" dirty="0"/>
              <a:t>REMOÇÃO DE TATUAGEM </a:t>
            </a:r>
          </a:p>
        </p:txBody>
      </p:sp>
      <p:pic>
        <p:nvPicPr>
          <p:cNvPr id="10242" name="Picture 2">
            <a:extLst>
              <a:ext uri="{FF2B5EF4-FFF2-40B4-BE49-F238E27FC236}">
                <a16:creationId xmlns:a16="http://schemas.microsoft.com/office/drawing/2014/main" id="{883ACAED-451A-CCFA-4DAA-2017486318E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3274" y="1828800"/>
            <a:ext cx="11854575" cy="45297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759829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2C9C23-A64F-EF23-93E0-6CA2AC744B2B}"/>
              </a:ext>
            </a:extLst>
          </p:cNvPr>
          <p:cNvSpPr>
            <a:spLocks noGrp="1"/>
          </p:cNvSpPr>
          <p:nvPr>
            <p:ph type="title"/>
          </p:nvPr>
        </p:nvSpPr>
        <p:spPr/>
        <p:txBody>
          <a:bodyPr/>
          <a:lstStyle/>
          <a:p>
            <a:r>
              <a:rPr lang="pt-BR" dirty="0"/>
              <a:t>REMOÇÃO DE TATUAGEM </a:t>
            </a:r>
          </a:p>
        </p:txBody>
      </p:sp>
      <p:pic>
        <p:nvPicPr>
          <p:cNvPr id="11266" name="Picture 2">
            <a:extLst>
              <a:ext uri="{FF2B5EF4-FFF2-40B4-BE49-F238E27FC236}">
                <a16:creationId xmlns:a16="http://schemas.microsoft.com/office/drawing/2014/main" id="{D8735C95-6E90-7BF0-A29F-EF7B1AADEA6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5907" y="1690688"/>
            <a:ext cx="11771622" cy="4625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030997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F468F0-3C9A-3F39-767A-F9BE268BEBDE}"/>
              </a:ext>
            </a:extLst>
          </p:cNvPr>
          <p:cNvSpPr>
            <a:spLocks noGrp="1"/>
          </p:cNvSpPr>
          <p:nvPr>
            <p:ph type="title"/>
          </p:nvPr>
        </p:nvSpPr>
        <p:spPr/>
        <p:txBody>
          <a:bodyPr/>
          <a:lstStyle/>
          <a:p>
            <a:r>
              <a:rPr lang="pt-BR" dirty="0"/>
              <a:t>REMOÇÃO DE TATUAGEM </a:t>
            </a:r>
          </a:p>
        </p:txBody>
      </p:sp>
      <p:pic>
        <p:nvPicPr>
          <p:cNvPr id="13314" name="Picture 2" descr="Jovem compartilha fotos de “remoção de tatuagem que deu errado” | VEJA SÃO  PAULO">
            <a:extLst>
              <a:ext uri="{FF2B5EF4-FFF2-40B4-BE49-F238E27FC236}">
                <a16:creationId xmlns:a16="http://schemas.microsoft.com/office/drawing/2014/main" id="{F079CF10-B198-DE18-C42B-71F8A70C281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23888" y="1412765"/>
            <a:ext cx="8665699" cy="54040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809252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04A186-33EB-1321-ABAF-2116C4AF1757}"/>
              </a:ext>
            </a:extLst>
          </p:cNvPr>
          <p:cNvSpPr>
            <a:spLocks noGrp="1"/>
          </p:cNvSpPr>
          <p:nvPr>
            <p:ph type="title"/>
          </p:nvPr>
        </p:nvSpPr>
        <p:spPr/>
        <p:txBody>
          <a:bodyPr/>
          <a:lstStyle/>
          <a:p>
            <a:r>
              <a:rPr lang="pt-BR" dirty="0"/>
              <a:t>REMOÇÃO DE TATUAGEM </a:t>
            </a:r>
          </a:p>
        </p:txBody>
      </p:sp>
      <p:pic>
        <p:nvPicPr>
          <p:cNvPr id="5" name="Espaço Reservado para Conteúdo 4">
            <a:extLst>
              <a:ext uri="{FF2B5EF4-FFF2-40B4-BE49-F238E27FC236}">
                <a16:creationId xmlns:a16="http://schemas.microsoft.com/office/drawing/2014/main" id="{7DF3D751-96F5-D34A-619A-4FA731BDA39C}"/>
              </a:ext>
            </a:extLst>
          </p:cNvPr>
          <p:cNvPicPr>
            <a:picLocks noGrp="1" noChangeAspect="1"/>
          </p:cNvPicPr>
          <p:nvPr>
            <p:ph idx="1"/>
          </p:nvPr>
        </p:nvPicPr>
        <p:blipFill>
          <a:blip r:embed="rId2"/>
          <a:stretch>
            <a:fillRect/>
          </a:stretch>
        </p:blipFill>
        <p:spPr>
          <a:xfrm>
            <a:off x="838200" y="1930842"/>
            <a:ext cx="10515600" cy="4140903"/>
          </a:xfrm>
          <a:prstGeom prst="rect">
            <a:avLst/>
          </a:prstGeom>
        </p:spPr>
      </p:pic>
    </p:spTree>
    <p:extLst>
      <p:ext uri="{BB962C8B-B14F-4D97-AF65-F5344CB8AC3E}">
        <p14:creationId xmlns:p14="http://schemas.microsoft.com/office/powerpoint/2010/main" val="224403751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04AC26-DCCD-714E-34A0-B5BB62B32C88}"/>
              </a:ext>
            </a:extLst>
          </p:cNvPr>
          <p:cNvSpPr>
            <a:spLocks noGrp="1"/>
          </p:cNvSpPr>
          <p:nvPr>
            <p:ph type="title"/>
          </p:nvPr>
        </p:nvSpPr>
        <p:spPr/>
        <p:txBody>
          <a:bodyPr/>
          <a:lstStyle/>
          <a:p>
            <a:r>
              <a:rPr lang="pt-BR" dirty="0"/>
              <a:t>REMOÇÃO DE TATUAGEM</a:t>
            </a:r>
          </a:p>
        </p:txBody>
      </p:sp>
      <p:pic>
        <p:nvPicPr>
          <p:cNvPr id="15362" name="Picture 2" descr="Perigos dos métodos alternativos de remoção de tatuagem">
            <a:extLst>
              <a:ext uri="{FF2B5EF4-FFF2-40B4-BE49-F238E27FC236}">
                <a16:creationId xmlns:a16="http://schemas.microsoft.com/office/drawing/2014/main" id="{A29D39A0-2527-5234-7F95-C39B62774F9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52357" y="1368912"/>
            <a:ext cx="8023138" cy="53554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937754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E2A18A-0CCD-705F-04A4-F91F88FB4A58}"/>
              </a:ext>
            </a:extLst>
          </p:cNvPr>
          <p:cNvSpPr>
            <a:spLocks noGrp="1"/>
          </p:cNvSpPr>
          <p:nvPr>
            <p:ph type="title"/>
          </p:nvPr>
        </p:nvSpPr>
        <p:spPr/>
        <p:txBody>
          <a:bodyPr/>
          <a:lstStyle/>
          <a:p>
            <a:r>
              <a:rPr lang="pt-BR" dirty="0"/>
              <a:t>REMOÇÃO DE TATUAGEM </a:t>
            </a:r>
          </a:p>
        </p:txBody>
      </p:sp>
      <p:pic>
        <p:nvPicPr>
          <p:cNvPr id="14338" name="Picture 2" descr="Remoção de Tatuagem | Dra. Érica Barros">
            <a:extLst>
              <a:ext uri="{FF2B5EF4-FFF2-40B4-BE49-F238E27FC236}">
                <a16:creationId xmlns:a16="http://schemas.microsoft.com/office/drawing/2014/main" id="{6348F9F7-BACB-7501-8C1C-447CA045D71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28800" y="1375325"/>
            <a:ext cx="8693834" cy="5350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088733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593EE9-A255-B00B-AC2A-D03C8EFACE3C}"/>
              </a:ext>
            </a:extLst>
          </p:cNvPr>
          <p:cNvSpPr>
            <a:spLocks noGrp="1"/>
          </p:cNvSpPr>
          <p:nvPr>
            <p:ph type="title"/>
          </p:nvPr>
        </p:nvSpPr>
        <p:spPr/>
        <p:txBody>
          <a:bodyPr/>
          <a:lstStyle/>
          <a:p>
            <a:r>
              <a:rPr lang="pt-BR" dirty="0"/>
              <a:t>REMOÇÃO DE TATUAGEM - PEELING DE HOLLYWOOD – BLACK PEEL</a:t>
            </a:r>
          </a:p>
        </p:txBody>
      </p:sp>
      <p:pic>
        <p:nvPicPr>
          <p:cNvPr id="25602" name="Picture 2" descr="Hollywood Peel - Estúdio Mais">
            <a:extLst>
              <a:ext uri="{FF2B5EF4-FFF2-40B4-BE49-F238E27FC236}">
                <a16:creationId xmlns:a16="http://schemas.microsoft.com/office/drawing/2014/main" id="{5480D599-8FD8-F04A-7D9F-BF61489DC1F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00997" y="1825625"/>
            <a:ext cx="5976305" cy="50371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310423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D4FE92-0061-C019-0EB4-A4ACC95FF4CE}"/>
              </a:ext>
            </a:extLst>
          </p:cNvPr>
          <p:cNvSpPr>
            <a:spLocks noGrp="1"/>
          </p:cNvSpPr>
          <p:nvPr>
            <p:ph type="title"/>
          </p:nvPr>
        </p:nvSpPr>
        <p:spPr/>
        <p:txBody>
          <a:bodyPr/>
          <a:lstStyle/>
          <a:p>
            <a:r>
              <a:rPr lang="pt-BR" dirty="0"/>
              <a:t>THULIUM </a:t>
            </a:r>
          </a:p>
        </p:txBody>
      </p:sp>
      <p:pic>
        <p:nvPicPr>
          <p:cNvPr id="26626" name="Picture 2" descr="Lavieen laser de Thulium - NeoLaser Locações De Equipamentos Médicos">
            <a:extLst>
              <a:ext uri="{FF2B5EF4-FFF2-40B4-BE49-F238E27FC236}">
                <a16:creationId xmlns:a16="http://schemas.microsoft.com/office/drawing/2014/main" id="{8FBF6368-8F76-CF6D-D25D-853F9840556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30991" y="168812"/>
            <a:ext cx="6499274" cy="64992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903625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F2DC13-5447-33D8-4B3B-57ED388F5D3E}"/>
              </a:ext>
            </a:extLst>
          </p:cNvPr>
          <p:cNvSpPr>
            <a:spLocks noGrp="1"/>
          </p:cNvSpPr>
          <p:nvPr>
            <p:ph type="title"/>
          </p:nvPr>
        </p:nvSpPr>
        <p:spPr/>
        <p:txBody>
          <a:bodyPr/>
          <a:lstStyle/>
          <a:p>
            <a:r>
              <a:rPr lang="pt-BR" dirty="0"/>
              <a:t>THULIUM </a:t>
            </a:r>
          </a:p>
        </p:txBody>
      </p:sp>
      <p:sp>
        <p:nvSpPr>
          <p:cNvPr id="3" name="Espaço Reservado para Conteúdo 2">
            <a:extLst>
              <a:ext uri="{FF2B5EF4-FFF2-40B4-BE49-F238E27FC236}">
                <a16:creationId xmlns:a16="http://schemas.microsoft.com/office/drawing/2014/main" id="{7BC363A8-CCBB-0ADB-47A9-434F0C33B468}"/>
              </a:ext>
            </a:extLst>
          </p:cNvPr>
          <p:cNvSpPr>
            <a:spLocks noGrp="1"/>
          </p:cNvSpPr>
          <p:nvPr>
            <p:ph idx="1"/>
          </p:nvPr>
        </p:nvSpPr>
        <p:spPr/>
        <p:txBody>
          <a:bodyPr>
            <a:normAutofit/>
          </a:bodyPr>
          <a:lstStyle/>
          <a:p>
            <a:pPr marL="0" indent="0">
              <a:buNone/>
            </a:pPr>
            <a:endParaRPr lang="pt-BR" sz="5400" dirty="0"/>
          </a:p>
          <a:p>
            <a:r>
              <a:rPr lang="pt-BR" sz="5400" dirty="0"/>
              <a:t>LASER FRACIONADO NÃO ABLATIVO</a:t>
            </a:r>
          </a:p>
          <a:p>
            <a:r>
              <a:rPr lang="pt-BR" sz="5400" dirty="0"/>
              <a:t>LAVIEEN – NOME COMERCIAL</a:t>
            </a:r>
          </a:p>
          <a:p>
            <a:r>
              <a:rPr lang="pt-BR" sz="5400" dirty="0"/>
              <a:t>GAYA HTM – NOME COMERCIAL </a:t>
            </a:r>
          </a:p>
          <a:p>
            <a:r>
              <a:rPr lang="pt-BR" sz="5400" dirty="0"/>
              <a:t>LASER BB GLOW</a:t>
            </a:r>
          </a:p>
        </p:txBody>
      </p:sp>
    </p:spTree>
    <p:extLst>
      <p:ext uri="{BB962C8B-B14F-4D97-AF65-F5344CB8AC3E}">
        <p14:creationId xmlns:p14="http://schemas.microsoft.com/office/powerpoint/2010/main" val="320376811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0E5851-3EA2-6AB5-C29E-C4D75FABF58D}"/>
              </a:ext>
            </a:extLst>
          </p:cNvPr>
          <p:cNvSpPr>
            <a:spLocks noGrp="1"/>
          </p:cNvSpPr>
          <p:nvPr>
            <p:ph type="title"/>
          </p:nvPr>
        </p:nvSpPr>
        <p:spPr/>
        <p:txBody>
          <a:bodyPr/>
          <a:lstStyle/>
          <a:p>
            <a:r>
              <a:rPr lang="pt-BR" dirty="0"/>
              <a:t>THULIUM</a:t>
            </a:r>
          </a:p>
        </p:txBody>
      </p:sp>
      <p:sp>
        <p:nvSpPr>
          <p:cNvPr id="3" name="Espaço Reservado para Conteúdo 2">
            <a:extLst>
              <a:ext uri="{FF2B5EF4-FFF2-40B4-BE49-F238E27FC236}">
                <a16:creationId xmlns:a16="http://schemas.microsoft.com/office/drawing/2014/main" id="{94A41917-8473-380E-3114-C943C33C942B}"/>
              </a:ext>
            </a:extLst>
          </p:cNvPr>
          <p:cNvSpPr>
            <a:spLocks noGrp="1"/>
          </p:cNvSpPr>
          <p:nvPr>
            <p:ph idx="1"/>
          </p:nvPr>
        </p:nvSpPr>
        <p:spPr/>
        <p:txBody>
          <a:bodyPr>
            <a:normAutofit lnSpcReduction="10000"/>
          </a:bodyPr>
          <a:lstStyle/>
          <a:p>
            <a:pPr algn="just"/>
            <a:r>
              <a:rPr lang="pt-BR" sz="5400" dirty="0"/>
              <a:t> O Laser de </a:t>
            </a:r>
            <a:r>
              <a:rPr lang="pt-BR" sz="5400" dirty="0" err="1"/>
              <a:t>Thulium</a:t>
            </a:r>
            <a:r>
              <a:rPr lang="pt-BR" sz="5400" dirty="0"/>
              <a:t> </a:t>
            </a:r>
            <a:r>
              <a:rPr lang="pt-BR" sz="5400" b="1" dirty="0"/>
              <a:t>1927nm</a:t>
            </a:r>
            <a:r>
              <a:rPr lang="pt-BR" sz="5400" dirty="0"/>
              <a:t> oferece muitos benefícios, ele é um procedimento tecnológico que visa tratar, rejuvenescer e restaurar a pele. Ele atua por meio da</a:t>
            </a:r>
            <a:br>
              <a:rPr lang="pt-BR" sz="5400" dirty="0"/>
            </a:br>
            <a:r>
              <a:rPr lang="pt-BR" sz="5400" dirty="0"/>
              <a:t>Fototermólise seletiva</a:t>
            </a:r>
          </a:p>
        </p:txBody>
      </p:sp>
    </p:spTree>
    <p:extLst>
      <p:ext uri="{BB962C8B-B14F-4D97-AF65-F5344CB8AC3E}">
        <p14:creationId xmlns:p14="http://schemas.microsoft.com/office/powerpoint/2010/main" val="328991533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957980-D9EB-5E0A-4B5B-7F6E69590EB2}"/>
              </a:ext>
            </a:extLst>
          </p:cNvPr>
          <p:cNvSpPr>
            <a:spLocks noGrp="1"/>
          </p:cNvSpPr>
          <p:nvPr>
            <p:ph type="title"/>
          </p:nvPr>
        </p:nvSpPr>
        <p:spPr/>
        <p:txBody>
          <a:bodyPr/>
          <a:lstStyle/>
          <a:p>
            <a:r>
              <a:rPr lang="pt-BR" dirty="0"/>
              <a:t>THULIUM</a:t>
            </a:r>
          </a:p>
        </p:txBody>
      </p:sp>
      <p:sp>
        <p:nvSpPr>
          <p:cNvPr id="3" name="Espaço Reservado para Conteúdo 2">
            <a:extLst>
              <a:ext uri="{FF2B5EF4-FFF2-40B4-BE49-F238E27FC236}">
                <a16:creationId xmlns:a16="http://schemas.microsoft.com/office/drawing/2014/main" id="{595FF6CC-D44C-1396-33FC-8CDF6DB710D2}"/>
              </a:ext>
            </a:extLst>
          </p:cNvPr>
          <p:cNvSpPr>
            <a:spLocks noGrp="1"/>
          </p:cNvSpPr>
          <p:nvPr>
            <p:ph idx="1"/>
          </p:nvPr>
        </p:nvSpPr>
        <p:spPr/>
        <p:txBody>
          <a:bodyPr/>
          <a:lstStyle/>
          <a:p>
            <a:pPr algn="just"/>
            <a:r>
              <a:rPr lang="pt-BR" dirty="0"/>
              <a:t>O QUE SIGNIFICA A FOTOTERMOLISE: </a:t>
            </a:r>
          </a:p>
          <a:p>
            <a:pPr algn="just"/>
            <a:r>
              <a:rPr lang="pt-BR" dirty="0"/>
              <a:t>O Laser que trabalha com o que se chama fototermólise seletiva, quer dizer que a luz vai ser específica e intensa, atraída pelo cromóforo, estrutura que pode ser um pigmento ou moléculas de água, possibilitando que a luz agrida somente a estrutura que se deseja atingir e muito pouco das estruturas vizinhas.</a:t>
            </a:r>
          </a:p>
        </p:txBody>
      </p:sp>
    </p:spTree>
    <p:extLst>
      <p:ext uri="{BB962C8B-B14F-4D97-AF65-F5344CB8AC3E}">
        <p14:creationId xmlns:p14="http://schemas.microsoft.com/office/powerpoint/2010/main" val="365612310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DC000-5A7D-B6FC-F33A-124F4ADDD05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0C8D124-6239-1239-A2E5-21D77346E09D}"/>
              </a:ext>
            </a:extLst>
          </p:cNvPr>
          <p:cNvSpPr>
            <a:spLocks noGrp="1"/>
          </p:cNvSpPr>
          <p:nvPr>
            <p:ph type="title"/>
          </p:nvPr>
        </p:nvSpPr>
        <p:spPr/>
        <p:txBody>
          <a:bodyPr/>
          <a:lstStyle/>
          <a:p>
            <a:r>
              <a:rPr lang="pt-BR" dirty="0"/>
              <a:t>THULIUM </a:t>
            </a:r>
          </a:p>
        </p:txBody>
      </p:sp>
      <p:sp>
        <p:nvSpPr>
          <p:cNvPr id="3" name="Espaço Reservado para Conteúdo 2">
            <a:extLst>
              <a:ext uri="{FF2B5EF4-FFF2-40B4-BE49-F238E27FC236}">
                <a16:creationId xmlns:a16="http://schemas.microsoft.com/office/drawing/2014/main" id="{DC1BC88D-26A2-1C7D-F0CE-B7ABAF2330EC}"/>
              </a:ext>
            </a:extLst>
          </p:cNvPr>
          <p:cNvSpPr>
            <a:spLocks noGrp="1"/>
          </p:cNvSpPr>
          <p:nvPr>
            <p:ph idx="1"/>
          </p:nvPr>
        </p:nvSpPr>
        <p:spPr/>
        <p:txBody>
          <a:bodyPr/>
          <a:lstStyle/>
          <a:p>
            <a:pPr algn="just"/>
            <a:r>
              <a:rPr lang="pt-BR" dirty="0"/>
              <a:t>O laser de </a:t>
            </a:r>
            <a:r>
              <a:rPr lang="pt-BR" dirty="0" err="1"/>
              <a:t>Thulium</a:t>
            </a:r>
            <a:r>
              <a:rPr lang="pt-BR" dirty="0"/>
              <a:t> é uma tecnologia de laser fracionado não ablativo, que atua nas camadas epidérmica e dérmica superficial da pele.</a:t>
            </a:r>
            <a:br>
              <a:rPr lang="pt-BR" dirty="0"/>
            </a:br>
            <a:r>
              <a:rPr lang="pt-BR" dirty="0"/>
              <a:t>Ele emite luz com comprimento de onda de 1927 nanômetros, o que permite uma ação precisa sobre a água presente nas células.</a:t>
            </a:r>
            <a:br>
              <a:rPr lang="pt-BR" dirty="0"/>
            </a:br>
            <a:r>
              <a:rPr lang="pt-BR" dirty="0"/>
              <a:t>Esse processo estimula a renovação celular e a produção de colágeno, fundamentais para melhorar textura, firmeza e uniformidade da pele.</a:t>
            </a:r>
          </a:p>
          <a:p>
            <a:pPr algn="just"/>
            <a:r>
              <a:rPr lang="pt-BR" dirty="0"/>
              <a:t>Diferente de lasers </a:t>
            </a:r>
            <a:r>
              <a:rPr lang="pt-BR" dirty="0" err="1"/>
              <a:t>ablativos,que</a:t>
            </a:r>
            <a:r>
              <a:rPr lang="pt-BR" dirty="0"/>
              <a:t> removem parte da epiderme, o </a:t>
            </a:r>
            <a:r>
              <a:rPr lang="pt-BR" dirty="0" err="1"/>
              <a:t>Thulium</a:t>
            </a:r>
            <a:r>
              <a:rPr lang="pt-BR" dirty="0"/>
              <a:t> age de forma controlada e segura, de maneira fracionada , o que reduz o tempo de recuperação e o desconforto pós-tratamento.</a:t>
            </a:r>
          </a:p>
          <a:p>
            <a:pPr marL="0" indent="0">
              <a:buNone/>
            </a:pPr>
            <a:endParaRPr lang="pt-BR" dirty="0"/>
          </a:p>
        </p:txBody>
      </p:sp>
    </p:spTree>
    <p:extLst>
      <p:ext uri="{BB962C8B-B14F-4D97-AF65-F5344CB8AC3E}">
        <p14:creationId xmlns:p14="http://schemas.microsoft.com/office/powerpoint/2010/main" val="342305986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17184-1733-9E85-9A92-A7338D2478E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BD3BB22-D4D3-92FD-2FDF-3A213ED3A56E}"/>
              </a:ext>
            </a:extLst>
          </p:cNvPr>
          <p:cNvSpPr>
            <a:spLocks noGrp="1"/>
          </p:cNvSpPr>
          <p:nvPr>
            <p:ph type="title"/>
          </p:nvPr>
        </p:nvSpPr>
        <p:spPr/>
        <p:txBody>
          <a:bodyPr/>
          <a:lstStyle/>
          <a:p>
            <a:r>
              <a:rPr lang="pt-BR" dirty="0"/>
              <a:t>THULIUM </a:t>
            </a:r>
          </a:p>
        </p:txBody>
      </p:sp>
      <p:sp>
        <p:nvSpPr>
          <p:cNvPr id="3" name="Espaço Reservado para Conteúdo 2">
            <a:extLst>
              <a:ext uri="{FF2B5EF4-FFF2-40B4-BE49-F238E27FC236}">
                <a16:creationId xmlns:a16="http://schemas.microsoft.com/office/drawing/2014/main" id="{800ECB34-B8BB-38C7-3AE1-C61061EA0E37}"/>
              </a:ext>
            </a:extLst>
          </p:cNvPr>
          <p:cNvSpPr>
            <a:spLocks noGrp="1"/>
          </p:cNvSpPr>
          <p:nvPr>
            <p:ph idx="1"/>
          </p:nvPr>
        </p:nvSpPr>
        <p:spPr/>
        <p:txBody>
          <a:bodyPr/>
          <a:lstStyle/>
          <a:p>
            <a:pPr algn="just"/>
            <a:r>
              <a:rPr lang="pt-BR" dirty="0"/>
              <a:t>O </a:t>
            </a:r>
            <a:r>
              <a:rPr lang="pt-BR" dirty="0">
                <a:hlinkClick r:id="rId2">
                  <a:extLst>
                    <a:ext uri="{A12FA001-AC4F-418D-AE19-62706E023703}">
                      <ahyp:hlinkClr xmlns:ahyp="http://schemas.microsoft.com/office/drawing/2018/hyperlinkcolor" val="tx"/>
                    </a:ext>
                  </a:extLst>
                </a:hlinkClick>
              </a:rPr>
              <a:t>laser de </a:t>
            </a:r>
            <a:r>
              <a:rPr lang="pt-BR" dirty="0" err="1">
                <a:hlinkClick r:id="rId2">
                  <a:extLst>
                    <a:ext uri="{A12FA001-AC4F-418D-AE19-62706E023703}">
                      <ahyp:hlinkClr xmlns:ahyp="http://schemas.microsoft.com/office/drawing/2018/hyperlinkcolor" val="tx"/>
                    </a:ext>
                  </a:extLst>
                </a:hlinkClick>
              </a:rPr>
              <a:t>Thulium</a:t>
            </a:r>
            <a:r>
              <a:rPr lang="pt-BR" dirty="0"/>
              <a:t> atinge apenas até a junção </a:t>
            </a:r>
            <a:r>
              <a:rPr lang="pt-BR" dirty="0" err="1"/>
              <a:t>dermoepidérmica</a:t>
            </a:r>
            <a:r>
              <a:rPr lang="pt-BR" dirty="0"/>
              <a:t> e não penetra na hipoderme. Na epiderme, ele entrega </a:t>
            </a:r>
            <a:r>
              <a:rPr lang="pt-BR" b="1" dirty="0"/>
              <a:t>CALOR</a:t>
            </a:r>
            <a:r>
              <a:rPr lang="pt-BR" dirty="0"/>
              <a:t> à pigmentação e derme superficial, produzindo colágeno e preservando a camada mais externa, de um modo geral o laser </a:t>
            </a:r>
            <a:r>
              <a:rPr lang="pt-BR" dirty="0" err="1"/>
              <a:t>Thulium</a:t>
            </a:r>
            <a:r>
              <a:rPr lang="pt-BR" dirty="0"/>
              <a:t> trabalha apenas na camada mais superficial da pele, promovendo o clareamento de manchas, a amenizar a aparência das linhas finas e o aumentando a firmeza da pele. </a:t>
            </a:r>
          </a:p>
        </p:txBody>
      </p:sp>
    </p:spTree>
    <p:extLst>
      <p:ext uri="{BB962C8B-B14F-4D97-AF65-F5344CB8AC3E}">
        <p14:creationId xmlns:p14="http://schemas.microsoft.com/office/powerpoint/2010/main" val="388263645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35B7F-1857-451C-EEEF-EDA4D6712B6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8013724-D525-3181-D564-CB7C4AF603B7}"/>
              </a:ext>
            </a:extLst>
          </p:cNvPr>
          <p:cNvSpPr>
            <a:spLocks noGrp="1"/>
          </p:cNvSpPr>
          <p:nvPr>
            <p:ph type="title"/>
          </p:nvPr>
        </p:nvSpPr>
        <p:spPr/>
        <p:txBody>
          <a:bodyPr/>
          <a:lstStyle/>
          <a:p>
            <a:r>
              <a:rPr lang="pt-BR" dirty="0"/>
              <a:t>THULIUM </a:t>
            </a:r>
          </a:p>
        </p:txBody>
      </p:sp>
      <p:sp>
        <p:nvSpPr>
          <p:cNvPr id="3" name="Espaço Reservado para Conteúdo 2">
            <a:extLst>
              <a:ext uri="{FF2B5EF4-FFF2-40B4-BE49-F238E27FC236}">
                <a16:creationId xmlns:a16="http://schemas.microsoft.com/office/drawing/2014/main" id="{556D924B-FCAC-8688-F23B-D86A1CE97494}"/>
              </a:ext>
            </a:extLst>
          </p:cNvPr>
          <p:cNvSpPr>
            <a:spLocks noGrp="1"/>
          </p:cNvSpPr>
          <p:nvPr>
            <p:ph idx="1"/>
          </p:nvPr>
        </p:nvSpPr>
        <p:spPr/>
        <p:txBody>
          <a:bodyPr/>
          <a:lstStyle/>
          <a:p>
            <a:pPr algn="just"/>
            <a:r>
              <a:rPr lang="pt-BR" dirty="0"/>
              <a:t>O Laser de </a:t>
            </a:r>
            <a:r>
              <a:rPr lang="pt-BR" dirty="0" err="1"/>
              <a:t>Thulium</a:t>
            </a:r>
            <a:r>
              <a:rPr lang="pt-BR" dirty="0"/>
              <a:t> possui </a:t>
            </a:r>
            <a:r>
              <a:rPr lang="pt-BR" b="1" dirty="0"/>
              <a:t>ALTA ABSORÇÃO EM AGUA </a:t>
            </a:r>
            <a:r>
              <a:rPr lang="pt-BR" dirty="0"/>
              <a:t>e proporciona efeitos de rejuvenescimento e realiza o tratamento de manchas, rugas finas, cicatrizes e outras condições, de modo geral o tratamento com laser de </a:t>
            </a:r>
            <a:r>
              <a:rPr lang="pt-BR" dirty="0" err="1"/>
              <a:t>Thulium</a:t>
            </a:r>
            <a:r>
              <a:rPr lang="pt-BR" dirty="0"/>
              <a:t> ajuda a reverter rugas e remover manchas no rosto e corpo. </a:t>
            </a:r>
          </a:p>
        </p:txBody>
      </p:sp>
    </p:spTree>
    <p:extLst>
      <p:ext uri="{BB962C8B-B14F-4D97-AF65-F5344CB8AC3E}">
        <p14:creationId xmlns:p14="http://schemas.microsoft.com/office/powerpoint/2010/main" val="19973367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3FBF7-4F75-61CE-D33C-EEF382229A6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2F10E1C-79B4-BB50-8AE6-B30BD09BC04A}"/>
              </a:ext>
            </a:extLst>
          </p:cNvPr>
          <p:cNvSpPr>
            <a:spLocks noGrp="1"/>
          </p:cNvSpPr>
          <p:nvPr>
            <p:ph type="title"/>
          </p:nvPr>
        </p:nvSpPr>
        <p:spPr/>
        <p:txBody>
          <a:bodyPr/>
          <a:lstStyle/>
          <a:p>
            <a:r>
              <a:rPr lang="pt-BR" dirty="0"/>
              <a:t>THULIUM </a:t>
            </a:r>
          </a:p>
        </p:txBody>
      </p:sp>
      <p:sp>
        <p:nvSpPr>
          <p:cNvPr id="3" name="Espaço Reservado para Conteúdo 2">
            <a:extLst>
              <a:ext uri="{FF2B5EF4-FFF2-40B4-BE49-F238E27FC236}">
                <a16:creationId xmlns:a16="http://schemas.microsoft.com/office/drawing/2014/main" id="{C02785B9-EEA9-ADE5-1585-5B52BE2DC7CD}"/>
              </a:ext>
            </a:extLst>
          </p:cNvPr>
          <p:cNvSpPr>
            <a:spLocks noGrp="1"/>
          </p:cNvSpPr>
          <p:nvPr>
            <p:ph idx="1"/>
          </p:nvPr>
        </p:nvSpPr>
        <p:spPr/>
        <p:txBody>
          <a:bodyPr/>
          <a:lstStyle/>
          <a:p>
            <a:pPr algn="just" fontAlgn="base"/>
            <a:r>
              <a:rPr lang="pt-BR" dirty="0"/>
              <a:t>APLICABILIDADE: </a:t>
            </a:r>
          </a:p>
          <a:p>
            <a:pPr algn="just" fontAlgn="base"/>
            <a:r>
              <a:rPr lang="pt-BR" dirty="0"/>
              <a:t>Realiza a higienização da pele aplicando um creme anestésico 30 minutos antes do tratamento, e antes de iniciar a técnica o produto é retirado para que o laser de </a:t>
            </a:r>
            <a:r>
              <a:rPr lang="pt-BR" dirty="0" err="1"/>
              <a:t>Thulium</a:t>
            </a:r>
            <a:r>
              <a:rPr lang="pt-BR" dirty="0"/>
              <a:t> seja aplicado e a duração é bem rápida, chegando em torno de 10 minutos.  </a:t>
            </a:r>
          </a:p>
          <a:p>
            <a:pPr algn="just" fontAlgn="base"/>
            <a:r>
              <a:rPr lang="pt-BR" dirty="0"/>
              <a:t>Após o tratamento é recomendado resfriar a pele com máscaras calmantes e refrigeradas e utilizar muito filtro solar para proteger o local onde foi aplicado o laser, além de ser indicado utilizar creme hidratante durante 1 semana após o tratamento com laser de </a:t>
            </a:r>
            <a:r>
              <a:rPr lang="pt-BR" dirty="0" err="1"/>
              <a:t>Thulium</a:t>
            </a:r>
            <a:r>
              <a:rPr lang="pt-BR" dirty="0"/>
              <a:t>.</a:t>
            </a:r>
          </a:p>
          <a:p>
            <a:endParaRPr lang="pt-BR" dirty="0"/>
          </a:p>
        </p:txBody>
      </p:sp>
    </p:spTree>
    <p:extLst>
      <p:ext uri="{BB962C8B-B14F-4D97-AF65-F5344CB8AC3E}">
        <p14:creationId xmlns:p14="http://schemas.microsoft.com/office/powerpoint/2010/main" val="191209728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8385B-2383-40C0-2748-EEF9CD73E56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59307F3-123A-174C-6756-7423C7E12A2E}"/>
              </a:ext>
            </a:extLst>
          </p:cNvPr>
          <p:cNvSpPr>
            <a:spLocks noGrp="1"/>
          </p:cNvSpPr>
          <p:nvPr>
            <p:ph type="title"/>
          </p:nvPr>
        </p:nvSpPr>
        <p:spPr/>
        <p:txBody>
          <a:bodyPr/>
          <a:lstStyle/>
          <a:p>
            <a:r>
              <a:rPr lang="pt-BR" dirty="0"/>
              <a:t>THULIUM </a:t>
            </a:r>
          </a:p>
        </p:txBody>
      </p:sp>
      <p:sp>
        <p:nvSpPr>
          <p:cNvPr id="3" name="Espaço Reservado para Conteúdo 2">
            <a:extLst>
              <a:ext uri="{FF2B5EF4-FFF2-40B4-BE49-F238E27FC236}">
                <a16:creationId xmlns:a16="http://schemas.microsoft.com/office/drawing/2014/main" id="{1AE70E4D-F525-54A6-CD7D-248CA233A59C}"/>
              </a:ext>
            </a:extLst>
          </p:cNvPr>
          <p:cNvSpPr>
            <a:spLocks noGrp="1"/>
          </p:cNvSpPr>
          <p:nvPr>
            <p:ph idx="1"/>
          </p:nvPr>
        </p:nvSpPr>
        <p:spPr>
          <a:xfrm>
            <a:off x="838200" y="1825625"/>
            <a:ext cx="10515600" cy="4667250"/>
          </a:xfrm>
        </p:spPr>
        <p:txBody>
          <a:bodyPr>
            <a:normAutofit fontScale="85000" lnSpcReduction="10000"/>
          </a:bodyPr>
          <a:lstStyle/>
          <a:p>
            <a:pPr algn="just" fontAlgn="base"/>
            <a:r>
              <a:rPr lang="pt-BR" dirty="0"/>
              <a:t>INDICAÇÕES: </a:t>
            </a:r>
          </a:p>
          <a:p>
            <a:pPr algn="just" fontAlgn="base"/>
            <a:r>
              <a:rPr lang="pt-BR" dirty="0"/>
              <a:t>Rejuvenescimento facial e corporal, pois o laser de </a:t>
            </a:r>
            <a:r>
              <a:rPr lang="pt-BR" dirty="0" err="1"/>
              <a:t>Thulium</a:t>
            </a:r>
            <a:r>
              <a:rPr lang="pt-BR" dirty="0"/>
              <a:t> estimula a produção de colágeno e favorece o processo de rejuvenescimento intenso e moderado;</a:t>
            </a:r>
          </a:p>
          <a:p>
            <a:pPr algn="just" fontAlgn="base"/>
            <a:r>
              <a:rPr lang="pt-BR" dirty="0"/>
              <a:t>Efeito BB </a:t>
            </a:r>
            <a:r>
              <a:rPr lang="pt-BR" dirty="0" err="1"/>
              <a:t>Glow</a:t>
            </a:r>
            <a:r>
              <a:rPr lang="pt-BR" dirty="0"/>
              <a:t> proporciona uma melhora na aparência geral da pele;</a:t>
            </a:r>
          </a:p>
          <a:p>
            <a:pPr algn="just" fontAlgn="base"/>
            <a:r>
              <a:rPr lang="pt-BR" dirty="0"/>
              <a:t>Regeneração tecidual, o tratamento com o laser de </a:t>
            </a:r>
            <a:r>
              <a:rPr lang="pt-BR" dirty="0" err="1"/>
              <a:t>Thulium</a:t>
            </a:r>
            <a:r>
              <a:rPr lang="pt-BR" dirty="0"/>
              <a:t> promove a redução da aparência dos poros, linhas finas e cicatrizes;</a:t>
            </a:r>
          </a:p>
          <a:p>
            <a:pPr algn="just" fontAlgn="base"/>
            <a:r>
              <a:rPr lang="pt-BR" dirty="0"/>
              <a:t>Tratamento de manchas e lesões pigmentares, pois o laser atua regenerando e estimulando a pele, removendo tecidos mortos, resultando no clareamento da lesão;</a:t>
            </a:r>
          </a:p>
          <a:p>
            <a:pPr algn="just" fontAlgn="base"/>
            <a:r>
              <a:rPr lang="pt-BR" dirty="0"/>
              <a:t>Tratamento com laser de </a:t>
            </a:r>
            <a:r>
              <a:rPr lang="pt-BR" dirty="0" err="1"/>
              <a:t>Thulium</a:t>
            </a:r>
            <a:r>
              <a:rPr lang="pt-BR" dirty="0"/>
              <a:t> atua no </a:t>
            </a:r>
            <a:r>
              <a:rPr lang="pt-BR" dirty="0" err="1"/>
              <a:t>melasma</a:t>
            </a:r>
            <a:r>
              <a:rPr lang="pt-BR" dirty="0"/>
              <a:t>, pois melhora as manchas escuras na pele;</a:t>
            </a:r>
          </a:p>
          <a:p>
            <a:pPr algn="just" fontAlgn="base"/>
            <a:r>
              <a:rPr lang="pt-BR" dirty="0"/>
              <a:t>Queda de cabelos, o</a:t>
            </a:r>
            <a:r>
              <a:rPr lang="pt-BR" b="1" dirty="0"/>
              <a:t> </a:t>
            </a:r>
            <a:r>
              <a:rPr lang="pt-BR" dirty="0"/>
              <a:t>tratamento com laser </a:t>
            </a:r>
            <a:r>
              <a:rPr lang="pt-BR" dirty="0" err="1"/>
              <a:t>Thulium</a:t>
            </a:r>
            <a:r>
              <a:rPr lang="pt-BR" dirty="0"/>
              <a:t> também trata da queda capilar, estimulando o crescimento de novos fios;</a:t>
            </a:r>
          </a:p>
          <a:p>
            <a:endParaRPr lang="pt-BR" dirty="0"/>
          </a:p>
        </p:txBody>
      </p:sp>
    </p:spTree>
    <p:extLst>
      <p:ext uri="{BB962C8B-B14F-4D97-AF65-F5344CB8AC3E}">
        <p14:creationId xmlns:p14="http://schemas.microsoft.com/office/powerpoint/2010/main" val="300138115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76B05-13D7-281E-DDFA-39F5BC4911D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1A61AEB-5E5E-29E8-7C0B-BE9B99635E9B}"/>
              </a:ext>
            </a:extLst>
          </p:cNvPr>
          <p:cNvSpPr>
            <a:spLocks noGrp="1"/>
          </p:cNvSpPr>
          <p:nvPr>
            <p:ph type="title"/>
          </p:nvPr>
        </p:nvSpPr>
        <p:spPr/>
        <p:txBody>
          <a:bodyPr/>
          <a:lstStyle/>
          <a:p>
            <a:r>
              <a:rPr lang="pt-BR" dirty="0"/>
              <a:t>THULIUM </a:t>
            </a:r>
          </a:p>
        </p:txBody>
      </p:sp>
      <p:pic>
        <p:nvPicPr>
          <p:cNvPr id="27650" name="Picture 2" descr="Laser Lavieen Thulium | Tudo Que Você Precisa Saber.">
            <a:extLst>
              <a:ext uri="{FF2B5EF4-FFF2-40B4-BE49-F238E27FC236}">
                <a16:creationId xmlns:a16="http://schemas.microsoft.com/office/drawing/2014/main" id="{815D328F-7E8A-078A-C0FE-5EF2167AB7E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60651" y="-42203"/>
            <a:ext cx="6893169" cy="68931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904647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24CAB-D1F8-B3C1-04B6-9B4819A1248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FD7B663-C298-C096-C709-E62700735F87}"/>
              </a:ext>
            </a:extLst>
          </p:cNvPr>
          <p:cNvSpPr>
            <a:spLocks noGrp="1"/>
          </p:cNvSpPr>
          <p:nvPr>
            <p:ph type="title"/>
          </p:nvPr>
        </p:nvSpPr>
        <p:spPr/>
        <p:txBody>
          <a:bodyPr/>
          <a:lstStyle/>
          <a:p>
            <a:r>
              <a:rPr lang="pt-BR" dirty="0"/>
              <a:t>THULIUM </a:t>
            </a:r>
          </a:p>
        </p:txBody>
      </p:sp>
      <p:pic>
        <p:nvPicPr>
          <p:cNvPr id="28674" name="Picture 2">
            <a:extLst>
              <a:ext uri="{FF2B5EF4-FFF2-40B4-BE49-F238E27FC236}">
                <a16:creationId xmlns:a16="http://schemas.microsoft.com/office/drawing/2014/main" id="{8DF0A3B5-CB0B-AEB8-A5FB-4B17196AA4C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167958" y="138276"/>
            <a:ext cx="5707562" cy="65814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699651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59EC7-EEDA-4DCE-A2A0-512D607B5B5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95C90DC-EFF9-0077-70C7-F69491629DFF}"/>
              </a:ext>
            </a:extLst>
          </p:cNvPr>
          <p:cNvSpPr>
            <a:spLocks noGrp="1"/>
          </p:cNvSpPr>
          <p:nvPr>
            <p:ph type="title"/>
          </p:nvPr>
        </p:nvSpPr>
        <p:spPr/>
        <p:txBody>
          <a:bodyPr/>
          <a:lstStyle/>
          <a:p>
            <a:r>
              <a:rPr lang="pt-BR" dirty="0"/>
              <a:t>THULIUM </a:t>
            </a:r>
          </a:p>
        </p:txBody>
      </p:sp>
      <p:pic>
        <p:nvPicPr>
          <p:cNvPr id="29698" name="Picture 2" descr="3 Advantages of the 1927nm Thulium Laser for Skin Rejuvenation - sinogalvo">
            <a:extLst>
              <a:ext uri="{FF2B5EF4-FFF2-40B4-BE49-F238E27FC236}">
                <a16:creationId xmlns:a16="http://schemas.microsoft.com/office/drawing/2014/main" id="{0D1677D0-2382-9E15-6D0F-58805870D24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16259" y="1337710"/>
            <a:ext cx="8947052" cy="5441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770685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527F5-F05C-4845-5EB6-EC58AA6A7BE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00CFE3E-1A64-5109-79B4-A7640DE07FEE}"/>
              </a:ext>
            </a:extLst>
          </p:cNvPr>
          <p:cNvSpPr>
            <a:spLocks noGrp="1"/>
          </p:cNvSpPr>
          <p:nvPr>
            <p:ph type="title"/>
          </p:nvPr>
        </p:nvSpPr>
        <p:spPr/>
        <p:txBody>
          <a:bodyPr/>
          <a:lstStyle/>
          <a:p>
            <a:r>
              <a:rPr lang="pt-BR" dirty="0"/>
              <a:t>THULIUM </a:t>
            </a:r>
          </a:p>
        </p:txBody>
      </p:sp>
      <p:pic>
        <p:nvPicPr>
          <p:cNvPr id="30722" name="Picture 2" descr="Lavieen BB Laser | Jess Corporal - Rejuvenescimento e Clareamento da Pele  em Porto Alegre">
            <a:extLst>
              <a:ext uri="{FF2B5EF4-FFF2-40B4-BE49-F238E27FC236}">
                <a16:creationId xmlns:a16="http://schemas.microsoft.com/office/drawing/2014/main" id="{D12676EC-0ECE-DC7A-B618-74663BEC937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23889" y="1306408"/>
            <a:ext cx="9819249" cy="5431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991568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45698F-6279-8413-2FA9-4953812E236D}"/>
              </a:ext>
            </a:extLst>
          </p:cNvPr>
          <p:cNvSpPr>
            <a:spLocks noGrp="1"/>
          </p:cNvSpPr>
          <p:nvPr>
            <p:ph type="title"/>
          </p:nvPr>
        </p:nvSpPr>
        <p:spPr/>
        <p:txBody>
          <a:bodyPr/>
          <a:lstStyle/>
          <a:p>
            <a:r>
              <a:rPr lang="pt-BR" dirty="0"/>
              <a:t>THULIUM</a:t>
            </a:r>
          </a:p>
        </p:txBody>
      </p:sp>
      <p:pic>
        <p:nvPicPr>
          <p:cNvPr id="31746" name="Picture 2" descr="Laser Lavieen Facial para Manchas solares Melasma Thulium Rosto Full F –  Wesch Clinic">
            <a:extLst>
              <a:ext uri="{FF2B5EF4-FFF2-40B4-BE49-F238E27FC236}">
                <a16:creationId xmlns:a16="http://schemas.microsoft.com/office/drawing/2014/main" id="{FC53DE08-9214-8531-1BBF-9D9CFE6EF67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046940" y="298535"/>
            <a:ext cx="6194340" cy="61943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500160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F17D88-ECB2-D3B2-C7D0-A4F2EB7228C3}"/>
              </a:ext>
            </a:extLst>
          </p:cNvPr>
          <p:cNvSpPr>
            <a:spLocks noGrp="1"/>
          </p:cNvSpPr>
          <p:nvPr>
            <p:ph type="title"/>
          </p:nvPr>
        </p:nvSpPr>
        <p:spPr/>
        <p:txBody>
          <a:bodyPr/>
          <a:lstStyle/>
          <a:p>
            <a:r>
              <a:rPr lang="pt-BR" dirty="0"/>
              <a:t>CO2 FRACIONADO</a:t>
            </a:r>
          </a:p>
        </p:txBody>
      </p:sp>
      <p:pic>
        <p:nvPicPr>
          <p:cNvPr id="5" name="Espaço Reservado para Conteúdo 4">
            <a:extLst>
              <a:ext uri="{FF2B5EF4-FFF2-40B4-BE49-F238E27FC236}">
                <a16:creationId xmlns:a16="http://schemas.microsoft.com/office/drawing/2014/main" id="{B80BEC7B-F803-8685-4ABB-A204E171A97C}"/>
              </a:ext>
            </a:extLst>
          </p:cNvPr>
          <p:cNvPicPr>
            <a:picLocks noGrp="1" noChangeAspect="1"/>
          </p:cNvPicPr>
          <p:nvPr>
            <p:ph idx="1"/>
          </p:nvPr>
        </p:nvPicPr>
        <p:blipFill>
          <a:blip r:embed="rId2"/>
          <a:stretch>
            <a:fillRect/>
          </a:stretch>
        </p:blipFill>
        <p:spPr>
          <a:xfrm>
            <a:off x="5270996" y="255374"/>
            <a:ext cx="5575195" cy="6419480"/>
          </a:xfrm>
          <a:prstGeom prst="rect">
            <a:avLst/>
          </a:prstGeom>
        </p:spPr>
      </p:pic>
    </p:spTree>
    <p:extLst>
      <p:ext uri="{BB962C8B-B14F-4D97-AF65-F5344CB8AC3E}">
        <p14:creationId xmlns:p14="http://schemas.microsoft.com/office/powerpoint/2010/main" val="406943938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64E038-0742-D816-43F5-FBB192AB57A3}"/>
              </a:ext>
            </a:extLst>
          </p:cNvPr>
          <p:cNvSpPr>
            <a:spLocks noGrp="1"/>
          </p:cNvSpPr>
          <p:nvPr>
            <p:ph type="title"/>
          </p:nvPr>
        </p:nvSpPr>
        <p:spPr/>
        <p:txBody>
          <a:bodyPr/>
          <a:lstStyle/>
          <a:p>
            <a:r>
              <a:rPr lang="pt-BR" dirty="0"/>
              <a:t>CO2 FRACIONADO </a:t>
            </a:r>
          </a:p>
        </p:txBody>
      </p:sp>
      <p:pic>
        <p:nvPicPr>
          <p:cNvPr id="34818" name="Picture 2" descr="Laser CO2 Fracionado para Rejuvenescimento Facial">
            <a:extLst>
              <a:ext uri="{FF2B5EF4-FFF2-40B4-BE49-F238E27FC236}">
                <a16:creationId xmlns:a16="http://schemas.microsoft.com/office/drawing/2014/main" id="{D50F3E27-1842-88C3-97A2-FA9567A1B6A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362178" y="1256537"/>
            <a:ext cx="5430129" cy="5451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435557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FF5AD-38A6-E938-7265-E58A081DCFE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B1F691A-30EF-EF4F-2C13-90F8858E518E}"/>
              </a:ext>
            </a:extLst>
          </p:cNvPr>
          <p:cNvSpPr>
            <a:spLocks noGrp="1"/>
          </p:cNvSpPr>
          <p:nvPr>
            <p:ph type="title"/>
          </p:nvPr>
        </p:nvSpPr>
        <p:spPr/>
        <p:txBody>
          <a:bodyPr/>
          <a:lstStyle/>
          <a:p>
            <a:r>
              <a:rPr lang="pt-BR" dirty="0"/>
              <a:t>CO2 FRACIONADO </a:t>
            </a:r>
          </a:p>
        </p:txBody>
      </p:sp>
      <p:pic>
        <p:nvPicPr>
          <p:cNvPr id="32770" name="Picture 2" descr="Laser CO2 - Diga Adeus às Cicatrizes e Marcas de Acne">
            <a:extLst>
              <a:ext uri="{FF2B5EF4-FFF2-40B4-BE49-F238E27FC236}">
                <a16:creationId xmlns:a16="http://schemas.microsoft.com/office/drawing/2014/main" id="{1F7BE6CD-3317-DE72-ABE0-D2A3961C0CD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77772" y="1265264"/>
            <a:ext cx="5613010" cy="54492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540537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B38250-C385-1E17-BDD0-3E9459183D32}"/>
              </a:ext>
            </a:extLst>
          </p:cNvPr>
          <p:cNvSpPr>
            <a:spLocks noGrp="1"/>
          </p:cNvSpPr>
          <p:nvPr>
            <p:ph type="title"/>
          </p:nvPr>
        </p:nvSpPr>
        <p:spPr/>
        <p:txBody>
          <a:bodyPr/>
          <a:lstStyle/>
          <a:p>
            <a:r>
              <a:rPr lang="pt-BR" dirty="0"/>
              <a:t>CO2 FRACIONADO</a:t>
            </a:r>
          </a:p>
        </p:txBody>
      </p:sp>
      <p:sp>
        <p:nvSpPr>
          <p:cNvPr id="3" name="Espaço Reservado para Conteúdo 2">
            <a:extLst>
              <a:ext uri="{FF2B5EF4-FFF2-40B4-BE49-F238E27FC236}">
                <a16:creationId xmlns:a16="http://schemas.microsoft.com/office/drawing/2014/main" id="{A2D05A22-92A8-0994-CAF2-EA314F99B66F}"/>
              </a:ext>
            </a:extLst>
          </p:cNvPr>
          <p:cNvSpPr>
            <a:spLocks noGrp="1"/>
          </p:cNvSpPr>
          <p:nvPr>
            <p:ph idx="1"/>
          </p:nvPr>
        </p:nvSpPr>
        <p:spPr/>
        <p:txBody>
          <a:bodyPr/>
          <a:lstStyle/>
          <a:p>
            <a:r>
              <a:rPr lang="pt-BR" dirty="0"/>
              <a:t>O </a:t>
            </a:r>
            <a:r>
              <a:rPr lang="pt-BR" b="1" dirty="0"/>
              <a:t>CO₂ fracionado</a:t>
            </a:r>
            <a:r>
              <a:rPr lang="pt-BR" dirty="0"/>
              <a:t> é um dos lasers mais potentes da estética e dermatologia, utilizado para rejuvenescimento profundo, cicatrizes e renovação da pele.</a:t>
            </a:r>
          </a:p>
          <a:p>
            <a:r>
              <a:rPr lang="pt-BR" dirty="0"/>
              <a:t>Ele emite um feixe de luz com comprimento de onda de </a:t>
            </a:r>
            <a:r>
              <a:rPr lang="pt-BR" b="1" dirty="0"/>
              <a:t>10.600 </a:t>
            </a:r>
            <a:r>
              <a:rPr lang="pt-BR" b="1" dirty="0" err="1"/>
              <a:t>nm</a:t>
            </a:r>
            <a:r>
              <a:rPr lang="pt-BR" dirty="0"/>
              <a:t>, com alta afinidade pela água da pele.</a:t>
            </a:r>
          </a:p>
          <a:p>
            <a:r>
              <a:rPr lang="pt-BR" dirty="0"/>
              <a:t>FAZ FOTOTERMOLISE SELETIVA.</a:t>
            </a:r>
          </a:p>
          <a:p>
            <a:r>
              <a:rPr lang="pt-BR" dirty="0"/>
              <a:t>É UM LASER ALTAMENTE ABLATIVO</a:t>
            </a:r>
          </a:p>
          <a:p>
            <a:pPr marL="0" indent="0">
              <a:buNone/>
            </a:pPr>
            <a:endParaRPr lang="pt-BR" dirty="0"/>
          </a:p>
        </p:txBody>
      </p:sp>
    </p:spTree>
    <p:extLst>
      <p:ext uri="{BB962C8B-B14F-4D97-AF65-F5344CB8AC3E}">
        <p14:creationId xmlns:p14="http://schemas.microsoft.com/office/powerpoint/2010/main" val="209516642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1803A0-EBFC-66AE-0C21-FCB3BD49068B}"/>
              </a:ext>
            </a:extLst>
          </p:cNvPr>
          <p:cNvSpPr>
            <a:spLocks noGrp="1"/>
          </p:cNvSpPr>
          <p:nvPr>
            <p:ph type="title"/>
          </p:nvPr>
        </p:nvSpPr>
        <p:spPr/>
        <p:txBody>
          <a:bodyPr/>
          <a:lstStyle/>
          <a:p>
            <a:r>
              <a:rPr lang="pt-BR" dirty="0"/>
              <a:t>CO2 FRACIONADO</a:t>
            </a:r>
          </a:p>
        </p:txBody>
      </p:sp>
      <p:pic>
        <p:nvPicPr>
          <p:cNvPr id="5" name="Espaço Reservado para Conteúdo 4">
            <a:extLst>
              <a:ext uri="{FF2B5EF4-FFF2-40B4-BE49-F238E27FC236}">
                <a16:creationId xmlns:a16="http://schemas.microsoft.com/office/drawing/2014/main" id="{2E72A822-99A2-E5FF-22C4-39981AFD87CC}"/>
              </a:ext>
            </a:extLst>
          </p:cNvPr>
          <p:cNvPicPr>
            <a:picLocks noGrp="1" noChangeAspect="1"/>
          </p:cNvPicPr>
          <p:nvPr>
            <p:ph idx="1"/>
          </p:nvPr>
        </p:nvPicPr>
        <p:blipFill>
          <a:blip r:embed="rId2"/>
          <a:stretch>
            <a:fillRect/>
          </a:stretch>
        </p:blipFill>
        <p:spPr>
          <a:xfrm>
            <a:off x="733146" y="1941342"/>
            <a:ext cx="10971174" cy="4032648"/>
          </a:xfrm>
          <a:prstGeom prst="rect">
            <a:avLst/>
          </a:prstGeom>
        </p:spPr>
      </p:pic>
    </p:spTree>
    <p:extLst>
      <p:ext uri="{BB962C8B-B14F-4D97-AF65-F5344CB8AC3E}">
        <p14:creationId xmlns:p14="http://schemas.microsoft.com/office/powerpoint/2010/main" val="1759712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2F5AB-1074-9A23-D0C4-804FA83449C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83A7C62-2B39-3539-3854-FAA51B28E8A4}"/>
              </a:ext>
            </a:extLst>
          </p:cNvPr>
          <p:cNvSpPr>
            <a:spLocks noGrp="1"/>
          </p:cNvSpPr>
          <p:nvPr>
            <p:ph type="title"/>
          </p:nvPr>
        </p:nvSpPr>
        <p:spPr/>
        <p:txBody>
          <a:bodyPr/>
          <a:lstStyle/>
          <a:p>
            <a:r>
              <a:rPr lang="pt-BR" dirty="0"/>
              <a:t>CO2 FRACIONADO </a:t>
            </a:r>
          </a:p>
        </p:txBody>
      </p:sp>
      <p:pic>
        <p:nvPicPr>
          <p:cNvPr id="33802" name="Picture 10" descr="Rejuvenescimento com laser Fracionado | Minha Pele Saudável">
            <a:extLst>
              <a:ext uri="{FF2B5EF4-FFF2-40B4-BE49-F238E27FC236}">
                <a16:creationId xmlns:a16="http://schemas.microsoft.com/office/drawing/2014/main" id="{38B2C719-8076-53FF-040E-3FCE64D2271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4910" y="1254880"/>
            <a:ext cx="11015004" cy="5509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781395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9D119-1CDB-67BC-701A-9DDB6B9DF47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7A70032-4EE7-42FF-ACDF-5C20848D3EB0}"/>
              </a:ext>
            </a:extLst>
          </p:cNvPr>
          <p:cNvSpPr>
            <a:spLocks noGrp="1"/>
          </p:cNvSpPr>
          <p:nvPr>
            <p:ph type="title"/>
          </p:nvPr>
        </p:nvSpPr>
        <p:spPr/>
        <p:txBody>
          <a:bodyPr/>
          <a:lstStyle/>
          <a:p>
            <a:r>
              <a:rPr lang="pt-BR" dirty="0"/>
              <a:t>CO2 FRACIONADO </a:t>
            </a:r>
          </a:p>
        </p:txBody>
      </p:sp>
      <p:sp>
        <p:nvSpPr>
          <p:cNvPr id="3" name="Espaço Reservado para Conteúdo 2">
            <a:extLst>
              <a:ext uri="{FF2B5EF4-FFF2-40B4-BE49-F238E27FC236}">
                <a16:creationId xmlns:a16="http://schemas.microsoft.com/office/drawing/2014/main" id="{2AA953BA-3486-CCC7-4112-8C50632FFE05}"/>
              </a:ext>
            </a:extLst>
          </p:cNvPr>
          <p:cNvSpPr>
            <a:spLocks noGrp="1"/>
          </p:cNvSpPr>
          <p:nvPr>
            <p:ph idx="1"/>
          </p:nvPr>
        </p:nvSpPr>
        <p:spPr/>
        <p:txBody>
          <a:bodyPr/>
          <a:lstStyle/>
          <a:p>
            <a:pPr algn="just">
              <a:lnSpc>
                <a:spcPct val="150000"/>
              </a:lnSpc>
              <a:spcBef>
                <a:spcPts val="0"/>
              </a:spcBef>
            </a:pPr>
            <a:r>
              <a:rPr lang="pt-BR" dirty="0"/>
              <a:t>O laser de CO2 causa o rápido aumento de temperatura dos tecidos destruindo a epiderme (corrigindo as imperfeições superficiais), e induzindo a remodelação do </a:t>
            </a:r>
            <a:r>
              <a:rPr lang="pt-BR" dirty="0" err="1"/>
              <a:t>colagéneo</a:t>
            </a:r>
            <a:r>
              <a:rPr lang="pt-BR" dirty="0"/>
              <a:t> na derme (com consequente melhoria das rugas e da flacidez cutânea). O facto de ser fracionado permite obter estes efeitos na pele mantendo “ilhas” micrométricas de epiderme e derme íntegras entre as áreas tratadas.</a:t>
            </a:r>
          </a:p>
          <a:p>
            <a:pPr algn="just"/>
            <a:endParaRPr lang="pt-BR" dirty="0"/>
          </a:p>
        </p:txBody>
      </p:sp>
    </p:spTree>
    <p:extLst>
      <p:ext uri="{BB962C8B-B14F-4D97-AF65-F5344CB8AC3E}">
        <p14:creationId xmlns:p14="http://schemas.microsoft.com/office/powerpoint/2010/main" val="38815344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7A8C0-381E-EAAD-A2D9-0071B2A946A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BD7EE1A-C286-BE48-1D03-ED47F9C41766}"/>
              </a:ext>
            </a:extLst>
          </p:cNvPr>
          <p:cNvSpPr>
            <a:spLocks noGrp="1"/>
          </p:cNvSpPr>
          <p:nvPr>
            <p:ph type="title"/>
          </p:nvPr>
        </p:nvSpPr>
        <p:spPr/>
        <p:txBody>
          <a:bodyPr/>
          <a:lstStyle/>
          <a:p>
            <a:r>
              <a:rPr lang="pt-BR" dirty="0"/>
              <a:t>CO2 FRACIONADO </a:t>
            </a:r>
          </a:p>
        </p:txBody>
      </p:sp>
      <p:sp>
        <p:nvSpPr>
          <p:cNvPr id="4" name="Rectangle 1">
            <a:extLst>
              <a:ext uri="{FF2B5EF4-FFF2-40B4-BE49-F238E27FC236}">
                <a16:creationId xmlns:a16="http://schemas.microsoft.com/office/drawing/2014/main" id="{F98B5800-F100-CA51-D75F-11EB5E6EA965}"/>
              </a:ext>
            </a:extLst>
          </p:cNvPr>
          <p:cNvSpPr>
            <a:spLocks noGrp="1" noChangeArrowheads="1"/>
          </p:cNvSpPr>
          <p:nvPr>
            <p:ph idx="1"/>
          </p:nvPr>
        </p:nvSpPr>
        <p:spPr bwMode="auto">
          <a:xfrm>
            <a:off x="838200" y="1692971"/>
            <a:ext cx="11085599"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just">
              <a:lnSpc>
                <a:spcPct val="150000"/>
              </a:lnSpc>
              <a:spcBef>
                <a:spcPts val="0"/>
              </a:spcBef>
            </a:pPr>
            <a:r>
              <a:rPr lang="pt-BR" dirty="0"/>
              <a:t>Como o laser (10.600 </a:t>
            </a:r>
            <a:r>
              <a:rPr lang="pt-BR" dirty="0" err="1"/>
              <a:t>nm</a:t>
            </a:r>
            <a:r>
              <a:rPr lang="pt-BR" dirty="0"/>
              <a:t>) tem alta afinidade pela </a:t>
            </a:r>
            <a:r>
              <a:rPr lang="pt-BR" b="1" dirty="0"/>
              <a:t>água</a:t>
            </a:r>
            <a:r>
              <a:rPr lang="pt-BR" dirty="0"/>
              <a:t> da pele, a energia</a:t>
            </a:r>
          </a:p>
          <a:p>
            <a:pPr marL="0" indent="0" algn="just">
              <a:lnSpc>
                <a:spcPct val="150000"/>
              </a:lnSpc>
              <a:spcBef>
                <a:spcPts val="0"/>
              </a:spcBef>
              <a:buNone/>
            </a:pPr>
            <a:r>
              <a:rPr lang="pt-BR" dirty="0"/>
              <a:t> aquece rapidamente essa água, onde o tecido é vaporizado (</a:t>
            </a:r>
            <a:r>
              <a:rPr lang="pt-BR" dirty="0" err="1"/>
              <a:t>ablacionado</a:t>
            </a:r>
            <a:r>
              <a:rPr lang="pt-BR" dirty="0"/>
              <a:t>)</a:t>
            </a:r>
          </a:p>
          <a:p>
            <a:pPr marL="0" indent="0" algn="just">
              <a:lnSpc>
                <a:spcPct val="150000"/>
              </a:lnSpc>
              <a:spcBef>
                <a:spcPts val="0"/>
              </a:spcBef>
              <a:buNone/>
            </a:pPr>
            <a:r>
              <a:rPr lang="pt-BR" dirty="0"/>
              <a:t>em pontos específicos, formando pequenos “canais” na pele (o laser faz </a:t>
            </a:r>
          </a:p>
          <a:p>
            <a:pPr marL="0" indent="0" algn="just">
              <a:lnSpc>
                <a:spcPct val="150000"/>
              </a:lnSpc>
              <a:spcBef>
                <a:spcPts val="0"/>
              </a:spcBef>
              <a:buNone/>
            </a:pPr>
            <a:r>
              <a:rPr lang="pt-BR" dirty="0" err="1"/>
              <a:t>microfurinhos</a:t>
            </a:r>
            <a:r>
              <a:rPr lang="pt-BR" dirty="0"/>
              <a:t>) e parte do tecido é literalmente removido. No caso de uma </a:t>
            </a:r>
          </a:p>
          <a:p>
            <a:pPr marL="0" indent="0" algn="just">
              <a:lnSpc>
                <a:spcPct val="150000"/>
              </a:lnSpc>
              <a:spcBef>
                <a:spcPts val="0"/>
              </a:spcBef>
              <a:buNone/>
            </a:pPr>
            <a:r>
              <a:rPr lang="pt-BR" dirty="0"/>
              <a:t>pele bem tratada anteriormente o corpo responde com regeneração de </a:t>
            </a:r>
          </a:p>
          <a:p>
            <a:pPr marL="0" indent="0" algn="just">
              <a:lnSpc>
                <a:spcPct val="150000"/>
              </a:lnSpc>
              <a:spcBef>
                <a:spcPts val="0"/>
              </a:spcBef>
              <a:buNone/>
            </a:pPr>
            <a:r>
              <a:rPr lang="pt-BR" dirty="0"/>
              <a:t>um colágeno novo.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pt-BR" altLang="pt-BR" sz="2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94279575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598705-3AB6-9C55-C516-D6EF5F26A53E}"/>
              </a:ext>
            </a:extLst>
          </p:cNvPr>
          <p:cNvSpPr>
            <a:spLocks noGrp="1"/>
          </p:cNvSpPr>
          <p:nvPr>
            <p:ph type="title"/>
          </p:nvPr>
        </p:nvSpPr>
        <p:spPr/>
        <p:txBody>
          <a:bodyPr/>
          <a:lstStyle/>
          <a:p>
            <a:r>
              <a:rPr lang="pt-BR" dirty="0"/>
              <a:t>CO2 FRACIONADO</a:t>
            </a:r>
          </a:p>
        </p:txBody>
      </p:sp>
      <p:sp>
        <p:nvSpPr>
          <p:cNvPr id="3" name="Espaço Reservado para Conteúdo 2">
            <a:extLst>
              <a:ext uri="{FF2B5EF4-FFF2-40B4-BE49-F238E27FC236}">
                <a16:creationId xmlns:a16="http://schemas.microsoft.com/office/drawing/2014/main" id="{29AE8243-2689-A721-DD53-DECACC2DE65E}"/>
              </a:ext>
            </a:extLst>
          </p:cNvPr>
          <p:cNvSpPr>
            <a:spLocks noGrp="1"/>
          </p:cNvSpPr>
          <p:nvPr>
            <p:ph idx="1"/>
          </p:nvPr>
        </p:nvSpPr>
        <p:spPr/>
        <p:txBody>
          <a:bodyPr/>
          <a:lstStyle/>
          <a:p>
            <a:pPr fontAlgn="base"/>
            <a:r>
              <a:rPr lang="pt-BR" b="1" dirty="0"/>
              <a:t>Ação ablativa</a:t>
            </a:r>
            <a:r>
              <a:rPr lang="pt-BR" dirty="0"/>
              <a:t>: O feixe de dióxido de carbono vaporiza pontos microscópicos da epiderme, “varrendo” células mortas e queratina espessa.</a:t>
            </a:r>
          </a:p>
          <a:p>
            <a:pPr fontAlgn="base"/>
            <a:r>
              <a:rPr lang="pt-BR" b="1" dirty="0"/>
              <a:t>Ação térmica na derme</a:t>
            </a:r>
            <a:r>
              <a:rPr lang="pt-BR" dirty="0"/>
              <a:t>: O calor penetra até 1,5 mm, desnatura colágeno antigo e faz os fibroblastos entrarem em “modo reparo”.</a:t>
            </a:r>
          </a:p>
          <a:p>
            <a:pPr fontAlgn="base"/>
            <a:r>
              <a:rPr lang="pt-BR" b="1" dirty="0"/>
              <a:t>Fracionamento</a:t>
            </a:r>
            <a:r>
              <a:rPr lang="pt-BR" dirty="0"/>
              <a:t>: Apenas uma fração da superfície é tratada em cada disparo, criando “ilhas de cura” que aceleram a recuperação.</a:t>
            </a:r>
          </a:p>
          <a:p>
            <a:pPr fontAlgn="base"/>
            <a:r>
              <a:rPr lang="pt-BR" b="1" dirty="0"/>
              <a:t>Radiofrequência acoplada</a:t>
            </a:r>
            <a:r>
              <a:rPr lang="pt-BR" dirty="0"/>
              <a:t>: Ondas de RF aquecem camadas profundas de baixo para cima, reforçando ainda mais o estímulo </a:t>
            </a:r>
            <a:r>
              <a:rPr lang="pt-BR" dirty="0" err="1"/>
              <a:t>colagênico</a:t>
            </a:r>
            <a:r>
              <a:rPr lang="pt-BR" dirty="0"/>
              <a:t>.</a:t>
            </a:r>
          </a:p>
          <a:p>
            <a:endParaRPr lang="pt-BR" dirty="0"/>
          </a:p>
        </p:txBody>
      </p:sp>
    </p:spTree>
    <p:extLst>
      <p:ext uri="{BB962C8B-B14F-4D97-AF65-F5344CB8AC3E}">
        <p14:creationId xmlns:p14="http://schemas.microsoft.com/office/powerpoint/2010/main" val="24472848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86716E-78C4-16D4-4D44-8D182CF11561}"/>
              </a:ext>
            </a:extLst>
          </p:cNvPr>
          <p:cNvSpPr>
            <a:spLocks noGrp="1"/>
          </p:cNvSpPr>
          <p:nvPr>
            <p:ph type="title"/>
          </p:nvPr>
        </p:nvSpPr>
        <p:spPr/>
        <p:txBody>
          <a:bodyPr/>
          <a:lstStyle/>
          <a:p>
            <a:r>
              <a:rPr lang="pt-BR" dirty="0"/>
              <a:t>CO2 FRACIONADO </a:t>
            </a:r>
          </a:p>
        </p:txBody>
      </p:sp>
      <p:sp>
        <p:nvSpPr>
          <p:cNvPr id="3" name="Espaço Reservado para Conteúdo 2">
            <a:extLst>
              <a:ext uri="{FF2B5EF4-FFF2-40B4-BE49-F238E27FC236}">
                <a16:creationId xmlns:a16="http://schemas.microsoft.com/office/drawing/2014/main" id="{527F0EF0-B9FD-485F-9F49-2D02DB5D6551}"/>
              </a:ext>
            </a:extLst>
          </p:cNvPr>
          <p:cNvSpPr>
            <a:spLocks noGrp="1"/>
          </p:cNvSpPr>
          <p:nvPr>
            <p:ph idx="1"/>
          </p:nvPr>
        </p:nvSpPr>
        <p:spPr/>
        <p:txBody>
          <a:bodyPr/>
          <a:lstStyle/>
          <a:p>
            <a:pPr fontAlgn="base"/>
            <a:r>
              <a:rPr lang="pt-BR" b="1" dirty="0"/>
              <a:t>INDICAÇÕES: </a:t>
            </a:r>
          </a:p>
          <a:p>
            <a:pPr fontAlgn="base"/>
            <a:r>
              <a:rPr lang="pt-BR" dirty="0"/>
              <a:t>Rugas finas e médias periorbitais, periorais e de colo</a:t>
            </a:r>
          </a:p>
          <a:p>
            <a:pPr fontAlgn="base"/>
            <a:r>
              <a:rPr lang="pt-BR" dirty="0"/>
              <a:t>Cicatrizes atróficas de acne e de varicela</a:t>
            </a:r>
          </a:p>
          <a:p>
            <a:pPr fontAlgn="base"/>
            <a:r>
              <a:rPr lang="pt-BR" dirty="0"/>
              <a:t>Manchas senis, melanose solar e poros dilatados</a:t>
            </a:r>
          </a:p>
          <a:p>
            <a:pPr fontAlgn="base"/>
            <a:r>
              <a:rPr lang="pt-BR" dirty="0"/>
              <a:t>Flacidez inicial em pálpebras, rosto, pescoço e mãos</a:t>
            </a:r>
          </a:p>
          <a:p>
            <a:pPr fontAlgn="base"/>
            <a:r>
              <a:rPr lang="pt-BR" dirty="0"/>
              <a:t>Estrias brancas ou vermelhas em abdome, coxas e glúteos</a:t>
            </a:r>
          </a:p>
          <a:p>
            <a:pPr fontAlgn="base"/>
            <a:r>
              <a:rPr lang="pt-BR" dirty="0"/>
              <a:t>Prevenção de envelhecimento para quem já notou perda de viço</a:t>
            </a:r>
          </a:p>
          <a:p>
            <a:pPr fontAlgn="base"/>
            <a:r>
              <a:rPr lang="pt-BR" dirty="0"/>
              <a:t>Melhora global de textura após gestação ou perda de peso</a:t>
            </a:r>
          </a:p>
        </p:txBody>
      </p:sp>
    </p:spTree>
    <p:extLst>
      <p:ext uri="{BB962C8B-B14F-4D97-AF65-F5344CB8AC3E}">
        <p14:creationId xmlns:p14="http://schemas.microsoft.com/office/powerpoint/2010/main" val="410168426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26CC6E-A156-15F0-D489-223922D46055}"/>
              </a:ext>
            </a:extLst>
          </p:cNvPr>
          <p:cNvSpPr>
            <a:spLocks noGrp="1"/>
          </p:cNvSpPr>
          <p:nvPr>
            <p:ph type="title"/>
          </p:nvPr>
        </p:nvSpPr>
        <p:spPr/>
        <p:txBody>
          <a:bodyPr/>
          <a:lstStyle/>
          <a:p>
            <a:r>
              <a:rPr lang="pt-BR" dirty="0"/>
              <a:t>CO2 FRACIONADO</a:t>
            </a:r>
          </a:p>
        </p:txBody>
      </p:sp>
      <p:sp>
        <p:nvSpPr>
          <p:cNvPr id="3" name="Espaço Reservado para Conteúdo 2">
            <a:extLst>
              <a:ext uri="{FF2B5EF4-FFF2-40B4-BE49-F238E27FC236}">
                <a16:creationId xmlns:a16="http://schemas.microsoft.com/office/drawing/2014/main" id="{BE25464C-A415-3FB1-F125-704EFCA6097A}"/>
              </a:ext>
            </a:extLst>
          </p:cNvPr>
          <p:cNvSpPr>
            <a:spLocks noGrp="1"/>
          </p:cNvSpPr>
          <p:nvPr>
            <p:ph idx="1"/>
          </p:nvPr>
        </p:nvSpPr>
        <p:spPr/>
        <p:txBody>
          <a:bodyPr/>
          <a:lstStyle/>
          <a:p>
            <a:pPr fontAlgn="base"/>
            <a:r>
              <a:rPr lang="pt-BR" b="1" dirty="0"/>
              <a:t>INDICAÇÕES (NÃO É UMA REGRA):</a:t>
            </a:r>
          </a:p>
          <a:p>
            <a:pPr fontAlgn="base"/>
            <a:r>
              <a:rPr lang="pt-BR" b="1" dirty="0"/>
              <a:t>Rejuvenescimento global:</a:t>
            </a:r>
            <a:r>
              <a:rPr lang="pt-BR" dirty="0"/>
              <a:t> 1 sessão potente a cada 12 – 18 meses.</a:t>
            </a:r>
          </a:p>
          <a:p>
            <a:pPr fontAlgn="base"/>
            <a:r>
              <a:rPr lang="pt-BR" b="1" dirty="0"/>
              <a:t>Cicatrizes profundas:</a:t>
            </a:r>
            <a:r>
              <a:rPr lang="pt-BR" dirty="0"/>
              <a:t> 2 – 3 sessões moderadas com intervalo de 8 semanas.</a:t>
            </a:r>
          </a:p>
          <a:p>
            <a:pPr fontAlgn="base"/>
            <a:r>
              <a:rPr lang="pt-BR" b="1" dirty="0"/>
              <a:t>Estrias:</a:t>
            </a:r>
            <a:r>
              <a:rPr lang="pt-BR" dirty="0"/>
              <a:t> 3 – 5 sessões suaves mensalmente, podendo combinar microagulhamento.</a:t>
            </a:r>
          </a:p>
          <a:p>
            <a:pPr marL="0" indent="0">
              <a:buNone/>
            </a:pPr>
            <a:endParaRPr lang="pt-BR" dirty="0"/>
          </a:p>
        </p:txBody>
      </p:sp>
    </p:spTree>
    <p:extLst>
      <p:ext uri="{BB962C8B-B14F-4D97-AF65-F5344CB8AC3E}">
        <p14:creationId xmlns:p14="http://schemas.microsoft.com/office/powerpoint/2010/main" val="307430072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49BD6F-34D0-3B14-4920-FB60AE769B68}"/>
              </a:ext>
            </a:extLst>
          </p:cNvPr>
          <p:cNvSpPr>
            <a:spLocks noGrp="1"/>
          </p:cNvSpPr>
          <p:nvPr>
            <p:ph type="title"/>
          </p:nvPr>
        </p:nvSpPr>
        <p:spPr/>
        <p:txBody>
          <a:bodyPr/>
          <a:lstStyle/>
          <a:p>
            <a:r>
              <a:rPr lang="pt-BR" dirty="0"/>
              <a:t>CO2 FRACIONADO</a:t>
            </a:r>
          </a:p>
        </p:txBody>
      </p:sp>
      <p:sp>
        <p:nvSpPr>
          <p:cNvPr id="3" name="Espaço Reservado para Conteúdo 2">
            <a:extLst>
              <a:ext uri="{FF2B5EF4-FFF2-40B4-BE49-F238E27FC236}">
                <a16:creationId xmlns:a16="http://schemas.microsoft.com/office/drawing/2014/main" id="{F75DE6AD-BA65-8410-2030-342A343F7231}"/>
              </a:ext>
            </a:extLst>
          </p:cNvPr>
          <p:cNvSpPr>
            <a:spLocks noGrp="1"/>
          </p:cNvSpPr>
          <p:nvPr>
            <p:ph idx="1"/>
          </p:nvPr>
        </p:nvSpPr>
        <p:spPr/>
        <p:txBody>
          <a:bodyPr/>
          <a:lstStyle/>
          <a:p>
            <a:pPr algn="just"/>
            <a:r>
              <a:rPr lang="pt-BR" dirty="0"/>
              <a:t>O laser CO</a:t>
            </a:r>
            <a:r>
              <a:rPr lang="pt-BR" baseline="-25000" dirty="0"/>
              <a:t>2</a:t>
            </a:r>
            <a:r>
              <a:rPr lang="pt-BR" dirty="0"/>
              <a:t> fracionado é feito no consultório médico ou de um especialista em estética </a:t>
            </a:r>
            <a:r>
              <a:rPr lang="pt-BR" dirty="0" err="1"/>
              <a:t>dermato</a:t>
            </a:r>
            <a:r>
              <a:rPr lang="pt-BR" dirty="0"/>
              <a:t> funcional, e geralmente, aplica-se um creme anestésico na pele antes do tratamento e utilização de um óculos de proteção para evitar lesão ocular. </a:t>
            </a:r>
          </a:p>
          <a:p>
            <a:pPr algn="just"/>
            <a:r>
              <a:rPr lang="pt-BR" dirty="0"/>
              <a:t>O terapeuta demarca a região a ser tratada e a seguir aplicar um gel na pele e, em seguida, o laser com diversos disparos seguidos, mas não sobrepostos, que podem provocar algum desconforto nas pessoas mais sensíveis, e por isso é aconselhado o uso do anestésico.</a:t>
            </a:r>
          </a:p>
        </p:txBody>
      </p:sp>
    </p:spTree>
    <p:extLst>
      <p:ext uri="{BB962C8B-B14F-4D97-AF65-F5344CB8AC3E}">
        <p14:creationId xmlns:p14="http://schemas.microsoft.com/office/powerpoint/2010/main" val="336446755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972C6D-BA94-27DB-2084-A6B9DB128272}"/>
              </a:ext>
            </a:extLst>
          </p:cNvPr>
          <p:cNvSpPr>
            <a:spLocks noGrp="1"/>
          </p:cNvSpPr>
          <p:nvPr>
            <p:ph type="title"/>
          </p:nvPr>
        </p:nvSpPr>
        <p:spPr/>
        <p:txBody>
          <a:bodyPr/>
          <a:lstStyle/>
          <a:p>
            <a:r>
              <a:rPr lang="pt-BR" dirty="0"/>
              <a:t>CO2 FRACIONADO</a:t>
            </a:r>
          </a:p>
        </p:txBody>
      </p:sp>
      <p:sp>
        <p:nvSpPr>
          <p:cNvPr id="3" name="Espaço Reservado para Conteúdo 2">
            <a:extLst>
              <a:ext uri="{FF2B5EF4-FFF2-40B4-BE49-F238E27FC236}">
                <a16:creationId xmlns:a16="http://schemas.microsoft.com/office/drawing/2014/main" id="{98B5A598-EAE7-383D-FB7E-4F38CAF13865}"/>
              </a:ext>
            </a:extLst>
          </p:cNvPr>
          <p:cNvSpPr>
            <a:spLocks noGrp="1"/>
          </p:cNvSpPr>
          <p:nvPr>
            <p:ph idx="1"/>
          </p:nvPr>
        </p:nvSpPr>
        <p:spPr/>
        <p:txBody>
          <a:bodyPr>
            <a:normAutofit lnSpcReduction="10000"/>
          </a:bodyPr>
          <a:lstStyle/>
          <a:p>
            <a:pPr algn="just"/>
            <a:r>
              <a:rPr lang="pt-BR" dirty="0"/>
              <a:t>Geralmente, são necessárias de 3 a 6 sessões, com intervalo de 45 a 60 dias entre elas, sendo que dia após dia pode-se notar uma melhora na aparência geral da pele, porque o efeito do laser sobre o colágeno não é imediato, provendo a sua reorganização, o que pode ser mais evidente após 20 dias de tratamento.</a:t>
            </a:r>
          </a:p>
          <a:p>
            <a:pPr algn="just"/>
            <a:r>
              <a:rPr lang="pt-BR" dirty="0"/>
              <a:t>Após o tratamento com laser de CO</a:t>
            </a:r>
            <a:r>
              <a:rPr lang="pt-BR" baseline="-25000" dirty="0"/>
              <a:t>2</a:t>
            </a:r>
            <a:r>
              <a:rPr lang="pt-BR" dirty="0"/>
              <a:t> fracionado a pele fica avermelhada e inchada durante aproximadamente 4-5 dias, havendo uma suave descamação de toda a região tratada. </a:t>
            </a:r>
          </a:p>
          <a:p>
            <a:pPr algn="just"/>
            <a:r>
              <a:rPr lang="pt-BR" dirty="0"/>
              <a:t>Ao final de aproximadamente 6 semanas pode-se observar que a pele fica mais firme, com menos rugas, menos poros abertos, menor relevo, melhor textura e aparência geral da pele. </a:t>
            </a:r>
          </a:p>
          <a:p>
            <a:endParaRPr lang="pt-BR" dirty="0"/>
          </a:p>
        </p:txBody>
      </p:sp>
    </p:spTree>
    <p:extLst>
      <p:ext uri="{BB962C8B-B14F-4D97-AF65-F5344CB8AC3E}">
        <p14:creationId xmlns:p14="http://schemas.microsoft.com/office/powerpoint/2010/main" val="9530527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5927A-C195-40AE-2A5D-8E04CFBE46A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A3721BF-9223-63F7-98AC-22C9EDFC312F}"/>
              </a:ext>
            </a:extLst>
          </p:cNvPr>
          <p:cNvSpPr>
            <a:spLocks noGrp="1"/>
          </p:cNvSpPr>
          <p:nvPr>
            <p:ph type="title"/>
          </p:nvPr>
        </p:nvSpPr>
        <p:spPr/>
        <p:txBody>
          <a:bodyPr/>
          <a:lstStyle/>
          <a:p>
            <a:r>
              <a:rPr lang="pt-BR" dirty="0"/>
              <a:t>CO2 FRACIONADO </a:t>
            </a:r>
          </a:p>
        </p:txBody>
      </p:sp>
      <p:sp>
        <p:nvSpPr>
          <p:cNvPr id="3" name="Espaço Reservado para Conteúdo 2">
            <a:extLst>
              <a:ext uri="{FF2B5EF4-FFF2-40B4-BE49-F238E27FC236}">
                <a16:creationId xmlns:a16="http://schemas.microsoft.com/office/drawing/2014/main" id="{FFAC1436-344E-49B4-8AB7-936C1CF5CF15}"/>
              </a:ext>
            </a:extLst>
          </p:cNvPr>
          <p:cNvSpPr>
            <a:spLocks noGrp="1"/>
          </p:cNvSpPr>
          <p:nvPr>
            <p:ph idx="1"/>
          </p:nvPr>
        </p:nvSpPr>
        <p:spPr/>
        <p:txBody>
          <a:bodyPr>
            <a:normAutofit/>
          </a:bodyPr>
          <a:lstStyle/>
          <a:p>
            <a:pPr algn="just"/>
            <a:r>
              <a:rPr lang="pt-BR" dirty="0"/>
              <a:t>No pós tratamento imediato (3-4 dias) pode ocorrer dor moderada, inchaço, erosões e crostas, que podem ser minoradas com medicação.</a:t>
            </a:r>
          </a:p>
          <a:p>
            <a:pPr algn="just"/>
            <a:r>
              <a:rPr lang="pt-BR" dirty="0"/>
              <a:t>A hiperpigmentação acastanhada transitória e a vermelhidão persistente (até 2-3 meses) são complicações menos frequentes.</a:t>
            </a:r>
          </a:p>
          <a:p>
            <a:pPr algn="just"/>
            <a:r>
              <a:rPr lang="pt-BR" dirty="0"/>
              <a:t>As infeções e as cicatrizes são complicações raras.</a:t>
            </a:r>
          </a:p>
          <a:p>
            <a:pPr algn="just"/>
            <a:r>
              <a:rPr lang="pt-BR" dirty="0"/>
              <a:t>Para evitar as complicações referidas, o </a:t>
            </a:r>
            <a:r>
              <a:rPr lang="pt-BR" dirty="0" err="1"/>
              <a:t>resurfacing</a:t>
            </a:r>
            <a:r>
              <a:rPr lang="pt-BR" dirty="0"/>
              <a:t> com laser de CO2 fracionado deve ser </a:t>
            </a:r>
            <a:r>
              <a:rPr lang="pt-BR" dirty="0" err="1"/>
              <a:t>efectuado</a:t>
            </a:r>
            <a:r>
              <a:rPr lang="pt-BR" dirty="0"/>
              <a:t> durante o Inverno e devem ser sempre seguidas as recomendações médicas (profilaxia de infeções com antibióticos tópicos e </a:t>
            </a:r>
            <a:r>
              <a:rPr lang="pt-BR" dirty="0" err="1"/>
              <a:t>antivíricos</a:t>
            </a:r>
            <a:r>
              <a:rPr lang="pt-BR" dirty="0"/>
              <a:t> orais, proteção solar, entre outras).</a:t>
            </a:r>
          </a:p>
          <a:p>
            <a:endParaRPr lang="pt-BR" dirty="0"/>
          </a:p>
        </p:txBody>
      </p:sp>
    </p:spTree>
    <p:extLst>
      <p:ext uri="{BB962C8B-B14F-4D97-AF65-F5344CB8AC3E}">
        <p14:creationId xmlns:p14="http://schemas.microsoft.com/office/powerpoint/2010/main" val="416410996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6EE529-0715-872C-2266-F233DBC7CCDF}"/>
              </a:ext>
            </a:extLst>
          </p:cNvPr>
          <p:cNvSpPr>
            <a:spLocks noGrp="1"/>
          </p:cNvSpPr>
          <p:nvPr>
            <p:ph type="title"/>
          </p:nvPr>
        </p:nvSpPr>
        <p:spPr/>
        <p:txBody>
          <a:bodyPr/>
          <a:lstStyle/>
          <a:p>
            <a:r>
              <a:rPr lang="pt-BR" dirty="0"/>
              <a:t>CO2 FRACIONADO</a:t>
            </a:r>
          </a:p>
        </p:txBody>
      </p:sp>
      <p:sp>
        <p:nvSpPr>
          <p:cNvPr id="3" name="Espaço Reservado para Conteúdo 2">
            <a:extLst>
              <a:ext uri="{FF2B5EF4-FFF2-40B4-BE49-F238E27FC236}">
                <a16:creationId xmlns:a16="http://schemas.microsoft.com/office/drawing/2014/main" id="{E4168A81-9112-56C1-EC81-6805DB89C8D3}"/>
              </a:ext>
            </a:extLst>
          </p:cNvPr>
          <p:cNvSpPr>
            <a:spLocks noGrp="1"/>
          </p:cNvSpPr>
          <p:nvPr>
            <p:ph idx="1"/>
          </p:nvPr>
        </p:nvSpPr>
        <p:spPr/>
        <p:txBody>
          <a:bodyPr>
            <a:normAutofit fontScale="92500" lnSpcReduction="20000"/>
          </a:bodyPr>
          <a:lstStyle/>
          <a:p>
            <a:r>
              <a:rPr lang="pt-BR" dirty="0"/>
              <a:t>Após a realização do tratamento com laser, alguns cuidados são necessários, como:</a:t>
            </a:r>
          </a:p>
          <a:p>
            <a:r>
              <a:rPr lang="pt-BR" dirty="0"/>
              <a:t>Evitar banhos muito quentes;</a:t>
            </a:r>
          </a:p>
          <a:p>
            <a:r>
              <a:rPr lang="pt-BR" dirty="0"/>
              <a:t>Aplicar compressas frias nas primeiras 24 horas para aliviar o inchaço ou o ardor;</a:t>
            </a:r>
          </a:p>
          <a:p>
            <a:r>
              <a:rPr lang="pt-BR" dirty="0"/>
              <a:t>Aplicar cremes hidratantes e reparadores diariamente, indicados pelo médico ou profissional habilitado;</a:t>
            </a:r>
          </a:p>
          <a:p>
            <a:r>
              <a:rPr lang="pt-BR" dirty="0"/>
              <a:t>Utilização de protetor solar com fator de proteção (FPS) acima de 30;</a:t>
            </a:r>
          </a:p>
          <a:p>
            <a:r>
              <a:rPr lang="pt-BR" dirty="0"/>
              <a:t>Evitar a exposição do ao sol, e usar chapéu para proteger a pele dos efeitos nocivos do sol;</a:t>
            </a:r>
          </a:p>
          <a:p>
            <a:r>
              <a:rPr lang="pt-BR" dirty="0"/>
              <a:t>Evitar remover a pele descamada;</a:t>
            </a:r>
          </a:p>
          <a:p>
            <a:r>
              <a:rPr lang="pt-BR" dirty="0"/>
              <a:t>Evitar usar maquiagem até que a pele esteja cicatrizada.</a:t>
            </a:r>
          </a:p>
        </p:txBody>
      </p:sp>
    </p:spTree>
    <p:extLst>
      <p:ext uri="{BB962C8B-B14F-4D97-AF65-F5344CB8AC3E}">
        <p14:creationId xmlns:p14="http://schemas.microsoft.com/office/powerpoint/2010/main" val="391429026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C037D1-ED81-BF88-936A-2522CF88ABC1}"/>
              </a:ext>
            </a:extLst>
          </p:cNvPr>
          <p:cNvSpPr>
            <a:spLocks noGrp="1"/>
          </p:cNvSpPr>
          <p:nvPr>
            <p:ph type="title"/>
          </p:nvPr>
        </p:nvSpPr>
        <p:spPr/>
        <p:txBody>
          <a:bodyPr/>
          <a:lstStyle/>
          <a:p>
            <a:r>
              <a:rPr lang="pt-BR" dirty="0"/>
              <a:t>CO2 FRACIONADO</a:t>
            </a:r>
          </a:p>
        </p:txBody>
      </p:sp>
      <p:sp>
        <p:nvSpPr>
          <p:cNvPr id="3" name="Espaço Reservado para Conteúdo 2">
            <a:extLst>
              <a:ext uri="{FF2B5EF4-FFF2-40B4-BE49-F238E27FC236}">
                <a16:creationId xmlns:a16="http://schemas.microsoft.com/office/drawing/2014/main" id="{02FF3B35-4BE4-6567-8671-1BFF71657764}"/>
              </a:ext>
            </a:extLst>
          </p:cNvPr>
          <p:cNvSpPr>
            <a:spLocks noGrp="1"/>
          </p:cNvSpPr>
          <p:nvPr>
            <p:ph idx="1"/>
          </p:nvPr>
        </p:nvSpPr>
        <p:spPr/>
        <p:txBody>
          <a:bodyPr/>
          <a:lstStyle/>
          <a:p>
            <a:pPr fontAlgn="base"/>
            <a:r>
              <a:rPr lang="pt-BR" dirty="0"/>
              <a:t>Filtro solar físico a cada 3 h.</a:t>
            </a:r>
          </a:p>
          <a:p>
            <a:pPr fontAlgn="base"/>
            <a:r>
              <a:rPr lang="pt-BR" dirty="0"/>
              <a:t>Higiene suave: sabonete infantil ou pH fisiológico.</a:t>
            </a:r>
          </a:p>
          <a:p>
            <a:pPr fontAlgn="base"/>
            <a:r>
              <a:rPr lang="pt-BR" dirty="0"/>
              <a:t>Creme cicatrizante com </a:t>
            </a:r>
            <a:r>
              <a:rPr lang="pt-BR" dirty="0" err="1"/>
              <a:t>pantenol</a:t>
            </a:r>
            <a:r>
              <a:rPr lang="pt-BR" dirty="0"/>
              <a:t>, cobre-zinco ou </a:t>
            </a:r>
            <a:r>
              <a:rPr lang="pt-BR" dirty="0" err="1"/>
              <a:t>centella</a:t>
            </a:r>
            <a:r>
              <a:rPr lang="pt-BR" dirty="0"/>
              <a:t>.</a:t>
            </a:r>
          </a:p>
          <a:p>
            <a:pPr fontAlgn="base"/>
            <a:r>
              <a:rPr lang="pt-BR" dirty="0"/>
              <a:t>Nada de ácidos por 30 dias, exceto se liberado pelo médico.</a:t>
            </a:r>
          </a:p>
          <a:p>
            <a:pPr fontAlgn="base"/>
            <a:r>
              <a:rPr lang="pt-BR" dirty="0"/>
              <a:t>Sem academia quente, sauna ou piscina na primeira semana.</a:t>
            </a:r>
          </a:p>
          <a:p>
            <a:pPr fontAlgn="base"/>
            <a:r>
              <a:rPr lang="pt-BR" dirty="0"/>
              <a:t>Profilaxia de </a:t>
            </a:r>
            <a:r>
              <a:rPr lang="pt-BR" u="sng" dirty="0">
                <a:hlinkClick r:id="rId2"/>
              </a:rPr>
              <a:t>herpes</a:t>
            </a:r>
            <a:r>
              <a:rPr lang="pt-BR" dirty="0"/>
              <a:t> (aciclovir) quando há histórico.</a:t>
            </a:r>
          </a:p>
          <a:p>
            <a:pPr marL="0" indent="0">
              <a:buNone/>
            </a:pPr>
            <a:endParaRPr lang="pt-BR" dirty="0"/>
          </a:p>
        </p:txBody>
      </p:sp>
    </p:spTree>
    <p:extLst>
      <p:ext uri="{BB962C8B-B14F-4D97-AF65-F5344CB8AC3E}">
        <p14:creationId xmlns:p14="http://schemas.microsoft.com/office/powerpoint/2010/main" val="322163102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237AA-19F0-C2C9-89C9-ECE519D2A7A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35789DE-5F99-4556-E42E-7FEFE8927547}"/>
              </a:ext>
            </a:extLst>
          </p:cNvPr>
          <p:cNvSpPr>
            <a:spLocks noGrp="1"/>
          </p:cNvSpPr>
          <p:nvPr>
            <p:ph type="title"/>
          </p:nvPr>
        </p:nvSpPr>
        <p:spPr/>
        <p:txBody>
          <a:bodyPr/>
          <a:lstStyle/>
          <a:p>
            <a:r>
              <a:rPr lang="pt-BR" dirty="0"/>
              <a:t>CO2 FRACIONADO </a:t>
            </a:r>
          </a:p>
        </p:txBody>
      </p:sp>
      <p:sp>
        <p:nvSpPr>
          <p:cNvPr id="3" name="Espaço Reservado para Conteúdo 2">
            <a:extLst>
              <a:ext uri="{FF2B5EF4-FFF2-40B4-BE49-F238E27FC236}">
                <a16:creationId xmlns:a16="http://schemas.microsoft.com/office/drawing/2014/main" id="{3ED79306-697D-4B43-CFE9-3D143846214D}"/>
              </a:ext>
            </a:extLst>
          </p:cNvPr>
          <p:cNvSpPr>
            <a:spLocks noGrp="1"/>
          </p:cNvSpPr>
          <p:nvPr>
            <p:ph idx="1"/>
          </p:nvPr>
        </p:nvSpPr>
        <p:spPr/>
        <p:txBody>
          <a:bodyPr/>
          <a:lstStyle/>
          <a:p>
            <a:r>
              <a:rPr lang="pt-BR" dirty="0"/>
              <a:t>CONTRA INDICAÇÕES: </a:t>
            </a:r>
          </a:p>
          <a:p>
            <a:r>
              <a:rPr lang="pt-BR" dirty="0"/>
              <a:t>O laser CO</a:t>
            </a:r>
            <a:r>
              <a:rPr lang="pt-BR" baseline="-25000" dirty="0"/>
              <a:t>2</a:t>
            </a:r>
            <a:r>
              <a:rPr lang="pt-BR" dirty="0"/>
              <a:t> fracionado não é indicado para mulheres grávidas, ou para pessoas que têm pele negra, cicatrizes muito profundas ou queloides. </a:t>
            </a:r>
          </a:p>
          <a:p>
            <a:r>
              <a:rPr lang="pt-BR" dirty="0"/>
              <a:t>Além disso, também não deve ser realizado em pessoas com doenças de pele, como vitiligo, psoríase, lúpus, </a:t>
            </a:r>
            <a:r>
              <a:rPr lang="pt-BR" dirty="0" err="1"/>
              <a:t>colagenoses</a:t>
            </a:r>
            <a:r>
              <a:rPr lang="pt-BR" dirty="0"/>
              <a:t>, acnes ativas, feridas abertas, queimaduras ou herpes ativa, e durante o uso de alguns medicamentos, como isotretinoína ou anticoagulantes.</a:t>
            </a:r>
          </a:p>
          <a:p>
            <a:endParaRPr lang="pt-BR" dirty="0"/>
          </a:p>
        </p:txBody>
      </p:sp>
    </p:spTree>
    <p:extLst>
      <p:ext uri="{BB962C8B-B14F-4D97-AF65-F5344CB8AC3E}">
        <p14:creationId xmlns:p14="http://schemas.microsoft.com/office/powerpoint/2010/main" val="290711131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848DA-C909-9392-C1E1-EC3F45D0670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7C6862D-7139-A90F-5828-CE7554FAB8A6}"/>
              </a:ext>
            </a:extLst>
          </p:cNvPr>
          <p:cNvSpPr>
            <a:spLocks noGrp="1"/>
          </p:cNvSpPr>
          <p:nvPr>
            <p:ph type="title"/>
          </p:nvPr>
        </p:nvSpPr>
        <p:spPr/>
        <p:txBody>
          <a:bodyPr/>
          <a:lstStyle/>
          <a:p>
            <a:r>
              <a:rPr lang="pt-BR" dirty="0"/>
              <a:t>CO2 FRACIONADO </a:t>
            </a:r>
          </a:p>
        </p:txBody>
      </p:sp>
      <p:sp>
        <p:nvSpPr>
          <p:cNvPr id="3" name="Espaço Reservado para Conteúdo 2">
            <a:extLst>
              <a:ext uri="{FF2B5EF4-FFF2-40B4-BE49-F238E27FC236}">
                <a16:creationId xmlns:a16="http://schemas.microsoft.com/office/drawing/2014/main" id="{32D37298-E5FB-B63F-DCF7-02862BFAE26A}"/>
              </a:ext>
            </a:extLst>
          </p:cNvPr>
          <p:cNvSpPr>
            <a:spLocks noGrp="1"/>
          </p:cNvSpPr>
          <p:nvPr>
            <p:ph idx="1"/>
          </p:nvPr>
        </p:nvSpPr>
        <p:spPr/>
        <p:txBody>
          <a:bodyPr/>
          <a:lstStyle/>
          <a:p>
            <a:r>
              <a:rPr lang="pt-BR" dirty="0"/>
              <a:t>O tratamento com laser CO</a:t>
            </a:r>
            <a:r>
              <a:rPr lang="pt-BR" baseline="-25000" dirty="0"/>
              <a:t>2</a:t>
            </a:r>
            <a:r>
              <a:rPr lang="pt-BR" dirty="0"/>
              <a:t> fracionado geralmente é bem tolerado. No entanto, podem surgir alguns efeitos colaterais, como:</a:t>
            </a:r>
          </a:p>
          <a:p>
            <a:r>
              <a:rPr lang="pt-BR" dirty="0"/>
              <a:t>Descamação intensa da pele ou formação de crostas;</a:t>
            </a:r>
          </a:p>
          <a:p>
            <a:r>
              <a:rPr lang="pt-BR" dirty="0"/>
              <a:t>Inchaço na pele por até 1 semana;</a:t>
            </a:r>
          </a:p>
          <a:p>
            <a:r>
              <a:rPr lang="pt-BR" dirty="0"/>
              <a:t>Pigmentação da pele pós-inflamatória;</a:t>
            </a:r>
          </a:p>
          <a:p>
            <a:r>
              <a:rPr lang="pt-BR" dirty="0"/>
              <a:t>Ativação da herpes labial;</a:t>
            </a:r>
          </a:p>
          <a:p>
            <a:r>
              <a:rPr lang="pt-BR" dirty="0"/>
              <a:t>Dermatite de contato.</a:t>
            </a:r>
          </a:p>
          <a:p>
            <a:r>
              <a:rPr lang="pt-BR" dirty="0"/>
              <a:t>Além disso, podem surgir pequenas bolhas na pele, infecções bacterianas ou candidíase na pele.</a:t>
            </a:r>
          </a:p>
          <a:p>
            <a:endParaRPr lang="pt-BR" dirty="0"/>
          </a:p>
        </p:txBody>
      </p:sp>
    </p:spTree>
    <p:extLst>
      <p:ext uri="{BB962C8B-B14F-4D97-AF65-F5344CB8AC3E}">
        <p14:creationId xmlns:p14="http://schemas.microsoft.com/office/powerpoint/2010/main" val="384544526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7E5FB-4B12-43B2-3F2C-E5F5643164B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EB5D529-CAAD-26EE-B035-2B7778B85859}"/>
              </a:ext>
            </a:extLst>
          </p:cNvPr>
          <p:cNvSpPr>
            <a:spLocks noGrp="1"/>
          </p:cNvSpPr>
          <p:nvPr>
            <p:ph type="title"/>
          </p:nvPr>
        </p:nvSpPr>
        <p:spPr/>
        <p:txBody>
          <a:bodyPr/>
          <a:lstStyle/>
          <a:p>
            <a:r>
              <a:rPr lang="pt-BR" dirty="0"/>
              <a:t>CO2 FRACIONADO </a:t>
            </a:r>
          </a:p>
        </p:txBody>
      </p:sp>
      <p:pic>
        <p:nvPicPr>
          <p:cNvPr id="1026" name="Picture 2" descr="Antes e Depois do Laser CO2 Fracionado Renovação da Pele">
            <a:extLst>
              <a:ext uri="{FF2B5EF4-FFF2-40B4-BE49-F238E27FC236}">
                <a16:creationId xmlns:a16="http://schemas.microsoft.com/office/drawing/2014/main" id="{D2496388-121B-2916-0066-2B5DD453E5C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08425" y="1825625"/>
            <a:ext cx="7375149"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218312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201CC-B5E1-C5D5-8ACF-A41C8F43F31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EC2FED8-9E27-BF7A-DF83-F575565D7BF6}"/>
              </a:ext>
            </a:extLst>
          </p:cNvPr>
          <p:cNvSpPr>
            <a:spLocks noGrp="1"/>
          </p:cNvSpPr>
          <p:nvPr>
            <p:ph type="title"/>
          </p:nvPr>
        </p:nvSpPr>
        <p:spPr/>
        <p:txBody>
          <a:bodyPr/>
          <a:lstStyle/>
          <a:p>
            <a:r>
              <a:rPr lang="pt-BR" dirty="0"/>
              <a:t>CO2 FRACIONADO </a:t>
            </a:r>
          </a:p>
        </p:txBody>
      </p:sp>
      <p:pic>
        <p:nvPicPr>
          <p:cNvPr id="2050" name="Picture 2" descr="Laser de CO2 Fracionado em Fortaleza">
            <a:extLst>
              <a:ext uri="{FF2B5EF4-FFF2-40B4-BE49-F238E27FC236}">
                <a16:creationId xmlns:a16="http://schemas.microsoft.com/office/drawing/2014/main" id="{10642A9B-23A8-97BB-916C-B67BC6F74C8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80522" y="1289898"/>
            <a:ext cx="5950226" cy="55337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022980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B5610-9A3F-53E7-88A3-924210107CA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7D44DC8-6A1B-A0CE-9ADA-1AF5E95C1113}"/>
              </a:ext>
            </a:extLst>
          </p:cNvPr>
          <p:cNvSpPr>
            <a:spLocks noGrp="1"/>
          </p:cNvSpPr>
          <p:nvPr>
            <p:ph type="title"/>
          </p:nvPr>
        </p:nvSpPr>
        <p:spPr/>
        <p:txBody>
          <a:bodyPr/>
          <a:lstStyle/>
          <a:p>
            <a:r>
              <a:rPr lang="pt-BR" dirty="0"/>
              <a:t>CO2 FRACIONADO </a:t>
            </a:r>
          </a:p>
        </p:txBody>
      </p:sp>
      <p:pic>
        <p:nvPicPr>
          <p:cNvPr id="5" name="Espaço Reservado para Conteúdo 4">
            <a:extLst>
              <a:ext uri="{FF2B5EF4-FFF2-40B4-BE49-F238E27FC236}">
                <a16:creationId xmlns:a16="http://schemas.microsoft.com/office/drawing/2014/main" id="{69D597DF-E9FC-DD4D-892E-3E19BF669610}"/>
              </a:ext>
            </a:extLst>
          </p:cNvPr>
          <p:cNvPicPr>
            <a:picLocks noGrp="1" noChangeAspect="1"/>
          </p:cNvPicPr>
          <p:nvPr>
            <p:ph idx="1"/>
          </p:nvPr>
        </p:nvPicPr>
        <p:blipFill>
          <a:blip r:embed="rId2"/>
          <a:stretch>
            <a:fillRect/>
          </a:stretch>
        </p:blipFill>
        <p:spPr>
          <a:xfrm>
            <a:off x="3604591" y="1366700"/>
            <a:ext cx="5141844" cy="5437352"/>
          </a:xfrm>
          <a:prstGeom prst="rect">
            <a:avLst/>
          </a:prstGeom>
        </p:spPr>
      </p:pic>
    </p:spTree>
    <p:extLst>
      <p:ext uri="{BB962C8B-B14F-4D97-AF65-F5344CB8AC3E}">
        <p14:creationId xmlns:p14="http://schemas.microsoft.com/office/powerpoint/2010/main" val="306380745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605C5-9062-9110-45AF-60C41B0C7E6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E4541CD-E123-E0F1-BA8F-39A4461E6C86}"/>
              </a:ext>
            </a:extLst>
          </p:cNvPr>
          <p:cNvSpPr>
            <a:spLocks noGrp="1"/>
          </p:cNvSpPr>
          <p:nvPr>
            <p:ph type="title"/>
          </p:nvPr>
        </p:nvSpPr>
        <p:spPr/>
        <p:txBody>
          <a:bodyPr/>
          <a:lstStyle/>
          <a:p>
            <a:r>
              <a:rPr lang="pt-BR" dirty="0"/>
              <a:t>CO2 FRACIONADO </a:t>
            </a:r>
          </a:p>
        </p:txBody>
      </p:sp>
      <p:pic>
        <p:nvPicPr>
          <p:cNvPr id="3076" name="Picture 4" descr="Terceiro Dia de Recuperação do Laser CO2 Fracionado | TikTok">
            <a:extLst>
              <a:ext uri="{FF2B5EF4-FFF2-40B4-BE49-F238E27FC236}">
                <a16:creationId xmlns:a16="http://schemas.microsoft.com/office/drawing/2014/main" id="{A7868228-9EAF-009E-8A3C-E8E1887B297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809130" y="-904322"/>
            <a:ext cx="5029200" cy="89807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64192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5D557-4A5E-6428-5F94-C62ACF1BA2C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0AABEDC-2280-F498-82F9-7E7B04CB3E62}"/>
              </a:ext>
            </a:extLst>
          </p:cNvPr>
          <p:cNvSpPr>
            <a:spLocks noGrp="1"/>
          </p:cNvSpPr>
          <p:nvPr>
            <p:ph type="title"/>
          </p:nvPr>
        </p:nvSpPr>
        <p:spPr/>
        <p:txBody>
          <a:bodyPr/>
          <a:lstStyle/>
          <a:p>
            <a:r>
              <a:rPr lang="pt-BR" dirty="0"/>
              <a:t>CO2 FRACIONADO </a:t>
            </a:r>
          </a:p>
        </p:txBody>
      </p:sp>
      <p:pic>
        <p:nvPicPr>
          <p:cNvPr id="5122" name="Picture 2" descr="Laser CO2 Fracionado Contra as Estrias">
            <a:extLst>
              <a:ext uri="{FF2B5EF4-FFF2-40B4-BE49-F238E27FC236}">
                <a16:creationId xmlns:a16="http://schemas.microsoft.com/office/drawing/2014/main" id="{946DE925-9D15-FAA9-AEE0-F75C794D7A7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06071" y="1333396"/>
            <a:ext cx="9197788" cy="53462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806612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9C2F-775A-4D72-C747-1B5F0B6AC91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BED0DB2-AAB4-E9F3-FE82-24199BD07BBA}"/>
              </a:ext>
            </a:extLst>
          </p:cNvPr>
          <p:cNvSpPr>
            <a:spLocks noGrp="1"/>
          </p:cNvSpPr>
          <p:nvPr>
            <p:ph type="title"/>
          </p:nvPr>
        </p:nvSpPr>
        <p:spPr/>
        <p:txBody>
          <a:bodyPr/>
          <a:lstStyle/>
          <a:p>
            <a:r>
              <a:rPr lang="pt-BR" dirty="0"/>
              <a:t>CO2 FRACIONADO </a:t>
            </a:r>
          </a:p>
        </p:txBody>
      </p:sp>
      <p:pic>
        <p:nvPicPr>
          <p:cNvPr id="4098" name="Picture 2" descr="🚨 Alerta sobre o Laser CO2!, Recentemente, o caso  laudiceiaramiresorganizer trouxe à tona muitas discussões sobre o uso do  laser fracionado de CO2. ⚠️, Esse é um procedimento seguro quando realizado  ...">
            <a:extLst>
              <a:ext uri="{FF2B5EF4-FFF2-40B4-BE49-F238E27FC236}">
                <a16:creationId xmlns:a16="http://schemas.microsoft.com/office/drawing/2014/main" id="{ACEEDEF7-4D1B-F180-A919-C89BF80168F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868479" y="317106"/>
            <a:ext cx="3485321" cy="6223787"/>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Tive queimaduras de primeiro e segundo grau no rosto após uma sessão de  laser CO2'">
            <a:extLst>
              <a:ext uri="{FF2B5EF4-FFF2-40B4-BE49-F238E27FC236}">
                <a16:creationId xmlns:a16="http://schemas.microsoft.com/office/drawing/2014/main" id="{FD1E6620-547E-52AE-EBBE-D6F7CCB12B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564" y="1690688"/>
            <a:ext cx="8820296" cy="49663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428846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9630EE-9D7E-232B-FA04-D010667575E2}"/>
              </a:ext>
            </a:extLst>
          </p:cNvPr>
          <p:cNvSpPr>
            <a:spLocks noGrp="1"/>
          </p:cNvSpPr>
          <p:nvPr>
            <p:ph type="title"/>
          </p:nvPr>
        </p:nvSpPr>
        <p:spPr/>
        <p:txBody>
          <a:bodyPr/>
          <a:lstStyle/>
          <a:p>
            <a:r>
              <a:rPr lang="pt-BR" dirty="0"/>
              <a:t>LED - Light </a:t>
            </a:r>
            <a:r>
              <a:rPr lang="pt-BR" dirty="0" err="1"/>
              <a:t>Emitting</a:t>
            </a:r>
            <a:r>
              <a:rPr lang="pt-BR" dirty="0"/>
              <a:t> </a:t>
            </a:r>
            <a:r>
              <a:rPr lang="pt-BR" dirty="0" err="1"/>
              <a:t>Diode</a:t>
            </a:r>
            <a:endParaRPr lang="pt-BR" dirty="0"/>
          </a:p>
        </p:txBody>
      </p:sp>
      <p:pic>
        <p:nvPicPr>
          <p:cNvPr id="5" name="Espaço Reservado para Conteúdo 4">
            <a:extLst>
              <a:ext uri="{FF2B5EF4-FFF2-40B4-BE49-F238E27FC236}">
                <a16:creationId xmlns:a16="http://schemas.microsoft.com/office/drawing/2014/main" id="{820EC41E-2ED3-8830-37F2-16F6DB02FD65}"/>
              </a:ext>
            </a:extLst>
          </p:cNvPr>
          <p:cNvPicPr>
            <a:picLocks noGrp="1" noChangeAspect="1"/>
          </p:cNvPicPr>
          <p:nvPr>
            <p:ph idx="1"/>
          </p:nvPr>
        </p:nvPicPr>
        <p:blipFill>
          <a:blip r:embed="rId2"/>
          <a:stretch>
            <a:fillRect/>
          </a:stretch>
        </p:blipFill>
        <p:spPr>
          <a:xfrm>
            <a:off x="3390314" y="1318155"/>
            <a:ext cx="5528603" cy="5482531"/>
          </a:xfrm>
          <a:prstGeom prst="rect">
            <a:avLst/>
          </a:prstGeom>
        </p:spPr>
      </p:pic>
    </p:spTree>
    <p:extLst>
      <p:ext uri="{BB962C8B-B14F-4D97-AF65-F5344CB8AC3E}">
        <p14:creationId xmlns:p14="http://schemas.microsoft.com/office/powerpoint/2010/main" val="336286525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8AC52E-5EB3-C73A-5C48-AA4DEC409E24}"/>
              </a:ext>
            </a:extLst>
          </p:cNvPr>
          <p:cNvSpPr>
            <a:spLocks noGrp="1"/>
          </p:cNvSpPr>
          <p:nvPr>
            <p:ph type="title"/>
          </p:nvPr>
        </p:nvSpPr>
        <p:spPr/>
        <p:txBody>
          <a:bodyPr/>
          <a:lstStyle/>
          <a:p>
            <a:r>
              <a:rPr lang="pt-BR" dirty="0"/>
              <a:t>LED - Light </a:t>
            </a:r>
            <a:r>
              <a:rPr lang="pt-BR" dirty="0" err="1"/>
              <a:t>Emitting</a:t>
            </a:r>
            <a:r>
              <a:rPr lang="pt-BR" dirty="0"/>
              <a:t> </a:t>
            </a:r>
            <a:r>
              <a:rPr lang="pt-BR" dirty="0" err="1"/>
              <a:t>Diode</a:t>
            </a:r>
            <a:r>
              <a:rPr lang="pt-BR" dirty="0"/>
              <a:t> </a:t>
            </a:r>
          </a:p>
        </p:txBody>
      </p:sp>
      <p:pic>
        <p:nvPicPr>
          <p:cNvPr id="5" name="Espaço Reservado para Conteúdo 4">
            <a:extLst>
              <a:ext uri="{FF2B5EF4-FFF2-40B4-BE49-F238E27FC236}">
                <a16:creationId xmlns:a16="http://schemas.microsoft.com/office/drawing/2014/main" id="{B35D40A4-1E35-6F98-6DCC-B851F777B313}"/>
              </a:ext>
            </a:extLst>
          </p:cNvPr>
          <p:cNvPicPr>
            <a:picLocks noGrp="1" noChangeAspect="1"/>
          </p:cNvPicPr>
          <p:nvPr>
            <p:ph idx="1"/>
          </p:nvPr>
        </p:nvPicPr>
        <p:blipFill>
          <a:blip r:embed="rId2"/>
          <a:stretch>
            <a:fillRect/>
          </a:stretch>
        </p:blipFill>
        <p:spPr>
          <a:xfrm>
            <a:off x="8709074" y="929441"/>
            <a:ext cx="3151163" cy="5642395"/>
          </a:xfrm>
          <a:prstGeom prst="rect">
            <a:avLst/>
          </a:prstGeom>
        </p:spPr>
      </p:pic>
      <p:pic>
        <p:nvPicPr>
          <p:cNvPr id="7" name="Imagem 6">
            <a:extLst>
              <a:ext uri="{FF2B5EF4-FFF2-40B4-BE49-F238E27FC236}">
                <a16:creationId xmlns:a16="http://schemas.microsoft.com/office/drawing/2014/main" id="{27E2E9DF-193B-76B0-40F9-85136520964C}"/>
              </a:ext>
            </a:extLst>
          </p:cNvPr>
          <p:cNvPicPr>
            <a:picLocks noChangeAspect="1"/>
          </p:cNvPicPr>
          <p:nvPr/>
        </p:nvPicPr>
        <p:blipFill>
          <a:blip r:embed="rId3"/>
          <a:stretch>
            <a:fillRect/>
          </a:stretch>
        </p:blipFill>
        <p:spPr>
          <a:xfrm>
            <a:off x="0" y="1471629"/>
            <a:ext cx="4449493" cy="4558017"/>
          </a:xfrm>
          <a:prstGeom prst="rect">
            <a:avLst/>
          </a:prstGeom>
        </p:spPr>
      </p:pic>
      <p:pic>
        <p:nvPicPr>
          <p:cNvPr id="9" name="Imagem 8">
            <a:extLst>
              <a:ext uri="{FF2B5EF4-FFF2-40B4-BE49-F238E27FC236}">
                <a16:creationId xmlns:a16="http://schemas.microsoft.com/office/drawing/2014/main" id="{F698C87A-4493-D0FD-C79C-627FE5117456}"/>
              </a:ext>
            </a:extLst>
          </p:cNvPr>
          <p:cNvPicPr>
            <a:picLocks noChangeAspect="1"/>
          </p:cNvPicPr>
          <p:nvPr/>
        </p:nvPicPr>
        <p:blipFill>
          <a:blip r:embed="rId4"/>
          <a:stretch>
            <a:fillRect/>
          </a:stretch>
        </p:blipFill>
        <p:spPr>
          <a:xfrm>
            <a:off x="4179097" y="2873899"/>
            <a:ext cx="4171429" cy="3304762"/>
          </a:xfrm>
          <a:prstGeom prst="rect">
            <a:avLst/>
          </a:prstGeom>
        </p:spPr>
      </p:pic>
    </p:spTree>
    <p:extLst>
      <p:ext uri="{BB962C8B-B14F-4D97-AF65-F5344CB8AC3E}">
        <p14:creationId xmlns:p14="http://schemas.microsoft.com/office/powerpoint/2010/main" val="396474960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3F71F1-8ACE-A4ED-7252-C6DFD03D2210}"/>
              </a:ext>
            </a:extLst>
          </p:cNvPr>
          <p:cNvSpPr>
            <a:spLocks noGrp="1"/>
          </p:cNvSpPr>
          <p:nvPr>
            <p:ph type="title"/>
          </p:nvPr>
        </p:nvSpPr>
        <p:spPr/>
        <p:txBody>
          <a:bodyPr/>
          <a:lstStyle/>
          <a:p>
            <a:r>
              <a:rPr lang="pt-BR" dirty="0"/>
              <a:t>LED - Light </a:t>
            </a:r>
            <a:r>
              <a:rPr lang="pt-BR" dirty="0" err="1"/>
              <a:t>Emitting</a:t>
            </a:r>
            <a:r>
              <a:rPr lang="pt-BR" dirty="0"/>
              <a:t> </a:t>
            </a:r>
            <a:r>
              <a:rPr lang="pt-BR" dirty="0" err="1"/>
              <a:t>Diode</a:t>
            </a:r>
            <a:r>
              <a:rPr lang="pt-BR" dirty="0"/>
              <a:t> </a:t>
            </a:r>
          </a:p>
        </p:txBody>
      </p:sp>
      <p:sp>
        <p:nvSpPr>
          <p:cNvPr id="3" name="Espaço Reservado para Conteúdo 2">
            <a:extLst>
              <a:ext uri="{FF2B5EF4-FFF2-40B4-BE49-F238E27FC236}">
                <a16:creationId xmlns:a16="http://schemas.microsoft.com/office/drawing/2014/main" id="{664B3C7B-DA3B-C57B-E6EA-B61A7E177620}"/>
              </a:ext>
            </a:extLst>
          </p:cNvPr>
          <p:cNvSpPr>
            <a:spLocks noGrp="1"/>
          </p:cNvSpPr>
          <p:nvPr>
            <p:ph idx="1"/>
          </p:nvPr>
        </p:nvSpPr>
        <p:spPr/>
        <p:txBody>
          <a:bodyPr/>
          <a:lstStyle/>
          <a:p>
            <a:pPr algn="just">
              <a:lnSpc>
                <a:spcPct val="150000"/>
              </a:lnSpc>
              <a:spcBef>
                <a:spcPts val="0"/>
              </a:spcBef>
            </a:pPr>
            <a:r>
              <a:rPr lang="pt-BR" dirty="0"/>
              <a:t>LED</a:t>
            </a:r>
          </a:p>
          <a:p>
            <a:pPr algn="just">
              <a:lnSpc>
                <a:spcPct val="150000"/>
              </a:lnSpc>
              <a:spcBef>
                <a:spcPts val="0"/>
              </a:spcBef>
            </a:pPr>
            <a:r>
              <a:rPr lang="pt-BR" b="0" i="0" dirty="0">
                <a:effectLst/>
                <a:latin typeface="Google Sans"/>
              </a:rPr>
              <a:t>Com a sigla para Light </a:t>
            </a:r>
            <a:r>
              <a:rPr lang="pt-BR" b="0" i="0" dirty="0" err="1">
                <a:effectLst/>
                <a:latin typeface="Google Sans"/>
              </a:rPr>
              <a:t>Emitting</a:t>
            </a:r>
            <a:r>
              <a:rPr lang="pt-BR" b="0" i="0" dirty="0">
                <a:effectLst/>
                <a:latin typeface="Google Sans"/>
              </a:rPr>
              <a:t> </a:t>
            </a:r>
            <a:r>
              <a:rPr lang="pt-BR" b="0" i="0" dirty="0" err="1">
                <a:effectLst/>
                <a:latin typeface="Google Sans"/>
              </a:rPr>
              <a:t>Diode</a:t>
            </a:r>
            <a:r>
              <a:rPr lang="pt-BR" b="0" i="0" dirty="0">
                <a:effectLst/>
                <a:latin typeface="Google Sans"/>
              </a:rPr>
              <a:t>, o uso do Led na estética nada mais é do que um espectro eletromagnético que pode ser invisível ou até mesmo visível.</a:t>
            </a:r>
            <a:endParaRPr lang="pt-BR" dirty="0"/>
          </a:p>
        </p:txBody>
      </p:sp>
    </p:spTree>
    <p:extLst>
      <p:ext uri="{BB962C8B-B14F-4D97-AF65-F5344CB8AC3E}">
        <p14:creationId xmlns:p14="http://schemas.microsoft.com/office/powerpoint/2010/main" val="187056011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DCA080-AD4D-BC22-76A9-BC2930B832F6}"/>
              </a:ext>
            </a:extLst>
          </p:cNvPr>
          <p:cNvSpPr>
            <a:spLocks noGrp="1"/>
          </p:cNvSpPr>
          <p:nvPr>
            <p:ph type="title"/>
          </p:nvPr>
        </p:nvSpPr>
        <p:spPr/>
        <p:txBody>
          <a:bodyPr/>
          <a:lstStyle/>
          <a:p>
            <a:r>
              <a:rPr lang="pt-BR" dirty="0"/>
              <a:t>LED - Light </a:t>
            </a:r>
            <a:r>
              <a:rPr lang="pt-BR" dirty="0" err="1"/>
              <a:t>Emitting</a:t>
            </a:r>
            <a:r>
              <a:rPr lang="pt-BR" dirty="0"/>
              <a:t> </a:t>
            </a:r>
            <a:r>
              <a:rPr lang="pt-BR" dirty="0" err="1"/>
              <a:t>Diode</a:t>
            </a:r>
            <a:endParaRPr lang="pt-BR" dirty="0"/>
          </a:p>
        </p:txBody>
      </p:sp>
      <p:sp>
        <p:nvSpPr>
          <p:cNvPr id="3" name="Espaço Reservado para Conteúdo 2">
            <a:extLst>
              <a:ext uri="{FF2B5EF4-FFF2-40B4-BE49-F238E27FC236}">
                <a16:creationId xmlns:a16="http://schemas.microsoft.com/office/drawing/2014/main" id="{F6E20B24-091A-F2FD-8D07-ECD22520ACE0}"/>
              </a:ext>
            </a:extLst>
          </p:cNvPr>
          <p:cNvSpPr>
            <a:spLocks noGrp="1"/>
          </p:cNvSpPr>
          <p:nvPr>
            <p:ph idx="1"/>
          </p:nvPr>
        </p:nvSpPr>
        <p:spPr/>
        <p:txBody>
          <a:bodyPr/>
          <a:lstStyle/>
          <a:p>
            <a:endParaRPr lang="pt-BR"/>
          </a:p>
        </p:txBody>
      </p:sp>
      <p:pic>
        <p:nvPicPr>
          <p:cNvPr id="3076" name="Picture 4" descr="O que você precisa saber antes de investir em fototerapia - João Tassinary">
            <a:extLst>
              <a:ext uri="{FF2B5EF4-FFF2-40B4-BE49-F238E27FC236}">
                <a16:creationId xmlns:a16="http://schemas.microsoft.com/office/drawing/2014/main" id="{3FEC02F5-33C2-8144-89CA-8CA95FC06A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267619"/>
            <a:ext cx="9753600" cy="5467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815210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2E59A7-2C80-9E7B-49EF-D194FAD185D4}"/>
              </a:ext>
            </a:extLst>
          </p:cNvPr>
          <p:cNvSpPr>
            <a:spLocks noGrp="1"/>
          </p:cNvSpPr>
          <p:nvPr>
            <p:ph type="title"/>
          </p:nvPr>
        </p:nvSpPr>
        <p:spPr/>
        <p:txBody>
          <a:bodyPr/>
          <a:lstStyle/>
          <a:p>
            <a:r>
              <a:rPr lang="pt-BR" dirty="0"/>
              <a:t>LED - Light </a:t>
            </a:r>
            <a:r>
              <a:rPr lang="pt-BR" dirty="0" err="1"/>
              <a:t>Emitting</a:t>
            </a:r>
            <a:r>
              <a:rPr lang="pt-BR" dirty="0"/>
              <a:t> </a:t>
            </a:r>
            <a:r>
              <a:rPr lang="pt-BR" dirty="0" err="1"/>
              <a:t>Diode</a:t>
            </a:r>
            <a:endParaRPr lang="pt-BR" dirty="0"/>
          </a:p>
        </p:txBody>
      </p:sp>
      <p:sp>
        <p:nvSpPr>
          <p:cNvPr id="3" name="Espaço Reservado para Conteúdo 2">
            <a:extLst>
              <a:ext uri="{FF2B5EF4-FFF2-40B4-BE49-F238E27FC236}">
                <a16:creationId xmlns:a16="http://schemas.microsoft.com/office/drawing/2014/main" id="{ECB0A21D-8E95-DADA-81C0-C9E935477786}"/>
              </a:ext>
            </a:extLst>
          </p:cNvPr>
          <p:cNvSpPr>
            <a:spLocks noGrp="1"/>
          </p:cNvSpPr>
          <p:nvPr>
            <p:ph idx="1"/>
          </p:nvPr>
        </p:nvSpPr>
        <p:spPr/>
        <p:txBody>
          <a:bodyPr>
            <a:normAutofit/>
          </a:bodyPr>
          <a:lstStyle/>
          <a:p>
            <a:pPr>
              <a:lnSpc>
                <a:spcPct val="107000"/>
              </a:lnSpc>
              <a:spcAft>
                <a:spcPts val="800"/>
              </a:spcAft>
            </a:pPr>
            <a:r>
              <a:rPr lang="pt-BR" kern="100" dirty="0">
                <a:effectLst/>
                <a:latin typeface="Google Sans"/>
                <a:ea typeface="Calibri" panose="020F0502020204030204" pitchFamily="34" charset="0"/>
                <a:cs typeface="Times New Roman" panose="02020603050405020304" pitchFamily="18" charset="0"/>
              </a:rPr>
              <a:t>FORMULA </a:t>
            </a:r>
          </a:p>
          <a:p>
            <a:pPr>
              <a:lnSpc>
                <a:spcPct val="107000"/>
              </a:lnSpc>
              <a:spcAft>
                <a:spcPts val="800"/>
              </a:spcAft>
            </a:pPr>
            <a:r>
              <a:rPr lang="pt-BR" kern="100" dirty="0">
                <a:effectLst/>
                <a:latin typeface="Google Sans"/>
                <a:ea typeface="Calibri" panose="020F0502020204030204" pitchFamily="34" charset="0"/>
                <a:cs typeface="Times New Roman" panose="02020603050405020304" pitchFamily="18" charset="0"/>
              </a:rPr>
              <a:t>Tempo (</a:t>
            </a:r>
            <a:r>
              <a:rPr lang="pt-BR" kern="100" dirty="0" err="1">
                <a:effectLst/>
                <a:latin typeface="Google Sans"/>
                <a:ea typeface="Calibri" panose="020F0502020204030204" pitchFamily="34" charset="0"/>
                <a:cs typeface="Times New Roman" panose="02020603050405020304" pitchFamily="18" charset="0"/>
              </a:rPr>
              <a:t>seg</a:t>
            </a:r>
            <a:r>
              <a:rPr lang="pt-BR" kern="100" dirty="0">
                <a:effectLst/>
                <a:latin typeface="Google Sans"/>
                <a:ea typeface="Calibri" panose="020F0502020204030204" pitchFamily="34" charset="0"/>
                <a:cs typeface="Times New Roman" panose="02020603050405020304" pitchFamily="18" charset="0"/>
              </a:rPr>
              <a:t>) = energia (J) /potencia (W)</a:t>
            </a:r>
          </a:p>
          <a:p>
            <a:pPr>
              <a:lnSpc>
                <a:spcPct val="107000"/>
              </a:lnSpc>
              <a:spcAft>
                <a:spcPts val="800"/>
              </a:spcAft>
            </a:pPr>
            <a:r>
              <a:rPr lang="pt-BR" kern="100" dirty="0">
                <a:latin typeface="Google Sans"/>
                <a:ea typeface="Calibri" panose="020F0502020204030204" pitchFamily="34" charset="0"/>
                <a:cs typeface="Times New Roman" panose="02020603050405020304" pitchFamily="18" charset="0"/>
              </a:rPr>
              <a:t>OU </a:t>
            </a:r>
            <a:r>
              <a:rPr lang="pt-BR" kern="100" dirty="0">
                <a:effectLst/>
                <a:latin typeface="Google Sans"/>
                <a:ea typeface="Calibri" panose="020F0502020204030204" pitchFamily="34" charset="0"/>
                <a:cs typeface="Times New Roman" panose="02020603050405020304" pitchFamily="18" charset="0"/>
              </a:rPr>
              <a:t>Energia J = potência W x tempo   </a:t>
            </a:r>
          </a:p>
          <a:p>
            <a:pPr>
              <a:lnSpc>
                <a:spcPct val="107000"/>
              </a:lnSpc>
              <a:spcAft>
                <a:spcPts val="800"/>
              </a:spcAft>
            </a:pPr>
            <a:r>
              <a:rPr lang="pt-BR" kern="100" dirty="0">
                <a:effectLst/>
                <a:latin typeface="Google Sans"/>
                <a:ea typeface="Calibri" panose="020F0502020204030204" pitchFamily="34" charset="0"/>
                <a:cs typeface="Times New Roman" panose="02020603050405020304" pitchFamily="18" charset="0"/>
              </a:rPr>
              <a:t>Potencia J diferente de Fluência J/cm2</a:t>
            </a:r>
          </a:p>
          <a:p>
            <a:pPr>
              <a:lnSpc>
                <a:spcPct val="107000"/>
              </a:lnSpc>
              <a:spcAft>
                <a:spcPts val="800"/>
              </a:spcAft>
            </a:pPr>
            <a:r>
              <a:rPr lang="pt-BR" kern="100" dirty="0">
                <a:effectLst/>
                <a:latin typeface="Google Sans"/>
                <a:ea typeface="Calibri" panose="020F0502020204030204" pitchFamily="34" charset="0"/>
                <a:cs typeface="Times New Roman" panose="02020603050405020304" pitchFamily="18" charset="0"/>
              </a:rPr>
              <a:t>Maquinas aparecem em mW = </a:t>
            </a:r>
            <a:r>
              <a:rPr lang="pt-BR" kern="100" dirty="0" err="1">
                <a:effectLst/>
                <a:latin typeface="Google Sans"/>
                <a:ea typeface="Calibri" panose="020F0502020204030204" pitchFamily="34" charset="0"/>
                <a:cs typeface="Times New Roman" panose="02020603050405020304" pitchFamily="18" charset="0"/>
              </a:rPr>
              <a:t>ex</a:t>
            </a:r>
            <a:r>
              <a:rPr lang="pt-BR" kern="100" dirty="0">
                <a:effectLst/>
                <a:latin typeface="Google Sans"/>
                <a:ea typeface="Calibri" panose="020F0502020204030204" pitchFamily="34" charset="0"/>
                <a:cs typeface="Times New Roman" panose="02020603050405020304" pitchFamily="18" charset="0"/>
              </a:rPr>
              <a:t> 500mW</a:t>
            </a:r>
          </a:p>
          <a:p>
            <a:pPr>
              <a:lnSpc>
                <a:spcPct val="107000"/>
              </a:lnSpc>
              <a:spcAft>
                <a:spcPts val="800"/>
              </a:spcAft>
            </a:pPr>
            <a:r>
              <a:rPr lang="pt-BR" kern="100" dirty="0">
                <a:effectLst/>
                <a:latin typeface="Google Sans"/>
                <a:ea typeface="Calibri" panose="020F0502020204030204" pitchFamily="34" charset="0"/>
                <a:cs typeface="Times New Roman" panose="02020603050405020304" pitchFamily="18" charset="0"/>
              </a:rPr>
              <a:t>1w equivale a 1000mW</a:t>
            </a:r>
          </a:p>
          <a:p>
            <a:endParaRPr lang="pt-BR" dirty="0"/>
          </a:p>
        </p:txBody>
      </p:sp>
    </p:spTree>
    <p:extLst>
      <p:ext uri="{BB962C8B-B14F-4D97-AF65-F5344CB8AC3E}">
        <p14:creationId xmlns:p14="http://schemas.microsoft.com/office/powerpoint/2010/main" val="412305737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F5E46D-091A-2FE0-AC5E-7F7F8E305ACE}"/>
              </a:ext>
            </a:extLst>
          </p:cNvPr>
          <p:cNvSpPr>
            <a:spLocks noGrp="1"/>
          </p:cNvSpPr>
          <p:nvPr>
            <p:ph type="title"/>
          </p:nvPr>
        </p:nvSpPr>
        <p:spPr/>
        <p:txBody>
          <a:bodyPr/>
          <a:lstStyle/>
          <a:p>
            <a:r>
              <a:rPr lang="pt-BR" dirty="0"/>
              <a:t>LED - Light </a:t>
            </a:r>
            <a:r>
              <a:rPr lang="pt-BR" dirty="0" err="1"/>
              <a:t>Emitting</a:t>
            </a:r>
            <a:r>
              <a:rPr lang="pt-BR" dirty="0"/>
              <a:t> </a:t>
            </a:r>
            <a:r>
              <a:rPr lang="pt-BR" dirty="0" err="1"/>
              <a:t>Diode</a:t>
            </a:r>
            <a:endParaRPr lang="pt-BR" dirty="0"/>
          </a:p>
        </p:txBody>
      </p:sp>
      <p:sp>
        <p:nvSpPr>
          <p:cNvPr id="3" name="Espaço Reservado para Conteúdo 2">
            <a:extLst>
              <a:ext uri="{FF2B5EF4-FFF2-40B4-BE49-F238E27FC236}">
                <a16:creationId xmlns:a16="http://schemas.microsoft.com/office/drawing/2014/main" id="{C07C0CCC-63BD-CF0E-8AEE-1DC291987EAA}"/>
              </a:ext>
            </a:extLst>
          </p:cNvPr>
          <p:cNvSpPr>
            <a:spLocks noGrp="1"/>
          </p:cNvSpPr>
          <p:nvPr>
            <p:ph idx="1"/>
          </p:nvPr>
        </p:nvSpPr>
        <p:spPr/>
        <p:txBody>
          <a:bodyPr/>
          <a:lstStyle/>
          <a:p>
            <a:pPr>
              <a:lnSpc>
                <a:spcPct val="107000"/>
              </a:lnSpc>
              <a:spcAft>
                <a:spcPts val="800"/>
              </a:spcAft>
            </a:pPr>
            <a:r>
              <a:rPr lang="pt-BR" kern="100" dirty="0">
                <a:effectLst/>
                <a:latin typeface="Google Sans"/>
                <a:ea typeface="Calibri" panose="020F0502020204030204" pitchFamily="34" charset="0"/>
                <a:cs typeface="Times New Roman" panose="02020603050405020304" pitchFamily="18" charset="0"/>
              </a:rPr>
              <a:t>Logo = 100mW – 100/1000 = 0,1w</a:t>
            </a:r>
          </a:p>
          <a:p>
            <a:pPr>
              <a:lnSpc>
                <a:spcPct val="107000"/>
              </a:lnSpc>
              <a:spcAft>
                <a:spcPts val="800"/>
              </a:spcAft>
            </a:pPr>
            <a:r>
              <a:rPr lang="pt-BR" kern="100" dirty="0">
                <a:effectLst/>
                <a:latin typeface="Google Sans"/>
                <a:ea typeface="Calibri" panose="020F0502020204030204" pitchFamily="34" charset="0"/>
                <a:cs typeface="Times New Roman" panose="02020603050405020304" pitchFamily="18" charset="0"/>
              </a:rPr>
              <a:t>             180mW – 180/1000 = 0,18w</a:t>
            </a:r>
          </a:p>
          <a:p>
            <a:pPr>
              <a:lnSpc>
                <a:spcPct val="107000"/>
              </a:lnSpc>
              <a:spcAft>
                <a:spcPts val="800"/>
              </a:spcAft>
            </a:pPr>
            <a:r>
              <a:rPr lang="pt-BR" kern="100" dirty="0">
                <a:effectLst/>
                <a:latin typeface="Google Sans"/>
                <a:ea typeface="Calibri" panose="020F0502020204030204" pitchFamily="34" charset="0"/>
                <a:cs typeface="Times New Roman" panose="02020603050405020304" pitchFamily="18" charset="0"/>
              </a:rPr>
              <a:t>             200mW – 200/1000 = 0,2w</a:t>
            </a:r>
          </a:p>
          <a:p>
            <a:pPr>
              <a:lnSpc>
                <a:spcPct val="107000"/>
              </a:lnSpc>
              <a:spcAft>
                <a:spcPts val="800"/>
              </a:spcAft>
            </a:pPr>
            <a:r>
              <a:rPr lang="pt-BR" kern="100" dirty="0">
                <a:effectLst/>
                <a:latin typeface="Google Sans"/>
                <a:ea typeface="Calibri" panose="020F0502020204030204" pitchFamily="34" charset="0"/>
                <a:cs typeface="Times New Roman" panose="02020603050405020304" pitchFamily="18" charset="0"/>
              </a:rPr>
              <a:t>             300mW – 300/1000 = 0,3w</a:t>
            </a:r>
          </a:p>
          <a:p>
            <a:pPr>
              <a:lnSpc>
                <a:spcPct val="107000"/>
              </a:lnSpc>
              <a:spcAft>
                <a:spcPts val="800"/>
              </a:spcAft>
            </a:pPr>
            <a:r>
              <a:rPr lang="pt-BR" kern="100" dirty="0">
                <a:effectLst/>
                <a:latin typeface="Google Sans"/>
                <a:ea typeface="Calibri" panose="020F0502020204030204" pitchFamily="34" charset="0"/>
                <a:cs typeface="Times New Roman" panose="02020603050405020304" pitchFamily="18" charset="0"/>
              </a:rPr>
              <a:t>             500mW – 500/1000 = 0,5w</a:t>
            </a:r>
          </a:p>
          <a:p>
            <a:endParaRPr lang="pt-BR" dirty="0"/>
          </a:p>
        </p:txBody>
      </p:sp>
    </p:spTree>
    <p:extLst>
      <p:ext uri="{BB962C8B-B14F-4D97-AF65-F5344CB8AC3E}">
        <p14:creationId xmlns:p14="http://schemas.microsoft.com/office/powerpoint/2010/main" val="274365963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F1F0DC-FCC0-3495-8247-FA699B7B9871}"/>
              </a:ext>
            </a:extLst>
          </p:cNvPr>
          <p:cNvSpPr>
            <a:spLocks noGrp="1"/>
          </p:cNvSpPr>
          <p:nvPr>
            <p:ph type="title"/>
          </p:nvPr>
        </p:nvSpPr>
        <p:spPr/>
        <p:txBody>
          <a:bodyPr/>
          <a:lstStyle/>
          <a:p>
            <a:r>
              <a:rPr lang="pt-BR" dirty="0"/>
              <a:t>LED - Light </a:t>
            </a:r>
            <a:r>
              <a:rPr lang="pt-BR" dirty="0" err="1"/>
              <a:t>Emitting</a:t>
            </a:r>
            <a:r>
              <a:rPr lang="pt-BR" dirty="0"/>
              <a:t> </a:t>
            </a:r>
            <a:r>
              <a:rPr lang="pt-BR" dirty="0" err="1"/>
              <a:t>Diode</a:t>
            </a:r>
            <a:endParaRPr lang="pt-BR" dirty="0"/>
          </a:p>
        </p:txBody>
      </p:sp>
      <p:sp>
        <p:nvSpPr>
          <p:cNvPr id="3" name="Espaço Reservado para Conteúdo 2">
            <a:extLst>
              <a:ext uri="{FF2B5EF4-FFF2-40B4-BE49-F238E27FC236}">
                <a16:creationId xmlns:a16="http://schemas.microsoft.com/office/drawing/2014/main" id="{858067F3-4270-0B9A-F0FC-3C3B074401BD}"/>
              </a:ext>
            </a:extLst>
          </p:cNvPr>
          <p:cNvSpPr>
            <a:spLocks noGrp="1"/>
          </p:cNvSpPr>
          <p:nvPr>
            <p:ph idx="1"/>
          </p:nvPr>
        </p:nvSpPr>
        <p:spPr/>
        <p:txBody>
          <a:bodyPr/>
          <a:lstStyle/>
          <a:p>
            <a:pPr>
              <a:lnSpc>
                <a:spcPct val="107000"/>
              </a:lnSpc>
              <a:spcAft>
                <a:spcPts val="800"/>
              </a:spcAft>
            </a:pPr>
            <a:r>
              <a:rPr lang="pt-BR" kern="100" dirty="0">
                <a:effectLst/>
                <a:latin typeface="Google Sans"/>
                <a:ea typeface="Calibri" panose="020F0502020204030204" pitchFamily="34" charset="0"/>
                <a:cs typeface="Times New Roman" panose="02020603050405020304" pitchFamily="18" charset="0"/>
              </a:rPr>
              <a:t>Âmbar, azul e led vermelho = 500mW – 0,5w</a:t>
            </a:r>
          </a:p>
          <a:p>
            <a:pPr>
              <a:lnSpc>
                <a:spcPct val="107000"/>
              </a:lnSpc>
              <a:spcAft>
                <a:spcPts val="800"/>
              </a:spcAft>
            </a:pPr>
            <a:r>
              <a:rPr lang="pt-BR" kern="100" dirty="0">
                <a:effectLst/>
                <a:latin typeface="Google Sans"/>
                <a:ea typeface="Calibri" panose="020F0502020204030204" pitchFamily="34" charset="0"/>
                <a:cs typeface="Times New Roman" panose="02020603050405020304" pitchFamily="18" charset="0"/>
              </a:rPr>
              <a:t>Infravermelho = 200mW – 0,2w </a:t>
            </a:r>
          </a:p>
          <a:p>
            <a:pPr>
              <a:lnSpc>
                <a:spcPct val="107000"/>
              </a:lnSpc>
              <a:spcAft>
                <a:spcPts val="800"/>
              </a:spcAft>
            </a:pPr>
            <a:r>
              <a:rPr lang="pt-BR" kern="100" dirty="0">
                <a:effectLst/>
                <a:latin typeface="Google Sans"/>
                <a:ea typeface="Calibri" panose="020F0502020204030204" pitchFamily="34" charset="0"/>
                <a:cs typeface="Times New Roman" panose="02020603050405020304" pitchFamily="18" charset="0"/>
              </a:rPr>
              <a:t>Laser Vermelho = 180mW – 0,18w</a:t>
            </a:r>
          </a:p>
          <a:p>
            <a:endParaRPr lang="pt-BR" dirty="0"/>
          </a:p>
        </p:txBody>
      </p:sp>
    </p:spTree>
    <p:extLst>
      <p:ext uri="{BB962C8B-B14F-4D97-AF65-F5344CB8AC3E}">
        <p14:creationId xmlns:p14="http://schemas.microsoft.com/office/powerpoint/2010/main" val="130604869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B36966-93AA-BA04-2794-5587A92928FD}"/>
              </a:ext>
            </a:extLst>
          </p:cNvPr>
          <p:cNvSpPr>
            <a:spLocks noGrp="1"/>
          </p:cNvSpPr>
          <p:nvPr>
            <p:ph type="title"/>
          </p:nvPr>
        </p:nvSpPr>
        <p:spPr/>
        <p:txBody>
          <a:bodyPr/>
          <a:lstStyle/>
          <a:p>
            <a:endParaRPr lang="pt-BR"/>
          </a:p>
        </p:txBody>
      </p:sp>
      <p:graphicFrame>
        <p:nvGraphicFramePr>
          <p:cNvPr id="4" name="Espaço Reservado para Conteúdo 3">
            <a:extLst>
              <a:ext uri="{FF2B5EF4-FFF2-40B4-BE49-F238E27FC236}">
                <a16:creationId xmlns:a16="http://schemas.microsoft.com/office/drawing/2014/main" id="{35C3F91C-0E15-5EAC-5B4D-2C20AB229728}"/>
              </a:ext>
            </a:extLst>
          </p:cNvPr>
          <p:cNvGraphicFramePr>
            <a:graphicFrameLocks noGrp="1"/>
          </p:cNvGraphicFramePr>
          <p:nvPr>
            <p:ph idx="1"/>
            <p:extLst>
              <p:ext uri="{D42A27DB-BD31-4B8C-83A1-F6EECF244321}">
                <p14:modId xmlns:p14="http://schemas.microsoft.com/office/powerpoint/2010/main" val="454318521"/>
              </p:ext>
            </p:extLst>
          </p:nvPr>
        </p:nvGraphicFramePr>
        <p:xfrm>
          <a:off x="1252025" y="594229"/>
          <a:ext cx="9720775" cy="6007973"/>
        </p:xfrm>
        <a:graphic>
          <a:graphicData uri="http://schemas.openxmlformats.org/drawingml/2006/table">
            <a:tbl>
              <a:tblPr firstRow="1" firstCol="1" bandRow="1">
                <a:tableStyleId>{5C22544A-7EE6-4342-B048-85BDC9FD1C3A}</a:tableStyleId>
              </a:tblPr>
              <a:tblGrid>
                <a:gridCol w="3439007">
                  <a:extLst>
                    <a:ext uri="{9D8B030D-6E8A-4147-A177-3AD203B41FA5}">
                      <a16:colId xmlns:a16="http://schemas.microsoft.com/office/drawing/2014/main" val="3789030997"/>
                    </a:ext>
                  </a:extLst>
                </a:gridCol>
                <a:gridCol w="3178078">
                  <a:extLst>
                    <a:ext uri="{9D8B030D-6E8A-4147-A177-3AD203B41FA5}">
                      <a16:colId xmlns:a16="http://schemas.microsoft.com/office/drawing/2014/main" val="2708984369"/>
                    </a:ext>
                  </a:extLst>
                </a:gridCol>
                <a:gridCol w="3103690">
                  <a:extLst>
                    <a:ext uri="{9D8B030D-6E8A-4147-A177-3AD203B41FA5}">
                      <a16:colId xmlns:a16="http://schemas.microsoft.com/office/drawing/2014/main" val="4002941242"/>
                    </a:ext>
                  </a:extLst>
                </a:gridCol>
              </a:tblGrid>
              <a:tr h="553509">
                <a:tc>
                  <a:txBody>
                    <a:bodyPr/>
                    <a:lstStyle/>
                    <a:p>
                      <a:pPr>
                        <a:lnSpc>
                          <a:spcPct val="107000"/>
                        </a:lnSpc>
                        <a:spcAft>
                          <a:spcPts val="800"/>
                        </a:spcAft>
                        <a:buNone/>
                      </a:pPr>
                      <a:r>
                        <a:rPr lang="pt-BR" sz="2400" kern="100" dirty="0">
                          <a:effectLst/>
                        </a:rPr>
                        <a:t>TRATAMENTO</a:t>
                      </a:r>
                      <a:endParaRPr lang="pt-BR"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pt-BR" sz="2400" kern="100">
                          <a:effectLst/>
                        </a:rPr>
                        <a:t>COR/LED</a:t>
                      </a:r>
                      <a:endParaRPr lang="pt-B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pt-BR" sz="2400" kern="100">
                          <a:effectLst/>
                        </a:rPr>
                        <a:t>JOULES</a:t>
                      </a:r>
                      <a:endParaRPr lang="pt-B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66356286"/>
                  </a:ext>
                </a:extLst>
              </a:tr>
              <a:tr h="700840">
                <a:tc>
                  <a:txBody>
                    <a:bodyPr/>
                    <a:lstStyle/>
                    <a:p>
                      <a:pPr marL="342900" lvl="0" indent="-342900">
                        <a:lnSpc>
                          <a:spcPct val="107000"/>
                        </a:lnSpc>
                        <a:buFont typeface="+mj-lt"/>
                        <a:buAutoNum type="arabicPeriod"/>
                      </a:pPr>
                      <a:r>
                        <a:rPr lang="pt-BR" sz="2400" kern="100" dirty="0">
                          <a:effectLst/>
                        </a:rPr>
                        <a:t>Antissepsia </a:t>
                      </a:r>
                    </a:p>
                    <a:p>
                      <a:pPr marL="457200">
                        <a:lnSpc>
                          <a:spcPct val="107000"/>
                        </a:lnSpc>
                        <a:spcAft>
                          <a:spcPts val="800"/>
                        </a:spcAft>
                        <a:buNone/>
                      </a:pPr>
                      <a:r>
                        <a:rPr lang="pt-BR" sz="2400" kern="100" dirty="0">
                          <a:effectLst/>
                        </a:rPr>
                        <a:t>Bactericida </a:t>
                      </a:r>
                      <a:endParaRPr lang="pt-BR"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pt-BR" sz="2400" kern="100" dirty="0">
                          <a:effectLst/>
                        </a:rPr>
                        <a:t>Azul </a:t>
                      </a:r>
                      <a:endParaRPr lang="pt-BR"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pt-BR" sz="2400" kern="100">
                          <a:effectLst/>
                        </a:rPr>
                        <a:t>8 a 15J</a:t>
                      </a:r>
                      <a:endParaRPr lang="pt-B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22635729"/>
                  </a:ext>
                </a:extLst>
              </a:tr>
              <a:tr h="860325">
                <a:tc>
                  <a:txBody>
                    <a:bodyPr/>
                    <a:lstStyle/>
                    <a:p>
                      <a:pPr marL="342900" lvl="0" indent="-342900">
                        <a:lnSpc>
                          <a:spcPct val="107000"/>
                        </a:lnSpc>
                        <a:spcAft>
                          <a:spcPts val="800"/>
                        </a:spcAft>
                        <a:buFont typeface="+mj-lt"/>
                        <a:buAutoNum type="arabicPeriod"/>
                      </a:pPr>
                      <a:r>
                        <a:rPr lang="pt-BR" sz="2400" kern="100">
                          <a:effectLst/>
                        </a:rPr>
                        <a:t>Celulite </a:t>
                      </a:r>
                      <a:endParaRPr lang="pt-B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pt-BR" sz="2400" kern="100" dirty="0">
                          <a:effectLst/>
                        </a:rPr>
                        <a:t>Vermelho</a:t>
                      </a:r>
                    </a:p>
                    <a:p>
                      <a:pPr>
                        <a:lnSpc>
                          <a:spcPct val="107000"/>
                        </a:lnSpc>
                        <a:spcAft>
                          <a:spcPts val="800"/>
                        </a:spcAft>
                        <a:buNone/>
                      </a:pPr>
                      <a:r>
                        <a:rPr lang="pt-BR" sz="2400" kern="100" dirty="0">
                          <a:effectLst/>
                        </a:rPr>
                        <a:t>Âmbar </a:t>
                      </a:r>
                      <a:endParaRPr lang="pt-BR"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pt-BR" sz="2400" kern="100">
                          <a:effectLst/>
                        </a:rPr>
                        <a:t>3 a 8J</a:t>
                      </a:r>
                      <a:endParaRPr lang="pt-B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0470333"/>
                  </a:ext>
                </a:extLst>
              </a:tr>
              <a:tr h="1059182">
                <a:tc>
                  <a:txBody>
                    <a:bodyPr/>
                    <a:lstStyle/>
                    <a:p>
                      <a:pPr marL="342900" lvl="0" indent="-342900">
                        <a:lnSpc>
                          <a:spcPct val="107000"/>
                        </a:lnSpc>
                        <a:spcAft>
                          <a:spcPts val="800"/>
                        </a:spcAft>
                        <a:buFont typeface="+mj-lt"/>
                        <a:buAutoNum type="arabicPeriod"/>
                      </a:pPr>
                      <a:r>
                        <a:rPr lang="pt-BR" sz="2400" kern="100">
                          <a:effectLst/>
                        </a:rPr>
                        <a:t>Cicatriz hipertrófica e queloide </a:t>
                      </a:r>
                      <a:endParaRPr lang="pt-B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pt-BR" sz="2400" kern="100">
                          <a:effectLst/>
                        </a:rPr>
                        <a:t>Infravermelho </a:t>
                      </a:r>
                      <a:endParaRPr lang="pt-B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pt-BR" sz="2400" kern="100" dirty="0">
                          <a:effectLst/>
                        </a:rPr>
                        <a:t>6 a 15J</a:t>
                      </a:r>
                      <a:endParaRPr lang="pt-BR"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98395492"/>
                  </a:ext>
                </a:extLst>
              </a:tr>
              <a:tr h="860325">
                <a:tc>
                  <a:txBody>
                    <a:bodyPr/>
                    <a:lstStyle/>
                    <a:p>
                      <a:pPr marL="342900" lvl="0" indent="-342900">
                        <a:lnSpc>
                          <a:spcPct val="107000"/>
                        </a:lnSpc>
                        <a:spcAft>
                          <a:spcPts val="800"/>
                        </a:spcAft>
                        <a:buFont typeface="+mj-lt"/>
                        <a:buAutoNum type="arabicPeriod"/>
                      </a:pPr>
                      <a:r>
                        <a:rPr lang="pt-BR" sz="2400" kern="100">
                          <a:effectLst/>
                        </a:rPr>
                        <a:t>Complicações pós toxina </a:t>
                      </a:r>
                      <a:endParaRPr lang="pt-B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pt-BR" sz="2400" kern="100">
                          <a:effectLst/>
                        </a:rPr>
                        <a:t>Infravermelho</a:t>
                      </a:r>
                    </a:p>
                    <a:p>
                      <a:pPr>
                        <a:lnSpc>
                          <a:spcPct val="107000"/>
                        </a:lnSpc>
                        <a:spcAft>
                          <a:spcPts val="800"/>
                        </a:spcAft>
                        <a:buNone/>
                      </a:pPr>
                      <a:r>
                        <a:rPr lang="pt-BR" sz="2400" kern="100">
                          <a:effectLst/>
                        </a:rPr>
                        <a:t>Vermelho  </a:t>
                      </a:r>
                      <a:endParaRPr lang="pt-B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pt-BR" sz="2400" kern="100" dirty="0">
                          <a:effectLst/>
                        </a:rPr>
                        <a:t>2 a 6J</a:t>
                      </a:r>
                      <a:endParaRPr lang="pt-BR"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84754570"/>
                  </a:ext>
                </a:extLst>
              </a:tr>
              <a:tr h="1895984">
                <a:tc>
                  <a:txBody>
                    <a:bodyPr/>
                    <a:lstStyle/>
                    <a:p>
                      <a:pPr marL="342900" lvl="0" indent="-342900">
                        <a:lnSpc>
                          <a:spcPct val="107000"/>
                        </a:lnSpc>
                        <a:spcAft>
                          <a:spcPts val="800"/>
                        </a:spcAft>
                        <a:buFont typeface="+mj-lt"/>
                        <a:buAutoNum type="arabicPeriod"/>
                      </a:pPr>
                      <a:r>
                        <a:rPr lang="pt-BR" sz="2400" kern="100">
                          <a:effectLst/>
                        </a:rPr>
                        <a:t>Controle inflamatório </a:t>
                      </a:r>
                      <a:endParaRPr lang="pt-B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pt-BR" sz="2400" kern="100">
                          <a:effectLst/>
                        </a:rPr>
                        <a:t>Infravermelho</a:t>
                      </a:r>
                    </a:p>
                    <a:p>
                      <a:pPr>
                        <a:lnSpc>
                          <a:spcPct val="107000"/>
                        </a:lnSpc>
                        <a:spcAft>
                          <a:spcPts val="800"/>
                        </a:spcAft>
                        <a:buNone/>
                      </a:pPr>
                      <a:r>
                        <a:rPr lang="pt-BR" sz="2400" kern="100">
                          <a:effectLst/>
                        </a:rPr>
                        <a:t>Vermelho </a:t>
                      </a:r>
                    </a:p>
                    <a:p>
                      <a:pPr>
                        <a:lnSpc>
                          <a:spcPct val="107000"/>
                        </a:lnSpc>
                        <a:spcAft>
                          <a:spcPts val="800"/>
                        </a:spcAft>
                        <a:buNone/>
                      </a:pPr>
                      <a:r>
                        <a:rPr lang="pt-BR" sz="2400" kern="100">
                          <a:effectLst/>
                        </a:rPr>
                        <a:t>Âmbar  </a:t>
                      </a:r>
                    </a:p>
                    <a:p>
                      <a:pPr>
                        <a:lnSpc>
                          <a:spcPct val="107000"/>
                        </a:lnSpc>
                        <a:spcAft>
                          <a:spcPts val="800"/>
                        </a:spcAft>
                        <a:buNone/>
                      </a:pPr>
                      <a:r>
                        <a:rPr lang="pt-BR" sz="2400" kern="100">
                          <a:effectLst/>
                        </a:rPr>
                        <a:t>Azul </a:t>
                      </a:r>
                      <a:endParaRPr lang="pt-B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pt-BR" sz="2400" kern="100" dirty="0">
                          <a:effectLst/>
                        </a:rPr>
                        <a:t>2 a 6J</a:t>
                      </a:r>
                      <a:endParaRPr lang="pt-BR"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60463359"/>
                  </a:ext>
                </a:extLst>
              </a:tr>
            </a:tbl>
          </a:graphicData>
        </a:graphic>
      </p:graphicFrame>
    </p:spTree>
    <p:extLst>
      <p:ext uri="{BB962C8B-B14F-4D97-AF65-F5344CB8AC3E}">
        <p14:creationId xmlns:p14="http://schemas.microsoft.com/office/powerpoint/2010/main" val="157498651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78AD3E-3F75-1EB7-9A33-F396AB2FDB5E}"/>
              </a:ext>
            </a:extLst>
          </p:cNvPr>
          <p:cNvSpPr>
            <a:spLocks noGrp="1"/>
          </p:cNvSpPr>
          <p:nvPr>
            <p:ph type="title"/>
          </p:nvPr>
        </p:nvSpPr>
        <p:spPr/>
        <p:txBody>
          <a:bodyPr/>
          <a:lstStyle/>
          <a:p>
            <a:endParaRPr lang="pt-BR"/>
          </a:p>
        </p:txBody>
      </p:sp>
      <p:graphicFrame>
        <p:nvGraphicFramePr>
          <p:cNvPr id="4" name="Espaço Reservado para Conteúdo 3">
            <a:extLst>
              <a:ext uri="{FF2B5EF4-FFF2-40B4-BE49-F238E27FC236}">
                <a16:creationId xmlns:a16="http://schemas.microsoft.com/office/drawing/2014/main" id="{0213A263-4D2B-A848-3B13-95D172A9D3F4}"/>
              </a:ext>
            </a:extLst>
          </p:cNvPr>
          <p:cNvGraphicFramePr>
            <a:graphicFrameLocks noGrp="1"/>
          </p:cNvGraphicFramePr>
          <p:nvPr>
            <p:ph idx="1"/>
            <p:extLst>
              <p:ext uri="{D42A27DB-BD31-4B8C-83A1-F6EECF244321}">
                <p14:modId xmlns:p14="http://schemas.microsoft.com/office/powerpoint/2010/main" val="1731099718"/>
              </p:ext>
            </p:extLst>
          </p:nvPr>
        </p:nvGraphicFramePr>
        <p:xfrm>
          <a:off x="1256713" y="154111"/>
          <a:ext cx="9678573" cy="6068762"/>
        </p:xfrm>
        <a:graphic>
          <a:graphicData uri="http://schemas.openxmlformats.org/drawingml/2006/table">
            <a:tbl>
              <a:tblPr firstRow="1" firstCol="1" bandRow="1">
                <a:tableStyleId>{5C22544A-7EE6-4342-B048-85BDC9FD1C3A}</a:tableStyleId>
              </a:tblPr>
              <a:tblGrid>
                <a:gridCol w="3424077">
                  <a:extLst>
                    <a:ext uri="{9D8B030D-6E8A-4147-A177-3AD203B41FA5}">
                      <a16:colId xmlns:a16="http://schemas.microsoft.com/office/drawing/2014/main" val="2267063321"/>
                    </a:ext>
                  </a:extLst>
                </a:gridCol>
                <a:gridCol w="3164281">
                  <a:extLst>
                    <a:ext uri="{9D8B030D-6E8A-4147-A177-3AD203B41FA5}">
                      <a16:colId xmlns:a16="http://schemas.microsoft.com/office/drawing/2014/main" val="2691559815"/>
                    </a:ext>
                  </a:extLst>
                </a:gridCol>
                <a:gridCol w="3090215">
                  <a:extLst>
                    <a:ext uri="{9D8B030D-6E8A-4147-A177-3AD203B41FA5}">
                      <a16:colId xmlns:a16="http://schemas.microsoft.com/office/drawing/2014/main" val="571413400"/>
                    </a:ext>
                  </a:extLst>
                </a:gridCol>
              </a:tblGrid>
              <a:tr h="780936">
                <a:tc>
                  <a:txBody>
                    <a:bodyPr/>
                    <a:lstStyle/>
                    <a:p>
                      <a:pPr marL="342900" lvl="0" indent="-342900">
                        <a:lnSpc>
                          <a:spcPct val="107000"/>
                        </a:lnSpc>
                        <a:spcAft>
                          <a:spcPts val="800"/>
                        </a:spcAft>
                        <a:buFont typeface="+mj-lt"/>
                        <a:buAutoNum type="arabicPeriod"/>
                      </a:pPr>
                      <a:r>
                        <a:rPr lang="pt-BR" sz="2400" kern="100" dirty="0">
                          <a:effectLst/>
                        </a:rPr>
                        <a:t>Deiscência e cicatrização </a:t>
                      </a:r>
                      <a:endParaRPr lang="pt-BR"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6449" marR="66449" marT="0" marB="0"/>
                </a:tc>
                <a:tc>
                  <a:txBody>
                    <a:bodyPr/>
                    <a:lstStyle/>
                    <a:p>
                      <a:pPr>
                        <a:lnSpc>
                          <a:spcPct val="107000"/>
                        </a:lnSpc>
                        <a:spcAft>
                          <a:spcPts val="800"/>
                        </a:spcAft>
                        <a:buNone/>
                      </a:pPr>
                      <a:r>
                        <a:rPr lang="pt-BR" sz="2400" kern="100">
                          <a:effectLst/>
                        </a:rPr>
                        <a:t>Infravermelho </a:t>
                      </a:r>
                    </a:p>
                    <a:p>
                      <a:pPr>
                        <a:lnSpc>
                          <a:spcPct val="107000"/>
                        </a:lnSpc>
                        <a:spcAft>
                          <a:spcPts val="800"/>
                        </a:spcAft>
                        <a:buNone/>
                      </a:pPr>
                      <a:r>
                        <a:rPr lang="pt-BR" sz="2400" kern="100">
                          <a:effectLst/>
                        </a:rPr>
                        <a:t>Azul </a:t>
                      </a:r>
                      <a:endParaRPr lang="pt-B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6449" marR="66449" marT="0" marB="0"/>
                </a:tc>
                <a:tc>
                  <a:txBody>
                    <a:bodyPr/>
                    <a:lstStyle/>
                    <a:p>
                      <a:pPr>
                        <a:lnSpc>
                          <a:spcPct val="107000"/>
                        </a:lnSpc>
                        <a:spcAft>
                          <a:spcPts val="800"/>
                        </a:spcAft>
                        <a:buNone/>
                      </a:pPr>
                      <a:r>
                        <a:rPr lang="pt-BR" sz="2400" kern="100">
                          <a:effectLst/>
                        </a:rPr>
                        <a:t>2 a 6J</a:t>
                      </a:r>
                      <a:endParaRPr lang="pt-B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6449" marR="66449" marT="0" marB="0"/>
                </a:tc>
                <a:extLst>
                  <a:ext uri="{0D108BD9-81ED-4DB2-BD59-A6C34878D82A}">
                    <a16:rowId xmlns:a16="http://schemas.microsoft.com/office/drawing/2014/main" val="4194581856"/>
                  </a:ext>
                </a:extLst>
              </a:tr>
              <a:tr h="780936">
                <a:tc>
                  <a:txBody>
                    <a:bodyPr/>
                    <a:lstStyle/>
                    <a:p>
                      <a:pPr marL="342900" lvl="0" indent="-342900">
                        <a:lnSpc>
                          <a:spcPct val="107000"/>
                        </a:lnSpc>
                        <a:spcAft>
                          <a:spcPts val="800"/>
                        </a:spcAft>
                        <a:buFont typeface="+mj-lt"/>
                        <a:buAutoNum type="arabicPeriod"/>
                      </a:pPr>
                      <a:r>
                        <a:rPr lang="pt-BR" sz="2400" kern="100" dirty="0">
                          <a:effectLst/>
                        </a:rPr>
                        <a:t>Dor e pós operatório </a:t>
                      </a:r>
                      <a:endParaRPr lang="pt-BR"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6449" marR="66449" marT="0" marB="0"/>
                </a:tc>
                <a:tc>
                  <a:txBody>
                    <a:bodyPr/>
                    <a:lstStyle/>
                    <a:p>
                      <a:pPr>
                        <a:lnSpc>
                          <a:spcPct val="107000"/>
                        </a:lnSpc>
                        <a:spcAft>
                          <a:spcPts val="800"/>
                        </a:spcAft>
                        <a:buNone/>
                      </a:pPr>
                      <a:r>
                        <a:rPr lang="pt-BR" sz="2400" kern="100">
                          <a:effectLst/>
                        </a:rPr>
                        <a:t>Infravermelho </a:t>
                      </a:r>
                    </a:p>
                    <a:p>
                      <a:pPr>
                        <a:lnSpc>
                          <a:spcPct val="107000"/>
                        </a:lnSpc>
                        <a:spcAft>
                          <a:spcPts val="800"/>
                        </a:spcAft>
                        <a:buNone/>
                      </a:pPr>
                      <a:r>
                        <a:rPr lang="pt-BR" sz="2400" kern="100">
                          <a:effectLst/>
                        </a:rPr>
                        <a:t>Vermelho </a:t>
                      </a:r>
                      <a:endParaRPr lang="pt-B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6449" marR="66449" marT="0" marB="0"/>
                </a:tc>
                <a:tc>
                  <a:txBody>
                    <a:bodyPr/>
                    <a:lstStyle/>
                    <a:p>
                      <a:pPr>
                        <a:lnSpc>
                          <a:spcPct val="107000"/>
                        </a:lnSpc>
                        <a:spcAft>
                          <a:spcPts val="800"/>
                        </a:spcAft>
                        <a:buNone/>
                      </a:pPr>
                      <a:r>
                        <a:rPr lang="pt-BR" sz="2400" kern="100">
                          <a:effectLst/>
                        </a:rPr>
                        <a:t>3 a 6J</a:t>
                      </a:r>
                      <a:endParaRPr lang="pt-B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6449" marR="66449" marT="0" marB="0"/>
                </a:tc>
                <a:extLst>
                  <a:ext uri="{0D108BD9-81ED-4DB2-BD59-A6C34878D82A}">
                    <a16:rowId xmlns:a16="http://schemas.microsoft.com/office/drawing/2014/main" val="1168271231"/>
                  </a:ext>
                </a:extLst>
              </a:tr>
              <a:tr h="780936">
                <a:tc>
                  <a:txBody>
                    <a:bodyPr/>
                    <a:lstStyle/>
                    <a:p>
                      <a:pPr marL="342900" lvl="0" indent="-342900">
                        <a:lnSpc>
                          <a:spcPct val="107000"/>
                        </a:lnSpc>
                        <a:spcAft>
                          <a:spcPts val="800"/>
                        </a:spcAft>
                        <a:buFont typeface="+mj-lt"/>
                        <a:buAutoNum type="arabicPeriod"/>
                      </a:pPr>
                      <a:r>
                        <a:rPr lang="pt-BR" sz="2400" kern="100" dirty="0">
                          <a:effectLst/>
                        </a:rPr>
                        <a:t>Edema</a:t>
                      </a:r>
                      <a:endParaRPr lang="pt-BR"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6449" marR="66449" marT="0" marB="0"/>
                </a:tc>
                <a:tc>
                  <a:txBody>
                    <a:bodyPr/>
                    <a:lstStyle/>
                    <a:p>
                      <a:pPr>
                        <a:lnSpc>
                          <a:spcPct val="107000"/>
                        </a:lnSpc>
                        <a:spcAft>
                          <a:spcPts val="800"/>
                        </a:spcAft>
                        <a:buNone/>
                      </a:pPr>
                      <a:r>
                        <a:rPr lang="pt-BR" sz="2400" kern="100">
                          <a:effectLst/>
                        </a:rPr>
                        <a:t>Infravermelho </a:t>
                      </a:r>
                    </a:p>
                    <a:p>
                      <a:pPr>
                        <a:lnSpc>
                          <a:spcPct val="107000"/>
                        </a:lnSpc>
                        <a:spcAft>
                          <a:spcPts val="800"/>
                        </a:spcAft>
                        <a:buNone/>
                      </a:pPr>
                      <a:r>
                        <a:rPr lang="pt-BR" sz="2400" kern="100">
                          <a:effectLst/>
                        </a:rPr>
                        <a:t>Vermelho </a:t>
                      </a:r>
                      <a:endParaRPr lang="pt-B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6449" marR="66449" marT="0" marB="0"/>
                </a:tc>
                <a:tc>
                  <a:txBody>
                    <a:bodyPr/>
                    <a:lstStyle/>
                    <a:p>
                      <a:pPr>
                        <a:lnSpc>
                          <a:spcPct val="107000"/>
                        </a:lnSpc>
                        <a:spcAft>
                          <a:spcPts val="800"/>
                        </a:spcAft>
                        <a:buNone/>
                      </a:pPr>
                      <a:r>
                        <a:rPr lang="pt-BR" sz="2400" kern="100">
                          <a:effectLst/>
                        </a:rPr>
                        <a:t>2 a 8J</a:t>
                      </a:r>
                      <a:endParaRPr lang="pt-B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6449" marR="66449" marT="0" marB="0"/>
                </a:tc>
                <a:extLst>
                  <a:ext uri="{0D108BD9-81ED-4DB2-BD59-A6C34878D82A}">
                    <a16:rowId xmlns:a16="http://schemas.microsoft.com/office/drawing/2014/main" val="2811192020"/>
                  </a:ext>
                </a:extLst>
              </a:tr>
              <a:tr h="780936">
                <a:tc>
                  <a:txBody>
                    <a:bodyPr/>
                    <a:lstStyle/>
                    <a:p>
                      <a:pPr marL="342900" lvl="0" indent="-342900">
                        <a:lnSpc>
                          <a:spcPct val="107000"/>
                        </a:lnSpc>
                        <a:spcAft>
                          <a:spcPts val="800"/>
                        </a:spcAft>
                        <a:buFont typeface="+mj-lt"/>
                        <a:buAutoNum type="arabicPeriod"/>
                      </a:pPr>
                      <a:r>
                        <a:rPr lang="pt-BR" sz="2400" kern="100" dirty="0">
                          <a:effectLst/>
                        </a:rPr>
                        <a:t>Equimose</a:t>
                      </a:r>
                      <a:endParaRPr lang="pt-BR"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6449" marR="66449" marT="0" marB="0"/>
                </a:tc>
                <a:tc>
                  <a:txBody>
                    <a:bodyPr/>
                    <a:lstStyle/>
                    <a:p>
                      <a:pPr>
                        <a:lnSpc>
                          <a:spcPct val="107000"/>
                        </a:lnSpc>
                        <a:spcAft>
                          <a:spcPts val="800"/>
                        </a:spcAft>
                        <a:buNone/>
                      </a:pPr>
                      <a:r>
                        <a:rPr lang="pt-BR" sz="2400" kern="100">
                          <a:effectLst/>
                        </a:rPr>
                        <a:t>Infravermelho </a:t>
                      </a:r>
                    </a:p>
                    <a:p>
                      <a:pPr>
                        <a:lnSpc>
                          <a:spcPct val="107000"/>
                        </a:lnSpc>
                        <a:spcAft>
                          <a:spcPts val="800"/>
                        </a:spcAft>
                        <a:buNone/>
                      </a:pPr>
                      <a:r>
                        <a:rPr lang="pt-BR" sz="2400" kern="100">
                          <a:effectLst/>
                        </a:rPr>
                        <a:t>Âmbar </a:t>
                      </a:r>
                      <a:endParaRPr lang="pt-B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6449" marR="66449" marT="0" marB="0"/>
                </a:tc>
                <a:tc>
                  <a:txBody>
                    <a:bodyPr/>
                    <a:lstStyle/>
                    <a:p>
                      <a:pPr>
                        <a:lnSpc>
                          <a:spcPct val="107000"/>
                        </a:lnSpc>
                        <a:spcAft>
                          <a:spcPts val="800"/>
                        </a:spcAft>
                        <a:buNone/>
                      </a:pPr>
                      <a:r>
                        <a:rPr lang="pt-BR" sz="2400" kern="100">
                          <a:effectLst/>
                        </a:rPr>
                        <a:t>3 a 6J </a:t>
                      </a:r>
                      <a:endParaRPr lang="pt-B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6449" marR="66449" marT="0" marB="0"/>
                </a:tc>
                <a:extLst>
                  <a:ext uri="{0D108BD9-81ED-4DB2-BD59-A6C34878D82A}">
                    <a16:rowId xmlns:a16="http://schemas.microsoft.com/office/drawing/2014/main" val="3275291472"/>
                  </a:ext>
                </a:extLst>
              </a:tr>
              <a:tr h="780936">
                <a:tc>
                  <a:txBody>
                    <a:bodyPr/>
                    <a:lstStyle/>
                    <a:p>
                      <a:pPr marL="342900" lvl="0" indent="-342900">
                        <a:lnSpc>
                          <a:spcPct val="107000"/>
                        </a:lnSpc>
                        <a:spcAft>
                          <a:spcPts val="800"/>
                        </a:spcAft>
                        <a:buFont typeface="+mj-lt"/>
                        <a:buAutoNum type="arabicPeriod"/>
                      </a:pPr>
                      <a:r>
                        <a:rPr lang="pt-BR" sz="2400" kern="100">
                          <a:effectLst/>
                        </a:rPr>
                        <a:t>Estimulo linfático </a:t>
                      </a:r>
                      <a:endParaRPr lang="pt-B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6449" marR="66449" marT="0" marB="0"/>
                </a:tc>
                <a:tc>
                  <a:txBody>
                    <a:bodyPr/>
                    <a:lstStyle/>
                    <a:p>
                      <a:pPr>
                        <a:lnSpc>
                          <a:spcPct val="107000"/>
                        </a:lnSpc>
                        <a:spcAft>
                          <a:spcPts val="800"/>
                        </a:spcAft>
                        <a:buNone/>
                      </a:pPr>
                      <a:r>
                        <a:rPr lang="pt-BR" sz="2400" kern="100" dirty="0">
                          <a:effectLst/>
                        </a:rPr>
                        <a:t>Infravermelho </a:t>
                      </a:r>
                    </a:p>
                    <a:p>
                      <a:pPr>
                        <a:lnSpc>
                          <a:spcPct val="107000"/>
                        </a:lnSpc>
                        <a:spcAft>
                          <a:spcPts val="800"/>
                        </a:spcAft>
                        <a:buNone/>
                      </a:pPr>
                      <a:r>
                        <a:rPr lang="pt-BR" sz="2400" kern="100" dirty="0">
                          <a:effectLst/>
                        </a:rPr>
                        <a:t>Vermelho </a:t>
                      </a:r>
                      <a:endParaRPr lang="pt-BR"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6449" marR="66449" marT="0" marB="0"/>
                </a:tc>
                <a:tc>
                  <a:txBody>
                    <a:bodyPr/>
                    <a:lstStyle/>
                    <a:p>
                      <a:pPr>
                        <a:lnSpc>
                          <a:spcPct val="107000"/>
                        </a:lnSpc>
                        <a:spcAft>
                          <a:spcPts val="800"/>
                        </a:spcAft>
                        <a:buNone/>
                      </a:pPr>
                      <a:r>
                        <a:rPr lang="pt-BR" sz="2400" kern="100">
                          <a:effectLst/>
                        </a:rPr>
                        <a:t>2 a 6J</a:t>
                      </a:r>
                      <a:endParaRPr lang="pt-B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6449" marR="66449" marT="0" marB="0"/>
                </a:tc>
                <a:extLst>
                  <a:ext uri="{0D108BD9-81ED-4DB2-BD59-A6C34878D82A}">
                    <a16:rowId xmlns:a16="http://schemas.microsoft.com/office/drawing/2014/main" val="3274130117"/>
                  </a:ext>
                </a:extLst>
              </a:tr>
              <a:tr h="780936">
                <a:tc>
                  <a:txBody>
                    <a:bodyPr/>
                    <a:lstStyle/>
                    <a:p>
                      <a:pPr marL="342900" lvl="0" indent="-342900">
                        <a:lnSpc>
                          <a:spcPct val="107000"/>
                        </a:lnSpc>
                        <a:spcAft>
                          <a:spcPts val="800"/>
                        </a:spcAft>
                        <a:buFont typeface="+mj-lt"/>
                        <a:buAutoNum type="arabicPeriod"/>
                      </a:pPr>
                      <a:r>
                        <a:rPr lang="pt-BR" sz="2400" kern="100">
                          <a:effectLst/>
                        </a:rPr>
                        <a:t>Estrias</a:t>
                      </a:r>
                      <a:endParaRPr lang="pt-B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6449" marR="66449" marT="0" marB="0"/>
                </a:tc>
                <a:tc>
                  <a:txBody>
                    <a:bodyPr/>
                    <a:lstStyle/>
                    <a:p>
                      <a:pPr>
                        <a:lnSpc>
                          <a:spcPct val="107000"/>
                        </a:lnSpc>
                        <a:spcAft>
                          <a:spcPts val="800"/>
                        </a:spcAft>
                        <a:buNone/>
                      </a:pPr>
                      <a:r>
                        <a:rPr lang="pt-BR" sz="2400" kern="100" dirty="0">
                          <a:effectLst/>
                        </a:rPr>
                        <a:t>Vermelho </a:t>
                      </a:r>
                    </a:p>
                    <a:p>
                      <a:pPr>
                        <a:lnSpc>
                          <a:spcPct val="107000"/>
                        </a:lnSpc>
                        <a:spcAft>
                          <a:spcPts val="800"/>
                        </a:spcAft>
                        <a:buNone/>
                      </a:pPr>
                      <a:r>
                        <a:rPr lang="pt-BR" sz="2400" kern="100" dirty="0">
                          <a:effectLst/>
                        </a:rPr>
                        <a:t>Âmbar </a:t>
                      </a:r>
                      <a:endParaRPr lang="pt-BR"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6449" marR="66449" marT="0" marB="0"/>
                </a:tc>
                <a:tc>
                  <a:txBody>
                    <a:bodyPr/>
                    <a:lstStyle/>
                    <a:p>
                      <a:pPr>
                        <a:lnSpc>
                          <a:spcPct val="107000"/>
                        </a:lnSpc>
                        <a:spcAft>
                          <a:spcPts val="800"/>
                        </a:spcAft>
                        <a:buNone/>
                      </a:pPr>
                      <a:r>
                        <a:rPr lang="pt-BR" sz="2400" kern="100">
                          <a:effectLst/>
                        </a:rPr>
                        <a:t>3 a 8J</a:t>
                      </a:r>
                      <a:endParaRPr lang="pt-B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6449" marR="66449" marT="0" marB="0"/>
                </a:tc>
                <a:extLst>
                  <a:ext uri="{0D108BD9-81ED-4DB2-BD59-A6C34878D82A}">
                    <a16:rowId xmlns:a16="http://schemas.microsoft.com/office/drawing/2014/main" val="2360967638"/>
                  </a:ext>
                </a:extLst>
              </a:tr>
              <a:tr h="780936">
                <a:tc>
                  <a:txBody>
                    <a:bodyPr/>
                    <a:lstStyle/>
                    <a:p>
                      <a:pPr marL="342900" lvl="0" indent="-342900">
                        <a:lnSpc>
                          <a:spcPct val="107000"/>
                        </a:lnSpc>
                        <a:spcAft>
                          <a:spcPts val="800"/>
                        </a:spcAft>
                        <a:buFont typeface="+mj-lt"/>
                        <a:buAutoNum type="arabicPeriod"/>
                      </a:pPr>
                      <a:r>
                        <a:rPr lang="pt-BR" sz="2400" kern="100">
                          <a:effectLst/>
                        </a:rPr>
                        <a:t>Fibrose prevenção </a:t>
                      </a:r>
                      <a:endParaRPr lang="pt-B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6449" marR="66449" marT="0" marB="0"/>
                </a:tc>
                <a:tc>
                  <a:txBody>
                    <a:bodyPr/>
                    <a:lstStyle/>
                    <a:p>
                      <a:pPr>
                        <a:lnSpc>
                          <a:spcPct val="107000"/>
                        </a:lnSpc>
                        <a:spcAft>
                          <a:spcPts val="800"/>
                        </a:spcAft>
                        <a:buNone/>
                      </a:pPr>
                      <a:r>
                        <a:rPr lang="pt-BR" sz="2400" kern="100" dirty="0">
                          <a:effectLst/>
                        </a:rPr>
                        <a:t>Infravermelho</a:t>
                      </a:r>
                    </a:p>
                    <a:p>
                      <a:pPr>
                        <a:lnSpc>
                          <a:spcPct val="107000"/>
                        </a:lnSpc>
                        <a:spcAft>
                          <a:spcPts val="800"/>
                        </a:spcAft>
                        <a:buNone/>
                      </a:pPr>
                      <a:r>
                        <a:rPr lang="pt-BR" sz="2400" kern="100" dirty="0">
                          <a:effectLst/>
                        </a:rPr>
                        <a:t>Vermelho  </a:t>
                      </a:r>
                      <a:endParaRPr lang="pt-BR"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6449" marR="66449" marT="0" marB="0"/>
                </a:tc>
                <a:tc>
                  <a:txBody>
                    <a:bodyPr/>
                    <a:lstStyle/>
                    <a:p>
                      <a:pPr>
                        <a:lnSpc>
                          <a:spcPct val="107000"/>
                        </a:lnSpc>
                        <a:spcAft>
                          <a:spcPts val="800"/>
                        </a:spcAft>
                        <a:buNone/>
                      </a:pPr>
                      <a:r>
                        <a:rPr lang="pt-BR" sz="2400" kern="100" dirty="0">
                          <a:effectLst/>
                        </a:rPr>
                        <a:t>6 a 15J</a:t>
                      </a:r>
                      <a:endParaRPr lang="pt-BR"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6449" marR="66449" marT="0" marB="0"/>
                </a:tc>
                <a:extLst>
                  <a:ext uri="{0D108BD9-81ED-4DB2-BD59-A6C34878D82A}">
                    <a16:rowId xmlns:a16="http://schemas.microsoft.com/office/drawing/2014/main" val="3105903222"/>
                  </a:ext>
                </a:extLst>
              </a:tr>
            </a:tbl>
          </a:graphicData>
        </a:graphic>
      </p:graphicFrame>
    </p:spTree>
    <p:extLst>
      <p:ext uri="{BB962C8B-B14F-4D97-AF65-F5344CB8AC3E}">
        <p14:creationId xmlns:p14="http://schemas.microsoft.com/office/powerpoint/2010/main" val="129049404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ADF4B9-1645-36F1-34C5-50B1A9A4F1F7}"/>
              </a:ext>
            </a:extLst>
          </p:cNvPr>
          <p:cNvSpPr>
            <a:spLocks noGrp="1"/>
          </p:cNvSpPr>
          <p:nvPr>
            <p:ph type="title"/>
          </p:nvPr>
        </p:nvSpPr>
        <p:spPr/>
        <p:txBody>
          <a:bodyPr/>
          <a:lstStyle/>
          <a:p>
            <a:endParaRPr lang="pt-BR"/>
          </a:p>
        </p:txBody>
      </p:sp>
      <p:graphicFrame>
        <p:nvGraphicFramePr>
          <p:cNvPr id="7" name="Espaço Reservado para Conteúdo 6">
            <a:extLst>
              <a:ext uri="{FF2B5EF4-FFF2-40B4-BE49-F238E27FC236}">
                <a16:creationId xmlns:a16="http://schemas.microsoft.com/office/drawing/2014/main" id="{AFC342AE-48F5-95EA-8AA2-39E8A9DAFF7C}"/>
              </a:ext>
            </a:extLst>
          </p:cNvPr>
          <p:cNvGraphicFramePr>
            <a:graphicFrameLocks noGrp="1"/>
          </p:cNvGraphicFramePr>
          <p:nvPr>
            <p:ph idx="1"/>
            <p:extLst>
              <p:ext uri="{D42A27DB-BD31-4B8C-83A1-F6EECF244321}">
                <p14:modId xmlns:p14="http://schemas.microsoft.com/office/powerpoint/2010/main" val="2637962226"/>
              </p:ext>
            </p:extLst>
          </p:nvPr>
        </p:nvGraphicFramePr>
        <p:xfrm>
          <a:off x="1167618" y="365126"/>
          <a:ext cx="9636369" cy="6179584"/>
        </p:xfrm>
        <a:graphic>
          <a:graphicData uri="http://schemas.openxmlformats.org/drawingml/2006/table">
            <a:tbl>
              <a:tblPr firstRow="1" firstCol="1" bandRow="1">
                <a:tableStyleId>{5C22544A-7EE6-4342-B048-85BDC9FD1C3A}</a:tableStyleId>
              </a:tblPr>
              <a:tblGrid>
                <a:gridCol w="3409146">
                  <a:extLst>
                    <a:ext uri="{9D8B030D-6E8A-4147-A177-3AD203B41FA5}">
                      <a16:colId xmlns:a16="http://schemas.microsoft.com/office/drawing/2014/main" val="4170663712"/>
                    </a:ext>
                  </a:extLst>
                </a:gridCol>
                <a:gridCol w="3150482">
                  <a:extLst>
                    <a:ext uri="{9D8B030D-6E8A-4147-A177-3AD203B41FA5}">
                      <a16:colId xmlns:a16="http://schemas.microsoft.com/office/drawing/2014/main" val="4099069964"/>
                    </a:ext>
                  </a:extLst>
                </a:gridCol>
                <a:gridCol w="3076741">
                  <a:extLst>
                    <a:ext uri="{9D8B030D-6E8A-4147-A177-3AD203B41FA5}">
                      <a16:colId xmlns:a16="http://schemas.microsoft.com/office/drawing/2014/main" val="1919050085"/>
                    </a:ext>
                  </a:extLst>
                </a:gridCol>
              </a:tblGrid>
              <a:tr h="730538">
                <a:tc>
                  <a:txBody>
                    <a:bodyPr/>
                    <a:lstStyle/>
                    <a:p>
                      <a:pPr marL="342900" lvl="0" indent="-342900">
                        <a:lnSpc>
                          <a:spcPct val="107000"/>
                        </a:lnSpc>
                        <a:spcAft>
                          <a:spcPts val="800"/>
                        </a:spcAft>
                        <a:buFont typeface="+mj-lt"/>
                        <a:buAutoNum type="arabicPeriod"/>
                      </a:pPr>
                      <a:r>
                        <a:rPr lang="pt-BR" sz="2400" kern="100" dirty="0">
                          <a:effectLst/>
                        </a:rPr>
                        <a:t>Flacidez, rugas e rejuvenescimento </a:t>
                      </a:r>
                      <a:endParaRPr lang="pt-BR"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pt-BR" sz="2400" kern="100">
                          <a:effectLst/>
                        </a:rPr>
                        <a:t>Âmbar </a:t>
                      </a:r>
                      <a:endParaRPr lang="pt-B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pt-BR" sz="2400" kern="100">
                          <a:effectLst/>
                        </a:rPr>
                        <a:t>3 a 6J</a:t>
                      </a:r>
                      <a:endParaRPr lang="pt-B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44172988"/>
                  </a:ext>
                </a:extLst>
              </a:tr>
              <a:tr h="357008">
                <a:tc>
                  <a:txBody>
                    <a:bodyPr/>
                    <a:lstStyle/>
                    <a:p>
                      <a:pPr marL="342900" lvl="0" indent="-342900">
                        <a:lnSpc>
                          <a:spcPct val="107000"/>
                        </a:lnSpc>
                        <a:spcAft>
                          <a:spcPts val="800"/>
                        </a:spcAft>
                        <a:buFont typeface="+mj-lt"/>
                        <a:buAutoNum type="arabicPeriod"/>
                      </a:pPr>
                      <a:r>
                        <a:rPr lang="pt-BR" sz="2400" kern="100" dirty="0">
                          <a:effectLst/>
                        </a:rPr>
                        <a:t>Gordura </a:t>
                      </a:r>
                      <a:endParaRPr lang="pt-BR"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pt-BR" sz="2400" kern="100">
                          <a:effectLst/>
                        </a:rPr>
                        <a:t>Vermelho </a:t>
                      </a:r>
                      <a:endParaRPr lang="pt-B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pt-BR" sz="2400" kern="100">
                          <a:effectLst/>
                        </a:rPr>
                        <a:t>10 a 15J</a:t>
                      </a:r>
                      <a:endParaRPr lang="pt-B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53221955"/>
                  </a:ext>
                </a:extLst>
              </a:tr>
              <a:tr h="1436555">
                <a:tc>
                  <a:txBody>
                    <a:bodyPr/>
                    <a:lstStyle/>
                    <a:p>
                      <a:pPr marL="342900" lvl="0" indent="-342900">
                        <a:lnSpc>
                          <a:spcPct val="107000"/>
                        </a:lnSpc>
                        <a:spcAft>
                          <a:spcPts val="800"/>
                        </a:spcAft>
                        <a:buFont typeface="+mj-lt"/>
                        <a:buAutoNum type="arabicPeriod"/>
                      </a:pPr>
                      <a:r>
                        <a:rPr lang="pt-BR" sz="2400" kern="100" dirty="0">
                          <a:effectLst/>
                        </a:rPr>
                        <a:t>Hiperpigmentação </a:t>
                      </a:r>
                      <a:endParaRPr lang="pt-BR"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pt-BR" sz="2400" kern="100">
                          <a:effectLst/>
                        </a:rPr>
                        <a:t>Infravermelho </a:t>
                      </a:r>
                    </a:p>
                    <a:p>
                      <a:pPr>
                        <a:lnSpc>
                          <a:spcPct val="107000"/>
                        </a:lnSpc>
                        <a:spcAft>
                          <a:spcPts val="800"/>
                        </a:spcAft>
                        <a:buNone/>
                      </a:pPr>
                      <a:r>
                        <a:rPr lang="pt-BR" sz="2400" kern="100">
                          <a:effectLst/>
                        </a:rPr>
                        <a:t>Vermelho </a:t>
                      </a:r>
                    </a:p>
                    <a:p>
                      <a:pPr>
                        <a:lnSpc>
                          <a:spcPct val="107000"/>
                        </a:lnSpc>
                        <a:spcAft>
                          <a:spcPts val="800"/>
                        </a:spcAft>
                        <a:buNone/>
                      </a:pPr>
                      <a:r>
                        <a:rPr lang="pt-BR" sz="2400" kern="100">
                          <a:effectLst/>
                        </a:rPr>
                        <a:t>Azul </a:t>
                      </a:r>
                      <a:endParaRPr lang="pt-B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pt-BR" sz="2400" kern="100">
                          <a:effectLst/>
                        </a:rPr>
                        <a:t>3 a 8J</a:t>
                      </a:r>
                      <a:endParaRPr lang="pt-B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08470381"/>
                  </a:ext>
                </a:extLst>
              </a:tr>
              <a:tr h="1436555">
                <a:tc>
                  <a:txBody>
                    <a:bodyPr/>
                    <a:lstStyle/>
                    <a:p>
                      <a:pPr marL="342900" lvl="0" indent="-342900">
                        <a:lnSpc>
                          <a:spcPct val="107000"/>
                        </a:lnSpc>
                        <a:spcAft>
                          <a:spcPts val="800"/>
                        </a:spcAft>
                        <a:buFont typeface="+mj-lt"/>
                        <a:buAutoNum type="arabicPeriod"/>
                      </a:pPr>
                      <a:r>
                        <a:rPr lang="pt-BR" sz="2400" kern="100" dirty="0">
                          <a:effectLst/>
                        </a:rPr>
                        <a:t>Melasma </a:t>
                      </a:r>
                      <a:endParaRPr lang="pt-BR"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pt-BR" sz="2400" kern="100">
                          <a:effectLst/>
                        </a:rPr>
                        <a:t>Infravermelho </a:t>
                      </a:r>
                    </a:p>
                    <a:p>
                      <a:pPr>
                        <a:lnSpc>
                          <a:spcPct val="107000"/>
                        </a:lnSpc>
                        <a:spcAft>
                          <a:spcPts val="800"/>
                        </a:spcAft>
                        <a:buNone/>
                      </a:pPr>
                      <a:r>
                        <a:rPr lang="pt-BR" sz="2400" kern="100">
                          <a:effectLst/>
                        </a:rPr>
                        <a:t>Vermelho </a:t>
                      </a:r>
                    </a:p>
                    <a:p>
                      <a:pPr>
                        <a:lnSpc>
                          <a:spcPct val="107000"/>
                        </a:lnSpc>
                        <a:spcAft>
                          <a:spcPts val="800"/>
                        </a:spcAft>
                        <a:buNone/>
                      </a:pPr>
                      <a:r>
                        <a:rPr lang="pt-BR" sz="2400" kern="100">
                          <a:effectLst/>
                        </a:rPr>
                        <a:t>Azul</a:t>
                      </a:r>
                      <a:endParaRPr lang="pt-B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pt-BR" sz="2400" kern="100">
                          <a:effectLst/>
                        </a:rPr>
                        <a:t>8 a 10J</a:t>
                      </a:r>
                      <a:endParaRPr lang="pt-B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22736179"/>
                  </a:ext>
                </a:extLst>
              </a:tr>
              <a:tr h="730538">
                <a:tc>
                  <a:txBody>
                    <a:bodyPr/>
                    <a:lstStyle/>
                    <a:p>
                      <a:pPr marL="342900" lvl="0" indent="-342900">
                        <a:lnSpc>
                          <a:spcPct val="107000"/>
                        </a:lnSpc>
                        <a:spcAft>
                          <a:spcPts val="800"/>
                        </a:spcAft>
                        <a:buFont typeface="+mj-lt"/>
                        <a:buAutoNum type="arabicPeriod"/>
                      </a:pPr>
                      <a:r>
                        <a:rPr lang="pt-BR" sz="2400" kern="100" dirty="0">
                          <a:effectLst/>
                        </a:rPr>
                        <a:t>Pós antissepsia e acne </a:t>
                      </a:r>
                      <a:endParaRPr lang="pt-BR"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pt-BR" sz="2400" kern="100" dirty="0">
                          <a:effectLst/>
                        </a:rPr>
                        <a:t>Azul </a:t>
                      </a:r>
                      <a:endParaRPr lang="pt-BR"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pt-BR" sz="2400" kern="100">
                          <a:effectLst/>
                        </a:rPr>
                        <a:t>2 a 6J</a:t>
                      </a:r>
                      <a:endParaRPr lang="pt-B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02065825"/>
                  </a:ext>
                </a:extLst>
              </a:tr>
              <a:tr h="1436555">
                <a:tc>
                  <a:txBody>
                    <a:bodyPr/>
                    <a:lstStyle/>
                    <a:p>
                      <a:pPr marL="342900" lvl="0" indent="-342900">
                        <a:lnSpc>
                          <a:spcPct val="107000"/>
                        </a:lnSpc>
                        <a:spcAft>
                          <a:spcPts val="800"/>
                        </a:spcAft>
                        <a:buFont typeface="+mj-lt"/>
                        <a:buAutoNum type="arabicPeriod"/>
                      </a:pPr>
                      <a:r>
                        <a:rPr lang="pt-BR" sz="2400" kern="100">
                          <a:effectLst/>
                        </a:rPr>
                        <a:t>Telangiectasia controle de rosáceas </a:t>
                      </a:r>
                      <a:endParaRPr lang="pt-B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pt-BR" sz="2400" kern="100" dirty="0">
                          <a:effectLst/>
                        </a:rPr>
                        <a:t>Infravermelho </a:t>
                      </a:r>
                    </a:p>
                    <a:p>
                      <a:pPr>
                        <a:lnSpc>
                          <a:spcPct val="107000"/>
                        </a:lnSpc>
                        <a:spcAft>
                          <a:spcPts val="800"/>
                        </a:spcAft>
                        <a:buNone/>
                      </a:pPr>
                      <a:r>
                        <a:rPr lang="pt-BR" sz="2400" kern="100" dirty="0">
                          <a:effectLst/>
                        </a:rPr>
                        <a:t>Vermelho </a:t>
                      </a:r>
                    </a:p>
                    <a:p>
                      <a:pPr>
                        <a:lnSpc>
                          <a:spcPct val="107000"/>
                        </a:lnSpc>
                        <a:spcAft>
                          <a:spcPts val="800"/>
                        </a:spcAft>
                        <a:buNone/>
                      </a:pPr>
                      <a:r>
                        <a:rPr lang="pt-BR" sz="2400" kern="100" dirty="0">
                          <a:effectLst/>
                        </a:rPr>
                        <a:t>Âmbar </a:t>
                      </a:r>
                      <a:endParaRPr lang="pt-BR"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pt-BR" sz="2400" kern="100" dirty="0">
                          <a:effectLst/>
                        </a:rPr>
                        <a:t>2 a 5J </a:t>
                      </a:r>
                      <a:endParaRPr lang="pt-BR"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22109862"/>
                  </a:ext>
                </a:extLst>
              </a:tr>
            </a:tbl>
          </a:graphicData>
        </a:graphic>
      </p:graphicFrame>
    </p:spTree>
    <p:extLst>
      <p:ext uri="{BB962C8B-B14F-4D97-AF65-F5344CB8AC3E}">
        <p14:creationId xmlns:p14="http://schemas.microsoft.com/office/powerpoint/2010/main" val="172154913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0DE1FC-225E-619D-226F-D64D61FBD29C}"/>
              </a:ext>
            </a:extLst>
          </p:cNvPr>
          <p:cNvSpPr>
            <a:spLocks noGrp="1"/>
          </p:cNvSpPr>
          <p:nvPr>
            <p:ph type="title"/>
          </p:nvPr>
        </p:nvSpPr>
        <p:spPr/>
        <p:txBody>
          <a:bodyPr/>
          <a:lstStyle/>
          <a:p>
            <a:r>
              <a:rPr lang="pt-BR" dirty="0"/>
              <a:t>LED - Light </a:t>
            </a:r>
            <a:r>
              <a:rPr lang="pt-BR" dirty="0" err="1"/>
              <a:t>Emitting</a:t>
            </a:r>
            <a:r>
              <a:rPr lang="pt-BR" dirty="0"/>
              <a:t> </a:t>
            </a:r>
            <a:r>
              <a:rPr lang="pt-BR" dirty="0" err="1"/>
              <a:t>Diode</a:t>
            </a:r>
            <a:endParaRPr lang="pt-BR" dirty="0"/>
          </a:p>
        </p:txBody>
      </p:sp>
      <p:sp>
        <p:nvSpPr>
          <p:cNvPr id="3" name="Espaço Reservado para Conteúdo 2">
            <a:extLst>
              <a:ext uri="{FF2B5EF4-FFF2-40B4-BE49-F238E27FC236}">
                <a16:creationId xmlns:a16="http://schemas.microsoft.com/office/drawing/2014/main" id="{6D5C315C-D50E-19FE-9646-A27B75A5FB34}"/>
              </a:ext>
            </a:extLst>
          </p:cNvPr>
          <p:cNvSpPr>
            <a:spLocks noGrp="1"/>
          </p:cNvSpPr>
          <p:nvPr>
            <p:ph idx="1"/>
          </p:nvPr>
        </p:nvSpPr>
        <p:spPr/>
        <p:txBody>
          <a:bodyPr/>
          <a:lstStyle/>
          <a:p>
            <a:pPr algn="just"/>
            <a:r>
              <a:rPr lang="pt-BR" dirty="0"/>
              <a:t>1. Tenho um paciente que possui acne ativa e preciso usar o led azul para realizar o procedimento pós limpeza de pele. O led vem com especificação de 500mW de entrega da luz. Qual será o tempo de aplicação para este paciente?</a:t>
            </a:r>
          </a:p>
          <a:p>
            <a:pPr algn="just"/>
            <a:r>
              <a:rPr lang="pt-BR" dirty="0"/>
              <a:t>2. Uma paciente realizou uma lipoaspiração e se encontra edemaciada com equimose. O que poderá ser usado neste caso e em qual tempo de aplicação?</a:t>
            </a:r>
          </a:p>
        </p:txBody>
      </p:sp>
    </p:spTree>
    <p:extLst>
      <p:ext uri="{BB962C8B-B14F-4D97-AF65-F5344CB8AC3E}">
        <p14:creationId xmlns:p14="http://schemas.microsoft.com/office/powerpoint/2010/main" val="421548736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E89A14-011F-22AF-4928-1E11EB4A122E}"/>
              </a:ext>
            </a:extLst>
          </p:cNvPr>
          <p:cNvSpPr>
            <a:spLocks noGrp="1"/>
          </p:cNvSpPr>
          <p:nvPr>
            <p:ph type="title"/>
          </p:nvPr>
        </p:nvSpPr>
        <p:spPr/>
        <p:txBody>
          <a:bodyPr/>
          <a:lstStyle/>
          <a:p>
            <a:r>
              <a:rPr lang="pt-BR" dirty="0"/>
              <a:t>ENDOLASER</a:t>
            </a:r>
          </a:p>
        </p:txBody>
      </p:sp>
      <p:pic>
        <p:nvPicPr>
          <p:cNvPr id="5" name="Espaço Reservado para Conteúdo 4">
            <a:extLst>
              <a:ext uri="{FF2B5EF4-FFF2-40B4-BE49-F238E27FC236}">
                <a16:creationId xmlns:a16="http://schemas.microsoft.com/office/drawing/2014/main" id="{A44D6337-9E0C-DF2B-B212-9F1AAC138593}"/>
              </a:ext>
            </a:extLst>
          </p:cNvPr>
          <p:cNvPicPr>
            <a:picLocks noGrp="1" noChangeAspect="1"/>
          </p:cNvPicPr>
          <p:nvPr>
            <p:ph idx="1"/>
          </p:nvPr>
        </p:nvPicPr>
        <p:blipFill>
          <a:blip r:embed="rId2"/>
          <a:stretch>
            <a:fillRect/>
          </a:stretch>
        </p:blipFill>
        <p:spPr>
          <a:xfrm>
            <a:off x="4515730" y="206073"/>
            <a:ext cx="6077242" cy="6286802"/>
          </a:xfrm>
          <a:prstGeom prst="rect">
            <a:avLst/>
          </a:prstGeom>
        </p:spPr>
      </p:pic>
    </p:spTree>
    <p:extLst>
      <p:ext uri="{BB962C8B-B14F-4D97-AF65-F5344CB8AC3E}">
        <p14:creationId xmlns:p14="http://schemas.microsoft.com/office/powerpoint/2010/main" val="163903579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DD1720-A05C-0256-961D-2B734E734A5E}"/>
              </a:ext>
            </a:extLst>
          </p:cNvPr>
          <p:cNvSpPr>
            <a:spLocks noGrp="1"/>
          </p:cNvSpPr>
          <p:nvPr>
            <p:ph type="title"/>
          </p:nvPr>
        </p:nvSpPr>
        <p:spPr/>
        <p:txBody>
          <a:bodyPr/>
          <a:lstStyle/>
          <a:p>
            <a:r>
              <a:rPr lang="pt-BR" dirty="0"/>
              <a:t>ENDOLASER</a:t>
            </a:r>
          </a:p>
        </p:txBody>
      </p:sp>
      <p:pic>
        <p:nvPicPr>
          <p:cNvPr id="5" name="Espaço Reservado para Conteúdo 4">
            <a:extLst>
              <a:ext uri="{FF2B5EF4-FFF2-40B4-BE49-F238E27FC236}">
                <a16:creationId xmlns:a16="http://schemas.microsoft.com/office/drawing/2014/main" id="{F10A0316-5B96-7706-075B-BAD2EE74CBA1}"/>
              </a:ext>
            </a:extLst>
          </p:cNvPr>
          <p:cNvPicPr>
            <a:picLocks noGrp="1" noChangeAspect="1"/>
          </p:cNvPicPr>
          <p:nvPr>
            <p:ph idx="1"/>
          </p:nvPr>
        </p:nvPicPr>
        <p:blipFill>
          <a:blip r:embed="rId2"/>
          <a:stretch>
            <a:fillRect/>
          </a:stretch>
        </p:blipFill>
        <p:spPr>
          <a:xfrm>
            <a:off x="4922915" y="554867"/>
            <a:ext cx="5852937" cy="5938008"/>
          </a:xfrm>
          <a:prstGeom prst="rect">
            <a:avLst/>
          </a:prstGeom>
        </p:spPr>
      </p:pic>
    </p:spTree>
    <p:extLst>
      <p:ext uri="{BB962C8B-B14F-4D97-AF65-F5344CB8AC3E}">
        <p14:creationId xmlns:p14="http://schemas.microsoft.com/office/powerpoint/2010/main" val="109211155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ADAE4E-9CDB-CA42-8657-C0924238552F}"/>
              </a:ext>
            </a:extLst>
          </p:cNvPr>
          <p:cNvSpPr>
            <a:spLocks noGrp="1"/>
          </p:cNvSpPr>
          <p:nvPr>
            <p:ph type="title"/>
          </p:nvPr>
        </p:nvSpPr>
        <p:spPr/>
        <p:txBody>
          <a:bodyPr/>
          <a:lstStyle/>
          <a:p>
            <a:r>
              <a:rPr lang="pt-BR" dirty="0"/>
              <a:t>ENDOLASER</a:t>
            </a:r>
          </a:p>
        </p:txBody>
      </p:sp>
      <p:sp>
        <p:nvSpPr>
          <p:cNvPr id="3" name="Espaço Reservado para Conteúdo 2">
            <a:extLst>
              <a:ext uri="{FF2B5EF4-FFF2-40B4-BE49-F238E27FC236}">
                <a16:creationId xmlns:a16="http://schemas.microsoft.com/office/drawing/2014/main" id="{E8AAEF2F-3107-16E1-CCD3-808C8B11B5A9}"/>
              </a:ext>
            </a:extLst>
          </p:cNvPr>
          <p:cNvSpPr>
            <a:spLocks noGrp="1"/>
          </p:cNvSpPr>
          <p:nvPr>
            <p:ph idx="1"/>
          </p:nvPr>
        </p:nvSpPr>
        <p:spPr/>
        <p:txBody>
          <a:bodyPr/>
          <a:lstStyle/>
          <a:p>
            <a:endParaRPr lang="pt-BR"/>
          </a:p>
        </p:txBody>
      </p:sp>
      <p:pic>
        <p:nvPicPr>
          <p:cNvPr id="5" name="Imagem 4">
            <a:extLst>
              <a:ext uri="{FF2B5EF4-FFF2-40B4-BE49-F238E27FC236}">
                <a16:creationId xmlns:a16="http://schemas.microsoft.com/office/drawing/2014/main" id="{688344D4-FBDB-9C2E-D664-09A39C0DF203}"/>
              </a:ext>
            </a:extLst>
          </p:cNvPr>
          <p:cNvPicPr>
            <a:picLocks noChangeAspect="1"/>
          </p:cNvPicPr>
          <p:nvPr/>
        </p:nvPicPr>
        <p:blipFill>
          <a:blip r:embed="rId2"/>
          <a:stretch>
            <a:fillRect/>
          </a:stretch>
        </p:blipFill>
        <p:spPr>
          <a:xfrm>
            <a:off x="4438420" y="0"/>
            <a:ext cx="5816928" cy="6868574"/>
          </a:xfrm>
          <a:prstGeom prst="rect">
            <a:avLst/>
          </a:prstGeom>
        </p:spPr>
      </p:pic>
    </p:spTree>
    <p:extLst>
      <p:ext uri="{BB962C8B-B14F-4D97-AF65-F5344CB8AC3E}">
        <p14:creationId xmlns:p14="http://schemas.microsoft.com/office/powerpoint/2010/main" val="262666287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73E16D-630D-F482-A4CB-5459139FA168}"/>
              </a:ext>
            </a:extLst>
          </p:cNvPr>
          <p:cNvSpPr>
            <a:spLocks noGrp="1"/>
          </p:cNvSpPr>
          <p:nvPr>
            <p:ph type="title"/>
          </p:nvPr>
        </p:nvSpPr>
        <p:spPr/>
        <p:txBody>
          <a:bodyPr/>
          <a:lstStyle/>
          <a:p>
            <a:r>
              <a:rPr lang="pt-BR" dirty="0"/>
              <a:t>ENDOLASER</a:t>
            </a:r>
          </a:p>
        </p:txBody>
      </p:sp>
      <p:pic>
        <p:nvPicPr>
          <p:cNvPr id="5" name="Espaço Reservado para Conteúdo 4">
            <a:extLst>
              <a:ext uri="{FF2B5EF4-FFF2-40B4-BE49-F238E27FC236}">
                <a16:creationId xmlns:a16="http://schemas.microsoft.com/office/drawing/2014/main" id="{045CF2BB-1861-B38D-98D4-D67431DEB5AA}"/>
              </a:ext>
            </a:extLst>
          </p:cNvPr>
          <p:cNvPicPr>
            <a:picLocks noGrp="1" noChangeAspect="1"/>
          </p:cNvPicPr>
          <p:nvPr>
            <p:ph idx="1"/>
          </p:nvPr>
        </p:nvPicPr>
        <p:blipFill>
          <a:blip r:embed="rId2"/>
          <a:stretch>
            <a:fillRect/>
          </a:stretch>
        </p:blipFill>
        <p:spPr>
          <a:xfrm>
            <a:off x="1519311" y="1401735"/>
            <a:ext cx="9284677" cy="5273696"/>
          </a:xfrm>
          <a:prstGeom prst="rect">
            <a:avLst/>
          </a:prstGeom>
        </p:spPr>
      </p:pic>
    </p:spTree>
    <p:extLst>
      <p:ext uri="{BB962C8B-B14F-4D97-AF65-F5344CB8AC3E}">
        <p14:creationId xmlns:p14="http://schemas.microsoft.com/office/powerpoint/2010/main" val="295194936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E1F0D9-4E11-AFC4-FB69-8FA16D50CCDB}"/>
              </a:ext>
            </a:extLst>
          </p:cNvPr>
          <p:cNvSpPr>
            <a:spLocks noGrp="1"/>
          </p:cNvSpPr>
          <p:nvPr>
            <p:ph type="title"/>
          </p:nvPr>
        </p:nvSpPr>
        <p:spPr/>
        <p:txBody>
          <a:bodyPr>
            <a:normAutofit fontScale="90000"/>
          </a:bodyPr>
          <a:lstStyle/>
          <a:p>
            <a:br>
              <a:rPr lang="pt-BR" dirty="0"/>
            </a:br>
            <a:r>
              <a:rPr lang="pt-BR" dirty="0"/>
              <a:t>ENDOLASER </a:t>
            </a:r>
            <a:br>
              <a:rPr lang="pt-BR" dirty="0"/>
            </a:br>
            <a:endParaRPr lang="pt-BR" dirty="0"/>
          </a:p>
        </p:txBody>
      </p:sp>
      <p:sp>
        <p:nvSpPr>
          <p:cNvPr id="3" name="Espaço Reservado para Conteúdo 2">
            <a:extLst>
              <a:ext uri="{FF2B5EF4-FFF2-40B4-BE49-F238E27FC236}">
                <a16:creationId xmlns:a16="http://schemas.microsoft.com/office/drawing/2014/main" id="{836248AA-9617-1129-A37E-213BDC8CB437}"/>
              </a:ext>
            </a:extLst>
          </p:cNvPr>
          <p:cNvSpPr>
            <a:spLocks noGrp="1"/>
          </p:cNvSpPr>
          <p:nvPr>
            <p:ph idx="1"/>
          </p:nvPr>
        </p:nvSpPr>
        <p:spPr/>
        <p:txBody>
          <a:bodyPr/>
          <a:lstStyle/>
          <a:p>
            <a:pPr algn="just"/>
            <a:r>
              <a:rPr lang="pt-BR" dirty="0"/>
              <a:t>A técnica do </a:t>
            </a:r>
            <a:r>
              <a:rPr lang="pt-BR" dirty="0" err="1"/>
              <a:t>Endolift</a:t>
            </a:r>
            <a:r>
              <a:rPr lang="pt-BR" dirty="0"/>
              <a:t>™ ou </a:t>
            </a:r>
            <a:r>
              <a:rPr lang="pt-BR" dirty="0" err="1"/>
              <a:t>Endolaser</a:t>
            </a:r>
            <a:r>
              <a:rPr lang="pt-BR" dirty="0"/>
              <a:t> (LASEMAR1500™ </a:t>
            </a:r>
            <a:r>
              <a:rPr lang="pt-BR" i="1" dirty="0"/>
              <a:t>machine, </a:t>
            </a:r>
            <a:r>
              <a:rPr lang="pt-BR" i="1" dirty="0" err="1"/>
              <a:t>Eufoton</a:t>
            </a:r>
            <a:r>
              <a:rPr lang="pt-BR" i="1" dirty="0"/>
              <a:t> </a:t>
            </a:r>
            <a:r>
              <a:rPr lang="pt-BR" i="1" dirty="0" err="1"/>
              <a:t>s.r.l</a:t>
            </a:r>
            <a:r>
              <a:rPr lang="pt-BR" dirty="0"/>
              <a:t>.) se tornou conhecida em todo o mundo por utilizar o laser de comprimento de onda de 1470 </a:t>
            </a:r>
            <a:r>
              <a:rPr lang="pt-BR" dirty="0" err="1"/>
              <a:t>nm</a:t>
            </a:r>
            <a:r>
              <a:rPr lang="pt-BR" dirty="0"/>
              <a:t> e 980 </a:t>
            </a:r>
            <a:r>
              <a:rPr lang="pt-BR" dirty="0" err="1"/>
              <a:t>nm</a:t>
            </a:r>
            <a:r>
              <a:rPr lang="pt-BR" dirty="0"/>
              <a:t> emitida por uma fibra óptica inserida no tecido </a:t>
            </a:r>
            <a:r>
              <a:rPr lang="pt-BR" dirty="0" err="1"/>
              <a:t>subdérmico</a:t>
            </a:r>
            <a:r>
              <a:rPr lang="pt-BR" dirty="0"/>
              <a:t> com o objetivo de reduzir a gordura subcutânea e melhorar o tônus da pele por meio de neocolagênese. </a:t>
            </a:r>
          </a:p>
        </p:txBody>
      </p:sp>
    </p:spTree>
    <p:extLst>
      <p:ext uri="{BB962C8B-B14F-4D97-AF65-F5344CB8AC3E}">
        <p14:creationId xmlns:p14="http://schemas.microsoft.com/office/powerpoint/2010/main" val="20505408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35E29-2338-2E56-6379-718FF595C7E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4C43947-A65B-BCFB-BFFB-1AD9454859A8}"/>
              </a:ext>
            </a:extLst>
          </p:cNvPr>
          <p:cNvSpPr>
            <a:spLocks noGrp="1"/>
          </p:cNvSpPr>
          <p:nvPr>
            <p:ph type="title"/>
          </p:nvPr>
        </p:nvSpPr>
        <p:spPr/>
        <p:txBody>
          <a:bodyPr>
            <a:normAutofit fontScale="90000"/>
          </a:bodyPr>
          <a:lstStyle/>
          <a:p>
            <a:br>
              <a:rPr lang="pt-BR" dirty="0"/>
            </a:br>
            <a:r>
              <a:rPr lang="pt-BR" dirty="0"/>
              <a:t>ENDOLASER </a:t>
            </a:r>
            <a:br>
              <a:rPr lang="pt-BR" dirty="0"/>
            </a:br>
            <a:endParaRPr lang="pt-BR" dirty="0"/>
          </a:p>
        </p:txBody>
      </p:sp>
      <p:sp>
        <p:nvSpPr>
          <p:cNvPr id="3" name="Espaço Reservado para Conteúdo 2">
            <a:extLst>
              <a:ext uri="{FF2B5EF4-FFF2-40B4-BE49-F238E27FC236}">
                <a16:creationId xmlns:a16="http://schemas.microsoft.com/office/drawing/2014/main" id="{06B22DF0-DBF3-D206-4D47-6C0405184D09}"/>
              </a:ext>
            </a:extLst>
          </p:cNvPr>
          <p:cNvSpPr>
            <a:spLocks noGrp="1"/>
          </p:cNvSpPr>
          <p:nvPr>
            <p:ph idx="1"/>
          </p:nvPr>
        </p:nvSpPr>
        <p:spPr/>
        <p:txBody>
          <a:bodyPr>
            <a:normAutofit/>
          </a:bodyPr>
          <a:lstStyle/>
          <a:p>
            <a:pPr algn="just"/>
            <a:r>
              <a:rPr lang="pt-BR" dirty="0"/>
              <a:t>O </a:t>
            </a:r>
            <a:r>
              <a:rPr lang="pt-BR" dirty="0" err="1"/>
              <a:t>endolaser</a:t>
            </a:r>
            <a:r>
              <a:rPr lang="pt-BR" dirty="0"/>
              <a:t> é um procedimento minimamente invasivo que utiliza uma fibra óptica ultrafina sob a pele para emitir energia a laser, derretendo gordura localizada e estimulando a contração do colágeno (retração da pele). Indicado para contorno facial (papada) e corporal, é uma alternativa para flacidez sem cortes, exigindo anestesia local.</a:t>
            </a:r>
          </a:p>
          <a:p>
            <a:pPr algn="just"/>
            <a:r>
              <a:rPr lang="pt-BR" dirty="0"/>
              <a:t>A anestesia é injetável e não pode exceder o limite permitido, para cada 5kg usa 1ml de lidocaína. </a:t>
            </a:r>
          </a:p>
          <a:p>
            <a:pPr algn="just"/>
            <a:r>
              <a:rPr lang="pt-BR" dirty="0"/>
              <a:t>Se tem 60 kg são 12 de lidocaína e 5ml de soro para 1 ml de lidocaína. Podendo ser com vasoconstritor. Dependendo do profissional pode ser usado adrenalina.</a:t>
            </a:r>
          </a:p>
          <a:p>
            <a:pPr algn="just"/>
            <a:endParaRPr lang="pt-BR" dirty="0"/>
          </a:p>
        </p:txBody>
      </p:sp>
    </p:spTree>
    <p:extLst>
      <p:ext uri="{BB962C8B-B14F-4D97-AF65-F5344CB8AC3E}">
        <p14:creationId xmlns:p14="http://schemas.microsoft.com/office/powerpoint/2010/main" val="370943029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ED3E5-2287-06F1-7311-24A0640A993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98FEFBC-858B-F56A-2E64-489B907D3AF0}"/>
              </a:ext>
            </a:extLst>
          </p:cNvPr>
          <p:cNvSpPr>
            <a:spLocks noGrp="1"/>
          </p:cNvSpPr>
          <p:nvPr>
            <p:ph type="title"/>
          </p:nvPr>
        </p:nvSpPr>
        <p:spPr/>
        <p:txBody>
          <a:bodyPr>
            <a:normAutofit fontScale="90000"/>
          </a:bodyPr>
          <a:lstStyle/>
          <a:p>
            <a:br>
              <a:rPr lang="pt-BR" dirty="0"/>
            </a:br>
            <a:r>
              <a:rPr lang="pt-BR" dirty="0"/>
              <a:t>ENDOLASER </a:t>
            </a:r>
            <a:br>
              <a:rPr lang="pt-BR" dirty="0"/>
            </a:br>
            <a:endParaRPr lang="pt-BR" dirty="0"/>
          </a:p>
        </p:txBody>
      </p:sp>
      <p:sp>
        <p:nvSpPr>
          <p:cNvPr id="3" name="Espaço Reservado para Conteúdo 2">
            <a:extLst>
              <a:ext uri="{FF2B5EF4-FFF2-40B4-BE49-F238E27FC236}">
                <a16:creationId xmlns:a16="http://schemas.microsoft.com/office/drawing/2014/main" id="{CBBA0ADD-3BD6-2248-E46E-ECCBD9041051}"/>
              </a:ext>
            </a:extLst>
          </p:cNvPr>
          <p:cNvSpPr>
            <a:spLocks noGrp="1"/>
          </p:cNvSpPr>
          <p:nvPr>
            <p:ph idx="1"/>
          </p:nvPr>
        </p:nvSpPr>
        <p:spPr/>
        <p:txBody>
          <a:bodyPr/>
          <a:lstStyle/>
          <a:p>
            <a:pPr algn="just"/>
            <a:r>
              <a:rPr lang="pt-BR" dirty="0"/>
              <a:t>A utilização do laser </a:t>
            </a:r>
            <a:r>
              <a:rPr lang="pt-BR" dirty="0" err="1"/>
              <a:t>subdérmico</a:t>
            </a:r>
            <a:r>
              <a:rPr lang="pt-BR" dirty="0"/>
              <a:t> através de fibra óptica (</a:t>
            </a:r>
            <a:r>
              <a:rPr lang="pt-BR" dirty="0" err="1"/>
              <a:t>endolift</a:t>
            </a:r>
            <a:r>
              <a:rPr lang="pt-BR" dirty="0"/>
              <a:t> ou </a:t>
            </a:r>
            <a:r>
              <a:rPr lang="pt-BR" dirty="0" err="1"/>
              <a:t>endolaser</a:t>
            </a:r>
            <a:r>
              <a:rPr lang="pt-BR" dirty="0"/>
              <a:t>) tornou-se extremamente popular no Brasil e muitos profissionais o utilizam para tratar diversas condições estéticas com grande sucesso. </a:t>
            </a:r>
            <a:r>
              <a:rPr lang="pt-BR" b="1" dirty="0"/>
              <a:t>Porém, apesar desse grande sucesso, a falta de padronização do procedimento por meio de uma ampla variedade de protocolos de tratamento tem levado à incidência de tratamento de diversas complicações pós-operatórias. Na maioria das vezes, tais protocolos são aplicados sem respaldo na literatura atual.  </a:t>
            </a:r>
          </a:p>
        </p:txBody>
      </p:sp>
    </p:spTree>
    <p:extLst>
      <p:ext uri="{BB962C8B-B14F-4D97-AF65-F5344CB8AC3E}">
        <p14:creationId xmlns:p14="http://schemas.microsoft.com/office/powerpoint/2010/main" val="146302930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35FA5-4BDE-1071-B659-B86BBB66F52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3418BB4-36BD-2A88-3205-E91CDEDF651C}"/>
              </a:ext>
            </a:extLst>
          </p:cNvPr>
          <p:cNvSpPr>
            <a:spLocks noGrp="1"/>
          </p:cNvSpPr>
          <p:nvPr>
            <p:ph type="title"/>
          </p:nvPr>
        </p:nvSpPr>
        <p:spPr/>
        <p:txBody>
          <a:bodyPr>
            <a:normAutofit fontScale="90000"/>
          </a:bodyPr>
          <a:lstStyle/>
          <a:p>
            <a:br>
              <a:rPr lang="pt-BR" dirty="0"/>
            </a:br>
            <a:r>
              <a:rPr lang="pt-BR" dirty="0"/>
              <a:t>ENDOLASER </a:t>
            </a:r>
            <a:br>
              <a:rPr lang="pt-BR" dirty="0"/>
            </a:br>
            <a:endParaRPr lang="pt-BR" dirty="0"/>
          </a:p>
        </p:txBody>
      </p:sp>
      <p:sp>
        <p:nvSpPr>
          <p:cNvPr id="3" name="Espaço Reservado para Conteúdo 2">
            <a:extLst>
              <a:ext uri="{FF2B5EF4-FFF2-40B4-BE49-F238E27FC236}">
                <a16:creationId xmlns:a16="http://schemas.microsoft.com/office/drawing/2014/main" id="{C2E49661-87A7-088E-D7D0-2D80EEFCB025}"/>
              </a:ext>
            </a:extLst>
          </p:cNvPr>
          <p:cNvSpPr>
            <a:spLocks noGrp="1"/>
          </p:cNvSpPr>
          <p:nvPr>
            <p:ph idx="1"/>
          </p:nvPr>
        </p:nvSpPr>
        <p:spPr/>
        <p:txBody>
          <a:bodyPr>
            <a:normAutofit lnSpcReduction="10000"/>
          </a:bodyPr>
          <a:lstStyle/>
          <a:p>
            <a:pPr algn="just"/>
            <a:r>
              <a:rPr lang="pt-BR" dirty="0"/>
              <a:t>O laser trabalha por emissão estimulada: é o processo pelo qual os átomos, com seus elétrons no seu estado excitado, são perturbados pelo campo elétrico de um fóton com uma determinada frequência , ele pode liberar um segundo fóton da mesma frequência, em fase com o primeiro fóton. Isso fara com que os elétrons decaiam novamente.</a:t>
            </a:r>
          </a:p>
          <a:p>
            <a:pPr algn="just"/>
            <a:r>
              <a:rPr lang="pt-BR" dirty="0"/>
              <a:t>O laser só é absorvido com uma grande quantidade de cromóforos, se não o laser dispersa. </a:t>
            </a:r>
          </a:p>
          <a:p>
            <a:pPr algn="just"/>
            <a:r>
              <a:rPr lang="pt-BR" dirty="0"/>
              <a:t>O cromóforo alvo é a </a:t>
            </a:r>
            <a:r>
              <a:rPr lang="pt-BR" b="1" dirty="0"/>
              <a:t>água</a:t>
            </a:r>
            <a:r>
              <a:rPr lang="pt-BR" dirty="0"/>
              <a:t>. </a:t>
            </a:r>
          </a:p>
          <a:p>
            <a:pPr algn="just"/>
            <a:r>
              <a:rPr lang="pt-BR" dirty="0"/>
              <a:t>O laser só é absorvido com uma grande quantidade de cromóforos, se não o laser dispersa. </a:t>
            </a:r>
          </a:p>
          <a:p>
            <a:pPr algn="just"/>
            <a:endParaRPr lang="pt-BR" dirty="0"/>
          </a:p>
          <a:p>
            <a:endParaRPr lang="pt-BR" dirty="0"/>
          </a:p>
        </p:txBody>
      </p:sp>
    </p:spTree>
    <p:extLst>
      <p:ext uri="{BB962C8B-B14F-4D97-AF65-F5344CB8AC3E}">
        <p14:creationId xmlns:p14="http://schemas.microsoft.com/office/powerpoint/2010/main" val="104812742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E8F42-5297-5090-AEF9-562246D1C23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8D3F78E-C528-DCE4-6122-00421D880B05}"/>
              </a:ext>
            </a:extLst>
          </p:cNvPr>
          <p:cNvSpPr>
            <a:spLocks noGrp="1"/>
          </p:cNvSpPr>
          <p:nvPr>
            <p:ph type="title"/>
          </p:nvPr>
        </p:nvSpPr>
        <p:spPr/>
        <p:txBody>
          <a:bodyPr>
            <a:normAutofit fontScale="90000"/>
          </a:bodyPr>
          <a:lstStyle/>
          <a:p>
            <a:br>
              <a:rPr lang="pt-BR" dirty="0"/>
            </a:br>
            <a:r>
              <a:rPr lang="pt-BR" dirty="0"/>
              <a:t>ENDOLASER </a:t>
            </a:r>
            <a:br>
              <a:rPr lang="pt-BR" dirty="0"/>
            </a:br>
            <a:endParaRPr lang="pt-BR" dirty="0"/>
          </a:p>
        </p:txBody>
      </p:sp>
      <p:sp>
        <p:nvSpPr>
          <p:cNvPr id="3" name="Espaço Reservado para Conteúdo 2">
            <a:extLst>
              <a:ext uri="{FF2B5EF4-FFF2-40B4-BE49-F238E27FC236}">
                <a16:creationId xmlns:a16="http://schemas.microsoft.com/office/drawing/2014/main" id="{3892D03B-52B5-2CF9-71A8-2289BF0FE81B}"/>
              </a:ext>
            </a:extLst>
          </p:cNvPr>
          <p:cNvSpPr>
            <a:spLocks noGrp="1"/>
          </p:cNvSpPr>
          <p:nvPr>
            <p:ph idx="1"/>
          </p:nvPr>
        </p:nvSpPr>
        <p:spPr/>
        <p:txBody>
          <a:bodyPr/>
          <a:lstStyle/>
          <a:p>
            <a:pPr algn="just"/>
            <a:r>
              <a:rPr lang="pt-BR" dirty="0"/>
              <a:t>Quanto mais água maior a ativação dos cromóforos alvos.</a:t>
            </a:r>
          </a:p>
          <a:p>
            <a:pPr algn="just"/>
            <a:r>
              <a:rPr lang="pt-BR" dirty="0"/>
              <a:t>O feixe de luz do aparelho é colimado, embora ele tenha uma apresentação de duas potencias em comprimento de onda de 1470 </a:t>
            </a:r>
            <a:r>
              <a:rPr lang="pt-BR" dirty="0" err="1"/>
              <a:t>nm</a:t>
            </a:r>
            <a:r>
              <a:rPr lang="pt-BR" dirty="0"/>
              <a:t> e 980 </a:t>
            </a:r>
            <a:r>
              <a:rPr lang="pt-BR" dirty="0" err="1"/>
              <a:t>nm</a:t>
            </a:r>
            <a:r>
              <a:rPr lang="pt-BR" dirty="0"/>
              <a:t> emitida, ele não consegue emitir as duas ao mesmo tempo, ou usa uma potência ou usa a outra potência, o uso das duas juntas somente potencializam a que foi escolhida por primeiro no aparelho.</a:t>
            </a:r>
          </a:p>
          <a:p>
            <a:pPr algn="just"/>
            <a:r>
              <a:rPr lang="pt-BR" dirty="0"/>
              <a:t>O tratamento é necessário com o uso do consumo de água. De 30 a 35x o peso do paciente o calculo correto. </a:t>
            </a:r>
          </a:p>
          <a:p>
            <a:endParaRPr lang="pt-BR" dirty="0"/>
          </a:p>
        </p:txBody>
      </p:sp>
    </p:spTree>
    <p:extLst>
      <p:ext uri="{BB962C8B-B14F-4D97-AF65-F5344CB8AC3E}">
        <p14:creationId xmlns:p14="http://schemas.microsoft.com/office/powerpoint/2010/main" val="18405896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C62F1-5EF7-AD9B-060F-1C65FCF703D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E533075-4DE7-956F-0263-14C82886845C}"/>
              </a:ext>
            </a:extLst>
          </p:cNvPr>
          <p:cNvSpPr>
            <a:spLocks noGrp="1"/>
          </p:cNvSpPr>
          <p:nvPr>
            <p:ph type="title"/>
          </p:nvPr>
        </p:nvSpPr>
        <p:spPr/>
        <p:txBody>
          <a:bodyPr>
            <a:normAutofit fontScale="90000"/>
          </a:bodyPr>
          <a:lstStyle/>
          <a:p>
            <a:br>
              <a:rPr lang="pt-BR" dirty="0"/>
            </a:br>
            <a:r>
              <a:rPr lang="pt-BR" dirty="0"/>
              <a:t>ENDOLASER </a:t>
            </a:r>
            <a:br>
              <a:rPr lang="pt-BR" dirty="0"/>
            </a:br>
            <a:endParaRPr lang="pt-BR" dirty="0"/>
          </a:p>
        </p:txBody>
      </p:sp>
      <p:sp>
        <p:nvSpPr>
          <p:cNvPr id="3" name="Espaço Reservado para Conteúdo 2">
            <a:extLst>
              <a:ext uri="{FF2B5EF4-FFF2-40B4-BE49-F238E27FC236}">
                <a16:creationId xmlns:a16="http://schemas.microsoft.com/office/drawing/2014/main" id="{A478A4FA-F74C-680D-FA13-D9278405FBB8}"/>
              </a:ext>
            </a:extLst>
          </p:cNvPr>
          <p:cNvSpPr>
            <a:spLocks noGrp="1"/>
          </p:cNvSpPr>
          <p:nvPr>
            <p:ph idx="1"/>
          </p:nvPr>
        </p:nvSpPr>
        <p:spPr>
          <a:xfrm>
            <a:off x="838200" y="1825625"/>
            <a:ext cx="10515600" cy="4667250"/>
          </a:xfrm>
        </p:spPr>
        <p:txBody>
          <a:bodyPr>
            <a:normAutofit fontScale="85000" lnSpcReduction="20000"/>
          </a:bodyPr>
          <a:lstStyle/>
          <a:p>
            <a:pPr algn="just"/>
            <a:r>
              <a:rPr lang="pt-BR" dirty="0"/>
              <a:t>O que gera resultado é o calor depositado ao seu cromóforo alvo. O laser e transmitido e precisa ser absorvido para aquecer e emitir potencial de calor, o que gera os resultados. Pode ser associado tratamentos de hidratação na superfície da pele antes da sessão com o laser. </a:t>
            </a:r>
          </a:p>
          <a:p>
            <a:pPr algn="just"/>
            <a:r>
              <a:rPr lang="pt-BR" dirty="0"/>
              <a:t>O calculo de entrega de energia deve ter analise, não se usa mais que 14 joules de potencia embora o aparelho apresente ate 30 joules de potencia.</a:t>
            </a:r>
          </a:p>
          <a:p>
            <a:pPr algn="just"/>
            <a:r>
              <a:rPr lang="pt-BR" dirty="0"/>
              <a:t>O sucesso do tratamento depende do preparo do paciente, escolha de onda correta, fibra correta, quantia de anestésico.</a:t>
            </a:r>
          </a:p>
          <a:p>
            <a:pPr algn="just"/>
            <a:r>
              <a:rPr lang="pt-BR" dirty="0"/>
              <a:t>Quanto maior o calor na fibra de colágeno maior o problema (quanto maior a entrega de potencia em joules maior o problema).</a:t>
            </a:r>
          </a:p>
          <a:p>
            <a:pPr algn="just"/>
            <a:r>
              <a:rPr lang="pt-BR" dirty="0"/>
              <a:t>Deve se tomar cuidado da dose no paciente de flacidez. É necessário cuidar da camada correta a pele e dos joules de entrega (áreas superficiais tendem a maior risco de queimaduras). </a:t>
            </a:r>
          </a:p>
          <a:p>
            <a:pPr algn="just"/>
            <a:r>
              <a:rPr lang="pt-BR" dirty="0"/>
              <a:t>O melhor uso de fibra é a plana, a fibra redonda seria somente para cirurgia vascular. </a:t>
            </a:r>
          </a:p>
          <a:p>
            <a:endParaRPr lang="pt-BR" dirty="0"/>
          </a:p>
        </p:txBody>
      </p:sp>
    </p:spTree>
    <p:extLst>
      <p:ext uri="{BB962C8B-B14F-4D97-AF65-F5344CB8AC3E}">
        <p14:creationId xmlns:p14="http://schemas.microsoft.com/office/powerpoint/2010/main" val="3912022100"/>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0AD46-4608-0703-6E46-892F829A2C5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DEA408B-CDBC-E2B2-71FB-4FC1552F467F}"/>
              </a:ext>
            </a:extLst>
          </p:cNvPr>
          <p:cNvSpPr>
            <a:spLocks noGrp="1"/>
          </p:cNvSpPr>
          <p:nvPr>
            <p:ph type="title"/>
          </p:nvPr>
        </p:nvSpPr>
        <p:spPr/>
        <p:txBody>
          <a:bodyPr>
            <a:normAutofit fontScale="90000"/>
          </a:bodyPr>
          <a:lstStyle/>
          <a:p>
            <a:br>
              <a:rPr lang="pt-BR" dirty="0"/>
            </a:br>
            <a:r>
              <a:rPr lang="pt-BR" dirty="0"/>
              <a:t>ENDOLASER </a:t>
            </a:r>
            <a:br>
              <a:rPr lang="pt-BR" dirty="0"/>
            </a:br>
            <a:endParaRPr lang="pt-BR" dirty="0"/>
          </a:p>
        </p:txBody>
      </p:sp>
      <p:sp>
        <p:nvSpPr>
          <p:cNvPr id="3" name="Espaço Reservado para Conteúdo 2">
            <a:extLst>
              <a:ext uri="{FF2B5EF4-FFF2-40B4-BE49-F238E27FC236}">
                <a16:creationId xmlns:a16="http://schemas.microsoft.com/office/drawing/2014/main" id="{B52F42BD-900A-E174-5149-499A9A9BEDDF}"/>
              </a:ext>
            </a:extLst>
          </p:cNvPr>
          <p:cNvSpPr>
            <a:spLocks noGrp="1"/>
          </p:cNvSpPr>
          <p:nvPr>
            <p:ph idx="1"/>
          </p:nvPr>
        </p:nvSpPr>
        <p:spPr/>
        <p:txBody>
          <a:bodyPr>
            <a:normAutofit fontScale="92500" lnSpcReduction="10000"/>
          </a:bodyPr>
          <a:lstStyle/>
          <a:p>
            <a:pPr algn="just"/>
            <a:r>
              <a:rPr lang="pt-BR" dirty="0"/>
              <a:t>Pode acontecer </a:t>
            </a:r>
            <a:r>
              <a:rPr lang="pt-BR" dirty="0" err="1"/>
              <a:t>esteato</a:t>
            </a:r>
            <a:r>
              <a:rPr lang="pt-BR" dirty="0"/>
              <a:t> necrose por conta do trauma no tecido adiposo (em potencias altas). </a:t>
            </a:r>
          </a:p>
          <a:p>
            <a:pPr algn="just"/>
            <a:r>
              <a:rPr lang="pt-BR" dirty="0"/>
              <a:t>Quem tem bichectomia não é recomendado fazer por que o nervo fica exposto e o risco de lesão e quase total (risco de parestesia).</a:t>
            </a:r>
          </a:p>
          <a:p>
            <a:pPr algn="just"/>
            <a:r>
              <a:rPr lang="pt-BR" dirty="0"/>
              <a:t>Não trabalhar perto dos ossos, costela, crista ilíaca...(são locais onde se confere desconforto mesmo com anestésico).</a:t>
            </a:r>
          </a:p>
          <a:p>
            <a:pPr algn="just"/>
            <a:r>
              <a:rPr lang="pt-BR" dirty="0"/>
              <a:t>Tem profissionais que gostam de tentar marcar estas regiões para ficar parecido com lipo HD, o risco de complicações e maior principalmente próximo a crista ilíaca.</a:t>
            </a:r>
          </a:p>
          <a:p>
            <a:pPr algn="just"/>
            <a:r>
              <a:rPr lang="pt-BR" dirty="0"/>
              <a:t>Na aplicação tem que livrar a crista ilíaca, as costelas e repartir o abdômen em quadrantes.</a:t>
            </a:r>
          </a:p>
          <a:p>
            <a:pPr marL="0" indent="0">
              <a:buNone/>
            </a:pPr>
            <a:endParaRPr lang="pt-BR" dirty="0"/>
          </a:p>
          <a:p>
            <a:endParaRPr lang="pt-BR" dirty="0"/>
          </a:p>
        </p:txBody>
      </p:sp>
    </p:spTree>
    <p:extLst>
      <p:ext uri="{BB962C8B-B14F-4D97-AF65-F5344CB8AC3E}">
        <p14:creationId xmlns:p14="http://schemas.microsoft.com/office/powerpoint/2010/main" val="108565608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7848C-D4C9-BEBA-7881-DC423206924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19855D9-3EC9-7B9D-1487-270B13878B71}"/>
              </a:ext>
            </a:extLst>
          </p:cNvPr>
          <p:cNvSpPr>
            <a:spLocks noGrp="1"/>
          </p:cNvSpPr>
          <p:nvPr>
            <p:ph type="title"/>
          </p:nvPr>
        </p:nvSpPr>
        <p:spPr/>
        <p:txBody>
          <a:bodyPr>
            <a:normAutofit fontScale="90000"/>
          </a:bodyPr>
          <a:lstStyle/>
          <a:p>
            <a:br>
              <a:rPr lang="pt-BR" dirty="0"/>
            </a:br>
            <a:r>
              <a:rPr lang="pt-BR" dirty="0"/>
              <a:t>ENDOLASER </a:t>
            </a:r>
            <a:br>
              <a:rPr lang="pt-BR" dirty="0"/>
            </a:br>
            <a:endParaRPr lang="pt-BR" dirty="0"/>
          </a:p>
        </p:txBody>
      </p:sp>
      <p:pic>
        <p:nvPicPr>
          <p:cNvPr id="5" name="Espaço Reservado para Conteúdo 4">
            <a:extLst>
              <a:ext uri="{FF2B5EF4-FFF2-40B4-BE49-F238E27FC236}">
                <a16:creationId xmlns:a16="http://schemas.microsoft.com/office/drawing/2014/main" id="{61724D0C-1FC5-D083-E087-1438E0D0F14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4996" y="1690687"/>
            <a:ext cx="11501610" cy="4669771"/>
          </a:xfrm>
        </p:spPr>
      </p:pic>
    </p:spTree>
    <p:extLst>
      <p:ext uri="{BB962C8B-B14F-4D97-AF65-F5344CB8AC3E}">
        <p14:creationId xmlns:p14="http://schemas.microsoft.com/office/powerpoint/2010/main" val="193061600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A28789-CE5E-18F3-B8F7-FE365FFF4235}"/>
              </a:ext>
            </a:extLst>
          </p:cNvPr>
          <p:cNvSpPr>
            <a:spLocks noGrp="1"/>
          </p:cNvSpPr>
          <p:nvPr>
            <p:ph type="title"/>
          </p:nvPr>
        </p:nvSpPr>
        <p:spPr/>
        <p:txBody>
          <a:bodyPr/>
          <a:lstStyle/>
          <a:p>
            <a:r>
              <a:rPr lang="pt-BR" dirty="0"/>
              <a:t>ENDOLASER</a:t>
            </a:r>
          </a:p>
        </p:txBody>
      </p:sp>
      <p:pic>
        <p:nvPicPr>
          <p:cNvPr id="5" name="Espaço Reservado para Conteúdo 4">
            <a:extLst>
              <a:ext uri="{FF2B5EF4-FFF2-40B4-BE49-F238E27FC236}">
                <a16:creationId xmlns:a16="http://schemas.microsoft.com/office/drawing/2014/main" id="{5CAEC0C6-A8BD-CD91-0698-832D1551B5F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2030" y="1690688"/>
            <a:ext cx="11889046" cy="4629430"/>
          </a:xfrm>
        </p:spPr>
      </p:pic>
    </p:spTree>
    <p:extLst>
      <p:ext uri="{BB962C8B-B14F-4D97-AF65-F5344CB8AC3E}">
        <p14:creationId xmlns:p14="http://schemas.microsoft.com/office/powerpoint/2010/main" val="1779467431"/>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856C9-41DE-B283-84DE-D5E9212675B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2561A1C-DD27-F574-F7D5-1A653488C81E}"/>
              </a:ext>
            </a:extLst>
          </p:cNvPr>
          <p:cNvSpPr>
            <a:spLocks noGrp="1"/>
          </p:cNvSpPr>
          <p:nvPr>
            <p:ph type="title"/>
          </p:nvPr>
        </p:nvSpPr>
        <p:spPr/>
        <p:txBody>
          <a:bodyPr/>
          <a:lstStyle/>
          <a:p>
            <a:r>
              <a:rPr lang="pt-BR" dirty="0"/>
              <a:t>ENDOLASER</a:t>
            </a:r>
          </a:p>
        </p:txBody>
      </p:sp>
      <p:pic>
        <p:nvPicPr>
          <p:cNvPr id="5" name="Espaço Reservado para Conteúdo 4">
            <a:extLst>
              <a:ext uri="{FF2B5EF4-FFF2-40B4-BE49-F238E27FC236}">
                <a16:creationId xmlns:a16="http://schemas.microsoft.com/office/drawing/2014/main" id="{B9CD4CA7-6ED2-DB92-AC93-A26176063C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66881" y="100852"/>
            <a:ext cx="6656296" cy="6656296"/>
          </a:xfrm>
        </p:spPr>
      </p:pic>
    </p:spTree>
    <p:extLst>
      <p:ext uri="{BB962C8B-B14F-4D97-AF65-F5344CB8AC3E}">
        <p14:creationId xmlns:p14="http://schemas.microsoft.com/office/powerpoint/2010/main" val="200869521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D029A2-72DB-DE07-B542-2E4B55FFC43B}"/>
              </a:ext>
            </a:extLst>
          </p:cNvPr>
          <p:cNvSpPr>
            <a:spLocks noGrp="1"/>
          </p:cNvSpPr>
          <p:nvPr>
            <p:ph type="title"/>
          </p:nvPr>
        </p:nvSpPr>
        <p:spPr/>
        <p:txBody>
          <a:bodyPr/>
          <a:lstStyle/>
          <a:p>
            <a:r>
              <a:rPr lang="pt-BR" dirty="0" err="1"/>
              <a:t>Endolaser</a:t>
            </a:r>
            <a:r>
              <a:rPr lang="pt-BR" dirty="0"/>
              <a:t> </a:t>
            </a:r>
          </a:p>
        </p:txBody>
      </p:sp>
      <p:pic>
        <p:nvPicPr>
          <p:cNvPr id="5" name="Espaço Reservado para Conteúdo 4">
            <a:extLst>
              <a:ext uri="{FF2B5EF4-FFF2-40B4-BE49-F238E27FC236}">
                <a16:creationId xmlns:a16="http://schemas.microsoft.com/office/drawing/2014/main" id="{52F8415D-82CB-0487-524A-8BF17CAF50B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6501" y="1463041"/>
            <a:ext cx="12568375" cy="5029834"/>
          </a:xfrm>
        </p:spPr>
      </p:pic>
    </p:spTree>
    <p:extLst>
      <p:ext uri="{BB962C8B-B14F-4D97-AF65-F5344CB8AC3E}">
        <p14:creationId xmlns:p14="http://schemas.microsoft.com/office/powerpoint/2010/main" val="120283685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DC2238-D9E2-C522-8073-3A6530BE6C9E}"/>
              </a:ext>
            </a:extLst>
          </p:cNvPr>
          <p:cNvSpPr>
            <a:spLocks noGrp="1"/>
          </p:cNvSpPr>
          <p:nvPr>
            <p:ph type="title"/>
          </p:nvPr>
        </p:nvSpPr>
        <p:spPr/>
        <p:txBody>
          <a:bodyPr/>
          <a:lstStyle/>
          <a:p>
            <a:r>
              <a:rPr lang="pt-BR" dirty="0" err="1"/>
              <a:t>Endolaser</a:t>
            </a:r>
            <a:r>
              <a:rPr lang="pt-BR" dirty="0"/>
              <a:t> </a:t>
            </a:r>
          </a:p>
        </p:txBody>
      </p:sp>
      <p:pic>
        <p:nvPicPr>
          <p:cNvPr id="5" name="Espaço Reservado para Conteúdo 4">
            <a:extLst>
              <a:ext uri="{FF2B5EF4-FFF2-40B4-BE49-F238E27FC236}">
                <a16:creationId xmlns:a16="http://schemas.microsoft.com/office/drawing/2014/main" id="{09EF19B9-B4DF-15D8-593D-C73BDCCC7DA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2880" y="1438865"/>
            <a:ext cx="12641136" cy="5158883"/>
          </a:xfrm>
        </p:spPr>
      </p:pic>
    </p:spTree>
    <p:extLst>
      <p:ext uri="{BB962C8B-B14F-4D97-AF65-F5344CB8AC3E}">
        <p14:creationId xmlns:p14="http://schemas.microsoft.com/office/powerpoint/2010/main" val="371416221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0FFA21-0729-9E2F-56A4-488A14472044}"/>
              </a:ext>
            </a:extLst>
          </p:cNvPr>
          <p:cNvSpPr>
            <a:spLocks noGrp="1"/>
          </p:cNvSpPr>
          <p:nvPr>
            <p:ph type="title"/>
          </p:nvPr>
        </p:nvSpPr>
        <p:spPr/>
        <p:txBody>
          <a:bodyPr/>
          <a:lstStyle/>
          <a:p>
            <a:r>
              <a:rPr lang="pt-BR" dirty="0" err="1"/>
              <a:t>Endolaser</a:t>
            </a:r>
            <a:endParaRPr lang="pt-BR" dirty="0"/>
          </a:p>
        </p:txBody>
      </p:sp>
      <p:pic>
        <p:nvPicPr>
          <p:cNvPr id="5" name="Espaço Reservado para Conteúdo 4">
            <a:extLst>
              <a:ext uri="{FF2B5EF4-FFF2-40B4-BE49-F238E27FC236}">
                <a16:creationId xmlns:a16="http://schemas.microsoft.com/office/drawing/2014/main" id="{971612B2-9806-BB81-9759-6688407B64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5020" y="1303626"/>
            <a:ext cx="11724721" cy="5433689"/>
          </a:xfrm>
        </p:spPr>
      </p:pic>
    </p:spTree>
    <p:extLst>
      <p:ext uri="{BB962C8B-B14F-4D97-AF65-F5344CB8AC3E}">
        <p14:creationId xmlns:p14="http://schemas.microsoft.com/office/powerpoint/2010/main" val="1551853442"/>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9AD642-E44E-6F9A-7F98-1D258ED2C345}"/>
              </a:ext>
            </a:extLst>
          </p:cNvPr>
          <p:cNvSpPr>
            <a:spLocks noGrp="1"/>
          </p:cNvSpPr>
          <p:nvPr>
            <p:ph type="title"/>
          </p:nvPr>
        </p:nvSpPr>
        <p:spPr/>
        <p:txBody>
          <a:bodyPr/>
          <a:lstStyle/>
          <a:p>
            <a:r>
              <a:rPr lang="pt-BR" dirty="0" err="1"/>
              <a:t>Endolaser</a:t>
            </a:r>
            <a:r>
              <a:rPr lang="pt-BR" dirty="0"/>
              <a:t> </a:t>
            </a:r>
          </a:p>
        </p:txBody>
      </p:sp>
      <p:pic>
        <p:nvPicPr>
          <p:cNvPr id="5" name="Espaço Reservado para Conteúdo 4">
            <a:extLst>
              <a:ext uri="{FF2B5EF4-FFF2-40B4-BE49-F238E27FC236}">
                <a16:creationId xmlns:a16="http://schemas.microsoft.com/office/drawing/2014/main" id="{3D35C211-4858-D794-E896-81E1096908F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5381" y="1842868"/>
            <a:ext cx="12544625" cy="4276577"/>
          </a:xfrm>
        </p:spPr>
      </p:pic>
    </p:spTree>
    <p:extLst>
      <p:ext uri="{BB962C8B-B14F-4D97-AF65-F5344CB8AC3E}">
        <p14:creationId xmlns:p14="http://schemas.microsoft.com/office/powerpoint/2010/main" val="145500651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964362-6815-567B-2C8E-CF15871365CC}"/>
              </a:ext>
            </a:extLst>
          </p:cNvPr>
          <p:cNvSpPr>
            <a:spLocks noGrp="1"/>
          </p:cNvSpPr>
          <p:nvPr>
            <p:ph type="title"/>
          </p:nvPr>
        </p:nvSpPr>
        <p:spPr/>
        <p:txBody>
          <a:bodyPr/>
          <a:lstStyle/>
          <a:p>
            <a:r>
              <a:rPr lang="pt-BR" dirty="0" err="1"/>
              <a:t>Endolaser</a:t>
            </a:r>
            <a:r>
              <a:rPr lang="pt-BR" dirty="0"/>
              <a:t> </a:t>
            </a:r>
          </a:p>
        </p:txBody>
      </p:sp>
      <p:pic>
        <p:nvPicPr>
          <p:cNvPr id="5" name="Espaço Reservado para Conteúdo 4">
            <a:extLst>
              <a:ext uri="{FF2B5EF4-FFF2-40B4-BE49-F238E27FC236}">
                <a16:creationId xmlns:a16="http://schemas.microsoft.com/office/drawing/2014/main" id="{FEB73A8E-746F-687F-1277-028F8DD054E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0391" y="1690688"/>
            <a:ext cx="12825242" cy="4625705"/>
          </a:xfrm>
        </p:spPr>
      </p:pic>
    </p:spTree>
    <p:extLst>
      <p:ext uri="{BB962C8B-B14F-4D97-AF65-F5344CB8AC3E}">
        <p14:creationId xmlns:p14="http://schemas.microsoft.com/office/powerpoint/2010/main" val="857172717"/>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5C8BDB-3793-4630-0FD6-28A681B47618}"/>
              </a:ext>
            </a:extLst>
          </p:cNvPr>
          <p:cNvSpPr>
            <a:spLocks noGrp="1"/>
          </p:cNvSpPr>
          <p:nvPr>
            <p:ph type="title"/>
          </p:nvPr>
        </p:nvSpPr>
        <p:spPr/>
        <p:txBody>
          <a:bodyPr/>
          <a:lstStyle/>
          <a:p>
            <a:r>
              <a:rPr lang="pt-BR" dirty="0" err="1"/>
              <a:t>Endolaser</a:t>
            </a:r>
            <a:r>
              <a:rPr lang="pt-BR" dirty="0"/>
              <a:t> + criolipólise  </a:t>
            </a:r>
          </a:p>
        </p:txBody>
      </p:sp>
      <p:pic>
        <p:nvPicPr>
          <p:cNvPr id="5" name="Espaço Reservado para Conteúdo 4">
            <a:extLst>
              <a:ext uri="{FF2B5EF4-FFF2-40B4-BE49-F238E27FC236}">
                <a16:creationId xmlns:a16="http://schemas.microsoft.com/office/drawing/2014/main" id="{3A95032A-132B-0547-A273-1EC165311B37}"/>
              </a:ext>
            </a:extLst>
          </p:cNvPr>
          <p:cNvPicPr>
            <a:picLocks noGrp="1" noChangeAspect="1"/>
          </p:cNvPicPr>
          <p:nvPr>
            <p:ph idx="1"/>
          </p:nvPr>
        </p:nvPicPr>
        <p:blipFill>
          <a:blip r:embed="rId2"/>
          <a:stretch>
            <a:fillRect/>
          </a:stretch>
        </p:blipFill>
        <p:spPr>
          <a:xfrm>
            <a:off x="2222695" y="1294382"/>
            <a:ext cx="7807570" cy="5456427"/>
          </a:xfrm>
          <a:prstGeom prst="rect">
            <a:avLst/>
          </a:prstGeom>
        </p:spPr>
      </p:pic>
    </p:spTree>
    <p:extLst>
      <p:ext uri="{BB962C8B-B14F-4D97-AF65-F5344CB8AC3E}">
        <p14:creationId xmlns:p14="http://schemas.microsoft.com/office/powerpoint/2010/main" val="164099089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6C979E-7E75-408B-86D4-72192787A8E9}"/>
              </a:ext>
            </a:extLst>
          </p:cNvPr>
          <p:cNvSpPr>
            <a:spLocks noGrp="1"/>
          </p:cNvSpPr>
          <p:nvPr>
            <p:ph type="title"/>
          </p:nvPr>
        </p:nvSpPr>
        <p:spPr/>
        <p:txBody>
          <a:bodyPr/>
          <a:lstStyle/>
          <a:p>
            <a:r>
              <a:rPr lang="pt-BR" dirty="0" err="1"/>
              <a:t>Endolaser</a:t>
            </a:r>
            <a:r>
              <a:rPr lang="pt-BR" dirty="0"/>
              <a:t> </a:t>
            </a:r>
          </a:p>
        </p:txBody>
      </p:sp>
      <p:sp>
        <p:nvSpPr>
          <p:cNvPr id="3" name="Espaço Reservado para Conteúdo 2">
            <a:extLst>
              <a:ext uri="{FF2B5EF4-FFF2-40B4-BE49-F238E27FC236}">
                <a16:creationId xmlns:a16="http://schemas.microsoft.com/office/drawing/2014/main" id="{BC11B1DD-234F-66CA-D056-E552C50ED185}"/>
              </a:ext>
            </a:extLst>
          </p:cNvPr>
          <p:cNvSpPr>
            <a:spLocks noGrp="1"/>
          </p:cNvSpPr>
          <p:nvPr>
            <p:ph idx="1"/>
          </p:nvPr>
        </p:nvSpPr>
        <p:spPr/>
        <p:txBody>
          <a:bodyPr/>
          <a:lstStyle/>
          <a:p>
            <a:endParaRPr lang="pt-BR"/>
          </a:p>
        </p:txBody>
      </p:sp>
      <p:pic>
        <p:nvPicPr>
          <p:cNvPr id="5" name="Imagem 4">
            <a:extLst>
              <a:ext uri="{FF2B5EF4-FFF2-40B4-BE49-F238E27FC236}">
                <a16:creationId xmlns:a16="http://schemas.microsoft.com/office/drawing/2014/main" id="{B55B1222-441E-40EE-BA6E-84DBE54FD851}"/>
              </a:ext>
            </a:extLst>
          </p:cNvPr>
          <p:cNvPicPr>
            <a:picLocks noChangeAspect="1"/>
          </p:cNvPicPr>
          <p:nvPr/>
        </p:nvPicPr>
        <p:blipFill>
          <a:blip r:embed="rId2"/>
          <a:stretch>
            <a:fillRect/>
          </a:stretch>
        </p:blipFill>
        <p:spPr>
          <a:xfrm>
            <a:off x="623322" y="1343550"/>
            <a:ext cx="10565953" cy="5315488"/>
          </a:xfrm>
          <a:prstGeom prst="rect">
            <a:avLst/>
          </a:prstGeom>
        </p:spPr>
      </p:pic>
    </p:spTree>
    <p:extLst>
      <p:ext uri="{BB962C8B-B14F-4D97-AF65-F5344CB8AC3E}">
        <p14:creationId xmlns:p14="http://schemas.microsoft.com/office/powerpoint/2010/main" val="3951173621"/>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A7F858-77DB-8B32-D161-7535B51065BA}"/>
              </a:ext>
            </a:extLst>
          </p:cNvPr>
          <p:cNvSpPr>
            <a:spLocks noGrp="1"/>
          </p:cNvSpPr>
          <p:nvPr>
            <p:ph type="title"/>
          </p:nvPr>
        </p:nvSpPr>
        <p:spPr/>
        <p:txBody>
          <a:bodyPr/>
          <a:lstStyle/>
          <a:p>
            <a:r>
              <a:rPr lang="pt-BR" dirty="0" err="1"/>
              <a:t>Endolaser</a:t>
            </a:r>
            <a:r>
              <a:rPr lang="pt-BR" dirty="0"/>
              <a:t> </a:t>
            </a:r>
          </a:p>
        </p:txBody>
      </p:sp>
      <p:sp>
        <p:nvSpPr>
          <p:cNvPr id="3" name="Espaço Reservado para Conteúdo 2">
            <a:extLst>
              <a:ext uri="{FF2B5EF4-FFF2-40B4-BE49-F238E27FC236}">
                <a16:creationId xmlns:a16="http://schemas.microsoft.com/office/drawing/2014/main" id="{53D335B9-E9E9-24EA-10B6-5D23997B2883}"/>
              </a:ext>
            </a:extLst>
          </p:cNvPr>
          <p:cNvSpPr>
            <a:spLocks noGrp="1"/>
          </p:cNvSpPr>
          <p:nvPr>
            <p:ph idx="1"/>
          </p:nvPr>
        </p:nvSpPr>
        <p:spPr/>
        <p:txBody>
          <a:bodyPr/>
          <a:lstStyle/>
          <a:p>
            <a:endParaRPr lang="pt-BR"/>
          </a:p>
        </p:txBody>
      </p:sp>
      <p:pic>
        <p:nvPicPr>
          <p:cNvPr id="5" name="Imagem 4">
            <a:extLst>
              <a:ext uri="{FF2B5EF4-FFF2-40B4-BE49-F238E27FC236}">
                <a16:creationId xmlns:a16="http://schemas.microsoft.com/office/drawing/2014/main" id="{9C7F53E9-36F0-00D0-7547-644D2EFB722E}"/>
              </a:ext>
            </a:extLst>
          </p:cNvPr>
          <p:cNvPicPr>
            <a:picLocks noChangeAspect="1"/>
          </p:cNvPicPr>
          <p:nvPr/>
        </p:nvPicPr>
        <p:blipFill>
          <a:blip r:embed="rId2"/>
          <a:stretch>
            <a:fillRect/>
          </a:stretch>
        </p:blipFill>
        <p:spPr>
          <a:xfrm>
            <a:off x="1384920" y="1690688"/>
            <a:ext cx="9422160" cy="4802082"/>
          </a:xfrm>
          <a:prstGeom prst="rect">
            <a:avLst/>
          </a:prstGeom>
        </p:spPr>
      </p:pic>
    </p:spTree>
    <p:extLst>
      <p:ext uri="{BB962C8B-B14F-4D97-AF65-F5344CB8AC3E}">
        <p14:creationId xmlns:p14="http://schemas.microsoft.com/office/powerpoint/2010/main" val="1695491862"/>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39722</TotalTime>
  <Words>6697</Words>
  <Application>Microsoft Office PowerPoint</Application>
  <PresentationFormat>Widescreen</PresentationFormat>
  <Paragraphs>630</Paragraphs>
  <Slides>156</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156</vt:i4>
      </vt:variant>
    </vt:vector>
  </HeadingPairs>
  <TitlesOfParts>
    <vt:vector size="161" baseType="lpstr">
      <vt:lpstr>Arial</vt:lpstr>
      <vt:lpstr>Calibri</vt:lpstr>
      <vt:lpstr>Calibri Light</vt:lpstr>
      <vt:lpstr>Google Sans</vt:lpstr>
      <vt:lpstr>Tema do Office</vt:lpstr>
      <vt:lpstr>ELETROTERMOFOTOTERAPIA</vt:lpstr>
      <vt:lpstr>ELETROTERMOFOTOTERAPIA</vt:lpstr>
      <vt:lpstr>ELETROTERMOFOTOTERAPIA</vt:lpstr>
      <vt:lpstr>ELETROTERMOFOTOTERAPIA</vt:lpstr>
      <vt:lpstr>ELETROTERMOFOTOTERAPIA</vt:lpstr>
      <vt:lpstr>ELETROTERMOFOTOTERAPIA</vt:lpstr>
      <vt:lpstr>ELETROTERMOFOTOTERAPIA</vt:lpstr>
      <vt:lpstr>ELETROTERMOFOTOTERAPIA</vt:lpstr>
      <vt:lpstr>ELETROTERMOFOTOTERAPIA</vt:lpstr>
      <vt:lpstr>ELETROTERMOFOTOTERAPIA</vt:lpstr>
      <vt:lpstr>ELETROTERMOFOTOTERAPIA</vt:lpstr>
      <vt:lpstr>ELETROTERMOFOTOTERAPIA</vt:lpstr>
      <vt:lpstr>ELETROTERMOFOTOTERAPIA</vt:lpstr>
      <vt:lpstr>ELETROTERMOFOTOTERAPIA</vt:lpstr>
      <vt:lpstr>ELETROTERMOFOTOTERAPIA</vt:lpstr>
      <vt:lpstr>ELETROTERMOFOTOTERAPIA</vt:lpstr>
      <vt:lpstr>ELETROTERMOFOTOTERAPIA</vt:lpstr>
      <vt:lpstr>ELETROTERMOFOTOTERAPIA</vt:lpstr>
      <vt:lpstr>Apresentação do PowerPoint</vt:lpstr>
      <vt:lpstr>ELETROTERMOFOTOTERAPIA</vt:lpstr>
      <vt:lpstr>ELETROTERMOFOTOTERAPIA</vt:lpstr>
      <vt:lpstr>LUZ INTENSA PULSADA</vt:lpstr>
      <vt:lpstr>LUZ INTENSA PULSADA</vt:lpstr>
      <vt:lpstr>LUZ INTENSA PULSADA</vt:lpstr>
      <vt:lpstr>LUZ INTENSA PULSADA</vt:lpstr>
      <vt:lpstr>LUZ INTENSA PULSADA</vt:lpstr>
      <vt:lpstr>LUZ INTENSA PULSADA</vt:lpstr>
      <vt:lpstr>LUZ INTENSA PULSADA</vt:lpstr>
      <vt:lpstr>LUZ INTENSA PULSADA</vt:lpstr>
      <vt:lpstr>LUZ INTENSA PULSADA</vt:lpstr>
      <vt:lpstr>LUZ INTENSA PULSADA</vt:lpstr>
      <vt:lpstr>LUZ INTENSA PULSADA</vt:lpstr>
      <vt:lpstr>LUZ INTENSA PULSADA</vt:lpstr>
      <vt:lpstr>LUZ INTENSA PULSADA</vt:lpstr>
      <vt:lpstr>LUZ INTENSA PULSADA</vt:lpstr>
      <vt:lpstr>LUZ INTENSA PULSADA</vt:lpstr>
      <vt:lpstr>LUZ INTENSA PULSADA</vt:lpstr>
      <vt:lpstr>LUZ INTENSA PULSADA</vt:lpstr>
      <vt:lpstr>LUZ INTENSA PULSADA</vt:lpstr>
      <vt:lpstr>LUZ INTENSA PULSADA</vt:lpstr>
      <vt:lpstr>LUZ INTENSA PULSADA</vt:lpstr>
      <vt:lpstr>EPILAÇÃO </vt:lpstr>
      <vt:lpstr>EPILAÇÃO</vt:lpstr>
      <vt:lpstr>EPILAÇÃO </vt:lpstr>
      <vt:lpstr>EPILAÇÃO</vt:lpstr>
      <vt:lpstr>EPILAÇÃO </vt:lpstr>
      <vt:lpstr>EPILAÇÃO</vt:lpstr>
      <vt:lpstr>EPILAÇÃO</vt:lpstr>
      <vt:lpstr>EPILAÇÃO</vt:lpstr>
      <vt:lpstr>EPILAÇÃO</vt:lpstr>
      <vt:lpstr>EPILAÇÃO</vt:lpstr>
      <vt:lpstr>EPILAÇÃO</vt:lpstr>
      <vt:lpstr>EPILAÇÃO</vt:lpstr>
      <vt:lpstr>EPILAÇÃO</vt:lpstr>
      <vt:lpstr>REMOÇÃO TATUAGEM</vt:lpstr>
      <vt:lpstr>REMOÇÃO TATUAGEM </vt:lpstr>
      <vt:lpstr>REMOÇÃO DE TATUAGEM </vt:lpstr>
      <vt:lpstr>REMOÇÃO DE TATUAGEM </vt:lpstr>
      <vt:lpstr>REMOÇÃO DE TATUAGEM</vt:lpstr>
      <vt:lpstr>REMOÇÃO TATUAGEM</vt:lpstr>
      <vt:lpstr>REMOÇÃO DE TATUAGEM</vt:lpstr>
      <vt:lpstr>REMOÇÃO DE TATUAGEM </vt:lpstr>
      <vt:lpstr>REMOÇÃO DE TATUAGEM</vt:lpstr>
      <vt:lpstr>REMOÇÃO DE TATUAGEM</vt:lpstr>
      <vt:lpstr>REMOÇÃO DE TATUAGEM </vt:lpstr>
      <vt:lpstr>REMOÇÃO DE TATUAGEM </vt:lpstr>
      <vt:lpstr>REMOÇÃO DE TATUAGEM </vt:lpstr>
      <vt:lpstr>REMOÇÃO DE TATUAGEM</vt:lpstr>
      <vt:lpstr>REMOÇÃO DE TATUAGEM </vt:lpstr>
      <vt:lpstr>REMOÇÃO DE TATUAGEM </vt:lpstr>
      <vt:lpstr>REMOÇÃO DE TATUAGEM </vt:lpstr>
      <vt:lpstr>REMOÇÃO DE TATUAGEM </vt:lpstr>
      <vt:lpstr>REMOÇÃO DE TATUAGEM </vt:lpstr>
      <vt:lpstr>REMOÇÃO DE TATUAGEM </vt:lpstr>
      <vt:lpstr>REMOÇÃO DE TATUAGEM </vt:lpstr>
      <vt:lpstr>REMOÇÃO DE TATUAGEM </vt:lpstr>
      <vt:lpstr>REMOÇÃO DE TATUAGEM </vt:lpstr>
      <vt:lpstr>REMOÇÃO DE TATUAGEM </vt:lpstr>
      <vt:lpstr>REMOÇÃO DE TATUAGEM </vt:lpstr>
      <vt:lpstr>REMOÇÃO DE TATUAGEM </vt:lpstr>
      <vt:lpstr>REMOÇÃO DE TATUAGEM </vt:lpstr>
      <vt:lpstr>REMOÇÃO DE TATUAGEM </vt:lpstr>
      <vt:lpstr>REMOÇÃO DE TATUAGEM</vt:lpstr>
      <vt:lpstr>REMOÇÃO DE TATUAGEM </vt:lpstr>
      <vt:lpstr>REMOÇÃO DE TATUAGEM - PEELING DE HOLLYWOOD – BLACK PEEL</vt:lpstr>
      <vt:lpstr>THULIUM </vt:lpstr>
      <vt:lpstr>THULIUM </vt:lpstr>
      <vt:lpstr>THULIUM</vt:lpstr>
      <vt:lpstr>THULIUM</vt:lpstr>
      <vt:lpstr>THULIUM </vt:lpstr>
      <vt:lpstr>THULIUM </vt:lpstr>
      <vt:lpstr>THULIUM </vt:lpstr>
      <vt:lpstr>THULIUM </vt:lpstr>
      <vt:lpstr>THULIUM </vt:lpstr>
      <vt:lpstr>THULIUM </vt:lpstr>
      <vt:lpstr>THULIUM </vt:lpstr>
      <vt:lpstr>THULIUM </vt:lpstr>
      <vt:lpstr>THULIUM </vt:lpstr>
      <vt:lpstr>THULIUM</vt:lpstr>
      <vt:lpstr>CO2 FRACIONADO</vt:lpstr>
      <vt:lpstr>CO2 FRACIONADO </vt:lpstr>
      <vt:lpstr>CO2 FRACIONADO </vt:lpstr>
      <vt:lpstr>CO2 FRACIONADO</vt:lpstr>
      <vt:lpstr>CO2 FRACIONADO</vt:lpstr>
      <vt:lpstr>CO2 FRACIONADO </vt:lpstr>
      <vt:lpstr>CO2 FRACIONADO </vt:lpstr>
      <vt:lpstr>CO2 FRACIONADO </vt:lpstr>
      <vt:lpstr>CO2 FRACIONADO</vt:lpstr>
      <vt:lpstr>CO2 FRACIONADO </vt:lpstr>
      <vt:lpstr>CO2 FRACIONADO</vt:lpstr>
      <vt:lpstr>CO2 FRACIONADO</vt:lpstr>
      <vt:lpstr>CO2 FRACIONADO</vt:lpstr>
      <vt:lpstr>CO2 FRACIONADO </vt:lpstr>
      <vt:lpstr>CO2 FRACIONADO</vt:lpstr>
      <vt:lpstr>CO2 FRACIONADO</vt:lpstr>
      <vt:lpstr>CO2 FRACIONADO </vt:lpstr>
      <vt:lpstr>CO2 FRACIONADO </vt:lpstr>
      <vt:lpstr>CO2 FRACIONADO </vt:lpstr>
      <vt:lpstr>CO2 FRACIONADO </vt:lpstr>
      <vt:lpstr>CO2 FRACIONADO </vt:lpstr>
      <vt:lpstr>CO2 FRACIONADO </vt:lpstr>
      <vt:lpstr>CO2 FRACIONADO </vt:lpstr>
      <vt:lpstr>CO2 FRACIONADO </vt:lpstr>
      <vt:lpstr>LED - Light Emitting Diode</vt:lpstr>
      <vt:lpstr>LED - Light Emitting Diode </vt:lpstr>
      <vt:lpstr>LED - Light Emitting Diode </vt:lpstr>
      <vt:lpstr>LED - Light Emitting Diode</vt:lpstr>
      <vt:lpstr>LED - Light Emitting Diode</vt:lpstr>
      <vt:lpstr>LED - Light Emitting Diode</vt:lpstr>
      <vt:lpstr>LED - Light Emitting Diode</vt:lpstr>
      <vt:lpstr>Apresentação do PowerPoint</vt:lpstr>
      <vt:lpstr>Apresentação do PowerPoint</vt:lpstr>
      <vt:lpstr>Apresentação do PowerPoint</vt:lpstr>
      <vt:lpstr>LED - Light Emitting Diode</vt:lpstr>
      <vt:lpstr>ENDOLASER</vt:lpstr>
      <vt:lpstr>ENDOLASER</vt:lpstr>
      <vt:lpstr>ENDOLASER</vt:lpstr>
      <vt:lpstr>ENDOLASER</vt:lpstr>
      <vt:lpstr> ENDOLASER  </vt:lpstr>
      <vt:lpstr> ENDOLASER  </vt:lpstr>
      <vt:lpstr> ENDOLASER  </vt:lpstr>
      <vt:lpstr> ENDOLASER  </vt:lpstr>
      <vt:lpstr> ENDOLASER  </vt:lpstr>
      <vt:lpstr> ENDOLASER  </vt:lpstr>
      <vt:lpstr> ENDOLASER  </vt:lpstr>
      <vt:lpstr> ENDOLASER  </vt:lpstr>
      <vt:lpstr>ENDOLASER</vt:lpstr>
      <vt:lpstr>ENDOLASER</vt:lpstr>
      <vt:lpstr>Endolaser </vt:lpstr>
      <vt:lpstr>Endolaser </vt:lpstr>
      <vt:lpstr>Endolaser</vt:lpstr>
      <vt:lpstr>Endolaser </vt:lpstr>
      <vt:lpstr>Endolaser </vt:lpstr>
      <vt:lpstr>Endolaser + criolipólise  </vt:lpstr>
      <vt:lpstr>Endolaser </vt:lpstr>
      <vt:lpstr>Endolaser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ELETROTERMOFOTOTERAPIA</dc:title>
  <dc:creator>Mariana</dc:creator>
  <cp:lastModifiedBy>mariana justi</cp:lastModifiedBy>
  <cp:revision>32</cp:revision>
  <dcterms:created xsi:type="dcterms:W3CDTF">2025-03-27T19:51:30Z</dcterms:created>
  <dcterms:modified xsi:type="dcterms:W3CDTF">2026-04-14T20:18:54Z</dcterms:modified>
</cp:coreProperties>
</file>