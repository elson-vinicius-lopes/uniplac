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Eu sou a Paola. Vou apresentar o atendimento capilar de uma paciente modelo feminina: um caso de alopecia androgenética ligada ao Helicobacter pylori.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paciente tem 61 anos e procurou ajuda pela queda no topo da cabeça, que começou há uns 3 anos. O pai dela tinha calvície, ou seja, ela tem a genética.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conversa com a paciente levantei: ela teve H. pylori, que já foi curada; tem gastrite em tratamento; alterações hormonais; é bem estressada e dorme mal; e faz química no cabelo (mechas e coloração).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principal. A bactéria atrapalha a absorção de ferro, B12 e zinco. Sem nutrientes, e com estresse, o folículo enfraquece e a queda acelera. Atenção: a H. pylori não causa a alopecia; ela acelera.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diagnóstico é alopecia androgenética feminina. A base é genética, mas o que acelerou foram os fatores do corpo: o intestino (H. pylori), o hormônio e o estresse.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tratamento tem 2 fases. Primeiro desinflamei o couro cabeludo com óleos essenciais e argila. Depois entrei na fase de estímulo: intradermoterapia com a Mescla PHD e laser vermelho. Em casa ela usa o tônico Capilia Longa.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detalho o procedimento, igual ao relatório. Intradermoterapia pela técnica de pápula: agulha 30G, profundidade de 2 a 4 mm, cerca de 0,05 a 0,1 mL por ponto, pápulas a cada 2 cm por toda a área, em sessões quinzenais. A Mescla PHD tem minoxidil 8 mg, nanofatores de crescimento, latanoprosta e o Pill Food (aminoácidos e vitaminas). O laser vermelho é de 650 a 660 nm, baixa potência, cerca de 20 minutos, 2 a 3 vezes por semana. Em casa, o tônico Capilia Longa, todos os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imagens reais do couro cabeludo da paciente. Na primeira dá pra ver fios de espessuras diferentes, que é a miniaturização. Na segunda dá pra ver a rarefação, os espaços entre os fios.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resultado foi bom: o couro cabeludo ficou com mais circulação e apareceram fios novos nos espaços que estavam vazios. A paciente seguiu direitinho o tratamento.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concluir: o segredo foi tratar o conjunto — a estética junto com o médico. Tratar só o cabelo não resolve; tem que tratar a causa. Obrigada!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2000" cy="22860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clínico — Alopecia Androgenética e Helicobacter pylori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Acadêmica: Paola Bortoli Pinheiro Lopes   •   Modelo: Paciente modelo feminina
</a:t>
            </a:r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Estética Capilar Avançada e Terapia Capilar II   •   Profa. Márcia de Liz   •   UNIPLAC,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paciente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 modelo feminina, 61 anos.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Queixa: queda de cabelo no topo da cabeça.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cerca de 3 anos.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 com calvície — predisposição genética.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 | Estética Capilar Avançada e Terapia Capilar II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ela tem (anamnese)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Teve Helicobacter pylori — já curada.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Gastrite crônica (ainda em tratamento).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Alterações hormonais.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estresse e sono ruim (acorda à noite).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mechas e coloração.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 | Estética Capilar Avançada e Terapia Capilar II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ligação: H. pylori e a queda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H. pylori dificultou a absorção de nutrientes (ferro, B12 e zinco).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nutrientes + estresse = couro cabeludo enfraquecido.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a queda foi acelerada.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 a H. pylori não CAUSA a alopecia — ela ACELERA.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 | Estética Capilar Avançada e Terapia Capilar II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genética (pai calvo)...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...acelerada por fatores do corpo: intestino, hormônio e estresse.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 | Estética Capilar Avançada e Terapia Capilar II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tratamento — 2 fases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Desinflamar: óleos essenciais + argiloterapia.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Estimular: intradermoterapia (Mescla PHD) + laser vermelho.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casa: tônico Capilia Longa (uso contínuo).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 | Estética Capilar Avançada e Terapia Capilar II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foi feito (passo a passo)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Intradermoterapia (técnica de pápula):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microinjeções na junção dermoepidérmica; profundidade de 2 a 4 mm; agulha 30G; cerca de 0,05–0,1 mL por ponto; pápulas espaçadas a cada 2 cm por toda a área de rarefação. Sessões quinzenais.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Mescla PHD (ativos injetados):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Minoxidil 8 mg, Nanofatores de Crescimento Capilar 1%, Latanoprosta 50 mcg, Pill Food (L-metionina, L-taurina, L-prolina, biotina, D-pantenol, vitaminas B2, B3 e B6, L-carnitina) e Lidocaína 20 mg.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vermelho — LLLT / fotobiomodulação: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 vermelha de 650–660 nm; densidade de potência de 3 a 90 mW/cm²; fluência de 1 a 10 J/cm²; ~20 min por sessão, 2 a 3 vezes por semana. Aumenta o ATP, melhora a microcirculação e prolonga a fase anágena.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Homecare (em casa):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tônico Capilia Longa (derivado da cúrcuma), uso diário — auxilia na inibição da conversão de testosterona em DHT.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 | Estética Capilar Avançada e Terapia Capilar II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— tricoscopia do couro cabeludo</a:t>
            </a:r>
            <a:endParaRPr lang="en-US" sz="2800" dirty="0"/>
          </a:p>
        </p:txBody>
      </p:sp>
      <p:pic>
        <p:nvPicPr>
          <p:cNvPr id="4" name="Image 0" descr="C:\Users\elson.lopes\source\repos\uniplac\attachments\salete-imagem-superior-capilar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4480560" cy="3584448"/>
          </a:xfrm>
          <a:prstGeom prst="rect">
            <a:avLst/>
          </a:prstGeom>
        </p:spPr>
      </p:pic>
      <p:pic>
        <p:nvPicPr>
          <p:cNvPr id="5" name="Image 1" descr="C:\Users\elson.lopes\source\repos\uniplac\attachments\salete-imagem-superior-capilar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480560" cy="35844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5029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Fios de espessuras diferentes (miniaturização).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675120" y="5029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Rarefação e espaços entre os fios.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Couro cabeludo com mais microcirculação.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Apareceram fios novos nos espaços.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adesão da paciente ao tratamento.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 | Estética Capilar Avançada e Terapia Capilar II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o todo: estética + acompanhamento médico.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só o cabelo não basta — é preciso tratar a causa.</a:t>
            </a:r>
            <a:endParaRPr lang="en-US" sz="2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Obrigada!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Atendimentos Capilares | Estética Capilar Avançada e Terapia Capilar II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2026-06-17T17:30:22Z</dcterms:created>
  <dcterms:modified xsi:type="dcterms:W3CDTF">2026-06-17T17:30:22Z</dcterms:modified>
</cp:coreProperties>
</file>