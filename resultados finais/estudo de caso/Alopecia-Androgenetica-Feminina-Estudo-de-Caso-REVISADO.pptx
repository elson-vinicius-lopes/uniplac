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dia. Eu sou a Paola, do curso de Tecnologia em Estética e Cosmetologia. Vou apresentar o meu artigo: um estudo de caso sobre alopecia androgenética feminina em uma paciente de 60 anos com histórico de gastrite e de infecção por Helicobacter pylori já erradicada.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nos detalhes, um resumo. Este é um artigo em formato de estudo de caso, com uma paciente de 60 anos que tem alopecia androgenética feminina e histórico de gastrite e H. pylori já erradicada. Apliquei um protocolo em duas fases: fotobiomodulação, intradermoterapia e cuidado em casa. Houve melhora do couro cabeludo e surgimento de novos fios, mas só depois de uma fase inicial em que o resultado ficou abaixo do esperado por baixa adesão.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segue a estrutura do artigo: introdução, desenvolvimento com o método, discussão dos resultados e considerações finais.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alopecia androgenética é a queda capilar mais comum e progressiva. Na mulher, rareia o topo e preserva a linha da frente. A prevalência sobe muito com a idade. O objetivo do artigo é descrever e discutir os resultados do protocolo estético que apliquei, sempre em paralelo ao médico.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enzima 5-alfa-redutase transforma testosterona em DHT. A DHT encurta a fase de crescimento e vai afinando o fio, o que chamamos de miniaturização. Há forte componente genético, e a paciente tem histórico familiar: o pai é calvo.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mulher, o padrão é o afinamento da coroa preservando a frente. A escala de Ludwig classifica a gravidade em três estágios e ajuda a acompanhar a evolução.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parte gastrointestinal. A H. pylori e a gastrite crônica reduzem a acidez do estômago e prejudicam a absorção de ferro e de B12. E o próprio remédio da gastrite, o inibidor de bomba de prótons, faz o mesmo. Ferritina baixa está associada à queda capilar feminina, e o folículo depende desses nutrientes para manter a fase de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cuidado metodológico central do trabalho. A evidência direta entre H. pylori e queda de cabelo é de alopecia areata, que é autoimune, e não da androgenética. Eu não afirmo causalidade. O que a literatura sustenta é uma ponte indireta: má absorção de nutrientes e estresse oxidativo. Por isso trato a questão gastrointestinal como fator associado, coadjuvante. E isso tem uma consequência prática: como pode haver má absorção, faz sentido levar o ativo direto pela via intradérmica.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estresse oxidativo já está documentado na alopecia androgenética. Junto com a inflamação de baixo grau e a piora da microcirculação, ele é o elo que liga a condição gastrointestinal à progressão da queda. Mas é um elo de plausibilidade, não de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Escolhi a fotobiomodulação porque é segura, não invasiva e tem eficácia em ensaios randomizados. Ela aumenta a energia da célula, melhora a circulação e prolonga a fase de crescimento. Como a resposta é bifásica, dose baixa estimula e dose alta inibe, trabalhei com fluência baixa. A luz azul entrou antes, para desinflamar e controlar a oleosidade.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intradermoterapia leva o ativo direto ao folículo, o que faz sentido justamente porque a absorção pelo intestino pode estar comprometida. Aplico por pápulas, com agulha 30G, a cada dois centímetros. A mescla PHD tem minoxidil, nanofatores, latanoprosta, vitaminas e anestésico. Em casa ela usa o tônico de cúrcuma, além das orientações de higienização, alimentação, sono e estresse.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 estudo de caso qualitativo e descritivo, com uma paciente só. Ela tem 60 anos, queixa de queda no topo há uns três anos, pai calvo, gastrite crônica em tratamento e H. pylori já erradicada, confirmada por exames que estão nos anexos. Também tem estresse alto, sono ruim, histórico de química no cabelo e usa medicação contínua para pressão.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Usei anamnese, tricoscopia e foto padronizada, sempre na mesma luz e distância. Na avaliação inicial o couro cabeludo estava inflamado e oleoso. Na tricoscopia dá para ver fios grossos junto de fios finos, que é a anisotricose, o marcador mais confiável, e o espaçamento entre os folículos.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protocolo teve duas fases, respeitando a lógica de desinflamar antes de estimular, porque só um couro cabeludo equilibrado responde bem ao estímulo. A fase 1 usou aromaterapia, argiloterapia e luz azul. A fase 2, intradermoterapia com a mescla PHD e luz vermelha, com o homecare diário e reavaliação bimestral. A série de sessões inicialmente prevista foi estendida por causa da resposta mais lenta que 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trabalho seguiu a Resolução 466 de 2012, com aprovação prévia do Comitê de Ética em Pesquisa da UNIPLAC sob o número 6.603.39. A paciente assinou o Termo de Consentimento Livre e Esclarecido, autorizando os procedimentos, as fotos e a divulgação acadêmica com a identificação preservada.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Começo pelo que foi bem. A fase 1 funcionou: a inflamação e a oleosidade caíram e o couro cabeludo ficou equilibrado, que era a condição para estimular. Depois da correção de conduta, que eu explico no próximo slide, apareceram fios novos nos espaços das áreas rarefeitas e a microcirculação melhorou.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que não foi bem. Na entrada da fase 2 a resposta ficou abaixo do esperado e ela sentiu até um aumento da queda. Investigando na reanamnese, apareceu o motivo: ela lavava pouco o cabelo, acumulando sebo sobre os óstios, e esquecia o tônico. Corrigi a conduta, reforcei orientação, revisei os produtos e passei a checar a adesão toda sessão. Depois disso a resposta mudou, e eu estendi a série de sessões.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importante dizer o que o caso não permite afirmar. Como combinei recursos, não dá para isolar a contribuição de cada um. É um caso único, então não há inferência causal nem generalização. Há vários fatores de confusão: genética, hormônios, idade, química, adesão, estresse, sono e a medicação contínua. E sobre a H. pylori, reforço: é coexistência e fator associado plausível, não causa. A evidência direta é de alopecia areata.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Concluindo: o protocolo em duas fases foi bem tolerado e acompanhou melhora do couro cabeludo e fios novos. O fator mais determinante foi a adesão da paciente em casa, o que mostra que educar e acompanhar faz parte do protocolo. Sobre a saúde gastrointestinal, é fator associado com plausibilidade mecanística, nunca causa isolada. As limitações são o caso único, sem controle, com recursos combinados, e a sugestão é estudar isso com amostras maiores e exames laboratoriais seriados.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são as referências principais. A lista completa, com os links e as datas de acesso, está no artigo entregue em Word e em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anexos estão os exames que comprovam o acompanhamento médico e a erradicação da infecção, todos com autorização no TCLE. A ficha de anamnese, o anexo H, ainda está pendente de digitalização. Agradeço à paciente modelo, às orientadoras e ao corpo docente. Obrigada pela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320040"/>
            <a:ext cx="1117282" cy="1051560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908792" y="320040"/>
            <a:ext cx="1051560" cy="10515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2011680"/>
            <a:ext cx="12192000" cy="265176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5" name="Text 1"/>
          <p:cNvSpPr/>
          <p:nvPr/>
        </p:nvSpPr>
        <p:spPr>
          <a:xfrm>
            <a:off x="457200" y="21488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914400" y="306324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 de um protocolo estético com fotobiomodulação, intradermoterapia capilar e cuidado domiciliar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502920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Acadêmica: Paola Bortoli Pinheiro Lopes
</a:t>
            </a:r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Orientadoras: Profa. Marcia de Liz, Esp. em Tricologia (MBA) e Profa. Mariana Macedo Justi, Esp. em Biomedicina Estética • Tecnologia em Estética e Cosmetologia • UNIPLAC, Lages/SC —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 trabalho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é: artigo científico no formato de estudo de caso descritivo e qualitativo, com uma única paciente.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em uma frase: uma paciente de 60 anos com alopecia androgenética feminina e histórico de gastrite crônica e de Helicobacter pylori já erradicada foi acompanhada com um protocolo estético em duas fases, conduzido em paralelo ao acompanhamento médico.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aplicado: fotobiomodulação, intradermoterapia capilar e cuidado domiciliar com tônico capilar.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observou: melhora do couro cabeludo e novos fios nas áreas rarefeitas, precedidas de uma fase inicial de resposta insatisfatória ligada à baixa adesão domiciliar.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Palavras-chave: alopecia; fotobiomodulação; intradermoterapia; tricoscopia; Helicobacter pylori.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está organizado o artigo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Introdução — o que é a alopecia androgenética feminina e por que o caso é relevante.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Desenvolvimento — fisiopatologia, fatores sistêmicos associados e recursos estéticos.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Método — desenho do estudo, paciente, instrumentos, protocolo e aspectos éticos.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Discussão e resultados — o que funcionou, o que não funcionou e por quê.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Considerações finais — o que o caso permite (e o que não permite) afirmar.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anexos — elementos pós-textuais.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Introdução — a alopecia androgenética feminina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 mais comum de perda capilar progressiva; decorre da ação da di-hidrotestosterona (DHT) em folículos geneticamente predispostos (Ho; Sood; Zito, 2024).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mulher: rarefação difusa do topo, com preservação da linha frontal (Singal; Sonthalia; Verma, 2013).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prevalência cresce com a idade: de cerca de 1,3% entre 18 e 29 anos para aproximadamente 11,8% após os 70 anos.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do impacto estético, há repercussão emocional relevante — o que justifica condutas estéticas seguras e baseadas em evidências.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artigo: descrever e discutir os resultados de um protocolo de fotobiomodulação, intradermoterapia e cuidado domiciliar, em paralelo ao acompanhamento médico.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Desenvolvimento — fisiopatologia: DHT e genética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5-alfa-redutase (isoforma tipo 2, SRD5A2) converte testosterona em DHT.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DHT encurta a fase anágena e miniaturiza o folículo, substituindo fios terminais por velos (Ntshingila et al., 2023).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 a relação anágeno/telógeno, normalmente próxima de 12:1 (Ho; Sood; Zito, 2024).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Fenótipo poligênico, herdabilidade estimada em 0,81; o gene do receptor androgênico responde por até 40% do risco (Martinez-Jacobo et al., 2018).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caso: histórico familiar de calvície (pai da paciente), coerente com esse componente genético.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clínico e classificação — escala de Ludwig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feminino: afinamento difuso da coroa, com preservação da linha frontal.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Ludwig: três estágios de gravidade (Singal; Sonthalia; Verma, 2013).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classificação orienta o planejamento do protocolo e a comparação evolutiva.</a:t>
            </a:r>
            <a:endParaRPr lang="en-US" sz="1800" dirty="0"/>
          </a:p>
        </p:txBody>
      </p:sp>
      <p:pic>
        <p:nvPicPr>
          <p:cNvPr id="8" name="Image 2" descr="C:\Users\elson.lopes\source\repos\uniplac\Alopecia-Andogenetica-Feminina\assets-aag\escala-ludwi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325880"/>
            <a:ext cx="4206240" cy="4160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1 – Escala de Ludwig (adaptado de Singal, Sonthalia e Verma, 2013)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Fatores sistêmicos associados: absorção de micronutrientes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infecção por Helicobacter pylori está associada à anemia ferropriva por gastrite crônica e redução da acidez gástrica (Does..., 2010).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próprio tratamento pesa: o uso prolongado de inibidores da bomba de prótons reduz a acidez necessária à liberação do ferro não heme e à absorção da vitamina B12.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Ferritina baixa associa-se à alopecia feminina: média de 37,3 ng/mL nas pacientes contra 59,5 ng/mL nos controles (Kantor et al., 2003).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Ferro, zinco, vitamina B12 e aporte proteico sustentam a fase anágena — o folículo é uma das estruturas de maior taxa mitótica do corpo (Guo; Katta, 2017).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Delimitação científica: fator associado, nunca causa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evidência direta que liga Helicobacter pylori à queda capilar concentra-se na alopecia AREATA, de mecanismo autoimune — não na androgenética.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há, na literatura consultada, evidência que autorize afirmar que a infecção cause a alopecia androgenética feminina.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sustenta é uma ponte mecanística indireta e plausível: má absorção de micronutrientes + estresse oxidativo sistêmico, ambos documentadamente associados ao agravamento da queda.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Portanto: a condição gastrointestinal é tratada como fator coadjuvante e potencialmente acelerador, jamais como causa determinante.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Consequência prática (terapêutica): por existir possibilidade de má absorção, a via intradérmica — que entrega o ativo direto no plano dérmico — é coerente com o perfil da paciente.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Estresse oxidativo e ambiente folicular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 et al. (2016) evidenciaram estresse oxidativo na alopecia androgenética: queda da capacidade antioxidante total, elevação do malondialdeído (p&lt;0,001) e redução da superóxido dismutase.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Estresse oxidativo + inflamação sistêmica de baixo grau + microcirculação perifolicular comprometida = elo mecanístico compartilhado.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 compartilhado não é relação determinística: explica plausibilidade, não causalidade.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empregados — fotobiomodulação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 não invasiva, segura e com eficácia demonstrada em ensaios randomizados.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Mecanismo: estímulo à produção de ATP nas células foliculares, melhora da microcirculação e prolongamento da fase anágena (Avci et al., 2014).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 de aproximadamente 41,9 fios/cm², sem efeitos adversos (Yoon et al., 2020); melhora de densidade confirmada por Sondagar et al. (2023).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Parâmetros usuais: luz vermelha de 650 a 660 nm, fluências de 1 a 10 J/cm², sessões de 15 a 20 minutos (Pillai; Mysore, 2022).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bifásica: dose baixa estimula, dose alta inibe — por isso priorizei fluências baixas na fase de estímulo. A luz azul foi usada antes, para controlar inflamação e oleosidade.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empregados — intradermoterapia e cuidado domiciliar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Microinjeções levam o ativo direto ao folículo e contornam as barreiras de absorção gastrointestinal.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de pápula: 30G, 2 a 4 mm, ~0,05 a 0,1 mL por ponto, pápulas a cada 2 cm.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Mescla PHD: Minoxidil 8 mg; Nanofatores 1%; Latanoprosta 50 mcg; Pill Food; Lidocaína 20 mg.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Evidência: Uzel et al. (2021); Aledani et al. (2024); Stefanis et al. (2024).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Homecare: tônico Capilia Longa (cúrcuma), que auxilia na inibição da conversão de testosterona em DHT, mais higienização, alimentação, sono e manejo do estresse.</a:t>
            </a:r>
            <a:endParaRPr lang="en-US" sz="1800" dirty="0"/>
          </a:p>
        </p:txBody>
      </p:sp>
      <p:pic>
        <p:nvPicPr>
          <p:cNvPr id="8" name="Image 2" descr="C:\Users\elson.lopes\source\repos\uniplac\Alopecia-Andogenetica-Feminina\assets-aag\capilia-long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325880"/>
            <a:ext cx="4206240" cy="4160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domiciliar — tônico com Capilia Longa (cúrcuma)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Método — desenho do estudo e a paciente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qualitativa, do tipo estudo de caso descritivo, com uma única paciente do sexo feminino.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Referencial teórico: artigos indexados em PubMed/PMC e SciELO, periódicos de dermatologia e tricologia e livros-texto.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Paciente: 60 anos, queixa de queda e rarefação progressiva no topo (vértice), com cerca de três anos de evolução.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Histórico: calvície paterna; gastrite crônica em tratamento; Helicobacter pylori já erradicada e confirmada por exames (Anexos A a G); alterações hormonais; química capilar; estresse elevado e sono fragmentado.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contínuo de medicação pressórica/cardiovascular, cuja bula descreve edema e retenção hídrica entre os efeitos adversos possíveis.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Método — instrumentos e diagnóstico estético-funcional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Anamnese capilar, tricoscopia com fotovideodermatoscópio e foto padronizada (mesma luz, enquadramento e distância).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inicial: sinais inflamatórios, hiperemia e oleosidade aumentada.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Achados: rarefação no topo/vértice, miniaturização, maior espaçamento interfolicular e diversidade de calibre.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Anisotricose em ~90% dos casos femininos (Kuczara et al., 2024); tricoscopia supera o tricograma, 72% x 62% (Galliker; Trüeb, 2012).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estético-funcional: padrão compatível com AAF.</a:t>
            </a:r>
            <a:endParaRPr lang="en-US" sz="1800" dirty="0"/>
          </a:p>
        </p:txBody>
      </p:sp>
      <p:pic>
        <p:nvPicPr>
          <p:cNvPr id="8" name="Image 2" descr="C:\Users\elson.lopes\source\repos\uniplac\Alopecia-Andogenetica-Feminina\assets-aag\tricoscopia-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280160"/>
            <a:ext cx="4206240" cy="2240280"/>
          </a:xfrm>
          <a:prstGeom prst="rect">
            <a:avLst/>
          </a:prstGeom>
        </p:spPr>
      </p:pic>
      <p:pic>
        <p:nvPicPr>
          <p:cNvPr id="9" name="Image 3" descr="C:\Users\elson.lopes\source\repos\uniplac\Alopecia-Andogenetica-Feminina\assets-aag\tricoscopia-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52360" y="3657600"/>
            <a:ext cx="4206240" cy="22402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Figuras 2 e 3 — Tricoscopia da paciente (arquivo da autora, 2026)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1 – Síntese do protocolo aplicado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28600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Frequência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científica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1 — Desinflamação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Aromaterapia, argiloterapia e fotobiomodulação (luz azul)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sessões/semana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Avci (2014); Pillai e Mysore (2022)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2 — Estímulo (cabine)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Intradermoterapia (Mescla PHD), técnica de pápula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Quinzenal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Uzel (2021); Aledani (2024); Stefanis (2024)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2 — Estímulo (cabine)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Fotobiomodulação, luz vermelha (650–660 nm, ~20 min)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a 3 sessões/semana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Yoon (2020); Sondagar (2023); Wang e Chen (2025)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Tônico Capilia Longa e orientações de higienização, alimentação, sono e estresse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diário contínuo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Guo e Katta (2017)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Reavaliação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Tricoscopia e registro fotográfico padronizado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Bimestral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Kuczara (2024); Michelle, Shilpa e Leelavathy (2022)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Aspectos éticos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éticos da pesquisa com seres humanos conforme a Resolução 466/12 do Conselho Nacional de Saúde.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prévia pelo Comitê de Ética em Pesquisa (CEP) da UNIPLAC, sob o número 6.603.39.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de Consentimento Livre e Esclarecido (TCLE) assinado pela paciente modelo.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TCLE autoriza os procedimentos, o registro fotográfico e a divulgação acadêmica das imagens e dos exames, preservada a identificação.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Discussão e resultados — o que foi bem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evolução do caso não foi linear, e relatar isso com honestidade faz parte do resultado científico.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controle satisfatório da inflamação e da oleosidade; ao final da etapa, hiperemia e oleosidade reduzidas.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Couro cabeludo equilibrado — condição necessária para iniciar a fase de estímulo.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a correção de conduta (adiante): aumento da microcirculação e surgimento de novos fios nos espaçamentos das áreas antes rarefeitas.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Melhora da condição geral do couro cabeludo, acompanhada por tricoscopia e registro fotográfico padronizado.</a:t>
            </a:r>
            <a:endParaRPr lang="en-US" sz="1800" dirty="0"/>
          </a:p>
        </p:txBody>
      </p:sp>
      <p:pic>
        <p:nvPicPr>
          <p:cNvPr id="8" name="Image 2" descr="C:\Users\elson.lopes\source\repos\uniplac\Alopecia-Andogenetica-Feminina\assets-aag\registro-topo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280160"/>
            <a:ext cx="4206240" cy="2240280"/>
          </a:xfrm>
          <a:prstGeom prst="rect">
            <a:avLst/>
          </a:prstGeom>
        </p:spPr>
      </p:pic>
      <p:pic>
        <p:nvPicPr>
          <p:cNvPr id="9" name="Image 3" descr="C:\Users\elson.lopes\source\repos\uniplac\Alopecia-Andogenetica-Feminina\assets-aag\registro-frontal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52360" y="3657600"/>
            <a:ext cx="4206240" cy="22402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4 – Registro fotográfico padronizado da região do topo (arquivo da autora, 2026)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 — o que não foi bem e como foi corrigido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transição para a Fase 2, a resposta ficou aquém do esperado: a tricoscopia não mostrou o ganho de densidade previsto e a paciente percebeu aumento transitório da queda.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Reanamnese: higienização insuficiente, com intervalos longos entre lavagens e acúmulo de sebo sobre os óstios foliculares, e uso irregular do tônico domiciliar.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Correção de conduta: reforço da orientação de frequência e técnica de higienização, revisão dos produtos de casa, retomada sistemática do tônico e acompanhamento da adesão a cada sessão.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Após o ajuste, a resposta clínica mudou de forma perceptível — e a série de sessões foi estendida, adequando o cronograma ao ritmo real da paciente.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adesão domiciliar mostrou-se o determinante mais evidente da oscilação da resposta.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 — o que o caso não permite afirmar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resultados não podem ser atribuídos isoladamente a um único recurso: o protocolo foi combinado (Kaiser et al., 2022).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 único: delineamento que não permite inferência causal nem generalização.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Fatores de confusão: natureza multifatorial da AAF (genética, hormônios, idade, química capilar); adesão; sedentarismo, estresse e sono fragmentado; medicação contínua com edema e retenção hídrica entre os efeitos possíveis.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Helicobacter pylori e gastrite crônica: podem ter contribuído para deficiências de micronutrientes nos anos anteriores — coexistência e fator associado plausível, não relação de causa e efeito.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Reitera-se: a evidência direta H. pylori ↔ queda capilar é de alopecia areata, de mecanismo autoimune distinto.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Considerações finais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protocolo em duas fases — desinflamação seguida de estímulo — foi bem tolerado e acompanhou-se de melhora do couro cabeludo e de surgimento de novos fios nas áreas rarefeitas.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adesão às orientações domiciliares foi o fator mais determinante da qualidade da resposta: o período de descuido coincidiu com estagnação e piora percebida.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e acompanhamento próximo da paciente são componentes do próprio protocolo, não recomendações acessórias.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gastrointestinal: H. pylori pregressa, gastrite crônica e seu tratamento são fatores sistêmicos associados, com plausibilidade mecanística (má absorção e estresse oxidativo) — não causa isolada nem determinante.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Limitações: caso único, sem grupo controle, recursos combinados e avaliação predominantemente qualitativa. Estudos futuros: amostras maiores, dosagem seriada de ferritina, B12 e zinco e medida quantitativa de densidade.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principais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AVCI, P. et al. Low-level laser (light) therapy for treatment of hair loss. Lasers in Surgery and Medicine, 2014.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Helicobacter pylori infection play a role in iron deficiency anemia? A meta-analysis. World J. Gastroenterol., 2010.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GUO, E. L.; KATTA, R. Diet and hair loss: effects of nutrient deficiency and supplement use. Dermatol. Pract. Concept., 2017.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HO, C. H.; SOOD, T.; ZITO, P. M. Androgenetic alopecia. StatPearls, 2024.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KANTOR, J. et al. Decreased serum ferritin is associated with alopecia in women. J. Invest. Dermatol., 2003.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KUCZARA, K. et al. Trichoscopy of androgenetic alopecia: a systematic review. J. Clin. Med., 2024.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PRIE, B. E. et al. Oxidative stress in androgenetic alopecia. J. Med. Life, 2016.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UZEL, B. P. K. et al. Intradermal 0,5% minoxidil in female androgenetic alopecia: RCT. Dermatol. Ther., 2021.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YOON, J. S. et al. LLLT helmet for androgenetic alopecia: randomized sham-controlled trial. Medicine, 2020.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completa (27 referências, com link e data de acesso) no artigo em Word/PDF.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lson.lopes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elson.lopes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Anexos, créditos e pendências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e saúde gastrointestinal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 A a G: exames anatomopatológicos e endoscópicos (2025) e exame de controle (2026) com confirmação da erradicação da infecção — apresentados mediante autorização expressa no TCLE.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exames comprovam o acompanhamento médico e a erradicação; não são objeto de análise laboratorial neste estudo.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H — Ficha de anamnese capilar: PENDENTE de digitalização e inclusão pela autora.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Orientadoras: Profa. Marcia de Liz — Tecnóloga em Cosmetologia e Estética pela UNIPLAC, Especialista em Estética e Imagem Corporal e MBA em Tricologia, Coordenadora do Curso de Tecnologia em Estética e Cosmetologia da UNIPLAC, Tricologista; e Profa. Mariana Macedo Justi — Biomédica e Cosmetóloga Esteta pela UNIPLAC, Especialista em Biomedicina Estética e em Ozonioterapia na Estética.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Agradecimentos: à paciente modelo, às professoras orientadoras e ao corpo docente do curso de Tecnologia em Estética e Cosmetologia da UNIPLAC.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2026-09-16T12:21:18Z</dcterms:created>
  <dcterms:modified xsi:type="dcterms:W3CDTF">2026-09-16T12:21:18Z</dcterms:modified>
</cp:coreProperties>
</file>