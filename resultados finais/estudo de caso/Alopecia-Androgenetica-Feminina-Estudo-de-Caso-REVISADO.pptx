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Bom dia. Eu sou a Paola, do curso de Tecnologia em Estética e Cosmetologia. Vou apresentar meu estudo de caso sobre alopecia androgenética feminina, com diagnóstico por tricoscopia e tratamento por fotobiomodulação e intradermoterapia capilar.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da pesquisa é: como um protocolo de fotobiomodulação somado à intradermoterapia capilar pode ajudar a controlar a miniaturização dos fios e melhorar a densidade na alopecia androgenética feminina.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alopecia androgenética feminina é uma condição crônica que mexe muito com a autoestima e aumenta com a idade. Tenho uma paciente de 60 anos com predisposição genética. O problema é montar um tratamento estético seguro e com base científica, junto do acompanhamento médico.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tema é importante porque a alopecia androgenética é a queda mais comum na mulher e afeta muito a autoestima. A fotobiomodulação e a intradermoterapia têm base científica e são opções não cirúrgicas. Tratar cedo ajuda a preservar os fios.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objetivo geral é avaliar os resultados de um protocolo de fotobiomodulação e intradermoterapia capilar para controlar a alopecia. Os específicos são: explicar a doença, mostrar o diagnóstico por tricoscopia, fundamentar as duas terapias e montar o cronograma.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alopecia androgenética é a queda mais comum. O hormônio DHT age em folículos com predisposição genética. Na mulher, rareia o topo e preserva a frente. O diagnóstico se faz pela tricoscopia.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enzima 5-alfa-redutase transforma testosterona em DHT. A DHT encurta a fase de crescimento e vai afinando o fio, o que chamamos de miniaturização. E há forte componente genético.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mulher o padrão é o afinamento da coroa, preservando a frente. A escala de Ludwig mede a gravidade em três graus.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diagnóstico se faz pela tricoscopia. O sinal mais confiável é a variação na espessura dos fios, a anisotricose. Nas imagens dá para ver fios grossos junto de fios finos, que é a miniaturização.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doença é hormonal e genética, mas fatores sistêmicos podem agravar. No caso, que é a minha mãe, ela tem histórico de gastrite e H. pylori, já tratada. Isso pode reduzir a absorção de ferro e B12 e aumentar o estresse oxidativo, agravando a queda. Mas é coadjuvante, não a causa.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Escolhi a fotobiomodulação porque é segura, não invasiva e tem eficácia comprovada. Ela aumenta a energia da célula, melhora a circulação e faz o fio crescer por mais tempo. Uso dose baixa, em torno de 2 joules, que é a faixa que estimula.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intradermoterapia leva o remédio direto onde precisa, com microinjeções formando pápulas. A mistura PHD tem minoxidil, fatores de crescimento, latanoprosta, vitaminas e anestésico. Em casa, ela usa o tônico de cúrcuma, o Capilia Longa.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eu ligo cada causa ao tratamento. A causa principal é a miniaturização pela DHT: a intradermoterapia leva minoxidil, latanoprosta e fatores de crescimento que reativam o folículo, e o laser prolonga a fase de crescimento. O estresse oxidativo é combatido pelo laser, que melhora energia e circulação. As deficiências de ferro e B12 são contornadas pela intradermoterapia e repostas pelo médico. A gastrite com H. pylori, que é coadjuvante, é tratada pelo médico, enquanto a estética cuida do cabelo em paralelo.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um estudo de caso de uma paciente de 60 anos. A avaliação é por anamnese, tricoscopia e foto padronizada, sempre em paralelo ao médico, com aprovação do comitê de ética.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protocolo: a fotobiomodulação usa laser vermelho de 655 a 660 nanômetros, cerca de 2 joules, 20 minutos por sessão. A intradermoterapia é a mescla PHD, com minoxidil, fatores de crescimento, latanoprosta, vitaminas e anestésico, aplicada por pápula. A frequência é semanal no primeiro mês e depois quinzenal, alternando com o laser. Em casa, o tônico Capilia Longa.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cronograma começa intensivo: intradermoterapia uma vez por semana no primeiro mês. Depois entra o esquema de 15 em 15 dias, alternando laser e intradermoterapia. A cada dois meses reavalio na tricoscopia, e depois de seis meses entra a manutenção.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estão as referências principais. A lista completa, com 26 fontes e os links, está no documento escrito. Obrigada pela atenção.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e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e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jpe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jpeg"/><Relationship Id="rId3" Type="http://schemas.openxmlformats.org/officeDocument/2006/relationships/image" Target="../media/image-14-3.jpeg"/><Relationship Id="rId4" Type="http://schemas.openxmlformats.org/officeDocument/2006/relationships/image" Target="../media/image-14-4.jpe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aola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320040"/>
            <a:ext cx="1117282" cy="1051560"/>
          </a:xfrm>
          <a:prstGeom prst="rect">
            <a:avLst/>
          </a:prstGeom>
        </p:spPr>
      </p:pic>
      <p:pic>
        <p:nvPicPr>
          <p:cNvPr id="3" name="Image 1" descr="C:\Users\paola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0908792" y="320040"/>
            <a:ext cx="1051560" cy="10515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2011680"/>
            <a:ext cx="12192000" cy="2651760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5" name="Text 1"/>
          <p:cNvSpPr/>
          <p:nvPr/>
        </p:nvSpPr>
        <p:spPr>
          <a:xfrm>
            <a:off x="457200" y="21488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ALOPECIA ANDROGENÉTICA FEMININA COM TRICOSCOPIA E TRATAMENTOS ASSOCIADOS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914400" y="3063240"/>
            <a:ext cx="10332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estudo de caso — fotobiomodulação e intradermoterapia capilar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5029200"/>
            <a:ext cx="11247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Acadêmica: Paola Bortoli Pinheiro Lopes
</a:t>
            </a:r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Orientadoras: Profa. Marcia de Liz e Profa. Mariana Macedo Justi • UNIPLAC, Lages/SC —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aola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paola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 da pesquisa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AAG Feminina com tricoscopia e tratamentos associados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um protocolo estético baseado em fotobiomodulação (laser de baixa intensidade) e intradermoterapia capilar pode contribuir para o controle da miniaturização e a melhora da densidade capilar na alopecia androgenética feminina?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aola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paola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Problemática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AAG Feminina com tricoscopia e tratamentos associados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alopecia androgenética feminina é crônica, progressiva e afeta muito a autoestima.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prevalência aumenta com a idade (Singal; Sonthalia; Verma, 2013).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 de 60 anos, com predisposição genética e fatores sistêmicos que podem agravar.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Desafio: montar um protocolo estético seguro, individualizado e baseado em evidências, em paralelo ao médico.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aola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paola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Justificativa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AAG Feminina com tricoscopia e tratamentos associados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relevante: é a queda capilar mais comum na mulher e tem grande impacto emocional.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fotobiomodulação e a intradermoterapia são opções não cirúrgicas com respaldo na literatura.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Atuar cedo ajuda a frear a miniaturização e a preservar os fios.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Justifica-se um protocolo individualizado, acompanhado por tricoscopia e em parceria com o médico.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aola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paola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AAG Feminina com tricoscopia e tratamentos associados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Geral: avaliar os resultados de um protocolo estético baseado na fotobiomodulação e na intradermoterapia capilar para o controle da alopecia androgenética feminina.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Descrever a fisiopatologia e a base genético-hormonal;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Apresentar o diagnóstico por tricoscopia;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 Fundamentar o uso da fotobiomodulação e da intradermoterapia capilar;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d) Estruturar um cronograma individualizado, com parâmetros baseados em evidências.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aola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paola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Introdução — o que é a AAG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AAG Feminina com tricoscopia e tratamentos associados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 mais comum de perda capilar progressiva.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Causada pela ação da di-hidrotestosterona (DHT) em folículos geneticamente predispostos.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mulher: rarefação difusa no topo, preservando a linha da frente (Singal; Sonthalia; Verma, 2013).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estético-funcional por tricoscopia.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aola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paola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Fisiopatologia: a DHT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AAG Feminina com tricoscopia e tratamentos associados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5-alfa-redutase (tipo 2) converte testosterona em DHT.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DHT encurta a fase anágena (de crescimento) e miniaturiza o folículo.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 a relação anágeno/telógeno (normal ~12:1) — Ho, Sood e Zito (2024).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Forte componente genético (herdabilidade ~0,81) — Martinez-Jacobo et al. (2018).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aola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paola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Classificação — escala de Ludwig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AAG Feminina com tricoscopia e tratamentos associados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6492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Padrão feminino: afinamento difuso da coroa, preservando a linha frontal.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 de Ludwig: 3 graus de gravidade (I, II e III).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prevalência cresce com a idade.</a:t>
            </a:r>
            <a:endParaRPr lang="en-US" sz="1800" dirty="0"/>
          </a:p>
        </p:txBody>
      </p:sp>
      <p:pic>
        <p:nvPicPr>
          <p:cNvPr id="8" name="Image 2" descr="C:\Users\paola\source\repos\uniplac\Alopecia-Andogenetica-Feminina\assets-aag\escala-ludwig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452360" y="1325880"/>
            <a:ext cx="4206240" cy="416052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315200" y="594360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Padrões de rarefação feminina (escala de Ludwig)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aola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paola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Diagnóstico: tricoscopia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AAG Feminina com tricoscopia e tratamentos associados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6492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Exame de eleição, não invasivo.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Marcador mais confiável: anisotricose (variação do calibre dos fios).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Também: miniaturização e mais pelos velos — Kuczara et al. (2024); Galliker e Trüeb (2012).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Supera o tricograma (72% vs 62%).</a:t>
            </a:r>
            <a:endParaRPr lang="en-US" sz="1800" dirty="0"/>
          </a:p>
        </p:txBody>
      </p:sp>
      <p:pic>
        <p:nvPicPr>
          <p:cNvPr id="8" name="Image 2" descr="C:\Users\paola\source\repos\uniplac\Alopecia-Andogenetica-Feminina\assets-aag\tricoscopia-1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452360" y="1280160"/>
            <a:ext cx="4206240" cy="2240280"/>
          </a:xfrm>
          <a:prstGeom prst="rect">
            <a:avLst/>
          </a:prstGeom>
        </p:spPr>
      </p:pic>
      <p:pic>
        <p:nvPicPr>
          <p:cNvPr id="9" name="Image 3" descr="C:\Users\paola\source\repos\uniplac\Alopecia-Andogenetica-Feminina\assets-aag\tricoscopia-2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52360" y="3657600"/>
            <a:ext cx="4206240" cy="224028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7315200" y="594360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Tricoscopia da paciente — variação de calibre e miniaturização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aola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paola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Fatores sistêmicos (coadjuvantes)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AAG Feminina com tricoscopia e tratamentos associados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AAG é primariamente genético-hormonal; fatores sistêmicos só modulam.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Estresse oxidativo elevado na AAG — Prie et al. (2016).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Ferritina baixa associada à alopecia feminina — Kantor et al. (2003).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caso (minha mãe): gastrite e Helicobacter pylori (já erradicada) podem reduzir ferro e B12 — fator coadjuvante, não a causa.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aola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paola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Fotobiomodulação — por que escolhi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AAG Feminina com tricoscopia e tratamentos associados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invasiva, segura e com eficácia em ensaios randomizados.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 de bom: aumenta o ATP da célula, melhora a microcirculação e prolonga a fase de crescimento.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Ganho de ~41,9 fios/cm² sem efeitos adversos — Yoon et al. (2020).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Dose baixa (~2 J/cm²) fica na janela que estimula — Avci et al. (2014); Pillai e Mysore (2022).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aola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paola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Intradermoterapia — Mescla PHD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AAG Feminina com tricoscopia e tratamentos associados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6492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faz de bom: leva o ativo direto ao folículo, contornando barreiras de absorção.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 de pápula: 30G; 2–4 mm; ~0,05–0,1 mL/ponto; pápulas a cada 2 cm.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Mescla PHD: Minoxidil 8 mg; Nanofatores de Crescimento 1%; Latanoprosta 50 mcg; Pill Food; Lidocaína 20 mg.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Base: Uzel et al. (2021); Aledani et al. (2024); Stefanis et al. (2024). Homecare: Capilia Longa.</a:t>
            </a:r>
            <a:endParaRPr lang="en-US" sz="1800" dirty="0"/>
          </a:p>
        </p:txBody>
      </p:sp>
      <p:pic>
        <p:nvPicPr>
          <p:cNvPr id="8" name="Image 2" descr="C:\Users\paola\source\repos\uniplac\Alopecia-Andogenetica-Feminina\assets-aag\capilia-longa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452360" y="1325880"/>
            <a:ext cx="4206240" cy="416052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315200" y="594360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Homecare — Capilia Longa (cúrcuma)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aola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paola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entre o tratamento e as causas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AAG Feminina com tricoscopia e tratamentos associados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frente do protocolo atua sobre uma causa da alopecia androgenética: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223760"/>
              </a:tblGrid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Causa (alvo)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Como o tratamento age sobre ela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Miniaturização pela DHT (causa principal, genético-hormonal)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intradermoterapia entrega minoxidil, latanoprosta e fatores de crescimento que reativam o folículo; a fotobiomodulação prolonga a fase anágena (crescimento).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Estresse oxidativo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fotobiomodulação aumenta o ATP e melhora a microcirculação do couro cabeludo, criando um ambiente mais favorável ao folículo.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Deficiências nutricionais (ferro, B12)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intradermoterapia leva vitaminas e ativos (Pill Food) direto ao couro cabeludo, contornando a má absorção; a reposição é feita pelo médico.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Gastrite / H. pylori (coadjuvante)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Tratada pelo médico (erradicação); a estética atua em paralelo sobre os efeitos capilares.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aola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paola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 — desenho do estudo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AAG Feminina com tricoscopia e tratamentos associados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649224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Estudo de caso qualitativo e descritivo (1 paciente, 60 anos).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Avaliação: anamnese, tricoscopia (fotovideodermatoscópio) e registro fotográfico padronizado.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Intervenção estética conduzida em paralelo ao acompanhamento médico.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Ética: Resolução 466/12; CEP-UNIPLAC nº 6.603.39; TCLE.</a:t>
            </a:r>
            <a:endParaRPr lang="en-US" sz="1800" dirty="0"/>
          </a:p>
        </p:txBody>
      </p:sp>
      <p:pic>
        <p:nvPicPr>
          <p:cNvPr id="8" name="Image 2" descr="C:\Users\paola\source\repos\uniplac\Alopecia-Andogenetica-Feminina\assets-aag\registro-frontal.jpe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452360" y="1280160"/>
            <a:ext cx="4206240" cy="2240280"/>
          </a:xfrm>
          <a:prstGeom prst="rect">
            <a:avLst/>
          </a:prstGeom>
        </p:spPr>
      </p:pic>
      <p:pic>
        <p:nvPicPr>
          <p:cNvPr id="9" name="Image 3" descr="C:\Users\paola\source\repos\uniplac\Alopecia-Andogenetica-Feminina\assets-aag\registro-topo.jpe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52360" y="3657600"/>
            <a:ext cx="4206240" cy="224028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7315200" y="594360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Registros do topo do couro cabeludo (paciente modelo)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aola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paola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 — protocolo aplicado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AAG Feminina com tricoscopia e tratamentos associados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Fotobiomodulação: laser vermelho 655–660 nm; ~2 J/cm²; 3–90 mW/cm²; ~20 min/sessão; gel condutor e manobras circulares.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Intradermoterapia (Mescla PHD): Minoxidil 8 mg, Nanofatores de Crescimento 1%, Latanoprosta 50 mcg, Pill Food e Lidocaína 20 mg.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 de pápula: agulha 30G; 2–4 mm; ~0,05–0,1 mL/ponto; pápulas a cada 2 cm.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Frequência: intradermoterapia semanal no 1º mês; a partir do 2º mês, esquema quinzenal alternando com a laserterapia.</a:t>
            </a:r>
            <a:endParaRPr lang="en-US" sz="1800" dirty="0"/>
          </a:p>
          <a:p>
            <a:pPr marL="228600" indent="-228600">
              <a:lnSpc>
                <a:spcPct val="122000"/>
              </a:lnSpc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Homecare: tônico Capilia Longa (cúrcuma).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aola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paola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AAG Feminina com tricoscopia e tratamentos associados — Estudo de caso | UNIPLAC 2026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017520"/>
                <a:gridCol w="2286000"/>
                <a:gridCol w="29260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Período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Procedimento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Frequência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Semanas 1–4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Intradermoterapia (PHD)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1×/semana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Uzel (2021); Aledani (2024)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Mês 2+ — quinzena 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Laserterapia ~2 J/cm²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1×/15 dias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Avci (2014); Yoon (2020)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Mês 2+ — quinzena 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Intradermoterapia (PHD)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1×/15 dias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Stefanis (2024)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cada 8 semanas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Reavaliação (tricoscopia)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Bimestral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Kuczara (2024)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Após ~6 meses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Manutenção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Mensal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Wang e Chen (2025)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aola\source\repos\uniplac\Alopecia-Andogenetica-Feminina\assets-aag\logo-unipla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8600" y="109728"/>
            <a:ext cx="854964" cy="804672"/>
          </a:xfrm>
          <a:prstGeom prst="rect">
            <a:avLst/>
          </a:prstGeom>
        </p:spPr>
      </p:pic>
      <p:pic>
        <p:nvPicPr>
          <p:cNvPr id="3" name="Image 1" descr="C:\Users\paola\source\repos\uniplac\Alopecia-Andogenetica-Feminina\assets-aag\logo-labest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155680" y="109728"/>
            <a:ext cx="804672" cy="8046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280160" y="91440"/>
            <a:ext cx="962863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 principais</a:t>
            </a:r>
            <a:endParaRPr lang="en-US" sz="2200" dirty="0"/>
          </a:p>
        </p:txBody>
      </p:sp>
      <p:sp>
        <p:nvSpPr>
          <p:cNvPr id="5" name="Shape 1"/>
          <p:cNvSpPr/>
          <p:nvPr/>
        </p:nvSpPr>
        <p:spPr>
          <a:xfrm>
            <a:off x="228600" y="1024128"/>
            <a:ext cx="11731752" cy="32004"/>
          </a:xfrm>
          <a:prstGeom prst="rect">
            <a:avLst/>
          </a:prstGeom>
          <a:solidFill>
            <a:srgbClr val="0070C0"/>
          </a:solidFill>
          <a:ln/>
        </p:spPr>
      </p:sp>
      <p:sp>
        <p:nvSpPr>
          <p:cNvPr id="6" name="Text 2"/>
          <p:cNvSpPr/>
          <p:nvPr/>
        </p:nvSpPr>
        <p:spPr>
          <a:xfrm>
            <a:off x="365760" y="6473952"/>
            <a:ext cx="11430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AAG Feminina com tricoscopia e tratamentos associados — Estudo de caso | UNIPLAC 2026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640080" y="118872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AVCI, P. et al. Low-level laser therapy for hair loss. Lasers Surg. Med., 2014.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HO, C. H.; SOOD, T.; ZITO, P. M. Androgenetic alopecia. StatPearls, 2024.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KUCZARA, K. et al. Trichoscopy of androgenetic alopecia: systematic review. JCM, 2024.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PILLAI, J. K.; MYSORE, V. Role of LLLT in androgenetic alopecia. JCAS, 2022.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UZEL, B. P. K. et al. Intradermal 0,5% minoxidil in FAGA: RCT. Dermatol. Ther., 2021.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YOON, J. S. et al. LLLT helmet for androgenetic alopecia: RCT. Medicine, 2020.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KAISER, M. A. et al. LLLT + minoxidil combinados na AAG: revisão. Skin Appendage Disord., 2022.</a:t>
            </a:r>
            <a:endParaRPr lang="en-US" sz="1400" dirty="0"/>
          </a:p>
          <a:p>
            <a:pPr marL="228600" indent="-2286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completa (26 referências com link) no documento Word do estudo de caso.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2026-06-27T20:17:29Z</dcterms:created>
  <dcterms:modified xsi:type="dcterms:W3CDTF">2026-06-27T20:17:29Z</dcterms:modified>
</cp:coreProperties>
</file>