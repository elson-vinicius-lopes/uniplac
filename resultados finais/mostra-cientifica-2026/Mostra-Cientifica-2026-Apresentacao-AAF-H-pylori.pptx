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300" r:id="rIdS900"/>
    <p:sldId id="301" r:id="rIdS901"/>
    <p:sldId id="302" r:id="rIdS902"/>
    <p:sldId id="303" r:id="rIdS903"/>
    <p:sldId id="304" r:id="rIdS904"/>
    <p:sldId id="305" r:id="rIdS905"/>
    <p:sldId id="306" r:id="rIdS906"/>
    <p:sldId id="307" r:id="rIdS907"/>
    <p:sldId id="308" r:id="rIdS908"/>
    <p:sldId id="309" r:id="rIdS90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S900" Type="http://schemas.openxmlformats.org/officeDocument/2006/relationships/slide" Target="slides/slide1.xml"/><Relationship Id="rIdS901" Type="http://schemas.openxmlformats.org/officeDocument/2006/relationships/slide" Target="slides/slide2.xml"/><Relationship Id="rIdS902" Type="http://schemas.openxmlformats.org/officeDocument/2006/relationships/slide" Target="slides/slide3.xml"/><Relationship Id="rIdS903" Type="http://schemas.openxmlformats.org/officeDocument/2006/relationships/slide" Target="slides/slide4.xml"/><Relationship Id="rIdS904" Type="http://schemas.openxmlformats.org/officeDocument/2006/relationships/slide" Target="slides/slide5.xml"/><Relationship Id="rIdS905" Type="http://schemas.openxmlformats.org/officeDocument/2006/relationships/slide" Target="slides/slide6.xml"/><Relationship Id="rIdS906" Type="http://schemas.openxmlformats.org/officeDocument/2006/relationships/slide" Target="slides/slide7.xml"/><Relationship Id="rIdS907" Type="http://schemas.openxmlformats.org/officeDocument/2006/relationships/slide" Target="slides/slide8.xml"/><Relationship Id="rIdS908" Type="http://schemas.openxmlformats.org/officeDocument/2006/relationships/slide" Target="slides/slide9.xml"/><Relationship Id="rIdS909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400000" y="700000"/>
            <a:ext cx="6600000" cy="190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0F2B5B"/>
                </a:solidFill>
              </a:rPr>
              <a:t>Alopecia androgenética feminina e saúde gastrointestinal</a:t>
            </a: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400000" y="2700000"/>
            <a:ext cx="6600000" cy="13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1100">
                <a:solidFill>
                  <a:srgbClr val="0B5FA5"/>
                </a:solidFill>
              </a:rPr>
              <a:t>Estudo de caso — Tecnologia em Estética e Cosmetologia | UNIPLAC</a:t>
            </a: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1100">
                <a:solidFill>
                  <a:srgbClr val="0B5FA5"/>
                </a:solidFill>
              </a:rPr>
              <a:t>LOPES, Paola Bortoli Pinheiro; LIZ, Marcia de; JUSTI, Mariana Macedo</a:t>
            </a: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1100">
                <a:solidFill>
                  <a:srgbClr val="0B5FA5"/>
                </a:solidFill>
              </a:rPr>
              <a:t>XXIX Mostra Científica UNIPLAC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INTRODUÇÃO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Alopecia androgenética feminina (AAF): perda capilar crônica, progressiva e multifatorial, de base genética e hormonal.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Ação da DHT sobre folículos predispostos → encurtamento da fase anágena e miniaturização folicular (Ho; Sood; Zito, 2024).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Prevalência crescente com a idade: ~1,3% (18–29 anos) a ~11,8% (após 70 anos) (Singal; Sonthalia; Verma, 2013).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Fatores sistêmicos modulam a velocidade de progressão — entre eles, alterações gastrointestinais que comprometem a absorção de ferro, vitamina B12 e zinco.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O RECORTE GASTROINTESTINAL — E SEUS LIMITES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H. pylori está associado à anemia ferropriva por gastrite crônica e queda da acidez gástrica (Does..., 2010).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Ferritina baixa associa-se à alopecia feminina (Kantor et al., 2003); ferro, zinco e B12 sustentam a fase anágena (Guo; Katta, 2017).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ATENÇÃO: a evidência direta que liga H. pylori à queda capilar é de ALOPECIA AREATA (autoimune), não da androgenética.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pt-BR" sz="1300">
                <a:solidFill>
                  <a:srgbClr val="1A1A1A"/>
                </a:solidFill>
              </a:rPr>
              <a:t>Ponte mecanística plausível: má absorção de micronutrientes essenciais ao folículo. Fator associado e coadjuvante — nunca causa.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OBJETIVO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Descrever e discutir os resultados de um protocolo estético com fotobiomodulação, intradermoterapia capilar e cuidado domiciliar, conduzido em paralelo ao acompanhamento médico.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Finalidade: controle da miniaturização folicular e melhora da qualidade capilar em paciente com AAF e histórico gastrointestinal relevante.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METODOLOGIA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Estudo de caso descritivo e qualitativo, em andamento; paciente do sexo feminino, nascida em 1964 (60 anos ao início, 61 na reavaliação).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Histórico: calvície paterna, gastrite crônica em tratamento, infecção por H. pylori já erradicada e confirmada por exames.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Instrumentos: ficha de anamnese capilar, tricoscopia com fotovideodermatoscópio e registro fotográfico padronizado.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Fase 1 (desinflamação): aromaterapia, argiloterapia e fotobiomodulação com luz azul.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Fase 2 (estímulo): intradermoterapia (técnica de pápula, Mescla PHD), fotobiomodulação com luz vermelha e tônico domiciliar de Capilia Longa.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ASPECTOS ÉTICOS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Resolução 466/12 do Conselho Nacional de Saúde.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Aprovação do Comitê de Ética em Pesquisa (CEP) da UNIPLAC sob o número 6.603.39.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Termo de Consentimento Livre e Esclarecido (TCLE) assinado pela paciente modelo, autorizando procedimentos, registro fotográfico e divulgação acadêmica das imagens, preservada a identificação.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RESULTADOS PARCIAIS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Terceiro semestre: terapia capilar como preparo da pele, com foco em home care — redução da hiperemia e da oleosidade.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Neste ano: piora constatada e nova avaliação; higienização insuficiente e uso irregular do tônico domiciliar.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Após a reavaliação: melhora dos hábitos domésticos (lavagem mais frequente) + apoio médico ao quadro gastrointestinal.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Resultado parcial: aumento da microcirculação e novos fios nas áreas rarefeitas; série de sessões estendida.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A adesão domiciliar foi o determinante mais evidente da resposta.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Protocolo combinado: não é possível isolar a contribuição de cada recurso (Kaiser et al., 2022).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CONSIDERAÇÕES FINAIS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Protocolo em duas fases foi bem tolerado e acompanhou-se de melhora do couro cabeludo e de novos fios nas áreas rarefeitas.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Educação e acompanhamento da paciente são componentes do protocolo, não recomendações acessórias.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Histórico de H. pylori e gastrite crônica: fatores sistêmicos ASSOCIADOS, com plausibilidade mecanística — não causa da AAF.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Limitações: caso único, sem grupo controle, recursos combinados e avaliação predominantemente qualitativa.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50"/>
              <a:buChar char="●"/>
            </a:pPr>
            <a:r>
              <a:rPr lang="pt-BR" sz="1150">
                <a:solidFill>
                  <a:srgbClr val="1A1A1A"/>
                </a:solidFill>
              </a:rPr>
              <a:t>Estudos futuros: amostras maiores e dosagem seriada de ferritina, vitamina B12 e zinco.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REFERÊNCIAS (SELEÇÃO)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DOES Helicobacter pylori infection play a role in iron deficiency anemia? A meta-analysis. World J. Gastroenterol., 2010.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GUO, E. L.; KATTA, R. Diet and hair loss. Dermatol. Pract. Concept., v. 7, n. 1, 2017.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HO, C. H.; SOOD, T.; ZITO, P. M. Androgenetic alopecia. StatPearls, 2024.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KANTOR, J. et al. Decreased serum ferritin is associated with alopecia in women. J. Invest. Dermatol., v. 121, n. 5, 2003.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SINGAL, A.; SONTHALIA, S.; VERMA, P. Female pattern hair loss. IJDVL, v. 79, n. 5, 2013.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UZEL, B. P. K. et al. Intradermal injections with 0.5% minoxidil. Dermatol. Ther., v. 34, n. 1, 2021.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pt-BR" sz="1000">
                <a:solidFill>
                  <a:srgbClr val="1A1A1A"/>
                </a:solidFill>
              </a:rPr>
              <a:t>YOON, J. S. et al. Low-level light therapy using a helmet-type device. Medicine, v. 99, n. 29, 2020.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420000" y="330000"/>
            <a:ext cx="8300000" cy="6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0F2B5B"/>
                </a:solidFill>
              </a:rPr>
              <a:t>DECLARAÇÃO DE USO DE IAG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420000" y="1020000"/>
            <a:ext cx="8300000" cy="30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Os autores declaram o uso da ferramenta Claude (Anthropic) para organização de ideias, revisão linguística e adequação do texto às normas do evento.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O conteúdo gerado foi revisado e validado pelos autores, que assumem integral responsabilidade pelo texto submetido.</a:t>
            </a:r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>
                <a:solidFill>
                  <a:srgbClr val="1A1A1A"/>
                </a:solidFill>
              </a:rPr>
              <a:t>Contato: paolabortolilionn@gmail.com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