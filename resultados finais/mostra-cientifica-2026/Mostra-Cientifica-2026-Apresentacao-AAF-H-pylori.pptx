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300" r:id="rId2"/>
    <p:sldId id="301" r:id="rId3"/>
    <p:sldId id="302" r:id="rId4"/>
    <p:sldId id="303" r:id="rId5"/>
    <p:sldId id="305" r:id="rId6"/>
    <p:sldId id="306" r:id="rId7"/>
    <p:sldId id="307" r:id="rId8"/>
    <p:sldId id="308" r:id="rId9"/>
    <p:sldId id="309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4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00000" y="700000"/>
            <a:ext cx="6600000" cy="19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0F2B5B"/>
                </a:solidFill>
              </a:rPr>
              <a:t>ALOPECIA ANDROGENÉTICA FEMININA E SAÚDE GASTROINTESTINAL: ESTUDO DE CASO DE UM PROTOCOLO ESTÉTICO COM FOTOBIOMODULAÇÃO, INTRADERMOTERAPIA CAPILAR E CUIDADO DOMICILIAR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00000" y="2700000"/>
            <a:ext cx="6600000" cy="1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100">
                <a:solidFill>
                  <a:srgbClr val="0B5FA5"/>
                </a:solidFill>
              </a:rPr>
              <a:t>Estudo de caso — Tecnologia em Estética e Cosmetologia | UNIPLAC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100">
                <a:solidFill>
                  <a:srgbClr val="0B5FA5"/>
                </a:solidFill>
              </a:rPr>
              <a:t>LOPES, Paola Bortoli Pinheiro; LIZ, Marcia de; JUSTI, Mariana Macedo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100">
                <a:solidFill>
                  <a:srgbClr val="0B5FA5"/>
                </a:solidFill>
              </a:rPr>
              <a:t>XXIX Mostra Científica UNIPLAC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INTRODUÇÃO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95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 dirty="0">
                <a:solidFill>
                  <a:srgbClr val="1A1A1A"/>
                </a:solidFill>
              </a:rPr>
              <a:t>Alopecia androgenética feminina (AAF): perda capilar crônica, progressiva e multifatorial, de base genética e hormonal.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 dirty="0">
                <a:solidFill>
                  <a:srgbClr val="1A1A1A"/>
                </a:solidFill>
              </a:rPr>
              <a:t>Ação da DHT sobre folículos predispostos → encurtamento da fase anágena e miniaturização folicular (Ho; </a:t>
            </a:r>
            <a:r>
              <a:rPr lang="pt-BR" sz="1300" dirty="0" err="1">
                <a:solidFill>
                  <a:srgbClr val="1A1A1A"/>
                </a:solidFill>
              </a:rPr>
              <a:t>Sood</a:t>
            </a:r>
            <a:r>
              <a:rPr lang="pt-BR" sz="1300" dirty="0">
                <a:solidFill>
                  <a:srgbClr val="1A1A1A"/>
                </a:solidFill>
              </a:rPr>
              <a:t>; Zito, 2024).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 dirty="0">
                <a:solidFill>
                  <a:srgbClr val="1A1A1A"/>
                </a:solidFill>
              </a:rPr>
              <a:t>Prevalência crescente com a idade: ~1,3% (18–29 anos) a ~11,8% (após 70 anos) (</a:t>
            </a:r>
            <a:r>
              <a:rPr lang="pt-BR" sz="1300" dirty="0" err="1">
                <a:solidFill>
                  <a:srgbClr val="1A1A1A"/>
                </a:solidFill>
              </a:rPr>
              <a:t>Singal</a:t>
            </a:r>
            <a:r>
              <a:rPr lang="pt-BR" sz="1300" dirty="0">
                <a:solidFill>
                  <a:srgbClr val="1A1A1A"/>
                </a:solidFill>
              </a:rPr>
              <a:t>; </a:t>
            </a:r>
            <a:r>
              <a:rPr lang="pt-BR" sz="1300" dirty="0" err="1">
                <a:solidFill>
                  <a:srgbClr val="1A1A1A"/>
                </a:solidFill>
              </a:rPr>
              <a:t>Sonthalia</a:t>
            </a:r>
            <a:r>
              <a:rPr lang="pt-BR" sz="1300" dirty="0">
                <a:solidFill>
                  <a:srgbClr val="1A1A1A"/>
                </a:solidFill>
              </a:rPr>
              <a:t>; </a:t>
            </a:r>
            <a:r>
              <a:rPr lang="pt-BR" sz="1300" dirty="0" err="1">
                <a:solidFill>
                  <a:srgbClr val="1A1A1A"/>
                </a:solidFill>
              </a:rPr>
              <a:t>Verma</a:t>
            </a:r>
            <a:r>
              <a:rPr lang="pt-BR" sz="1300" dirty="0">
                <a:solidFill>
                  <a:srgbClr val="1A1A1A"/>
                </a:solidFill>
              </a:rPr>
              <a:t>, 2013).</a:t>
            </a:r>
          </a:p>
          <a:p>
            <a:pPr marL="228600" indent="-228600">
              <a:lnSpc>
                <a:spcPct val="100000"/>
              </a:lnSpc>
              <a:spcAft>
                <a:spcPts val="700"/>
              </a:spcAft>
              <a:buSzPts val="1300"/>
            </a:pPr>
            <a:r>
              <a:rPr lang="pt-BR" sz="1300" dirty="0">
                <a:solidFill>
                  <a:srgbClr val="1A1A1A"/>
                </a:solidFill>
              </a:rPr>
              <a:t>Fatores sistêmicos modulam a velocidade de progressão — entre eles, alterações gastrointestinais que comprometem a absorção de ferro, vitamina B12 e zinco.</a:t>
            </a:r>
            <a:r>
              <a:rPr lang="pt-BR" sz="1400" dirty="0">
                <a:solidFill>
                  <a:srgbClr val="1A1A1A"/>
                </a:solidFill>
              </a:rPr>
              <a:t> Estudo de caso descritivo e qualitativo, em andamento; paciente do sexo feminino, nascida em 1964 (60 anos ao início, 61 na reavaliação).</a:t>
            </a:r>
          </a:p>
          <a:p>
            <a:pPr marL="228600" indent="-228600">
              <a:lnSpc>
                <a:spcPct val="100000"/>
              </a:lnSpc>
              <a:spcAft>
                <a:spcPts val="700"/>
              </a:spcAft>
              <a:buSzPts val="1300"/>
            </a:pPr>
            <a:r>
              <a:rPr lang="pt-BR" sz="1400" dirty="0">
                <a:solidFill>
                  <a:srgbClr val="1A1A1A"/>
                </a:solidFill>
              </a:rPr>
              <a:t>Histórico: calvície paterna, gastrite crônica em tratamento, infecção por H. </a:t>
            </a:r>
            <a:r>
              <a:rPr lang="pt-BR" sz="1400" dirty="0" err="1">
                <a:solidFill>
                  <a:srgbClr val="1A1A1A"/>
                </a:solidFill>
              </a:rPr>
              <a:t>pylori</a:t>
            </a:r>
            <a:r>
              <a:rPr lang="pt-BR" sz="1400" dirty="0">
                <a:solidFill>
                  <a:srgbClr val="1A1A1A"/>
                </a:solidFill>
              </a:rPr>
              <a:t> já erradicada e confirmada por exames.</a:t>
            </a:r>
          </a:p>
          <a:p>
            <a:pPr marL="228600" indent="-228600">
              <a:lnSpc>
                <a:spcPct val="100000"/>
              </a:lnSpc>
              <a:spcAft>
                <a:spcPts val="700"/>
              </a:spcAft>
              <a:buSzPts val="1300"/>
            </a:pPr>
            <a:r>
              <a:rPr lang="pt-BR" sz="1400" dirty="0">
                <a:solidFill>
                  <a:srgbClr val="1A1A1A"/>
                </a:solidFill>
              </a:rPr>
              <a:t>Antecedente: em 2023, tratamento de desinflamação do couro cabeludo (não conduzido pela autora); meses depois, piora, diagnóstico de H. </a:t>
            </a:r>
            <a:r>
              <a:rPr lang="pt-BR" sz="1400" dirty="0" err="1">
                <a:solidFill>
                  <a:srgbClr val="1A1A1A"/>
                </a:solidFill>
              </a:rPr>
              <a:t>pylori</a:t>
            </a:r>
            <a:r>
              <a:rPr lang="pt-BR" sz="1400" dirty="0">
                <a:solidFill>
                  <a:srgbClr val="1A1A1A"/>
                </a:solidFill>
              </a:rPr>
              <a:t> e gastrite, cura da infecção com antibióticos e persistência da gastrite.</a:t>
            </a:r>
          </a:p>
          <a:p>
            <a:pPr marL="228600" indent="-228600">
              <a:lnSpc>
                <a:spcPct val="100000"/>
              </a:lnSpc>
              <a:spcAft>
                <a:spcPts val="700"/>
              </a:spcAft>
              <a:buSzPts val="1300"/>
            </a:pPr>
            <a:r>
              <a:rPr lang="pt-BR" sz="1400" dirty="0">
                <a:solidFill>
                  <a:srgbClr val="1A1A1A"/>
                </a:solidFill>
              </a:rPr>
              <a:t>Em 2024, estimulação mais intensa: intradermoterapia (técnica de pápula, Mescla PHD) e fotobiomodulação com luz vermelha, com tônico domiciliar de </a:t>
            </a:r>
            <a:r>
              <a:rPr lang="pt-BR" sz="1400" dirty="0" err="1">
                <a:solidFill>
                  <a:srgbClr val="1A1A1A"/>
                </a:solidFill>
              </a:rPr>
              <a:t>Capilia</a:t>
            </a:r>
            <a:r>
              <a:rPr lang="pt-BR" sz="1400" dirty="0">
                <a:solidFill>
                  <a:srgbClr val="1A1A1A"/>
                </a:solidFill>
              </a:rPr>
              <a:t> Longa.</a:t>
            </a:r>
          </a:p>
          <a:p>
            <a:pPr marL="228600" indent="-228600">
              <a:lnSpc>
                <a:spcPct val="100000"/>
              </a:lnSpc>
              <a:buSzPts val="1300"/>
            </a:pPr>
            <a:r>
              <a:rPr lang="pt-BR" sz="1400" dirty="0">
                <a:solidFill>
                  <a:srgbClr val="1A1A1A"/>
                </a:solidFill>
              </a:rPr>
              <a:t>Instrumentos: ficha de anamnese capilar, tricoscopia com </a:t>
            </a:r>
            <a:r>
              <a:rPr lang="pt-BR" sz="1400" dirty="0" err="1">
                <a:solidFill>
                  <a:srgbClr val="1A1A1A"/>
                </a:solidFill>
              </a:rPr>
              <a:t>fotovideodermatoscópio</a:t>
            </a:r>
            <a:r>
              <a:rPr lang="pt-BR" sz="1400" dirty="0">
                <a:solidFill>
                  <a:srgbClr val="1A1A1A"/>
                </a:solidFill>
              </a:rPr>
              <a:t> e registro fotográfico padronizado.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pt-BR" sz="13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O RECORTE GASTROINTESTINAL — E SEUS LIMITES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>
                <a:solidFill>
                  <a:srgbClr val="1A1A1A"/>
                </a:solidFill>
              </a:rPr>
              <a:t>H. pylori está associado à anemia ferropriva por gastrite crônica e queda da acidez gástrica (Does..., 2010).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>
                <a:solidFill>
                  <a:srgbClr val="1A1A1A"/>
                </a:solidFill>
              </a:rPr>
              <a:t>Ferritina baixa associa-se à alopecia feminina (Kantor et al., 2003); ferro, zinco e B12 sustentam a fase anágena (Guo; Katta, 2017).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300"/>
              <a:buChar char="●"/>
            </a:pPr>
            <a:r>
              <a:rPr lang="pt-BR" sz="1300">
                <a:solidFill>
                  <a:srgbClr val="1A1A1A"/>
                </a:solidFill>
              </a:rPr>
              <a:t>ATENÇÃO: a evidência direta que liga H. pylori à queda capilar é de ALOPECIA AREATA (autoimune), não da androgenética.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>
                <a:solidFill>
                  <a:srgbClr val="1A1A1A"/>
                </a:solidFill>
              </a:rPr>
              <a:t>Ponte mecanística plausível: má absorção de micronutrientes essenciais ao folículo. Fator associado e coadjuvante — nunca causa.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OBJETIVO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Descrever um protocolo estético com fotobiomodulação, intradermoterapia capilar e cuidado domiciliar, conduzido em paralelo ao acompanhamento médico.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Finalidade: controle da miniaturização folicular em paciente com AAF e histórico gastrointestinal relevante.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METODOLOGIA — PROTOCOLO APLICADO</a:t>
            </a:r>
          </a:p>
        </p:txBody>
      </p:sp>
      <p:graphicFrame>
        <p:nvGraphicFramePr>
          <p:cNvPr id="90" name="Quadro da metodologia"/>
          <p:cNvGraphicFramePr>
            <a:graphicFrameLocks noGrp="1"/>
          </p:cNvGraphicFramePr>
          <p:nvPr/>
        </p:nvGraphicFramePr>
        <p:xfrm>
          <a:off x="420000" y="1100000"/>
          <a:ext cx="8300000" cy="2410000"/>
        </p:xfrm>
        <a:graphic>
          <a:graphicData uri="http://schemas.openxmlformats.org/drawingml/2006/table">
            <a:tbl>
              <a:tblPr firstRow="1" bandRow="1"/>
              <a:tblGrid>
                <a:gridCol w="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FFFFFF"/>
                          </a:solidFill>
                        </a:rPr>
                        <a:t>Período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FFFFFF"/>
                          </a:solidFill>
                        </a:rPr>
                        <a:t>Recurso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FFFFFF"/>
                          </a:solidFill>
                        </a:rPr>
                        <a:t>Frequência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FFFFFF"/>
                          </a:solidFill>
                        </a:rPr>
                        <a:t>Como foi feito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Mês 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Intradermoterapia (Mescla PHD)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1 vez por semana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técnica de pápula, agulha 30G, 2–4 mm, ~0,05–0,1 mL por ponto, pápulas a cada 2 cm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A partir do mês 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Fotobiomodulação (laser vermelho 655–660 nm, ~2 J/cm², ~20 min)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1 sessão a cada 15 dias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intercalada com a intradermoterapia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A partir do mês 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Intradermoterapia (mesma técnica)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1 sessão a cada 15 dias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intercalada com o laser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Contínuo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Todo o período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Tônico Capilia Longa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diário, em casa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>
                          <a:solidFill>
                            <a:srgbClr val="1A1A1A"/>
                          </a:solidFill>
                        </a:rPr>
                        <a:t>cuidado domiciliar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ASPECTOS ÉTICOS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Resolução 466/12 do Conselho Nacional de Saúde.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Aprovação do Comitê de Ética em Pesquisa (CEP) da UNIPLAC sob o número 6.603.39.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Termo de Consentimento Livre e Esclarecido (TCLE) assinado pela paciente modelo, autorizando procedimentos, registro fotográfico e divulgação acadêmica das imagens, preservada a identificação.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ANDAMENTO DA PESQUISA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Pesquisa em andamento: os resultados ainda não foram analisados.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A análise depende do registro fotográfico final (depois), a ser obtido nas mesmas condições do inicial, e da reavaliação tricoscópica.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Os recursos têm respaldo na literatura (Avci et al., 2014; Uzel et al., 2021); protocolo combinado, sem possibilidade de isolar a contribuição de cada recurso (Kaiser et al., 2022).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REFERÊNCIAS (SELEÇÃO)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DOES Helicobacter pylori infection play a role in iron deficiency anemia? A meta-analysis. World J. Gastroenterol., 2010.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GUO, E. L.; KATTA, R. Diet and hair loss. Dermatol. Pract. Concept., v. 7, n. 1, 2017.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HO, C. H.; SOOD, T.; ZITO, P. M. Androgenetic alopecia. StatPearls, 2024.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KANTOR, J. et al. Decreased serum ferritin is associated with alopecia in women. J. Invest. Dermatol., v. 121, n. 5, 2003.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SINGAL, A.; SONTHALIA, S.; VERMA, P. Female pattern hair loss. IJDVL, v. 79, n. 5, 2013.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UZEL, B. P. K. et al. Intradermal injections with 0.5% minoxidil. Dermatol. Ther., v. 34, n. 1, 2021.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pt-BR" sz="1000">
                <a:solidFill>
                  <a:srgbClr val="1A1A1A"/>
                </a:solidFill>
              </a:rPr>
              <a:t>YOON, J. S. et al. Low-level light therapy using a helmet-type device. Medicine, v. 99, n. 29,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20000" y="330000"/>
            <a:ext cx="83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F2B5B"/>
                </a:solidFill>
              </a:rPr>
              <a:t>DECLARAÇÃO DE USO DE IAG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20000" y="1020000"/>
            <a:ext cx="830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Os autores declaram o uso da ferramenta Claude (Anthropic) para organização de ideias, revisão linguística e adequação do texto às normas do evento.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O conteúdo gerado foi revisado e validado pelos autores, que assumem integral responsabilidade pelo texto submetido.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solidFill>
                  <a:srgbClr val="1A1A1A"/>
                </a:solidFill>
              </a:rPr>
              <a:t>Contato: paolabortolilionn@gmail.com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Office PowerPoint</Application>
  <PresentationFormat>Apresentação na tela (16:9)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ALOPECIA ANDROGENÉTICA FEMININA E SAÚDE GASTROINTESTINAL: ESTUDO DE CASO DE UM PROTOCOLO ESTÉTICO COM FOTOBIOMODULAÇÃO, INTRADERMOTERAPIA CAPILAR E CUIDADO DOMICILIAR</vt:lpstr>
      <vt:lpstr>INTRODUÇÃO</vt:lpstr>
      <vt:lpstr>O RECORTE GASTROINTESTINAL — E SEUS LIMITES</vt:lpstr>
      <vt:lpstr>OBJETIVO</vt:lpstr>
      <vt:lpstr>METODOLOGIA — PROTOCOLO APLICADO</vt:lpstr>
      <vt:lpstr>ASPECTOS ÉTICOS</vt:lpstr>
      <vt:lpstr>ANDAMENTO DA PESQUISA</vt:lpstr>
      <vt:lpstr>REFERÊNCIAS (SELEÇÃO)</vt:lpstr>
      <vt:lpstr>DECLARAÇÃO DE USO DE IAG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paola bortoli</cp:lastModifiedBy>
  <cp:revision>1</cp:revision>
  <dcterms:modified xsi:type="dcterms:W3CDTF">2026-10-14T01:06:51Z</dcterms:modified>
</cp:coreProperties>
</file>